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425" r:id="rId3"/>
    <p:sldId id="337" r:id="rId4"/>
    <p:sldId id="428" r:id="rId5"/>
    <p:sldId id="429" r:id="rId6"/>
    <p:sldId id="303" r:id="rId7"/>
    <p:sldId id="304" r:id="rId8"/>
    <p:sldId id="431" r:id="rId9"/>
    <p:sldId id="436" r:id="rId10"/>
    <p:sldId id="432" r:id="rId11"/>
    <p:sldId id="302" r:id="rId12"/>
    <p:sldId id="328" r:id="rId13"/>
    <p:sldId id="433" r:id="rId14"/>
    <p:sldId id="329" r:id="rId15"/>
    <p:sldId id="434" r:id="rId16"/>
    <p:sldId id="443" r:id="rId17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j" initials="z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C9E92-6DAF-4212-BEA5-4514937BD9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8C7C7-8D69-427D-A93B-1C06AB360E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627" y="287000"/>
            <a:ext cx="835224" cy="7742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49D5C-8927-4036-B92A-D9F195A44A7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518" y="500239"/>
            <a:ext cx="498481" cy="1023908"/>
          </a:xfrm>
          <a:prstGeom prst="rect">
            <a:avLst/>
          </a:prstGeom>
        </p:spPr>
      </p:pic>
      <p:sp>
        <p:nvSpPr>
          <p:cNvPr id="12" name="Rectangle 2"/>
          <p:cNvSpPr txBox="1">
            <a:spLocks noRot="1" noChangeArrowheads="1"/>
          </p:cNvSpPr>
          <p:nvPr/>
        </p:nvSpPr>
        <p:spPr>
          <a:xfrm>
            <a:off x="947827" y="-34027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11.8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容器适配器示例</a:t>
            </a:r>
            <a:endParaRPr lang="zh-CN" altLang="en-US" sz="4000" b="1" dirty="0"/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847851" y="908051"/>
            <a:ext cx="842486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008000"/>
                </a:solidFill>
                <a:latin typeface="+mn-lt"/>
                <a:ea typeface="隶书" panose="02010509060101010101" pitchFamily="49" charset="-122"/>
              </a:rPr>
              <a:t>容器适配器</a:t>
            </a:r>
            <a:r>
              <a:rPr lang="zh-CN" altLang="en-US" sz="2800" dirty="0">
                <a:solidFill>
                  <a:srgbClr val="008000"/>
                </a:solidFill>
                <a:latin typeface="+mn-lt"/>
                <a:ea typeface="隶书" panose="02010509060101010101" pitchFamily="49" charset="-122"/>
              </a:rPr>
              <a:t>（</a:t>
            </a:r>
            <a:r>
              <a:rPr lang="en-US" altLang="zh-CN" sz="2800" dirty="0">
                <a:solidFill>
                  <a:srgbClr val="008000"/>
                </a:solidFill>
                <a:latin typeface="+mn-lt"/>
                <a:ea typeface="隶书" panose="02010509060101010101" pitchFamily="49" charset="-122"/>
              </a:rPr>
              <a:t>container adapter</a:t>
            </a:r>
            <a:r>
              <a:rPr lang="zh-CN" altLang="en-US" sz="2800" dirty="0">
                <a:solidFill>
                  <a:srgbClr val="008000"/>
                </a:solidFill>
                <a:latin typeface="+mn-lt"/>
                <a:ea typeface="隶书" panose="02010509060101010101" pitchFamily="49" charset="-122"/>
              </a:rPr>
              <a:t>）</a:t>
            </a:r>
            <a:endParaRPr lang="zh-CN" altLang="en-US" sz="3200" dirty="0">
              <a:solidFill>
                <a:srgbClr val="008000"/>
              </a:solidFill>
              <a:latin typeface="+mn-lt"/>
              <a:ea typeface="隶书" panose="02010509060101010101" pitchFamily="49" charset="-122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栈（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stack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），队列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(queue)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和优先级队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(</a:t>
            </a:r>
            <a:r>
              <a:rPr lang="en-US" altLang="zh-CN" sz="2400" dirty="0" err="1">
                <a:latin typeface="+mn-lt"/>
                <a:ea typeface="宋体" panose="02010600030101010101" pitchFamily="2" charset="-122"/>
              </a:rPr>
              <a:t>priority_queue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+mn-lt"/>
              <a:ea typeface="宋体" panose="02010600030101010101" pitchFamily="2" charset="-122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容器适配器并不独立，必须以一个顺序容器为基础。</a:t>
            </a:r>
            <a:endParaRPr lang="en-US" altLang="zh-CN" sz="2400" dirty="0">
              <a:latin typeface="+mn-lt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 b="0" dirty="0">
                <a:latin typeface="+mn-lt"/>
                <a:ea typeface="宋体" panose="02010600030101010101" pitchFamily="2" charset="-122"/>
              </a:rPr>
              <a:t>例：要声明一个用</a:t>
            </a:r>
            <a:r>
              <a:rPr lang="en-US" altLang="zh-CN" sz="2400" b="0" dirty="0">
                <a:latin typeface="+mn-lt"/>
                <a:ea typeface="宋体" panose="02010600030101010101" pitchFamily="2" charset="-122"/>
              </a:rPr>
              <a:t>vector</a:t>
            </a:r>
            <a:r>
              <a:rPr lang="zh-CN" altLang="en-US" sz="2400" b="0" dirty="0">
                <a:latin typeface="+mn-lt"/>
                <a:ea typeface="宋体" panose="02010600030101010101" pitchFamily="2" charset="-122"/>
              </a:rPr>
              <a:t>实现的整型堆栈，声明如下： </a:t>
            </a:r>
            <a:r>
              <a:rPr lang="en-US" altLang="zh-CN" sz="2400" b="0" dirty="0">
                <a:latin typeface="+mn-lt"/>
                <a:ea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</a:rPr>
              <a:t>stack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&lt;</a:t>
            </a:r>
            <a:r>
              <a:rPr lang="en-US" altLang="zh-CN" sz="2400" dirty="0">
                <a:solidFill>
                  <a:srgbClr val="0066FF"/>
                </a:solidFill>
                <a:latin typeface="+mn-lt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,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</a:rPr>
              <a:t>vecto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r&lt;</a:t>
            </a:r>
            <a:r>
              <a:rPr lang="en-US" altLang="zh-CN" sz="2400" dirty="0">
                <a:solidFill>
                  <a:srgbClr val="0000CC"/>
                </a:solidFill>
                <a:latin typeface="+mn-lt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&gt;&gt; </a:t>
            </a:r>
            <a:r>
              <a:rPr lang="en-US" altLang="zh-CN" sz="2400" dirty="0" err="1">
                <a:latin typeface="+mn-lt"/>
                <a:ea typeface="宋体" panose="02010600030101010101" pitchFamily="2" charset="-122"/>
              </a:rPr>
              <a:t>sk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;</a:t>
            </a:r>
            <a:endParaRPr lang="en-US" altLang="zh-CN" sz="240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1782991" y="3320774"/>
            <a:ext cx="8280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</a:rPr>
              <a:t>容器适配器</a:t>
            </a:r>
            <a:r>
              <a:rPr lang="zh-CN" altLang="en-US" sz="2400" dirty="0">
                <a:solidFill>
                  <a:srgbClr val="0066FF"/>
                </a:solidFill>
                <a:latin typeface="+mn-lt"/>
              </a:rPr>
              <a:t>没有自己的构造和析构函数</a:t>
            </a:r>
            <a:r>
              <a:rPr lang="zh-CN" altLang="en-US" sz="2400" dirty="0">
                <a:latin typeface="+mn-lt"/>
              </a:rPr>
              <a:t>，它使用其实现类（如</a:t>
            </a:r>
            <a:r>
              <a:rPr lang="en-US" altLang="zh-CN" sz="2400" dirty="0">
                <a:latin typeface="+mn-lt"/>
              </a:rPr>
              <a:t>vector</a:t>
            </a:r>
            <a:r>
              <a:rPr lang="zh-CN" altLang="en-US" sz="2400" dirty="0">
                <a:latin typeface="+mn-lt"/>
              </a:rPr>
              <a:t>）的构造和析构函数。</a:t>
            </a:r>
            <a:endParaRPr lang="zh-CN" altLang="en-US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队列</a:t>
            </a:r>
            <a:r>
              <a:rPr lang="zh-CN" altLang="en-US" sz="2400" dirty="0">
                <a:solidFill>
                  <a:srgbClr val="0066FF"/>
                </a:solidFill>
                <a:latin typeface="+mn-lt"/>
              </a:rPr>
              <a:t>（</a:t>
            </a:r>
            <a:r>
              <a:rPr lang="en-US" altLang="zh-CN" sz="2400" dirty="0">
                <a:solidFill>
                  <a:srgbClr val="0066FF"/>
                </a:solidFill>
                <a:latin typeface="+mn-lt"/>
              </a:rPr>
              <a:t>queue</a:t>
            </a:r>
            <a:r>
              <a:rPr lang="zh-CN" altLang="en-US" sz="2400" dirty="0">
                <a:solidFill>
                  <a:srgbClr val="0066FF"/>
                </a:solidFill>
                <a:latin typeface="+mn-lt"/>
              </a:rPr>
              <a:t>）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默认用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deque</a:t>
            </a:r>
            <a:r>
              <a:rPr lang="zh-CN" altLang="en-US" sz="2400" dirty="0">
                <a:latin typeface="+mn-lt"/>
              </a:rPr>
              <a:t>为基础，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栈</a:t>
            </a:r>
            <a:r>
              <a:rPr lang="zh-CN" altLang="en-US" sz="2400" dirty="0">
                <a:solidFill>
                  <a:srgbClr val="0066FF"/>
                </a:solidFill>
                <a:latin typeface="+mn-lt"/>
              </a:rPr>
              <a:t>（</a:t>
            </a:r>
            <a:r>
              <a:rPr lang="en-US" altLang="zh-CN" sz="2400" dirty="0">
                <a:solidFill>
                  <a:srgbClr val="0066FF"/>
                </a:solidFill>
                <a:latin typeface="+mn-lt"/>
              </a:rPr>
              <a:t>stack</a:t>
            </a:r>
            <a:r>
              <a:rPr lang="zh-CN" altLang="en-US" sz="2400" dirty="0">
                <a:solidFill>
                  <a:srgbClr val="0066FF"/>
                </a:solidFill>
                <a:latin typeface="+mn-lt"/>
              </a:rPr>
              <a:t>）</a:t>
            </a:r>
            <a:r>
              <a:rPr lang="zh-CN" altLang="en-US" sz="2400" dirty="0">
                <a:latin typeface="+mn-lt"/>
              </a:rPr>
              <a:t>可用</a:t>
            </a:r>
            <a:r>
              <a:rPr lang="en-US" altLang="zh-CN" sz="2400" dirty="0">
                <a:latin typeface="+mn-lt"/>
              </a:rPr>
              <a:t>vector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dirty="0">
                <a:latin typeface="+mn-lt"/>
              </a:rPr>
              <a:t>list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dirty="0">
                <a:latin typeface="+mn-lt"/>
              </a:rPr>
              <a:t>deque</a:t>
            </a:r>
            <a:r>
              <a:rPr lang="zh-CN" altLang="en-US" sz="2400" dirty="0">
                <a:latin typeface="+mn-lt"/>
              </a:rPr>
              <a:t>为基础，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默认为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deque</a:t>
            </a:r>
            <a:r>
              <a:rPr lang="zh-CN" altLang="en-US" sz="2400" dirty="0">
                <a:latin typeface="+mn-lt"/>
              </a:rPr>
              <a:t>。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优先级队列</a:t>
            </a:r>
            <a:r>
              <a:rPr lang="en-US" altLang="zh-CN" sz="2400" dirty="0">
                <a:solidFill>
                  <a:srgbClr val="0066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0066FF"/>
                </a:solidFill>
                <a:ea typeface="宋体" panose="02010600030101010101" pitchFamily="2" charset="-122"/>
              </a:rPr>
              <a:t>priority_queue</a:t>
            </a:r>
            <a:r>
              <a:rPr lang="en-US" altLang="zh-CN" sz="2400" dirty="0">
                <a:solidFill>
                  <a:srgbClr val="0066FF"/>
                </a:solidFill>
                <a:ea typeface="宋体" panose="02010600030101010101" pitchFamily="2" charset="-122"/>
              </a:rPr>
              <a:t>)</a:t>
            </a:r>
            <a:r>
              <a:rPr lang="zh-CN" altLang="en-US" sz="2400" dirty="0"/>
              <a:t>可用</a:t>
            </a:r>
            <a:r>
              <a:rPr lang="en-US" altLang="zh-CN" sz="2400" dirty="0"/>
              <a:t>vector</a:t>
            </a:r>
            <a:r>
              <a:rPr lang="zh-CN" altLang="en-US" sz="2400" dirty="0"/>
              <a:t>和</a:t>
            </a:r>
            <a:r>
              <a:rPr lang="en-US" altLang="zh-CN" sz="2400" dirty="0"/>
              <a:t>deque</a:t>
            </a:r>
            <a:r>
              <a:rPr lang="zh-CN" altLang="en-US" sz="2400" dirty="0"/>
              <a:t>为基础，</a:t>
            </a:r>
            <a:r>
              <a:rPr lang="zh-CN" altLang="en-US" sz="2400" dirty="0">
                <a:solidFill>
                  <a:srgbClr val="FF0000"/>
                </a:solidFill>
              </a:rPr>
              <a:t>默认为</a:t>
            </a:r>
            <a:r>
              <a:rPr lang="en-US" altLang="zh-CN" sz="2400" dirty="0">
                <a:solidFill>
                  <a:srgbClr val="FF0000"/>
                </a:solidFill>
              </a:rPr>
              <a:t>vector</a:t>
            </a:r>
            <a:r>
              <a:rPr lang="zh-CN" altLang="en-US" sz="2400" dirty="0"/>
              <a:t>。</a:t>
            </a:r>
            <a:endParaRPr lang="zh-CN" altLang="en-US" sz="24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38514" y="172012"/>
            <a:ext cx="7524750" cy="576263"/>
          </a:xfrm>
        </p:spPr>
        <p:txBody>
          <a:bodyPr>
            <a:noAutofit/>
          </a:bodyPr>
          <a:lstStyle/>
          <a:p>
            <a:pPr eaLnBrk="1" hangingPunct="1"/>
            <a:r>
              <a:rPr kumimoji="1" lang="zh-CN" altLang="en-US" sz="2000" b="1" dirty="0">
                <a:solidFill>
                  <a:srgbClr val="00B050"/>
                </a:solidFill>
                <a:latin typeface="+mn-lt"/>
                <a:ea typeface="+mn-ea"/>
              </a:rPr>
              <a:t>例：堆栈的压入和弹出</a:t>
            </a:r>
            <a:r>
              <a:rPr kumimoji="1" lang="zh-CN" altLang="en-US" sz="3200" dirty="0">
                <a:solidFill>
                  <a:srgbClr val="00B050"/>
                </a:solidFill>
                <a:latin typeface="+mn-lt"/>
                <a:ea typeface="+mn-ea"/>
              </a:rPr>
              <a:t> </a:t>
            </a:r>
            <a:endParaRPr kumimoji="1" lang="zh-CN" altLang="en-US" sz="320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1138514" y="778092"/>
            <a:ext cx="730885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#include</a:t>
            </a:r>
            <a:r>
              <a:rPr lang="en-US" altLang="zh-CN" dirty="0">
                <a:latin typeface="+mn-lt"/>
              </a:rPr>
              <a:t>&lt;iostream&gt;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#include</a:t>
            </a:r>
            <a:r>
              <a:rPr lang="en-US" altLang="zh-CN" dirty="0">
                <a:latin typeface="+mn-lt"/>
              </a:rPr>
              <a:t>&lt;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stack</a:t>
            </a:r>
            <a:r>
              <a:rPr lang="en-US" altLang="zh-CN" dirty="0">
                <a:latin typeface="+mn-lt"/>
              </a:rPr>
              <a:t>&gt;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#includ</a:t>
            </a:r>
            <a:r>
              <a:rPr lang="en-US" altLang="zh-CN" dirty="0">
                <a:latin typeface="+mn-lt"/>
              </a:rPr>
              <a:t>e&lt;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vector</a:t>
            </a:r>
            <a:r>
              <a:rPr lang="en-US" altLang="zh-CN" dirty="0">
                <a:latin typeface="+mn-lt"/>
              </a:rPr>
              <a:t>&gt;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using namespace</a:t>
            </a:r>
            <a:r>
              <a:rPr lang="en-US" altLang="zh-CN" dirty="0">
                <a:latin typeface="+mn-lt"/>
              </a:rPr>
              <a:t> std;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int</a:t>
            </a:r>
            <a:r>
              <a:rPr lang="en-US" altLang="zh-CN" dirty="0">
                <a:latin typeface="+mn-lt"/>
              </a:rPr>
              <a:t> main(){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const int</a:t>
            </a:r>
            <a:r>
              <a:rPr lang="en-US" altLang="zh-CN" dirty="0">
                <a:latin typeface="+mn-lt"/>
              </a:rPr>
              <a:t> size=10;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int</a:t>
            </a:r>
            <a:r>
              <a:rPr lang="en-US" altLang="zh-CN" dirty="0">
                <a:latin typeface="+mn-lt"/>
              </a:rPr>
              <a:t> </a:t>
            </a:r>
            <a:r>
              <a:rPr lang="en-US" altLang="zh-CN" dirty="0" err="1">
                <a:latin typeface="+mn-lt"/>
              </a:rPr>
              <a:t>i,ia</a:t>
            </a:r>
            <a:r>
              <a:rPr lang="en-US" altLang="zh-CN" dirty="0">
                <a:latin typeface="+mn-lt"/>
              </a:rPr>
              <a:t>[10]={0,1,2,3,4,5,6,7,8,9};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stack</a:t>
            </a:r>
            <a:r>
              <a:rPr lang="en-US" altLang="zh-CN" dirty="0">
                <a:latin typeface="+mn-lt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int,vector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&lt;int&gt; </a:t>
            </a:r>
            <a:r>
              <a:rPr lang="en-US" altLang="zh-CN" dirty="0">
                <a:latin typeface="+mn-lt"/>
              </a:rPr>
              <a:t>&gt; </a:t>
            </a:r>
            <a:r>
              <a:rPr lang="en-US" altLang="zh-CN" dirty="0" err="1">
                <a:solidFill>
                  <a:srgbClr val="0066FF"/>
                </a:solidFill>
                <a:latin typeface="+mn-lt"/>
              </a:rPr>
              <a:t>intvestack</a:t>
            </a:r>
            <a:r>
              <a:rPr lang="en-US" altLang="zh-CN" dirty="0">
                <a:latin typeface="+mn-lt"/>
              </a:rPr>
              <a:t>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</a:t>
            </a:r>
            <a:r>
              <a:rPr lang="en-US" altLang="zh-CN" dirty="0">
                <a:solidFill>
                  <a:srgbClr val="0000CC"/>
                </a:solidFill>
                <a:latin typeface="+mn-lt"/>
              </a:rPr>
              <a:t>for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dirty="0" err="1">
                <a:latin typeface="+mn-lt"/>
              </a:rPr>
              <a:t>i</a:t>
            </a:r>
            <a:r>
              <a:rPr lang="en-US" altLang="zh-CN" dirty="0">
                <a:latin typeface="+mn-lt"/>
              </a:rPr>
              <a:t>=0;i&lt;</a:t>
            </a:r>
            <a:r>
              <a:rPr lang="en-US" altLang="zh-CN" dirty="0" err="1">
                <a:latin typeface="+mn-lt"/>
              </a:rPr>
              <a:t>size;i</a:t>
            </a:r>
            <a:r>
              <a:rPr lang="en-US" altLang="zh-CN" dirty="0">
                <a:latin typeface="+mn-lt"/>
              </a:rPr>
              <a:t>++) 	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	</a:t>
            </a:r>
            <a:r>
              <a:rPr lang="en-US" altLang="zh-CN" dirty="0" err="1">
                <a:latin typeface="+mn-lt"/>
              </a:rPr>
              <a:t>intvestack.</a:t>
            </a:r>
            <a:r>
              <a:rPr lang="en-US" altLang="zh-CN" dirty="0" err="1">
                <a:solidFill>
                  <a:srgbClr val="0066FF"/>
                </a:solidFill>
                <a:latin typeface="+mn-lt"/>
              </a:rPr>
              <a:t>push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dirty="0" err="1">
                <a:latin typeface="+mn-lt"/>
              </a:rPr>
              <a:t>ia</a:t>
            </a:r>
            <a:r>
              <a:rPr lang="en-US" altLang="zh-CN" dirty="0">
                <a:latin typeface="+mn-lt"/>
              </a:rPr>
              <a:t>[</a:t>
            </a:r>
            <a:r>
              <a:rPr lang="en-US" altLang="zh-CN" dirty="0" err="1">
                <a:latin typeface="+mn-lt"/>
              </a:rPr>
              <a:t>i</a:t>
            </a:r>
            <a:r>
              <a:rPr lang="en-US" altLang="zh-CN" dirty="0">
                <a:latin typeface="+mn-lt"/>
              </a:rPr>
              <a:t>]);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</a:t>
            </a:r>
            <a:r>
              <a:rPr lang="en-US" altLang="zh-CN" dirty="0">
                <a:solidFill>
                  <a:srgbClr val="0000CC"/>
                </a:solidFill>
                <a:latin typeface="+mn-lt"/>
              </a:rPr>
              <a:t>while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dirty="0" err="1">
                <a:latin typeface="+mn-lt"/>
              </a:rPr>
              <a:t>intvestack.</a:t>
            </a:r>
            <a:r>
              <a:rPr lang="en-US" altLang="zh-CN" dirty="0" err="1">
                <a:solidFill>
                  <a:srgbClr val="0066FF"/>
                </a:solidFill>
                <a:latin typeface="+mn-lt"/>
              </a:rPr>
              <a:t>empty</a:t>
            </a:r>
            <a:r>
              <a:rPr lang="en-US" altLang="zh-CN" dirty="0">
                <a:latin typeface="+mn-lt"/>
              </a:rPr>
              <a:t>()==false){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	</a:t>
            </a:r>
            <a:r>
              <a:rPr lang="en-US" altLang="zh-CN" dirty="0" err="1">
                <a:latin typeface="+mn-lt"/>
              </a:rPr>
              <a:t>cout</a:t>
            </a:r>
            <a:r>
              <a:rPr lang="en-US" altLang="zh-CN" dirty="0">
                <a:latin typeface="+mn-lt"/>
              </a:rPr>
              <a:t>&lt;&lt; </a:t>
            </a:r>
            <a:r>
              <a:rPr lang="en-US" altLang="zh-CN" dirty="0" err="1">
                <a:latin typeface="+mn-lt"/>
              </a:rPr>
              <a:t>intvestack.</a:t>
            </a:r>
            <a:r>
              <a:rPr lang="en-US" altLang="zh-CN" dirty="0" err="1">
                <a:solidFill>
                  <a:srgbClr val="0066FF"/>
                </a:solidFill>
                <a:latin typeface="+mn-lt"/>
              </a:rPr>
              <a:t>top</a:t>
            </a:r>
            <a:r>
              <a:rPr lang="en-US" altLang="zh-CN" dirty="0">
                <a:latin typeface="+mn-lt"/>
              </a:rPr>
              <a:t>()&lt;&lt;'\t';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	</a:t>
            </a:r>
            <a:r>
              <a:rPr lang="en-US" altLang="zh-CN" dirty="0" err="1">
                <a:latin typeface="+mn-lt"/>
              </a:rPr>
              <a:t>intvestack.</a:t>
            </a:r>
            <a:r>
              <a:rPr lang="en-US" altLang="zh-CN" dirty="0" err="1">
                <a:solidFill>
                  <a:srgbClr val="0066FF"/>
                </a:solidFill>
                <a:latin typeface="+mn-lt"/>
              </a:rPr>
              <a:t>pop</a:t>
            </a:r>
            <a:r>
              <a:rPr lang="en-US" altLang="zh-CN" dirty="0">
                <a:latin typeface="+mn-lt"/>
              </a:rPr>
              <a:t>();	}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</a:t>
            </a:r>
            <a:r>
              <a:rPr lang="en-US" altLang="zh-CN" dirty="0" err="1">
                <a:latin typeface="+mn-lt"/>
              </a:rPr>
              <a:t>cout</a:t>
            </a:r>
            <a:r>
              <a:rPr lang="en-US" altLang="zh-CN" dirty="0">
                <a:latin typeface="+mn-lt"/>
              </a:rPr>
              <a:t>&lt;&lt;</a:t>
            </a:r>
            <a:r>
              <a:rPr lang="en-US" altLang="zh-CN" dirty="0" err="1">
                <a:latin typeface="+mn-lt"/>
              </a:rPr>
              <a:t>endl</a:t>
            </a:r>
            <a:r>
              <a:rPr lang="en-US" altLang="zh-CN" dirty="0">
                <a:latin typeface="+mn-lt"/>
              </a:rPr>
              <a:t>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</a:t>
            </a:r>
            <a:r>
              <a:rPr lang="en-US" altLang="zh-CN" dirty="0">
                <a:solidFill>
                  <a:srgbClr val="0000CC"/>
                </a:solidFill>
                <a:latin typeface="+mn-lt"/>
              </a:rPr>
              <a:t>return</a:t>
            </a:r>
            <a:r>
              <a:rPr lang="en-US" altLang="zh-CN" dirty="0">
                <a:latin typeface="+mn-lt"/>
              </a:rPr>
              <a:t> 0;}</a:t>
            </a:r>
            <a:endParaRPr lang="en-US" altLang="zh-CN" dirty="0">
              <a:latin typeface="+mn-lt"/>
            </a:endParaRPr>
          </a:p>
          <a:p>
            <a:pPr eaLnBrk="1" hangingPunct="1"/>
            <a:endParaRPr lang="en-US" altLang="zh-CN" dirty="0">
              <a:latin typeface="+mn-lt"/>
            </a:endParaRPr>
          </a:p>
          <a:p>
            <a:pPr eaLnBrk="1" hangingPunct="1"/>
            <a:r>
              <a:rPr lang="zh-CN" altLang="en-US" dirty="0">
                <a:solidFill>
                  <a:srgbClr val="006600"/>
                </a:solidFill>
                <a:latin typeface="+mn-lt"/>
              </a:rPr>
              <a:t>输出：</a:t>
            </a:r>
            <a:r>
              <a:rPr lang="en-US" altLang="zh-CN" dirty="0">
                <a:solidFill>
                  <a:srgbClr val="006600"/>
                </a:solidFill>
                <a:latin typeface="+mn-lt"/>
              </a:rPr>
              <a:t>9  8  7  6  5  4  3  2  1  0</a:t>
            </a:r>
            <a:endParaRPr lang="en-US" altLang="zh-CN" dirty="0">
              <a:solidFill>
                <a:srgbClr val="006600"/>
              </a:solidFill>
              <a:latin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1137"/>
          <a:stretch>
            <a:fillRect/>
          </a:stretch>
        </p:blipFill>
        <p:spPr>
          <a:xfrm>
            <a:off x="7085504" y="725556"/>
            <a:ext cx="4752546" cy="16510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190" y="5810237"/>
            <a:ext cx="4978148" cy="4633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297" y="6321451"/>
            <a:ext cx="8062703" cy="3645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38514" y="172012"/>
            <a:ext cx="7524750" cy="576263"/>
          </a:xfrm>
        </p:spPr>
        <p:txBody>
          <a:bodyPr>
            <a:noAutofit/>
          </a:bodyPr>
          <a:lstStyle/>
          <a:p>
            <a:pPr eaLnBrk="1" hangingPunct="1"/>
            <a:r>
              <a:rPr kumimoji="1" lang="zh-CN" altLang="en-US" sz="2000" b="1" dirty="0">
                <a:solidFill>
                  <a:srgbClr val="00B050"/>
                </a:solidFill>
                <a:latin typeface="+mn-lt"/>
                <a:ea typeface="+mn-ea"/>
              </a:rPr>
              <a:t>例：队列的入队和出队</a:t>
            </a:r>
            <a:r>
              <a:rPr kumimoji="1" lang="zh-CN" altLang="en-US" sz="3200" dirty="0">
                <a:solidFill>
                  <a:srgbClr val="00B050"/>
                </a:solidFill>
                <a:latin typeface="+mn-lt"/>
                <a:ea typeface="+mn-ea"/>
              </a:rPr>
              <a:t> </a:t>
            </a:r>
            <a:endParaRPr kumimoji="1" lang="zh-CN" altLang="en-US" sz="320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742432" y="973896"/>
            <a:ext cx="831691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#include</a:t>
            </a:r>
            <a:r>
              <a:rPr lang="en-US" altLang="zh-CN" dirty="0">
                <a:latin typeface="+mn-lt"/>
              </a:rPr>
              <a:t>&lt;iostream&gt;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#include</a:t>
            </a:r>
            <a:r>
              <a:rPr lang="en-US" altLang="zh-CN" dirty="0">
                <a:latin typeface="+mn-lt"/>
              </a:rPr>
              <a:t>&lt;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queue</a:t>
            </a:r>
            <a:r>
              <a:rPr lang="en-US" altLang="zh-CN" dirty="0">
                <a:latin typeface="+mn-lt"/>
              </a:rPr>
              <a:t>&gt;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using namespace</a:t>
            </a:r>
            <a:r>
              <a:rPr lang="en-US" altLang="zh-CN" dirty="0">
                <a:latin typeface="+mn-lt"/>
              </a:rPr>
              <a:t> std;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int</a:t>
            </a:r>
            <a:r>
              <a:rPr lang="en-US" altLang="zh-CN" dirty="0">
                <a:latin typeface="+mn-lt"/>
              </a:rPr>
              <a:t> main(){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const int</a:t>
            </a:r>
            <a:r>
              <a:rPr lang="en-US" altLang="zh-CN" dirty="0">
                <a:latin typeface="+mn-lt"/>
              </a:rPr>
              <a:t> size=10;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solidFill>
                  <a:srgbClr val="0000CC"/>
                </a:solidFill>
                <a:latin typeface="+mn-lt"/>
              </a:rPr>
              <a:t>int</a:t>
            </a:r>
            <a:r>
              <a:rPr lang="en-US" altLang="zh-CN" dirty="0">
                <a:latin typeface="+mn-lt"/>
              </a:rPr>
              <a:t> </a:t>
            </a:r>
            <a:r>
              <a:rPr lang="en-US" altLang="zh-CN" dirty="0" err="1">
                <a:latin typeface="+mn-lt"/>
              </a:rPr>
              <a:t>i,ia</a:t>
            </a:r>
            <a:r>
              <a:rPr lang="en-US" altLang="zh-CN" dirty="0">
                <a:latin typeface="+mn-lt"/>
              </a:rPr>
              <a:t>[10]={0,1,2,3,4,5,6,7,8,9};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queue</a:t>
            </a:r>
            <a:r>
              <a:rPr lang="en-US" altLang="zh-CN" dirty="0">
                <a:latin typeface="+mn-lt"/>
              </a:rPr>
              <a:t>&lt;</a:t>
            </a:r>
            <a:r>
              <a:rPr lang="en-US" altLang="zh-CN" dirty="0">
                <a:solidFill>
                  <a:srgbClr val="0000CC"/>
                </a:solidFill>
                <a:latin typeface="+mn-lt"/>
              </a:rPr>
              <a:t>int</a:t>
            </a:r>
            <a:r>
              <a:rPr lang="en-US" altLang="zh-CN" dirty="0">
                <a:latin typeface="+mn-lt"/>
              </a:rPr>
              <a:t>&gt; </a:t>
            </a:r>
            <a:r>
              <a:rPr lang="en-US" altLang="zh-CN" dirty="0" err="1">
                <a:latin typeface="+mn-lt"/>
              </a:rPr>
              <a:t>intque</a:t>
            </a:r>
            <a:r>
              <a:rPr lang="en-US" altLang="zh-CN" dirty="0">
                <a:latin typeface="+mn-lt"/>
              </a:rPr>
              <a:t>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</a:t>
            </a:r>
            <a:r>
              <a:rPr lang="en-US" altLang="zh-CN" dirty="0">
                <a:solidFill>
                  <a:srgbClr val="0000CC"/>
                </a:solidFill>
                <a:latin typeface="+mn-lt"/>
              </a:rPr>
              <a:t>for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dirty="0" err="1">
                <a:latin typeface="+mn-lt"/>
              </a:rPr>
              <a:t>i</a:t>
            </a:r>
            <a:r>
              <a:rPr lang="en-US" altLang="zh-CN" dirty="0">
                <a:latin typeface="+mn-lt"/>
              </a:rPr>
              <a:t>=0;i&lt;</a:t>
            </a:r>
            <a:r>
              <a:rPr lang="en-US" altLang="zh-CN" dirty="0" err="1">
                <a:latin typeface="+mn-lt"/>
              </a:rPr>
              <a:t>size;i</a:t>
            </a:r>
            <a:r>
              <a:rPr lang="en-US" altLang="zh-CN" dirty="0">
                <a:latin typeface="+mn-lt"/>
              </a:rPr>
              <a:t>++) 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</a:t>
            </a:r>
            <a:r>
              <a:rPr lang="en-US" altLang="zh-CN" dirty="0" err="1">
                <a:latin typeface="+mn-lt"/>
              </a:rPr>
              <a:t>intque.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push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dirty="0" err="1">
                <a:latin typeface="+mn-lt"/>
              </a:rPr>
              <a:t>ia</a:t>
            </a:r>
            <a:r>
              <a:rPr lang="en-US" altLang="zh-CN" dirty="0">
                <a:latin typeface="+mn-lt"/>
              </a:rPr>
              <a:t>[</a:t>
            </a:r>
            <a:r>
              <a:rPr lang="en-US" altLang="zh-CN" dirty="0" err="1">
                <a:latin typeface="+mn-lt"/>
              </a:rPr>
              <a:t>i</a:t>
            </a:r>
            <a:r>
              <a:rPr lang="en-US" altLang="zh-CN" dirty="0">
                <a:latin typeface="+mn-lt"/>
              </a:rPr>
              <a:t>]);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</a:t>
            </a:r>
            <a:r>
              <a:rPr lang="en-US" altLang="zh-CN" dirty="0">
                <a:solidFill>
                  <a:srgbClr val="0000CC"/>
                </a:solidFill>
                <a:latin typeface="+mn-lt"/>
              </a:rPr>
              <a:t>while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dirty="0" err="1">
                <a:latin typeface="+mn-lt"/>
              </a:rPr>
              <a:t>intque.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empty</a:t>
            </a:r>
            <a:r>
              <a:rPr lang="en-US" altLang="zh-CN" dirty="0">
                <a:latin typeface="+mn-lt"/>
              </a:rPr>
              <a:t>()==false){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	</a:t>
            </a:r>
            <a:r>
              <a:rPr lang="en-US" altLang="zh-CN" dirty="0" err="1">
                <a:latin typeface="+mn-lt"/>
              </a:rPr>
              <a:t>cout</a:t>
            </a:r>
            <a:r>
              <a:rPr lang="en-US" altLang="zh-CN" dirty="0">
                <a:latin typeface="+mn-lt"/>
              </a:rPr>
              <a:t>&lt;&lt; </a:t>
            </a:r>
            <a:r>
              <a:rPr lang="en-US" altLang="zh-CN" dirty="0" err="1">
                <a:latin typeface="+mn-lt"/>
              </a:rPr>
              <a:t>intque.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front</a:t>
            </a:r>
            <a:r>
              <a:rPr lang="en-US" altLang="zh-CN" dirty="0">
                <a:latin typeface="+mn-lt"/>
              </a:rPr>
              <a:t>()&lt;&lt;'\t';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	</a:t>
            </a:r>
            <a:r>
              <a:rPr lang="en-US" altLang="zh-CN" dirty="0" err="1">
                <a:latin typeface="+mn-lt"/>
              </a:rPr>
              <a:t>intque.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pop</a:t>
            </a:r>
            <a:r>
              <a:rPr lang="en-US" altLang="zh-CN" dirty="0">
                <a:latin typeface="+mn-lt"/>
              </a:rPr>
              <a:t>();}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</a:t>
            </a:r>
            <a:r>
              <a:rPr lang="en-US" altLang="zh-CN" dirty="0" err="1">
                <a:latin typeface="+mn-lt"/>
              </a:rPr>
              <a:t>cout</a:t>
            </a:r>
            <a:r>
              <a:rPr lang="en-US" altLang="zh-CN" dirty="0">
                <a:latin typeface="+mn-lt"/>
              </a:rPr>
              <a:t>&lt;&lt;</a:t>
            </a:r>
            <a:r>
              <a:rPr lang="en-US" altLang="zh-CN" dirty="0" err="1">
                <a:latin typeface="+mn-lt"/>
              </a:rPr>
              <a:t>endl</a:t>
            </a:r>
            <a:r>
              <a:rPr lang="en-US" altLang="zh-CN" dirty="0">
                <a:latin typeface="+mn-lt"/>
              </a:rPr>
              <a:t>;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	</a:t>
            </a:r>
            <a:r>
              <a:rPr lang="en-US" altLang="zh-CN" dirty="0">
                <a:solidFill>
                  <a:srgbClr val="0000CC"/>
                </a:solidFill>
                <a:latin typeface="+mn-lt"/>
              </a:rPr>
              <a:t>retur</a:t>
            </a:r>
            <a:r>
              <a:rPr lang="en-US" altLang="zh-CN" dirty="0">
                <a:latin typeface="+mn-lt"/>
              </a:rPr>
              <a:t>n 0;}</a:t>
            </a:r>
            <a:endParaRPr lang="en-US" altLang="zh-CN" dirty="0">
              <a:latin typeface="+mn-lt"/>
            </a:endParaRPr>
          </a:p>
          <a:p>
            <a:pPr eaLnBrk="1" hangingPunct="1"/>
            <a:endParaRPr lang="en-US" altLang="zh-CN" dirty="0">
              <a:latin typeface="+mn-lt"/>
            </a:endParaRPr>
          </a:p>
          <a:p>
            <a:pPr eaLnBrk="1" hangingPunct="1"/>
            <a:r>
              <a:rPr lang="zh-CN" altLang="en-US" dirty="0">
                <a:solidFill>
                  <a:srgbClr val="006600"/>
                </a:solidFill>
                <a:latin typeface="+mn-lt"/>
              </a:rPr>
              <a:t>输出：</a:t>
            </a:r>
            <a:r>
              <a:rPr lang="en-US" altLang="zh-CN" dirty="0">
                <a:solidFill>
                  <a:srgbClr val="006600"/>
                </a:solidFill>
                <a:latin typeface="+mn-lt"/>
              </a:rPr>
              <a:t>0  1  2  3  4  5  6  7  8  9</a:t>
            </a:r>
            <a:endParaRPr lang="en-US" altLang="zh-CN" dirty="0">
              <a:solidFill>
                <a:srgbClr val="006600"/>
              </a:solidFill>
              <a:latin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7053" y="1059303"/>
            <a:ext cx="5324584" cy="156462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9527" b="10856"/>
          <a:stretch>
            <a:fillRect/>
          </a:stretch>
        </p:blipFill>
        <p:spPr>
          <a:xfrm>
            <a:off x="5649137" y="4826938"/>
            <a:ext cx="6577623" cy="51385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590" y="5340605"/>
            <a:ext cx="7456100" cy="479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38514" y="172012"/>
            <a:ext cx="7524750" cy="576263"/>
          </a:xfrm>
        </p:spPr>
        <p:txBody>
          <a:bodyPr>
            <a:noAutofit/>
          </a:bodyPr>
          <a:lstStyle/>
          <a:p>
            <a:pPr eaLnBrk="1" hangingPunct="1"/>
            <a:r>
              <a:rPr kumimoji="1" lang="zh-CN" altLang="en-US" sz="2000" b="1" dirty="0">
                <a:solidFill>
                  <a:srgbClr val="00B050"/>
                </a:solidFill>
                <a:latin typeface="+mn-lt"/>
                <a:ea typeface="+mn-ea"/>
              </a:rPr>
              <a:t>例：优先级队示例</a:t>
            </a:r>
            <a:r>
              <a:rPr kumimoji="1" lang="zh-CN" altLang="en-US" sz="3200" dirty="0">
                <a:solidFill>
                  <a:srgbClr val="00B050"/>
                </a:solidFill>
                <a:latin typeface="+mn-lt"/>
                <a:ea typeface="+mn-ea"/>
              </a:rPr>
              <a:t> </a:t>
            </a:r>
            <a:endParaRPr kumimoji="1" lang="zh-CN" altLang="en-US" sz="320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442" y="941070"/>
            <a:ext cx="5702593" cy="42801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51" y="553700"/>
            <a:ext cx="4418179" cy="47045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r="3766" b="6741"/>
          <a:stretch>
            <a:fillRect/>
          </a:stretch>
        </p:blipFill>
        <p:spPr>
          <a:xfrm>
            <a:off x="5779446" y="967100"/>
            <a:ext cx="6348163" cy="43874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889" y="1424600"/>
            <a:ext cx="6647720" cy="623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947827" y="789685"/>
            <a:ext cx="9736738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algn="just" eaLnBrk="1" hangingPunct="1"/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泛型算法分类</a:t>
            </a:r>
            <a:endParaRPr lang="en-US" altLang="zh-CN" sz="28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just" eaLnBrk="1" hangingPunct="1"/>
            <a:endParaRPr lang="zh-CN" altLang="en-US" sz="2800" dirty="0">
              <a:solidFill>
                <a:srgbClr val="008000"/>
              </a:solidFill>
              <a:latin typeface="Tahoma" panose="020B0604030504040204" pitchFamily="34" charset="0"/>
              <a:ea typeface="隶书" panose="02010509060101010101" pitchFamily="49" charset="-122"/>
            </a:endParaRPr>
          </a:p>
          <a:p>
            <a:pPr algn="just" eaLnBrk="1" hangingPunct="1"/>
            <a:r>
              <a:rPr lang="en-US" altLang="zh-CN" sz="2400" dirty="0">
                <a:solidFill>
                  <a:srgbClr val="A50021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400" dirty="0">
                <a:solidFill>
                  <a:srgbClr val="A50021"/>
                </a:solidFill>
                <a:latin typeface="Tahoma" panose="020B0604030504040204" pitchFamily="34" charset="0"/>
              </a:rPr>
              <a:t>．查找算法</a:t>
            </a:r>
            <a:r>
              <a:rPr lang="zh-CN" altLang="en-US" sz="2400" dirty="0">
                <a:latin typeface="Tahoma" panose="020B0604030504040204" pitchFamily="34" charset="0"/>
              </a:rPr>
              <a:t>：有</a:t>
            </a:r>
            <a:r>
              <a:rPr lang="en-US" altLang="zh-CN" sz="2400" dirty="0">
                <a:latin typeface="Tahoma" panose="020B0604030504040204" pitchFamily="34" charset="0"/>
              </a:rPr>
              <a:t>13</a:t>
            </a:r>
            <a:r>
              <a:rPr lang="zh-CN" altLang="en-US" sz="2400" dirty="0">
                <a:latin typeface="Tahoma" panose="020B0604030504040204" pitchFamily="34" charset="0"/>
              </a:rPr>
              <a:t>种查找算法用各种策略去判断容器中是否存在一个指定值。</a:t>
            </a:r>
            <a:endParaRPr lang="en-US" altLang="zh-CN" sz="2400" dirty="0">
              <a:latin typeface="Tahoma" panose="020B0604030504040204" pitchFamily="34" charset="0"/>
            </a:endParaRPr>
          </a:p>
          <a:p>
            <a:pPr algn="just" eaLnBrk="1" hangingPunct="1"/>
            <a:r>
              <a:rPr lang="en-US" altLang="zh-CN" sz="2400" dirty="0">
                <a:solidFill>
                  <a:srgbClr val="A50021"/>
                </a:solidFill>
                <a:latin typeface="Tahoma" panose="020B0604030504040204" pitchFamily="34" charset="0"/>
              </a:rPr>
              <a:t>2</a:t>
            </a:r>
            <a:r>
              <a:rPr lang="zh-CN" altLang="en-US" sz="2400" dirty="0">
                <a:solidFill>
                  <a:srgbClr val="A50021"/>
                </a:solidFill>
                <a:latin typeface="Tahoma" panose="020B0604030504040204" pitchFamily="34" charset="0"/>
              </a:rPr>
              <a:t>．排序和通用整序算法</a:t>
            </a:r>
            <a:r>
              <a:rPr lang="zh-CN" altLang="en-US" sz="2400" dirty="0">
                <a:latin typeface="Tahoma" panose="020B0604030504040204" pitchFamily="34" charset="0"/>
              </a:rPr>
              <a:t>：有</a:t>
            </a:r>
            <a:r>
              <a:rPr lang="en-US" altLang="zh-CN" sz="2400" dirty="0">
                <a:latin typeface="Tahoma" panose="020B0604030504040204" pitchFamily="34" charset="0"/>
              </a:rPr>
              <a:t>14</a:t>
            </a:r>
            <a:r>
              <a:rPr lang="zh-CN" altLang="en-US" sz="2400" dirty="0">
                <a:latin typeface="Tahoma" panose="020B0604030504040204" pitchFamily="34" charset="0"/>
              </a:rPr>
              <a:t>种排序（</a:t>
            </a:r>
            <a:r>
              <a:rPr lang="en-US" altLang="zh-CN" sz="2400" dirty="0">
                <a:latin typeface="Tahoma" panose="020B0604030504040204" pitchFamily="34" charset="0"/>
              </a:rPr>
              <a:t>sorting</a:t>
            </a:r>
            <a:r>
              <a:rPr lang="zh-CN" altLang="en-US" sz="2400" dirty="0">
                <a:latin typeface="Tahoma" panose="020B0604030504040204" pitchFamily="34" charset="0"/>
              </a:rPr>
              <a:t>）和通用整序（</a:t>
            </a:r>
            <a:r>
              <a:rPr lang="en-US" altLang="zh-CN" sz="2400" dirty="0">
                <a:latin typeface="Tahoma" panose="020B0604030504040204" pitchFamily="34" charset="0"/>
              </a:rPr>
              <a:t>ordering</a:t>
            </a:r>
            <a:r>
              <a:rPr lang="zh-CN" altLang="en-US" sz="2400" dirty="0">
                <a:latin typeface="Tahoma" panose="020B0604030504040204" pitchFamily="34" charset="0"/>
              </a:rPr>
              <a:t>）算法，为容器中元素的排序提供各种处理方法。所谓整序，是按一定规律分类，如分割（</a:t>
            </a:r>
            <a:r>
              <a:rPr lang="en-US" altLang="zh-CN" sz="2400" dirty="0">
                <a:latin typeface="Tahoma" panose="020B0604030504040204" pitchFamily="34" charset="0"/>
              </a:rPr>
              <a:t>partition</a:t>
            </a:r>
            <a:r>
              <a:rPr lang="zh-CN" altLang="en-US" sz="2400" dirty="0">
                <a:latin typeface="Tahoma" panose="020B0604030504040204" pitchFamily="34" charset="0"/>
              </a:rPr>
              <a:t>）算法把容器分为两组，一组由满足某条件的元素组成，另一组由不满足某条件的元素组成。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eaLnBrk="1" hangingPunct="1"/>
            <a:r>
              <a:rPr lang="en-US" altLang="zh-CN" sz="2400" dirty="0">
                <a:solidFill>
                  <a:srgbClr val="A50021"/>
                </a:solidFill>
                <a:latin typeface="Tahoma" panose="020B0604030504040204" pitchFamily="34" charset="0"/>
              </a:rPr>
              <a:t>3</a:t>
            </a:r>
            <a:r>
              <a:rPr lang="zh-CN" altLang="en-US" sz="2400" dirty="0">
                <a:solidFill>
                  <a:srgbClr val="A50021"/>
                </a:solidFill>
                <a:latin typeface="Tahoma" panose="020B0604030504040204" pitchFamily="34" charset="0"/>
              </a:rPr>
              <a:t>．删除和置换算法</a:t>
            </a:r>
            <a:r>
              <a:rPr lang="zh-CN" altLang="en-US" sz="2400" dirty="0">
                <a:solidFill>
                  <a:schemeClr val="tx2"/>
                </a:solidFill>
                <a:latin typeface="Tahoma" panose="020B0604030504040204" pitchFamily="34" charset="0"/>
              </a:rPr>
              <a:t>：有</a:t>
            </a:r>
            <a:r>
              <a:rPr lang="en-US" altLang="zh-CN" sz="2400" dirty="0">
                <a:solidFill>
                  <a:schemeClr val="tx2"/>
                </a:solidFill>
                <a:latin typeface="Tahoma" panose="020B0604030504040204" pitchFamily="34" charset="0"/>
              </a:rPr>
              <a:t>15</a:t>
            </a:r>
            <a:r>
              <a:rPr lang="zh-CN" altLang="en-US" sz="2400" dirty="0">
                <a:solidFill>
                  <a:schemeClr val="tx2"/>
                </a:solidFill>
                <a:latin typeface="Tahoma" panose="020B0604030504040204" pitchFamily="34" charset="0"/>
              </a:rPr>
              <a:t>种删除和置换算法。</a:t>
            </a:r>
            <a:endParaRPr lang="zh-CN" altLang="en-US" sz="2400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eaLnBrk="1" hangingPunct="1"/>
            <a:r>
              <a:rPr lang="en-US" altLang="zh-CN" sz="2400" dirty="0">
                <a:solidFill>
                  <a:srgbClr val="A50021"/>
                </a:solidFill>
                <a:latin typeface="Tahoma" panose="020B0604030504040204" pitchFamily="34" charset="0"/>
              </a:rPr>
              <a:t>4</a:t>
            </a:r>
            <a:r>
              <a:rPr lang="zh-CN" altLang="en-US" sz="2400" dirty="0">
                <a:solidFill>
                  <a:srgbClr val="A50021"/>
                </a:solidFill>
                <a:latin typeface="Tahoma" panose="020B0604030504040204" pitchFamily="34" charset="0"/>
              </a:rPr>
              <a:t>．排列组合算法</a:t>
            </a:r>
            <a:r>
              <a:rPr lang="zh-CN" altLang="en-US" sz="2400" dirty="0">
                <a:latin typeface="Tahoma" panose="020B0604030504040204" pitchFamily="34" charset="0"/>
              </a:rPr>
              <a:t>：有</a:t>
            </a:r>
            <a:r>
              <a:rPr lang="en-US" altLang="zh-CN" sz="2400" dirty="0">
                <a:latin typeface="Tahoma" panose="020B0604030504040204" pitchFamily="34" charset="0"/>
              </a:rPr>
              <a:t>2</a:t>
            </a:r>
            <a:r>
              <a:rPr lang="zh-CN" altLang="en-US" sz="2400" dirty="0">
                <a:latin typeface="Tahoma" panose="020B0604030504040204" pitchFamily="34" charset="0"/>
              </a:rPr>
              <a:t>种算法。排列组合是指全排列。如：三个字符</a:t>
            </a:r>
            <a:r>
              <a:rPr lang="en-US" altLang="zh-CN" sz="2400" dirty="0">
                <a:latin typeface="Tahoma" panose="020B0604030504040204" pitchFamily="34" charset="0"/>
              </a:rPr>
              <a:t>{a</a:t>
            </a:r>
            <a:r>
              <a:rPr lang="zh-CN" altLang="en-US" sz="2400" dirty="0">
                <a:latin typeface="Tahoma" panose="020B0604030504040204" pitchFamily="34" charset="0"/>
              </a:rPr>
              <a:t>，</a:t>
            </a:r>
            <a:r>
              <a:rPr lang="en-US" altLang="zh-CN" sz="2400" dirty="0">
                <a:latin typeface="Tahoma" panose="020B0604030504040204" pitchFamily="34" charset="0"/>
              </a:rPr>
              <a:t>b</a:t>
            </a:r>
            <a:r>
              <a:rPr lang="zh-CN" altLang="en-US" sz="2400" dirty="0">
                <a:latin typeface="Tahoma" panose="020B0604030504040204" pitchFamily="34" charset="0"/>
              </a:rPr>
              <a:t>，</a:t>
            </a:r>
            <a:r>
              <a:rPr lang="en-US" altLang="zh-CN" sz="2400" dirty="0">
                <a:latin typeface="Tahoma" panose="020B0604030504040204" pitchFamily="34" charset="0"/>
              </a:rPr>
              <a:t>c}</a:t>
            </a:r>
            <a:r>
              <a:rPr lang="zh-CN" altLang="en-US" sz="2400" dirty="0">
                <a:latin typeface="Tahoma" panose="020B0604030504040204" pitchFamily="34" charset="0"/>
              </a:rPr>
              <a:t>组成的序列有</a:t>
            </a:r>
            <a:r>
              <a:rPr lang="en-US" altLang="zh-CN" sz="2400" dirty="0">
                <a:latin typeface="Tahoma" panose="020B0604030504040204" pitchFamily="34" charset="0"/>
              </a:rPr>
              <a:t>6</a:t>
            </a:r>
            <a:r>
              <a:rPr lang="zh-CN" altLang="en-US" sz="2400" dirty="0">
                <a:latin typeface="Tahoma" panose="020B0604030504040204" pitchFamily="34" charset="0"/>
              </a:rPr>
              <a:t>种可能的全排列：</a:t>
            </a:r>
            <a:r>
              <a:rPr lang="en-US" altLang="zh-CN" sz="2400" dirty="0" err="1">
                <a:latin typeface="Tahoma" panose="020B0604030504040204" pitchFamily="34" charset="0"/>
              </a:rPr>
              <a:t>abc</a:t>
            </a:r>
            <a:r>
              <a:rPr lang="zh-CN" altLang="en-US" sz="2400" dirty="0">
                <a:latin typeface="Tahoma" panose="020B0604030504040204" pitchFamily="34" charset="0"/>
              </a:rPr>
              <a:t>，</a:t>
            </a:r>
            <a:r>
              <a:rPr lang="en-US" altLang="zh-CN" sz="2400" dirty="0" err="1">
                <a:latin typeface="Tahoma" panose="020B0604030504040204" pitchFamily="34" charset="0"/>
              </a:rPr>
              <a:t>acb</a:t>
            </a:r>
            <a:r>
              <a:rPr lang="zh-CN" altLang="en-US" sz="2400" dirty="0">
                <a:latin typeface="Tahoma" panose="020B0604030504040204" pitchFamily="34" charset="0"/>
              </a:rPr>
              <a:t>，</a:t>
            </a:r>
            <a:r>
              <a:rPr lang="en-US" altLang="zh-CN" sz="2400" dirty="0">
                <a:latin typeface="Tahoma" panose="020B0604030504040204" pitchFamily="34" charset="0"/>
              </a:rPr>
              <a:t>bac</a:t>
            </a:r>
            <a:r>
              <a:rPr lang="zh-CN" altLang="en-US" sz="2400" dirty="0">
                <a:latin typeface="Tahoma" panose="020B0604030504040204" pitchFamily="34" charset="0"/>
              </a:rPr>
              <a:t>，</a:t>
            </a:r>
            <a:r>
              <a:rPr lang="en-US" altLang="zh-CN" sz="2400" dirty="0" err="1">
                <a:latin typeface="Tahoma" panose="020B0604030504040204" pitchFamily="34" charset="0"/>
              </a:rPr>
              <a:t>bca</a:t>
            </a:r>
            <a:r>
              <a:rPr lang="zh-CN" altLang="en-US" sz="2400" dirty="0">
                <a:latin typeface="Tahoma" panose="020B0604030504040204" pitchFamily="34" charset="0"/>
              </a:rPr>
              <a:t>，</a:t>
            </a:r>
            <a:r>
              <a:rPr lang="en-US" altLang="zh-CN" sz="2400" dirty="0">
                <a:latin typeface="Tahoma" panose="020B0604030504040204" pitchFamily="34" charset="0"/>
              </a:rPr>
              <a:t>cab</a:t>
            </a:r>
            <a:r>
              <a:rPr lang="zh-CN" altLang="en-US" sz="2400" dirty="0">
                <a:latin typeface="Tahoma" panose="020B0604030504040204" pitchFamily="34" charset="0"/>
              </a:rPr>
              <a:t>，</a:t>
            </a:r>
            <a:r>
              <a:rPr lang="en-US" altLang="zh-CN" sz="2400" dirty="0">
                <a:latin typeface="Tahoma" panose="020B0604030504040204" pitchFamily="34" charset="0"/>
              </a:rPr>
              <a:t>cba</a:t>
            </a:r>
            <a:r>
              <a:rPr lang="zh-CN" altLang="en-US" sz="2400" dirty="0">
                <a:latin typeface="Tahoma" panose="020B0604030504040204" pitchFamily="34" charset="0"/>
              </a:rPr>
              <a:t>；并且六种全排列按以上顺序排列，认为</a:t>
            </a:r>
            <a:r>
              <a:rPr lang="en-US" altLang="zh-CN" sz="2400" dirty="0" err="1">
                <a:latin typeface="Tahoma" panose="020B0604030504040204" pitchFamily="34" charset="0"/>
              </a:rPr>
              <a:t>abc</a:t>
            </a:r>
            <a:r>
              <a:rPr lang="zh-CN" altLang="en-US" sz="2400" dirty="0">
                <a:latin typeface="Tahoma" panose="020B0604030504040204" pitchFamily="34" charset="0"/>
              </a:rPr>
              <a:t>最小，</a:t>
            </a:r>
            <a:r>
              <a:rPr lang="en-US" altLang="zh-CN" sz="2400" dirty="0">
                <a:latin typeface="Tahoma" panose="020B0604030504040204" pitchFamily="34" charset="0"/>
              </a:rPr>
              <a:t>cba</a:t>
            </a:r>
            <a:r>
              <a:rPr lang="zh-CN" altLang="en-US" sz="2400" dirty="0">
                <a:latin typeface="Tahoma" panose="020B0604030504040204" pitchFamily="34" charset="0"/>
              </a:rPr>
              <a:t>最大，因为</a:t>
            </a:r>
            <a:r>
              <a:rPr lang="en-US" altLang="zh-CN" sz="2400" dirty="0" err="1">
                <a:latin typeface="Tahoma" panose="020B0604030504040204" pitchFamily="34" charset="0"/>
              </a:rPr>
              <a:t>abc</a:t>
            </a:r>
            <a:r>
              <a:rPr lang="zh-CN" altLang="en-US" sz="2400" dirty="0">
                <a:latin typeface="Tahoma" panose="020B0604030504040204" pitchFamily="34" charset="0"/>
              </a:rPr>
              <a:t>是全顺序（从小到大）而</a:t>
            </a:r>
            <a:r>
              <a:rPr lang="en-US" altLang="zh-CN" sz="2400" dirty="0">
                <a:latin typeface="Tahoma" panose="020B0604030504040204" pitchFamily="34" charset="0"/>
              </a:rPr>
              <a:t>cba</a:t>
            </a:r>
            <a:r>
              <a:rPr lang="zh-CN" altLang="en-US" sz="2400" dirty="0">
                <a:latin typeface="Tahoma" panose="020B0604030504040204" pitchFamily="34" charset="0"/>
              </a:rPr>
              <a:t>是全逆序（从大到小）。 </a:t>
            </a:r>
            <a:endParaRPr lang="en-US" altLang="zh-CN" sz="2400" dirty="0">
              <a:latin typeface="Tahoma" panose="020B0604030504040204" pitchFamily="34" charset="0"/>
            </a:endParaRPr>
          </a:p>
          <a:p>
            <a:r>
              <a:rPr lang="en-US" altLang="zh-CN" sz="2400" dirty="0">
                <a:solidFill>
                  <a:srgbClr val="A50021"/>
                </a:solidFill>
                <a:latin typeface="Tahoma" panose="020B0604030504040204" pitchFamily="34" charset="0"/>
              </a:rPr>
              <a:t>5</a:t>
            </a:r>
            <a:r>
              <a:rPr lang="zh-CN" altLang="en-US" sz="2400" dirty="0">
                <a:solidFill>
                  <a:srgbClr val="A50021"/>
                </a:solidFill>
                <a:latin typeface="Tahoma" panose="020B0604030504040204" pitchFamily="34" charset="0"/>
              </a:rPr>
              <a:t>．生成和改变算法</a:t>
            </a:r>
            <a:r>
              <a:rPr lang="zh-CN" altLang="en-US" sz="2400" dirty="0">
                <a:latin typeface="Tahoma" panose="020B0604030504040204" pitchFamily="34" charset="0"/>
              </a:rPr>
              <a:t>：有</a:t>
            </a:r>
            <a:r>
              <a:rPr lang="en-US" altLang="zh-CN" sz="2400" dirty="0">
                <a:latin typeface="Tahoma" panose="020B0604030504040204" pitchFamily="34" charset="0"/>
              </a:rPr>
              <a:t>6</a:t>
            </a:r>
            <a:r>
              <a:rPr lang="zh-CN" altLang="en-US" sz="2400" dirty="0">
                <a:latin typeface="Tahoma" panose="020B0604030504040204" pitchFamily="34" charset="0"/>
              </a:rPr>
              <a:t>种，包含生成（</a:t>
            </a:r>
            <a:r>
              <a:rPr lang="en-US" altLang="zh-CN" sz="2400" dirty="0">
                <a:latin typeface="Tahoma" panose="020B0604030504040204" pitchFamily="34" charset="0"/>
              </a:rPr>
              <a:t>generate</a:t>
            </a:r>
            <a:r>
              <a:rPr lang="zh-CN" altLang="en-US" sz="2400" dirty="0">
                <a:latin typeface="Tahoma" panose="020B0604030504040204" pitchFamily="34" charset="0"/>
              </a:rPr>
              <a:t>），填充（</a:t>
            </a:r>
            <a:r>
              <a:rPr lang="en-US" altLang="zh-CN" sz="2400" dirty="0">
                <a:latin typeface="Tahoma" panose="020B0604030504040204" pitchFamily="34" charset="0"/>
              </a:rPr>
              <a:t>fill</a:t>
            </a:r>
            <a:r>
              <a:rPr lang="zh-CN" altLang="en-US" sz="2400" dirty="0">
                <a:latin typeface="Tahoma" panose="020B0604030504040204" pitchFamily="34" charset="0"/>
              </a:rPr>
              <a:t>）等等。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400" dirty="0">
                <a:solidFill>
                  <a:srgbClr val="A50021"/>
                </a:solidFill>
                <a:latin typeface="Tahoma" panose="020B0604030504040204" pitchFamily="34" charset="0"/>
              </a:rPr>
              <a:t> </a:t>
            </a:r>
            <a:endParaRPr lang="zh-CN" altLang="en-US" sz="2400" dirty="0">
              <a:solidFill>
                <a:srgbClr val="A50021"/>
              </a:solidFill>
              <a:latin typeface="Tahoma" panose="020B0604030504040204" pitchFamily="34" charset="0"/>
            </a:endParaRPr>
          </a:p>
        </p:txBody>
      </p:sp>
      <p:sp>
        <p:nvSpPr>
          <p:cNvPr id="8" name="Rectangle 2"/>
          <p:cNvSpPr txBox="1">
            <a:spLocks noRot="1" noChangeArrowheads="1"/>
          </p:cNvSpPr>
          <p:nvPr/>
        </p:nvSpPr>
        <p:spPr>
          <a:xfrm>
            <a:off x="947827" y="-34027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11.9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泛型算法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1595438" y="549276"/>
            <a:ext cx="896461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A50021"/>
                </a:solidFill>
                <a:latin typeface="+mn-lt"/>
              </a:rPr>
              <a:t>6</a:t>
            </a:r>
            <a:r>
              <a:rPr lang="zh-CN" altLang="en-US" sz="2400" dirty="0">
                <a:solidFill>
                  <a:srgbClr val="A50021"/>
                </a:solidFill>
                <a:latin typeface="+mn-lt"/>
              </a:rPr>
              <a:t>．关系算法</a:t>
            </a:r>
            <a:r>
              <a:rPr lang="zh-CN" altLang="en-US" sz="2400" dirty="0">
                <a:latin typeface="+mn-lt"/>
              </a:rPr>
              <a:t>：有</a:t>
            </a:r>
            <a:r>
              <a:rPr lang="en-US" altLang="zh-CN" sz="2400" dirty="0">
                <a:latin typeface="+mn-lt"/>
              </a:rPr>
              <a:t>7</a:t>
            </a:r>
            <a:r>
              <a:rPr lang="zh-CN" altLang="en-US" sz="2400" dirty="0">
                <a:latin typeface="+mn-lt"/>
              </a:rPr>
              <a:t>种关系算法，为比较两个容器提供了各种策略，包括相等（</a:t>
            </a:r>
            <a:r>
              <a:rPr lang="en-US" altLang="zh-CN" sz="2400" dirty="0">
                <a:latin typeface="+mn-lt"/>
              </a:rPr>
              <a:t>equal()</a:t>
            </a:r>
            <a:r>
              <a:rPr lang="zh-CN" altLang="en-US" sz="2400" dirty="0">
                <a:latin typeface="+mn-lt"/>
              </a:rPr>
              <a:t>），最大（</a:t>
            </a:r>
            <a:r>
              <a:rPr lang="en-US" altLang="zh-CN" sz="2400" dirty="0">
                <a:latin typeface="+mn-lt"/>
              </a:rPr>
              <a:t>max()</a:t>
            </a:r>
            <a:r>
              <a:rPr lang="zh-CN" altLang="en-US" sz="2400" dirty="0">
                <a:latin typeface="+mn-lt"/>
              </a:rPr>
              <a:t>），最小（</a:t>
            </a:r>
            <a:r>
              <a:rPr lang="en-US" altLang="zh-CN" sz="2400" dirty="0">
                <a:latin typeface="+mn-lt"/>
              </a:rPr>
              <a:t>min()</a:t>
            </a:r>
            <a:r>
              <a:rPr lang="zh-CN" altLang="en-US" sz="2400" dirty="0">
                <a:latin typeface="+mn-lt"/>
              </a:rPr>
              <a:t>）等等。  </a:t>
            </a:r>
            <a:endParaRPr lang="zh-CN" altLang="en-US" sz="2400" dirty="0">
              <a:latin typeface="+mn-lt"/>
            </a:endParaRPr>
          </a:p>
          <a:p>
            <a:pPr eaLnBrk="1" hangingPunct="1"/>
            <a:r>
              <a:rPr lang="en-US" altLang="zh-CN" sz="2400" dirty="0">
                <a:solidFill>
                  <a:srgbClr val="A50021"/>
                </a:solidFill>
                <a:latin typeface="+mn-lt"/>
              </a:rPr>
              <a:t>7</a:t>
            </a:r>
            <a:r>
              <a:rPr lang="zh-CN" altLang="en-US" sz="2400" dirty="0">
                <a:solidFill>
                  <a:srgbClr val="A50021"/>
                </a:solidFill>
                <a:latin typeface="+mn-lt"/>
              </a:rPr>
              <a:t>．集合算法</a:t>
            </a:r>
            <a:r>
              <a:rPr lang="zh-CN" altLang="en-US" sz="2400" dirty="0">
                <a:latin typeface="+mn-lt"/>
              </a:rPr>
              <a:t>：</a:t>
            </a:r>
            <a:r>
              <a:rPr lang="en-US" altLang="zh-CN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种集合（</a:t>
            </a:r>
            <a:r>
              <a:rPr lang="en-US" altLang="zh-CN" sz="2400" dirty="0">
                <a:latin typeface="+mn-lt"/>
              </a:rPr>
              <a:t>set</a:t>
            </a:r>
            <a:r>
              <a:rPr lang="zh-CN" altLang="en-US" sz="2400" dirty="0">
                <a:latin typeface="+mn-lt"/>
              </a:rPr>
              <a:t>）算法提供了对任何容器类型的通用集合操作。包括并（</a:t>
            </a:r>
            <a:r>
              <a:rPr lang="en-US" altLang="zh-CN" sz="2400" dirty="0">
                <a:latin typeface="+mn-lt"/>
              </a:rPr>
              <a:t>union</a:t>
            </a:r>
            <a:r>
              <a:rPr lang="zh-CN" altLang="en-US" sz="2400" dirty="0">
                <a:latin typeface="+mn-lt"/>
              </a:rPr>
              <a:t>），交（</a:t>
            </a:r>
            <a:r>
              <a:rPr lang="en-US" altLang="zh-CN" sz="2400" dirty="0">
                <a:latin typeface="+mn-lt"/>
              </a:rPr>
              <a:t>intersection</a:t>
            </a:r>
            <a:r>
              <a:rPr lang="zh-CN" altLang="en-US" sz="2400" dirty="0">
                <a:latin typeface="+mn-lt"/>
              </a:rPr>
              <a:t>），差（</a:t>
            </a:r>
            <a:r>
              <a:rPr lang="en-US" altLang="zh-CN" sz="2400" dirty="0">
                <a:latin typeface="+mn-lt"/>
              </a:rPr>
              <a:t>difference</a:t>
            </a:r>
            <a:r>
              <a:rPr lang="zh-CN" altLang="en-US" sz="2400" dirty="0">
                <a:latin typeface="+mn-lt"/>
              </a:rPr>
              <a:t>）和对称差（</a:t>
            </a:r>
            <a:r>
              <a:rPr lang="en-US" altLang="zh-CN" sz="2400" dirty="0">
                <a:latin typeface="+mn-lt"/>
              </a:rPr>
              <a:t>symmetric difference</a:t>
            </a:r>
            <a:r>
              <a:rPr lang="zh-CN" altLang="en-US" sz="2400" dirty="0">
                <a:latin typeface="+mn-lt"/>
              </a:rPr>
              <a:t>）。 </a:t>
            </a:r>
            <a:endParaRPr lang="zh-CN" altLang="en-US" sz="2400" dirty="0">
              <a:latin typeface="+mn-lt"/>
            </a:endParaRPr>
          </a:p>
        </p:txBody>
      </p:sp>
      <p:sp>
        <p:nvSpPr>
          <p:cNvPr id="29703" name="Rectangle 9"/>
          <p:cNvSpPr>
            <a:spLocks noChangeArrowheads="1"/>
          </p:cNvSpPr>
          <p:nvPr/>
        </p:nvSpPr>
        <p:spPr bwMode="auto">
          <a:xfrm>
            <a:off x="1524001" y="2131503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1774826" y="2490308"/>
          <a:ext cx="8569325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1" imgW="6604000" imgH="1490345" progId="Visio.Drawing.6">
                  <p:embed/>
                </p:oleObj>
              </mc:Choice>
              <mc:Fallback>
                <p:oleObj name="Visio" r:id="rId1" imgW="6604000" imgH="1490345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bright="-60000" contrast="7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2490308"/>
                        <a:ext cx="8569325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1631951" y="4577871"/>
            <a:ext cx="912218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A50021"/>
                </a:solidFill>
                <a:latin typeface="+mn-lt"/>
              </a:rPr>
              <a:t>8.  </a:t>
            </a:r>
            <a:r>
              <a:rPr lang="zh-CN" altLang="en-US" sz="2400" dirty="0">
                <a:solidFill>
                  <a:srgbClr val="A50021"/>
                </a:solidFill>
                <a:latin typeface="+mn-lt"/>
              </a:rPr>
              <a:t>堆算法</a:t>
            </a:r>
            <a:r>
              <a:rPr lang="zh-CN" altLang="en-US" sz="2400" dirty="0">
                <a:latin typeface="+mn-lt"/>
              </a:rPr>
              <a:t>：有</a:t>
            </a:r>
            <a:r>
              <a:rPr lang="en-US" altLang="zh-CN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种堆算法。堆是以数组来表示二叉树的一种形式。标准库提供大根堆（</a:t>
            </a:r>
            <a:r>
              <a:rPr lang="en-US" altLang="zh-CN" sz="2400" dirty="0" err="1">
                <a:latin typeface="+mn-lt"/>
              </a:rPr>
              <a:t>max_heap</a:t>
            </a:r>
            <a:r>
              <a:rPr lang="zh-CN" altLang="en-US" sz="2400" dirty="0">
                <a:latin typeface="+mn-lt"/>
              </a:rPr>
              <a:t>），它的每个结点的关键字大于其子结点的关键字。</a:t>
            </a:r>
            <a:endParaRPr lang="zh-CN" altLang="en-US" sz="2400" dirty="0">
              <a:latin typeface="+mn-lt"/>
            </a:endParaRPr>
          </a:p>
          <a:p>
            <a:pPr eaLnBrk="1" hangingPunct="1"/>
            <a:r>
              <a:rPr lang="en-US" altLang="zh-CN" sz="2400" dirty="0">
                <a:solidFill>
                  <a:srgbClr val="A50021"/>
                </a:solidFill>
                <a:latin typeface="+mn-lt"/>
              </a:rPr>
              <a:t>9.  </a:t>
            </a:r>
            <a:r>
              <a:rPr lang="zh-CN" altLang="en-US" sz="2400" dirty="0">
                <a:solidFill>
                  <a:srgbClr val="A50021"/>
                </a:solidFill>
                <a:latin typeface="+mn-lt"/>
              </a:rPr>
              <a:t>算术算法</a:t>
            </a:r>
            <a:r>
              <a:rPr lang="zh-CN" altLang="en-US" sz="2400" dirty="0">
                <a:latin typeface="+mn-lt"/>
              </a:rPr>
              <a:t>：该类算法有</a:t>
            </a:r>
            <a:r>
              <a:rPr lang="en-US" altLang="zh-CN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种，使用时要求包含头文件</a:t>
            </a:r>
            <a:r>
              <a:rPr lang="en-US" altLang="zh-CN" sz="2400" dirty="0">
                <a:latin typeface="+mn-lt"/>
              </a:rPr>
              <a:t>&lt;numeric&gt;</a:t>
            </a:r>
            <a:r>
              <a:rPr lang="zh-CN" altLang="en-US" sz="2400" dirty="0">
                <a:latin typeface="+mn-lt"/>
              </a:rPr>
              <a:t>。</a:t>
            </a:r>
            <a:endParaRPr lang="zh-CN" altLang="en-US" sz="2400" dirty="0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1003024" y="463344"/>
            <a:ext cx="93933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8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例：泛型算法的构造与使用</a:t>
            </a:r>
            <a:endParaRPr lang="en-US" altLang="zh-CN" sz="2400" dirty="0">
              <a:solidFill>
                <a:srgbClr val="008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t="16354" r="6232" b="65895"/>
          <a:stretch>
            <a:fillRect/>
          </a:stretch>
        </p:blipFill>
        <p:spPr>
          <a:xfrm>
            <a:off x="1707861" y="1818861"/>
            <a:ext cx="5507948" cy="70788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20077" y="925009"/>
            <a:ext cx="9064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solidFill>
                  <a:srgbClr val="FF0000"/>
                </a:solidFill>
              </a:rPr>
              <a:t>binary_search</a:t>
            </a:r>
            <a:r>
              <a:rPr lang="zh-CN" altLang="en-US" sz="2000" b="1" dirty="0"/>
              <a:t>：折半查找（二分法查找）。要求容器元素已经有序排列且支持随机访问迭代器。如果找到则返回值为</a:t>
            </a:r>
            <a:r>
              <a:rPr lang="zh-CN" altLang="en-US" sz="2000" b="1" dirty="0">
                <a:solidFill>
                  <a:srgbClr val="0066FF"/>
                </a:solidFill>
              </a:rPr>
              <a:t>真</a:t>
            </a:r>
            <a:r>
              <a:rPr lang="zh-CN" altLang="en-US" sz="2000" b="1" dirty="0"/>
              <a:t>，否则返回</a:t>
            </a:r>
            <a:r>
              <a:rPr lang="zh-CN" altLang="en-US" sz="2000" b="1" dirty="0">
                <a:solidFill>
                  <a:srgbClr val="0066FF"/>
                </a:solidFill>
              </a:rPr>
              <a:t>假</a:t>
            </a:r>
            <a:r>
              <a:rPr lang="zh-CN" altLang="en-US" sz="2000" b="1" dirty="0"/>
              <a:t>。</a:t>
            </a:r>
            <a:endParaRPr lang="zh-CN" altLang="en-US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620077" y="2569381"/>
            <a:ext cx="906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//</a:t>
            </a:r>
            <a:r>
              <a:rPr lang="zh-CN" altLang="en-US" b="1" dirty="0">
                <a:solidFill>
                  <a:srgbClr val="00B050"/>
                </a:solidFill>
              </a:rPr>
              <a:t>默认查找元素时按</a:t>
            </a:r>
            <a:r>
              <a:rPr lang="en-US" altLang="zh-CN" b="1" dirty="0">
                <a:solidFill>
                  <a:srgbClr val="00B050"/>
                </a:solidFill>
              </a:rPr>
              <a:t>x&lt;y</a:t>
            </a:r>
            <a:r>
              <a:rPr lang="zh-CN" altLang="en-US" b="1" dirty="0">
                <a:solidFill>
                  <a:srgbClr val="00B050"/>
                </a:solidFill>
              </a:rPr>
              <a:t>进行比较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63756" y="2981347"/>
            <a:ext cx="9064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template&lt;class </a:t>
            </a:r>
            <a:r>
              <a:rPr lang="en-US" altLang="zh-CN" b="1" dirty="0" err="1"/>
              <a:t>FwdIt</a:t>
            </a:r>
            <a:r>
              <a:rPr lang="en-US" altLang="zh-CN" b="1" dirty="0"/>
              <a:t>, Class T&gt;</a:t>
            </a:r>
            <a:endParaRPr lang="en-US" altLang="zh-CN" b="1" dirty="0"/>
          </a:p>
          <a:p>
            <a:r>
              <a:rPr lang="en-US" altLang="zh-CN" b="1" dirty="0"/>
              <a:t>Bool </a:t>
            </a:r>
            <a:r>
              <a:rPr lang="en-US" altLang="zh-CN" b="1" dirty="0" err="1"/>
              <a:t>binary_search</a:t>
            </a:r>
            <a:r>
              <a:rPr lang="en-US" altLang="zh-CN" b="1" dirty="0"/>
              <a:t>(</a:t>
            </a:r>
            <a:r>
              <a:rPr lang="en-US" altLang="zh-CN" b="1" dirty="0" err="1"/>
              <a:t>FwdIt</a:t>
            </a:r>
            <a:r>
              <a:rPr lang="en-US" altLang="zh-CN" b="1" dirty="0"/>
              <a:t> first, </a:t>
            </a:r>
            <a:r>
              <a:rPr lang="en-US" altLang="zh-CN" b="1" dirty="0" err="1"/>
              <a:t>FwdIt</a:t>
            </a:r>
            <a:r>
              <a:rPr lang="en-US" altLang="zh-CN" b="1" dirty="0"/>
              <a:t> last, const </a:t>
            </a:r>
            <a:r>
              <a:rPr lang="en-US" altLang="zh-CN" b="1" dirty="0" err="1"/>
              <a:t>T&amp;val</a:t>
            </a:r>
            <a:r>
              <a:rPr lang="en-US" altLang="zh-CN" b="1" dirty="0"/>
              <a:t>, </a:t>
            </a:r>
            <a:r>
              <a:rPr lang="en-US" altLang="zh-CN" b="1" dirty="0" err="1">
                <a:solidFill>
                  <a:srgbClr val="FF0000"/>
                </a:solidFill>
              </a:rPr>
              <a:t>Pred</a:t>
            </a:r>
            <a:r>
              <a:rPr lang="en-US" altLang="zh-CN" b="1" dirty="0">
                <a:solidFill>
                  <a:srgbClr val="FF0000"/>
                </a:solidFill>
              </a:rPr>
              <a:t> pr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563755" y="3690533"/>
            <a:ext cx="906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//</a:t>
            </a:r>
            <a:r>
              <a:rPr lang="zh-CN" altLang="en-US" b="1" dirty="0">
                <a:solidFill>
                  <a:srgbClr val="00B050"/>
                </a:solidFill>
              </a:rPr>
              <a:t>默认查找元素时按</a:t>
            </a:r>
            <a:r>
              <a:rPr lang="en-US" altLang="zh-CN" b="1" dirty="0">
                <a:solidFill>
                  <a:srgbClr val="00B050"/>
                </a:solidFill>
              </a:rPr>
              <a:t>pr</a:t>
            </a:r>
            <a:r>
              <a:rPr lang="zh-CN" altLang="en-US" b="1" dirty="0">
                <a:solidFill>
                  <a:srgbClr val="00B050"/>
                </a:solidFill>
              </a:rPr>
              <a:t>规定的方法进行比价，当</a:t>
            </a:r>
            <a:r>
              <a:rPr lang="en-US" altLang="zh-CN" b="1" dirty="0">
                <a:solidFill>
                  <a:srgbClr val="00B050"/>
                </a:solidFill>
              </a:rPr>
              <a:t>pr(</a:t>
            </a:r>
            <a:r>
              <a:rPr lang="en-US" altLang="zh-CN" b="1" dirty="0" err="1">
                <a:solidFill>
                  <a:srgbClr val="00B050"/>
                </a:solidFill>
              </a:rPr>
              <a:t>x,y</a:t>
            </a:r>
            <a:r>
              <a:rPr lang="en-US" altLang="zh-CN" b="1" dirty="0">
                <a:solidFill>
                  <a:srgbClr val="00B050"/>
                </a:solidFill>
              </a:rPr>
              <a:t>)</a:t>
            </a:r>
            <a:r>
              <a:rPr lang="zh-CN" altLang="en-US" b="1" dirty="0">
                <a:solidFill>
                  <a:srgbClr val="00B050"/>
                </a:solidFill>
              </a:rPr>
              <a:t>为真认为</a:t>
            </a:r>
            <a:r>
              <a:rPr lang="en-US" altLang="zh-CN" b="1" dirty="0">
                <a:solidFill>
                  <a:srgbClr val="00B050"/>
                </a:solidFill>
              </a:rPr>
              <a:t>x&lt;y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96" y="4358110"/>
            <a:ext cx="4229317" cy="109860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563755" y="5519571"/>
            <a:ext cx="906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//</a:t>
            </a:r>
            <a:r>
              <a:rPr lang="zh-CN" altLang="en-US" b="1" dirty="0">
                <a:solidFill>
                  <a:srgbClr val="00B050"/>
                </a:solidFill>
              </a:rPr>
              <a:t>查找元素</a:t>
            </a:r>
            <a:r>
              <a:rPr lang="en-US" altLang="zh-CN" b="1" dirty="0" err="1">
                <a:solidFill>
                  <a:srgbClr val="00B050"/>
                </a:solidFill>
              </a:rPr>
              <a:t>val</a:t>
            </a:r>
            <a:r>
              <a:rPr lang="zh-CN" altLang="en-US" b="1" dirty="0">
                <a:solidFill>
                  <a:srgbClr val="00B050"/>
                </a:solidFill>
              </a:rPr>
              <a:t>，返回区间</a:t>
            </a:r>
            <a:r>
              <a:rPr lang="en-US" altLang="zh-CN" b="1" dirty="0">
                <a:solidFill>
                  <a:srgbClr val="00B050"/>
                </a:solidFill>
              </a:rPr>
              <a:t>[first,</a:t>
            </a:r>
            <a:r>
              <a:rPr lang="zh-CN" altLang="en-US" b="1" dirty="0">
                <a:solidFill>
                  <a:srgbClr val="00B050"/>
                </a:solidFill>
              </a:rPr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last)</a:t>
            </a:r>
            <a:r>
              <a:rPr lang="zh-CN" altLang="en-US" b="1" dirty="0">
                <a:solidFill>
                  <a:srgbClr val="00B050"/>
                </a:solidFill>
              </a:rPr>
              <a:t>中与</a:t>
            </a:r>
            <a:r>
              <a:rPr lang="en-US" altLang="zh-CN" b="1" dirty="0" err="1">
                <a:solidFill>
                  <a:srgbClr val="00B050"/>
                </a:solidFill>
              </a:rPr>
              <a:t>val</a:t>
            </a:r>
            <a:r>
              <a:rPr lang="zh-CN" altLang="en-US" b="1" dirty="0">
                <a:solidFill>
                  <a:srgbClr val="00B050"/>
                </a:solidFill>
              </a:rPr>
              <a:t>相等的元素的迭代器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1003024" y="463344"/>
            <a:ext cx="93933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8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例：泛型算法的构造与使用</a:t>
            </a:r>
            <a:endParaRPr lang="en-US" altLang="zh-CN" sz="2400" dirty="0">
              <a:solidFill>
                <a:srgbClr val="008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/>
          <a:srcRect b="37427"/>
          <a:stretch>
            <a:fillRect/>
          </a:stretch>
        </p:blipFill>
        <p:spPr>
          <a:xfrm>
            <a:off x="8746042" y="765920"/>
            <a:ext cx="2146410" cy="214176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/>
          <a:srcRect t="63036"/>
          <a:stretch>
            <a:fillRect/>
          </a:stretch>
        </p:blipFill>
        <p:spPr>
          <a:xfrm>
            <a:off x="8823913" y="3620486"/>
            <a:ext cx="2146410" cy="12652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77" y="1075814"/>
            <a:ext cx="3880049" cy="111765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37862" y="2270415"/>
            <a:ext cx="906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//</a:t>
            </a:r>
            <a:r>
              <a:rPr lang="zh-CN" altLang="en-US" b="1" dirty="0">
                <a:solidFill>
                  <a:srgbClr val="00B050"/>
                </a:solidFill>
              </a:rPr>
              <a:t>返回区间</a:t>
            </a:r>
            <a:r>
              <a:rPr lang="en-US" altLang="zh-CN" b="1" dirty="0">
                <a:solidFill>
                  <a:srgbClr val="00B050"/>
                </a:solidFill>
              </a:rPr>
              <a:t>[first,</a:t>
            </a:r>
            <a:r>
              <a:rPr lang="zh-CN" altLang="en-US" b="1" dirty="0">
                <a:solidFill>
                  <a:srgbClr val="00B050"/>
                </a:solidFill>
              </a:rPr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last)</a:t>
            </a:r>
            <a:r>
              <a:rPr lang="zh-CN" altLang="en-US" b="1" dirty="0">
                <a:solidFill>
                  <a:srgbClr val="00B050"/>
                </a:solidFill>
              </a:rPr>
              <a:t>中与满足条件</a:t>
            </a:r>
            <a:r>
              <a:rPr lang="en-US" altLang="zh-CN" b="1" dirty="0">
                <a:solidFill>
                  <a:srgbClr val="00B050"/>
                </a:solidFill>
              </a:rPr>
              <a:t>pr</a:t>
            </a:r>
            <a:r>
              <a:rPr lang="zh-CN" altLang="en-US" b="1" dirty="0">
                <a:solidFill>
                  <a:srgbClr val="00B050"/>
                </a:solidFill>
              </a:rPr>
              <a:t>的迭代器</a:t>
            </a:r>
            <a:r>
              <a:rPr lang="en-US" altLang="zh-CN" b="1" dirty="0" err="1">
                <a:solidFill>
                  <a:srgbClr val="00B050"/>
                </a:solidFill>
              </a:rPr>
              <a:t>i</a:t>
            </a:r>
            <a:r>
              <a:rPr lang="zh-CN" altLang="en-US" b="1" dirty="0">
                <a:solidFill>
                  <a:srgbClr val="00B050"/>
                </a:solidFill>
              </a:rPr>
              <a:t>，使得</a:t>
            </a:r>
            <a:r>
              <a:rPr lang="en-US" altLang="zh-CN" b="1" dirty="0">
                <a:solidFill>
                  <a:srgbClr val="00B050"/>
                </a:solidFill>
              </a:rPr>
              <a:t>pr(*</a:t>
            </a:r>
            <a:r>
              <a:rPr lang="en-US" altLang="zh-CN" b="1" dirty="0" err="1">
                <a:solidFill>
                  <a:srgbClr val="00B050"/>
                </a:solidFill>
              </a:rPr>
              <a:t>i</a:t>
            </a:r>
            <a:r>
              <a:rPr lang="en-US" altLang="zh-CN" b="1" dirty="0">
                <a:solidFill>
                  <a:srgbClr val="00B050"/>
                </a:solidFill>
              </a:rPr>
              <a:t>)==true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851" y="2704656"/>
            <a:ext cx="5931462" cy="332948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336" y="2639747"/>
            <a:ext cx="1333496" cy="4427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504"/>
          <a:stretch>
            <a:fillRect/>
          </a:stretch>
        </p:blipFill>
        <p:spPr>
          <a:xfrm>
            <a:off x="2723322" y="712482"/>
            <a:ext cx="4681866" cy="382289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l="556" b="41745"/>
          <a:stretch>
            <a:fillRect/>
          </a:stretch>
        </p:blipFill>
        <p:spPr>
          <a:xfrm>
            <a:off x="3040310" y="4535378"/>
            <a:ext cx="3744803" cy="168323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l="28386" t="55160"/>
          <a:stretch>
            <a:fillRect/>
          </a:stretch>
        </p:blipFill>
        <p:spPr>
          <a:xfrm>
            <a:off x="6708913" y="639384"/>
            <a:ext cx="3103222" cy="14908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137" y="2047461"/>
            <a:ext cx="3848899" cy="230498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05678" y="3767675"/>
            <a:ext cx="2017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</a:rPr>
              <a:t>//</a:t>
            </a:r>
            <a:r>
              <a:rPr lang="en-US" altLang="zh-CN" sz="1600" dirty="0" err="1">
                <a:solidFill>
                  <a:srgbClr val="00B050"/>
                </a:solidFill>
              </a:rPr>
              <a:t>find_if</a:t>
            </a:r>
            <a:r>
              <a:rPr lang="zh-CN" altLang="en-US" sz="1600" dirty="0">
                <a:solidFill>
                  <a:srgbClr val="00B050"/>
                </a:solidFill>
              </a:rPr>
              <a:t>算法：查找</a:t>
            </a:r>
            <a:r>
              <a:rPr lang="en-US" altLang="zh-CN" sz="1600" dirty="0">
                <a:solidFill>
                  <a:srgbClr val="00B050"/>
                </a:solidFill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</a:rPr>
              <a:t>满足某条件的元素</a:t>
            </a:r>
            <a:endParaRPr lang="zh-CN" altLang="en-US" sz="16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1003024" y="463344"/>
            <a:ext cx="9393306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008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泛型算法的构造与使用方法</a:t>
            </a:r>
            <a:r>
              <a:rPr lang="en-US" altLang="zh-CN" sz="3200" dirty="0">
                <a:solidFill>
                  <a:srgbClr val="008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  <a:endParaRPr lang="en-US" altLang="zh-CN" sz="3200" dirty="0">
              <a:solidFill>
                <a:srgbClr val="008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 algn="just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所有泛型算法的前两个实参是一对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iterator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，通常称为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first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last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，它们标出要操作的容器或内置数组中的元素范围。元素的范围，包括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first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，但不包含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last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的左闭合区间。即： 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400" dirty="0" err="1">
                <a:latin typeface="Tahoma" panose="020B0604030504040204" pitchFamily="34" charset="0"/>
                <a:ea typeface="宋体" panose="02010600030101010101" pitchFamily="2" charset="-122"/>
              </a:rPr>
              <a:t>first,last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342900" indent="-342900" algn="just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first==last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成立，则范围为空。</a:t>
            </a:r>
            <a:endParaRPr lang="zh-CN" altLang="en-US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iterator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的属性，则要求在每个算法声明中指出，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所声明的是最低要求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en-US" sz="2400" dirty="0"/>
              <a:t>如</a:t>
            </a:r>
            <a:r>
              <a:rPr lang="en-US" altLang="zh-CN" sz="2400" dirty="0"/>
              <a:t>find(	)</a:t>
            </a:r>
            <a:r>
              <a:rPr lang="zh-CN" altLang="en-US" sz="2400" dirty="0"/>
              <a:t>最低要求为：</a:t>
            </a:r>
            <a:r>
              <a:rPr lang="en-US" altLang="zh-CN" sz="2400" dirty="0" err="1"/>
              <a:t>InputIterator</a:t>
            </a:r>
            <a:r>
              <a:rPr lang="zh-CN" altLang="en-US" sz="2400" dirty="0"/>
              <a:t>，可以传递更高级别的迭代器。如：</a:t>
            </a:r>
            <a:r>
              <a:rPr lang="en-US" altLang="zh-CN" sz="2400" dirty="0" err="1"/>
              <a:t>ForwardIterator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BidirectonalIterator</a:t>
            </a:r>
            <a:r>
              <a:rPr lang="zh-CN" altLang="en-US" sz="2400" dirty="0"/>
              <a:t>及</a:t>
            </a:r>
            <a:r>
              <a:rPr lang="en-US" altLang="zh-CN" sz="2400" dirty="0" err="1"/>
              <a:t>RandomAccessInterator</a:t>
            </a:r>
            <a:r>
              <a:rPr lang="zh-CN" altLang="en-US" sz="2400" dirty="0"/>
              <a:t>。但不能用</a:t>
            </a:r>
            <a:r>
              <a:rPr lang="en-US" altLang="zh-CN" sz="2400" dirty="0" err="1"/>
              <a:t>OutputInterator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传递给算法中的</a:t>
            </a:r>
            <a:r>
              <a:rPr lang="en-US" altLang="zh-CN" sz="2400" dirty="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pr</a:t>
            </a: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参数的</a:t>
            </a:r>
            <a:r>
              <a:rPr lang="zh-CN" altLang="en-US" sz="2400" dirty="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实参</a:t>
            </a: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可以是</a:t>
            </a:r>
            <a:r>
              <a:rPr lang="zh-CN" altLang="en-US" sz="2400" dirty="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函数指针（函数名</a:t>
            </a: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），</a:t>
            </a:r>
            <a:r>
              <a:rPr lang="zh-CN" altLang="en-US" sz="2400" dirty="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函数对象</a:t>
            </a: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lambda</a:t>
            </a:r>
            <a:r>
              <a:rPr lang="zh-CN" altLang="en-US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表达式 </a:t>
            </a:r>
            <a:endParaRPr lang="zh-CN" altLang="en-US" sz="2400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05953" y="155277"/>
            <a:ext cx="6801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11.3 </a:t>
            </a:r>
            <a:r>
              <a:rPr lang="zh-CN" altLang="en-US" sz="3200" dirty="0">
                <a:solidFill>
                  <a:schemeClr val="bg1"/>
                </a:solidFill>
              </a:rPr>
              <a:t>泛型算法</a:t>
            </a:r>
            <a:r>
              <a:rPr lang="en-US" altLang="zh-CN" sz="2000" dirty="0">
                <a:solidFill>
                  <a:prstClr val="white"/>
                </a:solidFill>
              </a:rPr>
              <a:t>——</a:t>
            </a:r>
            <a:r>
              <a:rPr lang="zh-CN" altLang="en-US" sz="2000" dirty="0">
                <a:solidFill>
                  <a:prstClr val="white"/>
                </a:solidFill>
              </a:rPr>
              <a:t>向算法传递函数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05953" y="1308664"/>
            <a:ext cx="7361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8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引入 </a:t>
            </a:r>
            <a:r>
              <a:rPr kumimoji="1" lang="en-US" altLang="zh-CN" sz="2400" b="1" dirty="0">
                <a:solidFill>
                  <a:srgbClr val="008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lambda </a:t>
            </a:r>
            <a:r>
              <a:rPr kumimoji="1" lang="zh-CN" altLang="en-US" sz="2400" b="1" dirty="0">
                <a:solidFill>
                  <a:srgbClr val="008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  <a:endParaRPr kumimoji="1" lang="zh-CN" altLang="en-US" sz="2400" b="1" dirty="0">
              <a:solidFill>
                <a:srgbClr val="008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05953" y="1950739"/>
            <a:ext cx="86909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26268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66FF"/>
                </a:solidFill>
              </a:rPr>
              <a:t>一次性</a:t>
            </a:r>
            <a:r>
              <a:rPr lang="zh-CN" altLang="en-US" sz="2000" b="1" dirty="0"/>
              <a:t>使用的</a:t>
            </a:r>
            <a:r>
              <a:rPr lang="zh-CN" altLang="en-US" sz="2000" b="1" dirty="0">
                <a:solidFill>
                  <a:srgbClr val="0066FF"/>
                </a:solidFill>
              </a:rPr>
              <a:t>简单函数</a:t>
            </a:r>
            <a:r>
              <a:rPr lang="zh-CN" altLang="en-US" sz="2000" b="1" dirty="0"/>
              <a:t>能否不需要以函数的完整形式定义？</a:t>
            </a:r>
            <a:endParaRPr lang="en-US" altLang="zh-CN" sz="2000" b="1" dirty="0"/>
          </a:p>
          <a:p>
            <a:pPr marL="285750" indent="-285750">
              <a:buClr>
                <a:srgbClr val="26268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66FF"/>
                </a:solidFill>
              </a:rPr>
              <a:t>一次性</a:t>
            </a:r>
            <a:r>
              <a:rPr lang="zh-CN" altLang="en-US" sz="2000" b="1" dirty="0"/>
              <a:t>使用的</a:t>
            </a:r>
            <a:r>
              <a:rPr lang="zh-CN" altLang="en-US" sz="2000" b="1" dirty="0">
                <a:solidFill>
                  <a:srgbClr val="0066FF"/>
                </a:solidFill>
              </a:rPr>
              <a:t>函数对象</a:t>
            </a:r>
            <a:r>
              <a:rPr lang="zh-CN" altLang="en-US" sz="2000" b="1" dirty="0"/>
              <a:t>能否不需要定义成类</a:t>
            </a:r>
            <a:r>
              <a:rPr lang="en-US" altLang="zh-CN" sz="2000" b="1" dirty="0"/>
              <a:t>-&gt;</a:t>
            </a:r>
            <a:r>
              <a:rPr lang="zh-CN" altLang="en-US" sz="2000" b="1" dirty="0"/>
              <a:t>实例化类的形式定义和使用？</a:t>
            </a:r>
            <a:endParaRPr lang="en-US" altLang="zh-CN" sz="2000" b="1" dirty="0"/>
          </a:p>
        </p:txBody>
      </p:sp>
      <p:sp>
        <p:nvSpPr>
          <p:cNvPr id="16" name="Rectangle 2"/>
          <p:cNvSpPr txBox="1">
            <a:spLocks noRot="1" noChangeArrowheads="1"/>
          </p:cNvSpPr>
          <p:nvPr/>
        </p:nvSpPr>
        <p:spPr>
          <a:xfrm>
            <a:off x="1073427" y="289724"/>
            <a:ext cx="5670018" cy="699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11.10 lambda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表达式</a:t>
            </a:r>
            <a:endParaRPr lang="zh-CN" altLang="en-US" sz="40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t="18247"/>
          <a:stretch>
            <a:fillRect/>
          </a:stretch>
        </p:blipFill>
        <p:spPr>
          <a:xfrm>
            <a:off x="2355573" y="2837401"/>
            <a:ext cx="6302987" cy="1341281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287127" y="4309880"/>
            <a:ext cx="6912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solidFill>
                  <a:srgbClr val="008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</a:t>
            </a:r>
            <a:r>
              <a:rPr kumimoji="1" lang="en-US" altLang="zh-CN" sz="2000" b="1" dirty="0">
                <a:latin typeface="隶书" panose="02010509060101010101" pitchFamily="49" charset="-122"/>
                <a:ea typeface="隶书" panose="02010509060101010101" pitchFamily="49" charset="-122"/>
              </a:rPr>
              <a:t>sort</a:t>
            </a:r>
            <a:r>
              <a:rPr kumimoji="1" lang="zh-CN" altLang="en-US" sz="2000" b="1" dirty="0">
                <a:latin typeface="隶书" panose="02010509060101010101" pitchFamily="49" charset="-122"/>
                <a:ea typeface="隶书" panose="02010509060101010101" pitchFamily="49" charset="-122"/>
              </a:rPr>
              <a:t>算法的第三个参数是一个</a:t>
            </a:r>
            <a:r>
              <a:rPr kumimoji="1" lang="en-US" altLang="zh-CN" sz="2000" b="1" dirty="0">
                <a:latin typeface="隶书" panose="02010509060101010101" pitchFamily="49" charset="-122"/>
                <a:ea typeface="隶书" panose="02010509060101010101" pitchFamily="49" charset="-122"/>
              </a:rPr>
              <a:t>lambda </a:t>
            </a:r>
            <a:r>
              <a:rPr kumimoji="1" lang="zh-CN" altLang="en-US" sz="2000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表达式（函数）</a:t>
            </a:r>
            <a:endParaRPr lang="zh-CN" altLang="en-US" sz="20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369" y="4801803"/>
            <a:ext cx="7241532" cy="11770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967381" y="3114920"/>
            <a:ext cx="2750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lambda</a:t>
            </a:r>
            <a:r>
              <a:rPr lang="zh-CN" altLang="en-US" sz="2400" b="1" dirty="0"/>
              <a:t>表达式就是一个</a:t>
            </a:r>
            <a:r>
              <a:rPr lang="zh-CN" altLang="en-US" sz="2400" b="1" dirty="0">
                <a:solidFill>
                  <a:srgbClr val="FF0000"/>
                </a:solidFill>
              </a:rPr>
              <a:t>函数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977" y="1953457"/>
            <a:ext cx="9785853" cy="312436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977" y="391137"/>
            <a:ext cx="7342906" cy="15623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526" y="391137"/>
            <a:ext cx="2493532" cy="1844477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295555" y="5143424"/>
            <a:ext cx="995869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例：</a:t>
            </a:r>
            <a:endParaRPr lang="en-US" altLang="zh-CN" sz="20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latin typeface="Consolas" panose="020B0609020204030204" pitchFamily="49" charset="0"/>
              </a:rPr>
              <a:t>vector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&gt; vi = { 3, 7, 1, 11, 3, 3, 2 };</a:t>
            </a:r>
            <a:b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n = 3;</a:t>
            </a:r>
            <a:b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for_each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vi.begin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vi.end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[n]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n ? 0 :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);});</a:t>
            </a:r>
            <a:r>
              <a:rPr lang="en-US" altLang="zh-CN" sz="2000" b="1" dirty="0">
                <a:latin typeface="Consolas" panose="020B0609020204030204" pitchFamily="49" charset="0"/>
              </a:rPr>
              <a:t> 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79277" y="583917"/>
            <a:ext cx="6801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例：使用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lambda</a:t>
            </a:r>
            <a:r>
              <a:rPr lang="zh-CN" alt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表达式</a:t>
            </a:r>
            <a:endParaRPr lang="en-US" altLang="zh-CN" sz="20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9277" y="1656968"/>
            <a:ext cx="9633445" cy="414041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908" y="680417"/>
            <a:ext cx="1695537" cy="180349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380478" y="2299244"/>
            <a:ext cx="906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//</a:t>
            </a:r>
            <a:r>
              <a:rPr lang="zh-CN" altLang="en-US" b="1" dirty="0">
                <a:solidFill>
                  <a:srgbClr val="00B050"/>
                </a:solidFill>
              </a:rPr>
              <a:t>函数定义与调用合二为一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6521" y="4826186"/>
            <a:ext cx="906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//</a:t>
            </a:r>
            <a:r>
              <a:rPr lang="zh-CN" altLang="en-US" b="1" dirty="0">
                <a:solidFill>
                  <a:srgbClr val="00B050"/>
                </a:solidFill>
              </a:rPr>
              <a:t>函数定义与调用也可以分开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195" y="5195518"/>
            <a:ext cx="177498" cy="4226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115" y="926971"/>
            <a:ext cx="9131769" cy="500405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031" y="926970"/>
            <a:ext cx="2365853" cy="293935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565" y="1911549"/>
            <a:ext cx="1187907" cy="106184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94104" y="326805"/>
            <a:ext cx="6801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例：使用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lambda</a:t>
            </a:r>
            <a:r>
              <a:rPr lang="zh-CN" alt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表达式</a:t>
            </a:r>
            <a:endParaRPr lang="en-US" altLang="zh-CN" sz="20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63747" y="3588638"/>
            <a:ext cx="2798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//x</a:t>
            </a:r>
            <a:r>
              <a:rPr lang="zh-CN" altLang="en-US" b="1" dirty="0">
                <a:solidFill>
                  <a:srgbClr val="00B050"/>
                </a:solidFill>
              </a:rPr>
              <a:t>依次取</a:t>
            </a:r>
            <a:r>
              <a:rPr lang="en-US" altLang="zh-CN" b="1" dirty="0">
                <a:solidFill>
                  <a:srgbClr val="00B050"/>
                </a:solidFill>
              </a:rPr>
              <a:t>a</a:t>
            </a:r>
            <a:r>
              <a:rPr lang="zh-CN" altLang="en-US" b="1" dirty="0">
                <a:solidFill>
                  <a:srgbClr val="00B050"/>
                </a:solidFill>
              </a:rPr>
              <a:t>中元素值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389630" y="2845435"/>
            <a:ext cx="5702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 b="1"/>
              <a:t>本章结束，谢谢！</a:t>
            </a:r>
            <a:endParaRPr lang="zh-CN" altLang="en-US" sz="32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25b3f5e1-ee7c-4155-8de4-abda998d0913"/>
  <p:tag name="COMMONDATA" val="eyJoZGlkIjoiNDI0NGE4MmNiOWM4MDZkMDdkNTIyYjlkODg4OWU4OD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2707</Words>
  <Application>WPS 演示</Application>
  <PresentationFormat>宽屏</PresentationFormat>
  <Paragraphs>123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幼圆</vt:lpstr>
      <vt:lpstr>隶书</vt:lpstr>
      <vt:lpstr>Times New Roman</vt:lpstr>
      <vt:lpstr>Tahoma</vt:lpstr>
      <vt:lpstr>Consolas</vt:lpstr>
      <vt:lpstr>等线 Light</vt:lpstr>
      <vt:lpstr>等线</vt:lpstr>
      <vt:lpstr>微软雅黑</vt:lpstr>
      <vt:lpstr>Arial Unicode MS</vt:lpstr>
      <vt:lpstr>Calibri</vt:lpstr>
      <vt:lpstr>Office 主题​​</vt:lpstr>
      <vt:lpstr>Visio.Drawing.6</vt:lpstr>
      <vt:lpstr>PowerPoint 演示文稿</vt:lpstr>
      <vt:lpstr>例：堆栈的压入和弹出 </vt:lpstr>
      <vt:lpstr>例：队列的入队和出队 </vt:lpstr>
      <vt:lpstr>例：优先级队示例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27315950@qq.com</dc:creator>
  <cp:lastModifiedBy>朱静</cp:lastModifiedBy>
  <cp:revision>169</cp:revision>
  <dcterms:created xsi:type="dcterms:W3CDTF">2020-02-16T03:33:00Z</dcterms:created>
  <dcterms:modified xsi:type="dcterms:W3CDTF">2023-02-28T23:57:21Z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BB10468ABBBC4A9781E7B9F45033D529</vt:lpwstr>
  </property>
  <property fmtid="{D5CDD505-2E9C-101B-9397-08002B2CF9AE}" pid="3" name="KSOProductBuildVer">
    <vt:lpwstr>2052-11.1.0.13703</vt:lpwstr>
  </property>
</Properties>
</file>