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1" r:id="rId3"/>
    <p:sldId id="272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86" r:id="rId18"/>
  </p:sldIdLst>
  <p:sldSz cx="9144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j" initials="z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gs" Target="tags/tag1.xml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/>
          <a:lstStyle/>
          <a:p>
            <a:fld id="{9BB82E77-0F69-4D6B-8089-937D271F86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/>
          <a:lstStyle/>
          <a:p>
            <a:fld id="{72F8CF1C-487D-420B-90B1-C0F4191E2034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4970" y="287000"/>
            <a:ext cx="626418" cy="77425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/>
          <a:lstStyle/>
          <a:p>
            <a:fld id="{9BB82E77-0F69-4D6B-8089-937D271F86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/>
          <a:lstStyle/>
          <a:p>
            <a:fld id="{72F8CF1C-487D-420B-90B1-C0F4191E20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825625"/>
            <a:ext cx="7886700" cy="4351338"/>
          </a:xfr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</p:spPr>
        <p:txBody>
          <a:bodyPr/>
          <a:lstStyle/>
          <a:p>
            <a:fld id="{5F949D5C-8927-4036-B92A-D9F195A44A7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/>
          <a:lstStyle/>
          <a:p>
            <a:fld id="{6AD33FD5-61D2-4238-98DB-DB8C208BC9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mailto:328492647@qq.com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/>
              <a:t>面向对象程序设计（</a:t>
            </a:r>
            <a:r>
              <a:rPr lang="en-US" altLang="zh-CN" b="1" dirty="0"/>
              <a:t>C++</a:t>
            </a:r>
            <a:r>
              <a:rPr lang="zh-CN" altLang="en-US" b="1" dirty="0"/>
              <a:t>）</a:t>
            </a:r>
            <a:endParaRPr lang="zh-CN" altLang="en-US" b="1" dirty="0"/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1839933" y="3836472"/>
            <a:ext cx="5657850" cy="1706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en-US" altLang="zh-CN" sz="21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100" dirty="0">
                <a:latin typeface="微软雅黑" panose="020B0503020204020204" charset="-122"/>
                <a:ea typeface="微软雅黑" panose="020B0503020204020204" charset="-122"/>
              </a:rPr>
              <a:t>中国地质大学（武汉）计算机学院信息安全系</a:t>
            </a:r>
            <a:endParaRPr lang="en-US" altLang="zh-CN" sz="21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100" dirty="0">
                <a:latin typeface="微软雅黑" panose="020B0503020204020204" charset="-122"/>
                <a:ea typeface="微软雅黑" panose="020B0503020204020204" charset="-122"/>
              </a:rPr>
              <a:t>  朱    静</a:t>
            </a:r>
            <a:endParaRPr lang="zh-CN" altLang="en-US" sz="21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 sz="2100" dirty="0">
                <a:latin typeface="微软雅黑" panose="020B0503020204020204" charset="-122"/>
                <a:ea typeface="微软雅黑" panose="020B0503020204020204" charset="-122"/>
                <a:hlinkClick r:id="rId1"/>
              </a:rPr>
              <a:t>328492647@qq.com</a:t>
            </a:r>
            <a:endParaRPr lang="en-US" altLang="zh-CN" sz="21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en-US" altLang="zh-CN" sz="21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/>
          <p:cNvSpPr txBox="1">
            <a:spLocks noRot="1" noChangeArrowheads="1"/>
          </p:cNvSpPr>
          <p:nvPr/>
        </p:nvSpPr>
        <p:spPr>
          <a:xfrm>
            <a:off x="1563094" y="1249963"/>
            <a:ext cx="6210300" cy="736997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zh-CN" altLang="en-US" sz="3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</a:t>
            </a:r>
            <a:r>
              <a:rPr lang="en-US" altLang="zh-CN" sz="3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</a:t>
            </a:r>
            <a:r>
              <a:rPr lang="zh-CN" altLang="en-US" sz="3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章   </a:t>
            </a:r>
            <a:r>
              <a:rPr lang="zh-CN" altLang="en-US" sz="33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异常处理</a:t>
            </a:r>
            <a:endParaRPr lang="zh-CN" altLang="en-US" sz="33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9" name="TextBox 2"/>
          <p:cNvSpPr txBox="1">
            <a:spLocks noChangeArrowheads="1"/>
          </p:cNvSpPr>
          <p:nvPr/>
        </p:nvSpPr>
        <p:spPr bwMode="auto">
          <a:xfrm>
            <a:off x="2598470" y="2355026"/>
            <a:ext cx="4457700" cy="2812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本章主要内容：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12700" algn="l" rtl="0" eaLnBrk="0">
              <a:lnSpc>
                <a:spcPct val="92000"/>
              </a:lnSpc>
            </a:pPr>
            <a:r>
              <a:rPr b="1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•   C++</a:t>
            </a:r>
            <a:r>
              <a:rPr b="1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异常处理基础</a:t>
            </a:r>
            <a:r>
              <a:rPr b="1" spc="-2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r>
              <a:rPr b="1" spc="-12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b="1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try</a:t>
            </a:r>
            <a:r>
              <a:rPr b="1" spc="-2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b="1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throw </a:t>
            </a:r>
            <a:r>
              <a:rPr b="1" spc="-2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b="1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catch</a:t>
            </a:r>
            <a:endParaRPr lang="en-US" altLang="en-US" b="1" dirty="0"/>
          </a:p>
          <a:p>
            <a:pPr indent="12700" algn="l" rtl="0" eaLnBrk="0">
              <a:lnSpc>
                <a:spcPct val="92000"/>
              </a:lnSpc>
              <a:spcBef>
                <a:spcPts val="815"/>
              </a:spcBef>
            </a:pPr>
            <a:r>
              <a:rPr b="1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•</a:t>
            </a:r>
            <a:r>
              <a:rPr b="1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3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异常声明</a:t>
            </a:r>
            <a:r>
              <a:rPr b="1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(exception</a:t>
            </a:r>
            <a:r>
              <a:rPr b="1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specification)</a:t>
            </a:r>
            <a:endParaRPr lang="en-US" altLang="en-US" b="1" dirty="0"/>
          </a:p>
          <a:p>
            <a:pPr indent="12700" algn="l" rtl="0" eaLnBrk="0">
              <a:lnSpc>
                <a:spcPct val="92000"/>
              </a:lnSpc>
              <a:spcBef>
                <a:spcPts val="810"/>
              </a:spcBef>
            </a:pPr>
            <a:r>
              <a:rPr b="1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•</a:t>
            </a:r>
            <a:r>
              <a:rPr b="1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2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意外异常</a:t>
            </a:r>
            <a:r>
              <a:rPr b="1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(unexpected</a:t>
            </a:r>
            <a:r>
              <a:rPr b="1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exception)</a:t>
            </a:r>
            <a:endParaRPr lang="en-US" altLang="en-US" b="1" dirty="0"/>
          </a:p>
          <a:p>
            <a:pPr indent="12700" algn="l" rtl="0" eaLnBrk="0">
              <a:lnSpc>
                <a:spcPct val="95000"/>
              </a:lnSpc>
              <a:spcBef>
                <a:spcPts val="810"/>
              </a:spcBef>
            </a:pPr>
            <a:r>
              <a:rPr b="1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•</a:t>
            </a:r>
            <a:r>
              <a:rPr b="1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1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b="1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异常处理的作用</a:t>
            </a:r>
            <a:endParaRPr lang="en-US" altLang="en-US" b="1" dirty="0"/>
          </a:p>
          <a:p>
            <a:pPr indent="12700" algn="l" rtl="0" eaLnBrk="0">
              <a:lnSpc>
                <a:spcPct val="95000"/>
              </a:lnSpc>
              <a:spcBef>
                <a:spcPts val="810"/>
              </a:spcBef>
              <a:buClrTx/>
              <a:buSzTx/>
              <a:buFontTx/>
            </a:pPr>
            <a:r>
              <a:rPr b="1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•   动态内存管理的异常处理</a:t>
            </a:r>
            <a:endParaRPr b="1" dirty="0">
              <a:solidFill>
                <a:srgbClr val="000000">
                  <a:alpha val="100000"/>
                </a:srgbClr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eaLnBrk="1" hangingPunct="1">
              <a:buFont typeface="Wingdings" panose="05000000000000000000" pitchFamily="2" charset="2"/>
              <a:buChar char="l"/>
            </a:pP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/>
          <p:nvPr/>
        </p:nvSpPr>
        <p:spPr>
          <a:xfrm>
            <a:off x="231445" y="149038"/>
            <a:ext cx="6292215" cy="596010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lang="en-US" altLang="en-US" sz="100" dirty="0"/>
          </a:p>
          <a:p>
            <a:pPr indent="550545" algn="l" rtl="0" eaLnBrk="0">
              <a:lnSpc>
                <a:spcPct val="78000"/>
              </a:lnSpc>
            </a:pPr>
            <a:r>
              <a:rPr sz="3600" spc="10" dirty="0">
                <a:solidFill>
                  <a:srgbClr val="000099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tr</a:t>
            </a:r>
            <a:r>
              <a:rPr sz="3600" spc="5" dirty="0">
                <a:solidFill>
                  <a:srgbClr val="000099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y</a:t>
            </a:r>
            <a:r>
              <a:rPr sz="3600" spc="20" dirty="0">
                <a:solidFill>
                  <a:srgbClr val="000099">
                    <a:alpha val="100000"/>
                  </a:srgbClr>
                </a:solidFill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、</a:t>
            </a:r>
            <a:r>
              <a:rPr sz="3600" spc="0" dirty="0">
                <a:solidFill>
                  <a:srgbClr val="000099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catch</a:t>
            </a:r>
            <a:endParaRPr lang="en-US" altLang="en-US" sz="3600" dirty="0"/>
          </a:p>
          <a:p>
            <a:pPr algn="l" rtl="0" eaLnBrk="0">
              <a:lnSpc>
                <a:spcPct val="122000"/>
              </a:lnSpc>
            </a:pPr>
            <a:endParaRPr lang="en-US" altLang="en-US" sz="1000" dirty="0"/>
          </a:p>
          <a:p>
            <a:pPr algn="l" rtl="0" eaLnBrk="0">
              <a:lnSpc>
                <a:spcPct val="123000"/>
              </a:lnSpc>
            </a:pPr>
            <a:endParaRPr lang="en-US" altLang="en-US" sz="1000" dirty="0"/>
          </a:p>
          <a:p>
            <a:pPr indent="17780" algn="l" rtl="0" eaLnBrk="0">
              <a:lnSpc>
                <a:spcPct val="76000"/>
              </a:lnSpc>
              <a:spcBef>
                <a:spcPts val="720"/>
              </a:spcBef>
            </a:pPr>
            <a:r>
              <a:rPr sz="240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#i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nclude</a:t>
            </a:r>
            <a:r>
              <a:rPr sz="2400" spc="-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&lt;iostream&gt;</a:t>
            </a:r>
            <a:endParaRPr lang="en-US" altLang="en-US" sz="2400" dirty="0"/>
          </a:p>
          <a:p>
            <a:pPr indent="12700" algn="l" rtl="0" eaLnBrk="0">
              <a:lnSpc>
                <a:spcPct val="100000"/>
              </a:lnSpc>
              <a:spcBef>
                <a:spcPts val="5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using</a:t>
            </a:r>
            <a:r>
              <a:rPr sz="240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namespace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std;</a:t>
            </a:r>
            <a:endParaRPr lang="en-US" altLang="en-US" sz="2400" dirty="0"/>
          </a:p>
          <a:p>
            <a:pPr indent="20955" algn="l" rtl="0" eaLnBrk="0">
              <a:lnSpc>
                <a:spcPts val="2940"/>
              </a:lnSpc>
            </a:pPr>
            <a:r>
              <a:rPr sz="240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</a:t>
            </a:r>
            <a:r>
              <a:rPr sz="2400" spc="-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main()</a:t>
            </a:r>
            <a:endParaRPr lang="en-US" altLang="en-US" sz="2400" dirty="0"/>
          </a:p>
          <a:p>
            <a:pPr indent="54610" algn="l" rtl="0" eaLnBrk="0">
              <a:lnSpc>
                <a:spcPct val="78000"/>
              </a:lnSpc>
              <a:spcBef>
                <a:spcPts val="630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{</a:t>
            </a:r>
            <a:endParaRPr lang="en-US" altLang="en-US" sz="2400" dirty="0"/>
          </a:p>
          <a:p>
            <a:pPr indent="937260" algn="l" rtl="0" eaLnBrk="0">
              <a:lnSpc>
                <a:spcPct val="76000"/>
              </a:lnSpc>
              <a:spcBef>
                <a:spcPts val="635"/>
              </a:spcBef>
            </a:pPr>
            <a:r>
              <a:rPr sz="240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ouble</a:t>
            </a:r>
            <a:r>
              <a:rPr sz="240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</a:t>
            </a:r>
            <a:r>
              <a:rPr sz="240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,n;</a:t>
            </a:r>
            <a:endParaRPr lang="en-US" altLang="en-US" sz="2400" dirty="0"/>
          </a:p>
          <a:p>
            <a:pPr indent="937260" algn="l" rtl="0" eaLnBrk="0">
              <a:lnSpc>
                <a:spcPct val="100000"/>
              </a:lnSpc>
              <a:spcBef>
                <a:spcPts val="5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cin</a:t>
            </a:r>
            <a:r>
              <a:rPr sz="240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&gt;&gt;</a:t>
            </a:r>
            <a:r>
              <a:rPr sz="2400" spc="-3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</a:t>
            </a:r>
            <a:r>
              <a:rPr sz="240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&gt;&gt;</a:t>
            </a:r>
            <a:r>
              <a:rPr sz="240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n;</a:t>
            </a:r>
            <a:endParaRPr lang="en-US" altLang="en-US" sz="2400" dirty="0"/>
          </a:p>
          <a:p>
            <a:pPr indent="930275" algn="l" rtl="0" eaLnBrk="0">
              <a:lnSpc>
                <a:spcPts val="2935"/>
              </a:lnSpc>
            </a:pPr>
            <a:r>
              <a:rPr sz="2400" b="1" spc="40" dirty="0">
                <a:solidFill>
                  <a:srgbClr val="0066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</a:t>
            </a:r>
            <a:r>
              <a:rPr sz="2400" b="1" spc="50" dirty="0">
                <a:solidFill>
                  <a:srgbClr val="0066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</a:t>
            </a:r>
            <a:r>
              <a:rPr sz="2400" b="1" spc="70" dirty="0">
                <a:solidFill>
                  <a:srgbClr val="0066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y</a:t>
            </a:r>
            <a:r>
              <a:rPr sz="2400" spc="4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{</a:t>
            </a:r>
            <a:endParaRPr lang="en-US" altLang="en-US" sz="2400" dirty="0"/>
          </a:p>
          <a:p>
            <a:pPr marL="1850390" indent="1270" algn="l" rtl="0" eaLnBrk="0">
              <a:lnSpc>
                <a:spcPct val="100000"/>
              </a:lnSpc>
              <a:spcBef>
                <a:spcPts val="10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cout</a:t>
            </a:r>
            <a:r>
              <a:rPr sz="240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&lt;&lt;</a:t>
            </a:r>
            <a:r>
              <a:rPr sz="240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"before</a:t>
            </a:r>
            <a:r>
              <a:rPr sz="2400" spc="-3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dividing."</a:t>
            </a:r>
            <a:r>
              <a:rPr sz="240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&lt;&lt;</a:t>
            </a:r>
            <a:r>
              <a:rPr sz="240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endl;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if(</a:t>
            </a:r>
            <a:r>
              <a:rPr sz="2400" spc="-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==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0)</a:t>
            </a:r>
            <a:endParaRPr lang="en-US" altLang="en-US" sz="2400" dirty="0"/>
          </a:p>
          <a:p>
            <a:pPr indent="2759710" algn="l" rtl="0" eaLnBrk="0">
              <a:lnSpc>
                <a:spcPct val="96000"/>
              </a:lnSpc>
              <a:spcBef>
                <a:spcPts val="255"/>
              </a:spcBef>
            </a:pPr>
            <a:r>
              <a:rPr sz="2400" b="1" spc="0" dirty="0">
                <a:solidFill>
                  <a:srgbClr val="0066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throw</a:t>
            </a:r>
            <a:r>
              <a:rPr sz="240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-1;</a:t>
            </a:r>
            <a:r>
              <a:rPr sz="2400" spc="-6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//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抛出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int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类型异常</a:t>
            </a:r>
            <a:endParaRPr lang="en-US" altLang="en-US" sz="2400" dirty="0"/>
          </a:p>
          <a:p>
            <a:pPr indent="1852930" algn="l" rtl="0" eaLnBrk="0">
              <a:lnSpc>
                <a:spcPct val="95000"/>
              </a:lnSpc>
              <a:spcBef>
                <a:spcPts val="485"/>
              </a:spcBef>
            </a:pPr>
            <a:r>
              <a:rPr sz="240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</a:t>
            </a:r>
            <a:r>
              <a:rPr sz="240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</a:t>
            </a:r>
            <a:r>
              <a:rPr sz="240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</a:t>
            </a:r>
            <a:r>
              <a:rPr sz="2400" spc="-1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</a:t>
            </a:r>
            <a:endParaRPr lang="en-US" altLang="en-US" sz="2400" dirty="0"/>
          </a:p>
          <a:p>
            <a:pPr marL="1852295" indent="914400" algn="l" rtl="0" eaLnBrk="0">
              <a:lnSpc>
                <a:spcPct val="89000"/>
              </a:lnSpc>
              <a:spcBef>
                <a:spcPts val="150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cout</a:t>
            </a:r>
            <a:r>
              <a:rPr sz="240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&lt;&lt;</a:t>
            </a:r>
            <a:r>
              <a:rPr sz="240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</a:t>
            </a:r>
            <a:r>
              <a:rPr sz="240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</a:t>
            </a:r>
            <a:r>
              <a:rPr sz="240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</a:t>
            </a:r>
            <a:r>
              <a:rPr sz="240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&lt;&lt;</a:t>
            </a:r>
            <a:r>
              <a:rPr sz="240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endl;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cout</a:t>
            </a:r>
            <a:r>
              <a:rPr sz="240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&lt;&lt;</a:t>
            </a:r>
            <a:r>
              <a:rPr sz="240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"after</a:t>
            </a:r>
            <a:r>
              <a:rPr sz="240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dividing."</a:t>
            </a:r>
            <a:r>
              <a:rPr sz="240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&lt;&lt;</a:t>
            </a:r>
            <a:r>
              <a:rPr sz="240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endl;</a:t>
            </a:r>
            <a:endParaRPr lang="en-US" altLang="en-US" sz="2400" dirty="0"/>
          </a:p>
          <a:p>
            <a:pPr indent="953135" algn="l" rtl="0" eaLnBrk="0">
              <a:lnSpc>
                <a:spcPct val="78000"/>
              </a:lnSpc>
              <a:spcBef>
                <a:spcPts val="635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}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/>
          <p:nvPr/>
        </p:nvSpPr>
        <p:spPr>
          <a:xfrm>
            <a:off x="1197584" y="594207"/>
            <a:ext cx="6749415" cy="54330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lang="en-US" altLang="en-US" sz="100" dirty="0"/>
          </a:p>
          <a:p>
            <a:pPr indent="990600" algn="l" rtl="0" eaLnBrk="0">
              <a:lnSpc>
                <a:spcPct val="78000"/>
              </a:lnSpc>
            </a:pPr>
            <a:r>
              <a:rPr sz="2400" b="1" spc="20" dirty="0">
                <a:solidFill>
                  <a:srgbClr val="0066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ca</a:t>
            </a:r>
            <a:r>
              <a:rPr sz="2400" b="1" spc="10" dirty="0">
                <a:solidFill>
                  <a:srgbClr val="0066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</a:t>
            </a:r>
            <a:r>
              <a:rPr sz="2400" b="1" spc="20" dirty="0">
                <a:solidFill>
                  <a:srgbClr val="0066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ch</a:t>
            </a:r>
            <a:r>
              <a:rPr sz="240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sz="2400" spc="2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doub</a:t>
            </a:r>
            <a:r>
              <a:rPr sz="2400" spc="1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</a:t>
            </a:r>
            <a:r>
              <a:rPr sz="2400" spc="5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</a:t>
            </a:r>
            <a:r>
              <a:rPr sz="2400" spc="1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{</a:t>
            </a:r>
            <a:endParaRPr lang="en-US" altLang="en-US" sz="2400" dirty="0"/>
          </a:p>
          <a:p>
            <a:pPr marL="1006475" indent="899160" algn="l" rtl="0" eaLnBrk="0">
              <a:lnSpc>
                <a:spcPct val="100000"/>
              </a:lnSpc>
              <a:spcBef>
                <a:spcPts val="5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cout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&lt;&lt;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"catch(double)</a:t>
            </a:r>
            <a:r>
              <a:rPr sz="2400" spc="-16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"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&lt;&lt;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&lt;&lt; 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endl; </a:t>
            </a:r>
            <a:r>
              <a:rPr lang="en-US"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	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}</a:t>
            </a:r>
            <a:endParaRPr lang="en-US" altLang="en-US" sz="2400" dirty="0"/>
          </a:p>
          <a:p>
            <a:pPr indent="990600" algn="l" rtl="0" eaLnBrk="0">
              <a:lnSpc>
                <a:spcPct val="78000"/>
              </a:lnSpc>
              <a:spcBef>
                <a:spcPts val="635"/>
              </a:spcBef>
            </a:pPr>
            <a:r>
              <a:rPr sz="2400" b="1" spc="20" dirty="0">
                <a:solidFill>
                  <a:srgbClr val="0066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catch</a:t>
            </a:r>
            <a:r>
              <a:rPr sz="240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sz="2400" spc="2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int </a:t>
            </a:r>
            <a:r>
              <a:rPr sz="2400" spc="15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{</a:t>
            </a:r>
            <a:endParaRPr lang="en-US" altLang="en-US" sz="2400" dirty="0"/>
          </a:p>
          <a:p>
            <a:pPr marL="1006475" indent="899160" algn="l" rtl="0" eaLnBrk="0">
              <a:lnSpc>
                <a:spcPct val="100000"/>
              </a:lnSpc>
              <a:spcBef>
                <a:spcPts val="5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cout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&lt;&lt;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"catch(int)</a:t>
            </a:r>
            <a:r>
              <a:rPr sz="2400" spc="-1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"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&lt;&lt;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&lt;&lt;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endl;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</a:t>
            </a:r>
            <a:endParaRPr sz="2400" spc="0" dirty="0">
              <a:solidFill>
                <a:srgbClr val="000000">
                  <a:alpha val="100000"/>
                </a:srgbClr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1006475" indent="899160" algn="l" rtl="0" eaLnBrk="0">
              <a:lnSpc>
                <a:spcPct val="100000"/>
              </a:lnSpc>
              <a:spcBef>
                <a:spcPts val="5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}</a:t>
            </a:r>
            <a:endParaRPr lang="en-US" altLang="en-US" sz="2400" dirty="0"/>
          </a:p>
          <a:p>
            <a:pPr indent="990600" algn="l" rtl="0" eaLnBrk="0">
              <a:lnSpc>
                <a:spcPct val="76000"/>
              </a:lnSpc>
              <a:spcBef>
                <a:spcPts val="635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cout</a:t>
            </a:r>
            <a:r>
              <a:rPr sz="240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&lt;&lt;</a:t>
            </a:r>
            <a:r>
              <a:rPr sz="240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"finished"</a:t>
            </a:r>
            <a:r>
              <a:rPr sz="240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&lt;&lt;</a:t>
            </a:r>
            <a:r>
              <a:rPr sz="2400" spc="-3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endl;</a:t>
            </a:r>
            <a:endParaRPr lang="en-US" altLang="en-US" sz="2400" dirty="0"/>
          </a:p>
          <a:p>
            <a:pPr indent="981710" algn="l" rtl="0" eaLnBrk="0">
              <a:lnSpc>
                <a:spcPts val="3060"/>
              </a:lnSpc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return</a:t>
            </a:r>
            <a:r>
              <a:rPr sz="2400" spc="-2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0;</a:t>
            </a:r>
            <a:endParaRPr lang="en-US" altLang="en-US" sz="2400" dirty="0"/>
          </a:p>
          <a:p>
            <a:pPr indent="91440" algn="l" rtl="0" eaLnBrk="0">
              <a:lnSpc>
                <a:spcPct val="78000"/>
              </a:lnSpc>
              <a:spcBef>
                <a:spcPts val="515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}</a:t>
            </a:r>
            <a:endParaRPr lang="en-US" altLang="en-US" sz="2400" dirty="0"/>
          </a:p>
          <a:p>
            <a:pPr indent="76200" algn="l" rtl="0" eaLnBrk="0">
              <a:lnSpc>
                <a:spcPct val="83000"/>
              </a:lnSpc>
              <a:spcBef>
                <a:spcPts val="280"/>
              </a:spcBef>
            </a:pPr>
            <a:r>
              <a:rPr sz="2400" spc="-5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程序运行结果如</a:t>
            </a:r>
            <a:r>
              <a:rPr sz="2400" spc="-15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下</a:t>
            </a:r>
            <a:r>
              <a:rPr sz="2400" spc="-125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lang="en-US" altLang="en-US" sz="2400" dirty="0"/>
          </a:p>
          <a:p>
            <a:pPr indent="77470" algn="l" rtl="0" eaLnBrk="0">
              <a:lnSpc>
                <a:spcPct val="118000"/>
              </a:lnSpc>
              <a:spcBef>
                <a:spcPts val="25"/>
              </a:spcBef>
            </a:pPr>
            <a:r>
              <a:rPr sz="2400" u="sng" spc="-2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9</a:t>
            </a:r>
            <a:r>
              <a:rPr sz="2400" u="sng" spc="-15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u="sng" spc="-2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</a:t>
            </a:r>
            <a:r>
              <a:rPr sz="2400" u="sng" spc="-15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u="sng" spc="-3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↙</a:t>
            </a:r>
            <a:endParaRPr lang="en-US" altLang="en-US" sz="2400" dirty="0"/>
          </a:p>
          <a:p>
            <a:pPr indent="73660" algn="l" rtl="0" eaLnBrk="0">
              <a:lnSpc>
                <a:spcPct val="76000"/>
              </a:lnSpc>
              <a:spcBef>
                <a:spcPts val="310"/>
              </a:spcBef>
            </a:pPr>
            <a:r>
              <a:rPr sz="2400" i="1" spc="-1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befo</a:t>
            </a:r>
            <a:r>
              <a:rPr sz="2400" i="1" spc="-5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</a:t>
            </a:r>
            <a:r>
              <a:rPr sz="2400" i="1" spc="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</a:t>
            </a:r>
            <a:r>
              <a:rPr sz="2400" spc="-12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i="1" spc="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dividing.</a:t>
            </a:r>
            <a:endParaRPr lang="en-US" altLang="en-US" sz="2400" dirty="0"/>
          </a:p>
          <a:p>
            <a:pPr indent="83820" algn="l" rtl="0" eaLnBrk="0">
              <a:lnSpc>
                <a:spcPts val="2935"/>
              </a:lnSpc>
            </a:pPr>
            <a:r>
              <a:rPr sz="2400" i="1" spc="-4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r>
              <a:rPr sz="2400" i="1" spc="-2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.</a:t>
            </a:r>
            <a:r>
              <a:rPr sz="2400" i="1" spc="-3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</a:t>
            </a:r>
            <a:endParaRPr lang="en-US" altLang="en-US" sz="2400" dirty="0"/>
          </a:p>
          <a:p>
            <a:pPr indent="72390" algn="l" rtl="0" eaLnBrk="0">
              <a:lnSpc>
                <a:spcPct val="76000"/>
              </a:lnSpc>
              <a:spcBef>
                <a:spcPts val="640"/>
              </a:spcBef>
            </a:pPr>
            <a:r>
              <a:rPr sz="2400" i="1" spc="-1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</a:t>
            </a:r>
            <a:r>
              <a:rPr sz="2400" i="1" spc="-5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</a:t>
            </a:r>
            <a:r>
              <a:rPr sz="2400" i="1" spc="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ter</a:t>
            </a:r>
            <a:r>
              <a:rPr sz="2400" spc="-6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i="1" spc="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dividing.</a:t>
            </a:r>
            <a:endParaRPr lang="en-US" altLang="en-US" sz="2400" dirty="0"/>
          </a:p>
          <a:p>
            <a:pPr indent="12700" algn="l" rtl="0" eaLnBrk="0">
              <a:lnSpc>
                <a:spcPts val="2935"/>
              </a:lnSpc>
            </a:pPr>
            <a:r>
              <a:rPr sz="2400" i="1" spc="5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fi</a:t>
            </a:r>
            <a:r>
              <a:rPr sz="2400" i="1" spc="9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</a:t>
            </a:r>
            <a:r>
              <a:rPr sz="2400" i="1" spc="5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</a:t>
            </a:r>
            <a:r>
              <a:rPr sz="2400" i="1" spc="7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</a:t>
            </a:r>
            <a:r>
              <a:rPr sz="2400" i="1" spc="9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</a:t>
            </a:r>
            <a:r>
              <a:rPr sz="2400" i="1" spc="8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</a:t>
            </a:r>
            <a:r>
              <a:rPr sz="2400" i="1" spc="4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/>
          <p:nvPr/>
        </p:nvSpPr>
        <p:spPr>
          <a:xfrm>
            <a:off x="231445" y="203243"/>
            <a:ext cx="6721475" cy="621284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lang="en-US" altLang="en-US" sz="100" dirty="0"/>
          </a:p>
          <a:p>
            <a:pPr indent="12700" algn="l" rtl="0" eaLnBrk="0">
              <a:lnSpc>
                <a:spcPct val="92000"/>
              </a:lnSpc>
            </a:pPr>
            <a:r>
              <a:rPr sz="2000" b="1" spc="0" dirty="0">
                <a:solidFill>
                  <a:srgbClr val="00B05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//</a:t>
            </a:r>
            <a:r>
              <a:rPr sz="2000" b="1" spc="-15" dirty="0">
                <a:solidFill>
                  <a:srgbClr val="00B05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solidFill>
                  <a:srgbClr val="00B05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000" b="1" spc="0" dirty="0">
                <a:solidFill>
                  <a:srgbClr val="00B05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捕获任何异常的</a:t>
            </a:r>
            <a:r>
              <a:rPr sz="2000" b="1" spc="0" dirty="0">
                <a:solidFill>
                  <a:srgbClr val="00B05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catch</a:t>
            </a:r>
            <a:r>
              <a:rPr sz="2000" b="1" spc="0" dirty="0">
                <a:solidFill>
                  <a:srgbClr val="00B05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块</a:t>
            </a:r>
            <a:endParaRPr lang="en-US" altLang="en-US" sz="2000" b="1" dirty="0"/>
          </a:p>
          <a:p>
            <a:pPr indent="17780" algn="l" rtl="0" eaLnBrk="0">
              <a:lnSpc>
                <a:spcPct val="76000"/>
              </a:lnSpc>
              <a:spcBef>
                <a:spcPts val="610"/>
              </a:spcBef>
            </a:pPr>
            <a:r>
              <a:rPr sz="240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#i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nclude</a:t>
            </a:r>
            <a:r>
              <a:rPr sz="2400" spc="-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&lt;iostream&gt;</a:t>
            </a:r>
            <a:endParaRPr lang="en-US" altLang="en-US" sz="2400" dirty="0"/>
          </a:p>
          <a:p>
            <a:pPr indent="12700" algn="l" rtl="0" eaLnBrk="0">
              <a:lnSpc>
                <a:spcPct val="100000"/>
              </a:lnSpc>
              <a:spcBef>
                <a:spcPts val="5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using</a:t>
            </a:r>
            <a:r>
              <a:rPr sz="240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namespace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std;</a:t>
            </a:r>
            <a:endParaRPr lang="en-US" altLang="en-US" sz="2400" dirty="0"/>
          </a:p>
          <a:p>
            <a:pPr indent="20955" algn="l" rtl="0" eaLnBrk="0">
              <a:lnSpc>
                <a:spcPts val="2940"/>
              </a:lnSpc>
            </a:pPr>
            <a:r>
              <a:rPr sz="240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</a:t>
            </a:r>
            <a:r>
              <a:rPr sz="2400" spc="-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main()</a:t>
            </a:r>
            <a:endParaRPr lang="en-US" altLang="en-US" sz="2400" dirty="0"/>
          </a:p>
          <a:p>
            <a:pPr indent="54610" algn="l" rtl="0" eaLnBrk="0">
              <a:lnSpc>
                <a:spcPct val="78000"/>
              </a:lnSpc>
              <a:spcBef>
                <a:spcPts val="630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{</a:t>
            </a:r>
            <a:endParaRPr lang="en-US" altLang="en-US" sz="2400" dirty="0"/>
          </a:p>
          <a:p>
            <a:pPr indent="937260" algn="l" rtl="0" eaLnBrk="0">
              <a:lnSpc>
                <a:spcPct val="76000"/>
              </a:lnSpc>
              <a:spcBef>
                <a:spcPts val="635"/>
              </a:spcBef>
            </a:pPr>
            <a:r>
              <a:rPr sz="240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ouble</a:t>
            </a:r>
            <a:r>
              <a:rPr sz="240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</a:t>
            </a:r>
            <a:r>
              <a:rPr sz="240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,n;</a:t>
            </a:r>
            <a:endParaRPr lang="en-US" altLang="en-US" sz="2400" dirty="0"/>
          </a:p>
          <a:p>
            <a:pPr indent="937260" algn="l" rtl="0" eaLnBrk="0">
              <a:lnSpc>
                <a:spcPct val="100000"/>
              </a:lnSpc>
              <a:spcBef>
                <a:spcPts val="5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cin</a:t>
            </a:r>
            <a:r>
              <a:rPr sz="240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&gt;&gt;</a:t>
            </a:r>
            <a:r>
              <a:rPr sz="240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</a:t>
            </a:r>
            <a:r>
              <a:rPr sz="240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&gt;&gt;</a:t>
            </a:r>
            <a:r>
              <a:rPr sz="240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n;</a:t>
            </a:r>
            <a:endParaRPr lang="en-US" altLang="en-US" sz="2400" dirty="0"/>
          </a:p>
          <a:p>
            <a:pPr indent="930275" algn="l" rtl="0" eaLnBrk="0">
              <a:lnSpc>
                <a:spcPts val="2935"/>
              </a:lnSpc>
            </a:pPr>
            <a:r>
              <a:rPr sz="2400" b="1" spc="4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</a:t>
            </a:r>
            <a:r>
              <a:rPr sz="2400" b="1" spc="5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</a:t>
            </a:r>
            <a:r>
              <a:rPr sz="2400" b="1" spc="7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y</a:t>
            </a:r>
            <a:r>
              <a:rPr sz="2400" spc="4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{</a:t>
            </a:r>
            <a:endParaRPr lang="en-US" altLang="en-US" sz="2400" dirty="0"/>
          </a:p>
          <a:p>
            <a:pPr marL="1850390" indent="1270" algn="l" rtl="0" eaLnBrk="0">
              <a:lnSpc>
                <a:spcPct val="100000"/>
              </a:lnSpc>
              <a:spcBef>
                <a:spcPts val="10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cout</a:t>
            </a:r>
            <a:r>
              <a:rPr sz="240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&lt;&lt;</a:t>
            </a:r>
            <a:r>
              <a:rPr sz="240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"before</a:t>
            </a:r>
            <a:r>
              <a:rPr sz="2400" spc="-3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dividing."</a:t>
            </a:r>
            <a:r>
              <a:rPr sz="240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&lt;&lt;</a:t>
            </a:r>
            <a:r>
              <a:rPr sz="240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endl;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if(</a:t>
            </a:r>
            <a:r>
              <a:rPr sz="2400" spc="-6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==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0)</a:t>
            </a:r>
            <a:endParaRPr lang="en-US" altLang="en-US" sz="2400" dirty="0"/>
          </a:p>
          <a:p>
            <a:pPr marL="1852930" indent="906145" algn="l" rtl="0" eaLnBrk="0">
              <a:lnSpc>
                <a:spcPct val="96000"/>
              </a:lnSpc>
              <a:spcBef>
                <a:spcPts val="235"/>
              </a:spcBef>
            </a:pPr>
            <a:r>
              <a:rPr sz="2400" b="1" spc="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throw</a:t>
            </a:r>
            <a:r>
              <a:rPr sz="240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-1;</a:t>
            </a:r>
            <a:r>
              <a:rPr sz="2400" spc="-6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B05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//</a:t>
            </a:r>
            <a:r>
              <a:rPr sz="2400" spc="0" dirty="0">
                <a:solidFill>
                  <a:srgbClr val="00B05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抛出整型异常</a:t>
            </a:r>
            <a:r>
              <a:rPr sz="2400" spc="0" dirty="0">
                <a:solidFill>
                  <a:srgbClr val="00B05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else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if(</a:t>
            </a:r>
            <a:r>
              <a:rPr sz="2400" spc="-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==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endParaRPr lang="en-US" altLang="en-US" sz="2400" dirty="0"/>
          </a:p>
          <a:p>
            <a:pPr indent="2759710" algn="l" rtl="0" eaLnBrk="0">
              <a:lnSpc>
                <a:spcPct val="96000"/>
              </a:lnSpc>
              <a:spcBef>
                <a:spcPts val="255"/>
              </a:spcBef>
            </a:pPr>
            <a:r>
              <a:rPr sz="2400" b="1" spc="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throw</a:t>
            </a:r>
            <a:r>
              <a:rPr sz="240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-1.0;</a:t>
            </a:r>
            <a:r>
              <a:rPr sz="2400" spc="-6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B05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//</a:t>
            </a:r>
            <a:r>
              <a:rPr sz="2400" spc="0" dirty="0">
                <a:solidFill>
                  <a:srgbClr val="00B05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抛出</a:t>
            </a:r>
            <a:r>
              <a:rPr sz="2400" spc="0" dirty="0">
                <a:solidFill>
                  <a:srgbClr val="00B05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double</a:t>
            </a:r>
            <a:r>
              <a:rPr sz="2400" spc="0" dirty="0">
                <a:solidFill>
                  <a:srgbClr val="00B05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型异常</a:t>
            </a:r>
            <a:endParaRPr lang="en-US" altLang="en-US" sz="2400" dirty="0"/>
          </a:p>
          <a:p>
            <a:pPr indent="1852930" algn="l" rtl="0" eaLnBrk="0">
              <a:lnSpc>
                <a:spcPct val="95000"/>
              </a:lnSpc>
              <a:spcBef>
                <a:spcPts val="490"/>
              </a:spcBef>
            </a:pPr>
            <a:r>
              <a:rPr sz="240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</a:t>
            </a:r>
            <a:r>
              <a:rPr sz="240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</a:t>
            </a:r>
            <a:r>
              <a:rPr sz="240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</a:t>
            </a:r>
            <a:r>
              <a:rPr sz="2400" spc="-1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</a:t>
            </a:r>
            <a:endParaRPr lang="en-US" altLang="en-US" sz="2400" dirty="0"/>
          </a:p>
          <a:p>
            <a:pPr marL="1852295" indent="914400" algn="l" rtl="0" eaLnBrk="0">
              <a:lnSpc>
                <a:spcPct val="89000"/>
              </a:lnSpc>
              <a:spcBef>
                <a:spcPts val="150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cout</a:t>
            </a:r>
            <a:r>
              <a:rPr sz="240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&lt;&lt;</a:t>
            </a:r>
            <a:r>
              <a:rPr sz="240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</a:t>
            </a:r>
            <a:r>
              <a:rPr sz="240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</a:t>
            </a:r>
            <a:r>
              <a:rPr sz="240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</a:t>
            </a:r>
            <a:r>
              <a:rPr sz="240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&lt;&lt;</a:t>
            </a:r>
            <a:r>
              <a:rPr sz="240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endl;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  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cout</a:t>
            </a:r>
            <a:r>
              <a:rPr sz="240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&lt;&lt;</a:t>
            </a:r>
            <a:r>
              <a:rPr sz="2400" spc="-3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"after</a:t>
            </a:r>
            <a:r>
              <a:rPr sz="240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dividing."</a:t>
            </a:r>
            <a:r>
              <a:rPr sz="240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&lt;&lt;</a:t>
            </a:r>
            <a:r>
              <a:rPr sz="240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endl;</a:t>
            </a:r>
            <a:endParaRPr lang="en-US" altLang="en-US" sz="2400" dirty="0"/>
          </a:p>
          <a:p>
            <a:pPr indent="953135" algn="l" rtl="0" eaLnBrk="0">
              <a:lnSpc>
                <a:spcPct val="78000"/>
              </a:lnSpc>
              <a:spcBef>
                <a:spcPts val="635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}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/>
          <p:nvPr/>
        </p:nvSpPr>
        <p:spPr>
          <a:xfrm>
            <a:off x="257352" y="2541879"/>
            <a:ext cx="4262120" cy="328358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lang="en-US" altLang="en-US" sz="100" dirty="0"/>
          </a:p>
          <a:p>
            <a:pPr marL="902970" indent="8255" algn="l" rtl="0" eaLnBrk="0">
              <a:lnSpc>
                <a:spcPct val="91000"/>
              </a:lnSpc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cout</a:t>
            </a:r>
            <a:r>
              <a:rPr sz="240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&lt;&lt;</a:t>
            </a:r>
            <a:r>
              <a:rPr sz="240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"finished"</a:t>
            </a:r>
            <a:r>
              <a:rPr sz="240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&lt;&lt;</a:t>
            </a:r>
            <a:r>
              <a:rPr sz="2400" spc="-3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endl;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return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0;</a:t>
            </a:r>
            <a:endParaRPr lang="en-US" altLang="en-US" sz="2400" dirty="0"/>
          </a:p>
          <a:p>
            <a:pPr indent="12700" algn="l" rtl="0" eaLnBrk="0">
              <a:lnSpc>
                <a:spcPct val="78000"/>
              </a:lnSpc>
              <a:spcBef>
                <a:spcPts val="515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}</a:t>
            </a:r>
            <a:endParaRPr lang="en-US" altLang="en-US" sz="2400" dirty="0"/>
          </a:p>
          <a:p>
            <a:pPr indent="471170" algn="l" rtl="0" eaLnBrk="0">
              <a:lnSpc>
                <a:spcPct val="86000"/>
              </a:lnSpc>
              <a:spcBef>
                <a:spcPts val="1915"/>
              </a:spcBef>
            </a:pPr>
            <a:r>
              <a:rPr sz="2500" spc="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程序运行结果</a:t>
            </a:r>
            <a:r>
              <a:rPr sz="2500" spc="-1135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lang="en-US" altLang="en-US" sz="2500" dirty="0"/>
          </a:p>
          <a:p>
            <a:pPr indent="434340" algn="l" rtl="0" eaLnBrk="0">
              <a:lnSpc>
                <a:spcPct val="112000"/>
              </a:lnSpc>
              <a:spcBef>
                <a:spcPts val="5"/>
              </a:spcBef>
            </a:pPr>
            <a:r>
              <a:rPr sz="2500" u="sng" spc="2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</a:t>
            </a:r>
            <a:r>
              <a:rPr sz="2500" u="sng" spc="3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500" u="sng" spc="2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sz="2500" u="sng" spc="3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↙</a:t>
            </a:r>
            <a:endParaRPr lang="en-US" altLang="en-US" sz="2500" dirty="0"/>
          </a:p>
          <a:p>
            <a:pPr indent="412115" algn="l" rtl="0" eaLnBrk="0">
              <a:lnSpc>
                <a:spcPct val="89000"/>
              </a:lnSpc>
              <a:spcBef>
                <a:spcPts val="285"/>
              </a:spcBef>
            </a:pPr>
            <a:r>
              <a:rPr sz="2700" i="1" spc="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before</a:t>
            </a:r>
            <a:r>
              <a:rPr sz="2700" spc="-25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700" i="1" spc="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dividing.</a:t>
            </a:r>
            <a:endParaRPr lang="en-US" altLang="en-US" sz="2700" dirty="0"/>
          </a:p>
          <a:p>
            <a:pPr indent="424180" algn="l" rtl="0" eaLnBrk="0">
              <a:lnSpc>
                <a:spcPct val="93000"/>
              </a:lnSpc>
              <a:spcBef>
                <a:spcPts val="235"/>
              </a:spcBef>
            </a:pPr>
            <a:r>
              <a:rPr sz="2700" i="1" spc="2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catch(...</a:t>
            </a:r>
            <a:r>
              <a:rPr sz="2700" i="1" spc="1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en-US" sz="2700" dirty="0"/>
          </a:p>
          <a:p>
            <a:pPr indent="422910" algn="l" rtl="0" eaLnBrk="0">
              <a:lnSpc>
                <a:spcPts val="3265"/>
              </a:lnSpc>
              <a:spcBef>
                <a:spcPts val="110"/>
              </a:spcBef>
            </a:pPr>
            <a:r>
              <a:rPr sz="2700" i="1" spc="4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finishe</a:t>
            </a:r>
            <a:r>
              <a:rPr sz="2700" i="1" spc="25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</a:t>
            </a:r>
            <a:endParaRPr lang="en-US" altLang="en-US" sz="2700" dirty="0"/>
          </a:p>
        </p:txBody>
      </p:sp>
      <p:sp>
        <p:nvSpPr>
          <p:cNvPr id="11" name="textbox 11"/>
          <p:cNvSpPr/>
          <p:nvPr/>
        </p:nvSpPr>
        <p:spPr>
          <a:xfrm>
            <a:off x="1156207" y="346092"/>
            <a:ext cx="5771515" cy="21399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indent="12700" algn="l" rtl="0" eaLnBrk="0">
              <a:lnSpc>
                <a:spcPct val="78000"/>
              </a:lnSpc>
            </a:pPr>
            <a:r>
              <a:rPr sz="2400" spc="2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ca</a:t>
            </a:r>
            <a:r>
              <a:rPr sz="2400" spc="1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</a:t>
            </a:r>
            <a:r>
              <a:rPr sz="2400" spc="2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ch</a:t>
            </a:r>
            <a:r>
              <a:rPr sz="240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sz="2400" spc="20" dirty="0">
                <a:solidFill>
                  <a:srgbClr val="0066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doub</a:t>
            </a:r>
            <a:r>
              <a:rPr sz="2400" spc="10" dirty="0">
                <a:solidFill>
                  <a:srgbClr val="0066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</a:t>
            </a:r>
            <a:r>
              <a:rPr sz="2400" spc="0" dirty="0">
                <a:solidFill>
                  <a:srgbClr val="0066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</a:t>
            </a:r>
            <a:r>
              <a:rPr sz="2400" spc="10" dirty="0">
                <a:solidFill>
                  <a:srgbClr val="0066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66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{</a:t>
            </a:r>
            <a:endParaRPr lang="en-US" altLang="en-US" sz="2400" dirty="0"/>
          </a:p>
          <a:p>
            <a:pPr marL="28575" indent="899160" algn="l" rtl="0" eaLnBrk="0">
              <a:lnSpc>
                <a:spcPct val="100000"/>
              </a:lnSpc>
              <a:spcBef>
                <a:spcPts val="5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cout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&lt;&lt;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"catch(double)</a:t>
            </a:r>
            <a:r>
              <a:rPr sz="2400" spc="-1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"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&lt;&lt;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&lt;&lt;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endl;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}</a:t>
            </a:r>
            <a:endParaRPr lang="en-US" altLang="en-US" sz="2400" dirty="0"/>
          </a:p>
          <a:p>
            <a:pPr indent="12700" algn="l" rtl="0" eaLnBrk="0">
              <a:lnSpc>
                <a:spcPct val="78000"/>
              </a:lnSpc>
              <a:spcBef>
                <a:spcPts val="635"/>
              </a:spcBef>
            </a:pPr>
            <a:r>
              <a:rPr sz="2400" spc="3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ca</a:t>
            </a:r>
            <a:r>
              <a:rPr sz="2400" spc="2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</a:t>
            </a:r>
            <a:r>
              <a:rPr sz="2400" spc="3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ch</a:t>
            </a:r>
            <a:r>
              <a:rPr sz="240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sz="2400" spc="20" dirty="0">
                <a:solidFill>
                  <a:srgbClr val="0066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..</a:t>
            </a:r>
            <a:r>
              <a:rPr sz="2400" spc="15" dirty="0">
                <a:solidFill>
                  <a:srgbClr val="0066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.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{</a:t>
            </a:r>
            <a:endParaRPr lang="en-US" altLang="en-US" sz="2400" dirty="0"/>
          </a:p>
          <a:p>
            <a:pPr indent="927735" algn="l" rtl="0" eaLnBrk="0">
              <a:lnSpc>
                <a:spcPct val="76000"/>
              </a:lnSpc>
              <a:spcBef>
                <a:spcPts val="635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cout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&lt;&lt;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"catch(...)</a:t>
            </a:r>
            <a:r>
              <a:rPr sz="2400" spc="-16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"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&lt;&lt;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endl;</a:t>
            </a:r>
            <a:endParaRPr lang="en-US" altLang="en-US" sz="2400" dirty="0"/>
          </a:p>
          <a:p>
            <a:pPr indent="28575" algn="l" rtl="0" eaLnBrk="0">
              <a:lnSpc>
                <a:spcPts val="2935"/>
              </a:lnSpc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}</a:t>
            </a:r>
            <a:endParaRPr lang="en-US" altLang="en-US" sz="2400" dirty="0"/>
          </a:p>
        </p:txBody>
      </p:sp>
      <p:sp>
        <p:nvSpPr>
          <p:cNvPr id="12" name="textbox 12"/>
          <p:cNvSpPr/>
          <p:nvPr/>
        </p:nvSpPr>
        <p:spPr>
          <a:xfrm>
            <a:off x="4805045" y="3943985"/>
            <a:ext cx="3630295" cy="169545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lang="en-US" altLang="en-US" sz="100" dirty="0"/>
          </a:p>
          <a:p>
            <a:pPr indent="86995" algn="l" rtl="0" eaLnBrk="0">
              <a:lnSpc>
                <a:spcPct val="103000"/>
              </a:lnSpc>
            </a:pPr>
            <a:r>
              <a:rPr sz="2800" u="sng" spc="-2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</a:t>
            </a:r>
            <a:r>
              <a:rPr sz="2800" u="sng" spc="-16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800" u="sng" spc="-2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</a:t>
            </a:r>
            <a:r>
              <a:rPr sz="2800" u="sng" spc="-15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800" u="sng" spc="-4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↙</a:t>
            </a:r>
            <a:endParaRPr lang="en-US" altLang="en-US" sz="2800" dirty="0"/>
          </a:p>
          <a:p>
            <a:pPr indent="83820" algn="l" rtl="0" eaLnBrk="0">
              <a:lnSpc>
                <a:spcPct val="78000"/>
              </a:lnSpc>
              <a:spcBef>
                <a:spcPts val="355"/>
              </a:spcBef>
            </a:pPr>
            <a:r>
              <a:rPr sz="2800" i="1" spc="-1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</a:t>
            </a:r>
            <a:r>
              <a:rPr sz="2800" i="1" spc="-5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</a:t>
            </a:r>
            <a:r>
              <a:rPr sz="2800" i="1" spc="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fore</a:t>
            </a:r>
            <a:r>
              <a:rPr sz="2800" spc="-7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800" i="1" spc="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dividing.</a:t>
            </a:r>
            <a:endParaRPr lang="en-US" altLang="en-US" sz="2800" dirty="0"/>
          </a:p>
          <a:p>
            <a:pPr marL="12700" indent="71120" algn="l" rtl="0" eaLnBrk="0">
              <a:lnSpc>
                <a:spcPct val="100000"/>
              </a:lnSpc>
              <a:spcBef>
                <a:spcPts val="5"/>
              </a:spcBef>
            </a:pPr>
            <a:r>
              <a:rPr sz="2800" i="1" spc="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catch(double)</a:t>
            </a:r>
            <a:r>
              <a:rPr sz="2800" spc="-9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800" i="1" spc="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-1</a:t>
            </a:r>
            <a:r>
              <a:rPr lang="en-US" sz="2800" i="1" spc="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.</a:t>
            </a:r>
            <a:r>
              <a:rPr lang="en-US" altLang="zh-CN" sz="2800" i="1" spc="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0</a:t>
            </a:r>
            <a:r>
              <a:rPr sz="2800" spc="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800" i="1" spc="6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fi</a:t>
            </a:r>
            <a:r>
              <a:rPr sz="2800" i="1" spc="11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</a:t>
            </a:r>
            <a:r>
              <a:rPr sz="2800" i="1" spc="6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</a:t>
            </a:r>
            <a:r>
              <a:rPr sz="2800" i="1" spc="8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</a:t>
            </a:r>
            <a:r>
              <a:rPr sz="2800" i="1" spc="11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</a:t>
            </a:r>
            <a:r>
              <a:rPr sz="2800" i="1" spc="10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</a:t>
            </a:r>
            <a:r>
              <a:rPr sz="2800" i="1" spc="65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</a:t>
            </a:r>
            <a:endParaRPr lang="en-US" alt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/>
          <p:nvPr/>
        </p:nvSpPr>
        <p:spPr>
          <a:xfrm>
            <a:off x="219393" y="405231"/>
            <a:ext cx="8675369" cy="555688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1000"/>
              </a:lnSpc>
            </a:pPr>
            <a:endParaRPr lang="en-US" altLang="en-US" sz="100" dirty="0"/>
          </a:p>
          <a:p>
            <a:pPr indent="34925" algn="l" rtl="0" eaLnBrk="0">
              <a:lnSpc>
                <a:spcPct val="68000"/>
              </a:lnSpc>
            </a:pPr>
            <a:r>
              <a:rPr sz="3600" spc="-10" dirty="0">
                <a:solidFill>
                  <a:srgbClr val="000099">
                    <a:alpha val="100000"/>
                  </a:srgbClr>
                </a:solidFill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异常的再抛出</a:t>
            </a:r>
            <a:endParaRPr lang="en-US" altLang="en-US" sz="3600" dirty="0"/>
          </a:p>
          <a:p>
            <a:pPr marL="36195" indent="2540" algn="l" rtl="0" eaLnBrk="0">
              <a:lnSpc>
                <a:spcPct val="101000"/>
              </a:lnSpc>
              <a:spcBef>
                <a:spcPts val="300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如果一个函数在执行的过程中</a:t>
            </a:r>
            <a:r>
              <a:rPr sz="2400" spc="-105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抛出的异常在本函数内就被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catch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块捕获并处理了</a:t>
            </a:r>
            <a:r>
              <a:rPr sz="2400" spc="-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那么该异常就不会抛给这个函数的调用者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也称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“上一层的函数”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r>
              <a:rPr sz="2400" spc="-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；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如果异常在本函数中没被处理</a:t>
            </a:r>
            <a:r>
              <a:rPr sz="2400" spc="-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就会被抛给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上一层的函数</a:t>
            </a:r>
            <a:r>
              <a:rPr sz="2400" spc="-3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altLang="en-US" sz="2400" dirty="0"/>
          </a:p>
          <a:p>
            <a:pPr indent="24765" algn="l" rtl="0" eaLnBrk="0">
              <a:lnSpc>
                <a:spcPct val="92000"/>
              </a:lnSpc>
              <a:spcBef>
                <a:spcPts val="145"/>
              </a:spcBef>
            </a:pPr>
            <a:r>
              <a:rPr sz="2400" spc="0" dirty="0">
                <a:solidFill>
                  <a:srgbClr val="00B05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// </a:t>
            </a:r>
            <a:r>
              <a:rPr sz="2400" spc="0" dirty="0">
                <a:solidFill>
                  <a:srgbClr val="00B05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异常再抛出</a:t>
            </a:r>
            <a:endParaRPr lang="en-US" altLang="en-US" sz="2400" dirty="0"/>
          </a:p>
          <a:p>
            <a:pPr indent="29845" algn="l" rtl="0" eaLnBrk="0">
              <a:lnSpc>
                <a:spcPct val="76000"/>
              </a:lnSpc>
              <a:spcBef>
                <a:spcPts val="605"/>
              </a:spcBef>
            </a:pPr>
            <a:r>
              <a:rPr sz="240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#i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nclude</a:t>
            </a:r>
            <a:r>
              <a:rPr sz="2400" spc="-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&lt;iostream&gt;</a:t>
            </a:r>
            <a:endParaRPr lang="en-US" altLang="en-US" sz="2400" dirty="0"/>
          </a:p>
          <a:p>
            <a:pPr indent="29845" algn="l" rtl="0" eaLnBrk="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#</a:t>
            </a:r>
            <a:r>
              <a:rPr sz="2400" spc="-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nclude</a:t>
            </a:r>
            <a:r>
              <a:rPr sz="2400" spc="-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&lt;string&gt;</a:t>
            </a:r>
            <a:endParaRPr lang="en-US" altLang="en-US" sz="2400" dirty="0"/>
          </a:p>
          <a:p>
            <a:pPr indent="24765" algn="l" rtl="0" eaLnBrk="0">
              <a:lnSpc>
                <a:spcPts val="2935"/>
              </a:lnSpc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using</a:t>
            </a:r>
            <a:r>
              <a:rPr sz="240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namespace</a:t>
            </a:r>
            <a:r>
              <a:rPr sz="2400" spc="-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std;</a:t>
            </a:r>
            <a:endParaRPr lang="en-US" altLang="en-US" sz="2400" dirty="0"/>
          </a:p>
          <a:p>
            <a:pPr indent="34925" algn="l" rtl="0" eaLnBrk="0">
              <a:lnSpc>
                <a:spcPct val="76000"/>
              </a:lnSpc>
              <a:spcBef>
                <a:spcPts val="635"/>
              </a:spcBef>
            </a:pPr>
            <a:r>
              <a:rPr sz="240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cl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ass</a:t>
            </a:r>
            <a:r>
              <a:rPr sz="2400" spc="-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66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CException</a:t>
            </a:r>
            <a:endParaRPr lang="en-US" altLang="en-US" sz="2400" dirty="0"/>
          </a:p>
          <a:p>
            <a:pPr indent="66675" algn="l" rtl="0" eaLnBrk="0">
              <a:lnSpc>
                <a:spcPts val="2935"/>
              </a:lnSpc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{</a:t>
            </a:r>
            <a:endParaRPr lang="en-US" altLang="en-US" sz="2400" dirty="0"/>
          </a:p>
          <a:p>
            <a:pPr indent="938530" algn="l" rtl="0" eaLnBrk="0">
              <a:lnSpc>
                <a:spcPct val="78000"/>
              </a:lnSpc>
              <a:spcBef>
                <a:spcPts val="640"/>
              </a:spcBef>
            </a:pPr>
            <a:r>
              <a:rPr sz="240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pub</a:t>
            </a:r>
            <a:r>
              <a:rPr sz="240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li</a:t>
            </a:r>
            <a:r>
              <a:rPr sz="240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</a:t>
            </a:r>
            <a:r>
              <a:rPr sz="240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:</a:t>
            </a:r>
            <a:endParaRPr lang="en-US" altLang="en-US" sz="2400" dirty="0"/>
          </a:p>
          <a:p>
            <a:pPr indent="1868805" algn="l" rtl="0" eaLnBrk="0">
              <a:lnSpc>
                <a:spcPct val="78000"/>
              </a:lnSpc>
              <a:spcBef>
                <a:spcPts val="630"/>
              </a:spcBef>
            </a:pPr>
            <a:r>
              <a:rPr sz="240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str</a:t>
            </a:r>
            <a:r>
              <a:rPr sz="2400" spc="-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ng</a:t>
            </a:r>
            <a:r>
              <a:rPr sz="2400" spc="-1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msg;</a:t>
            </a:r>
            <a:endParaRPr lang="en-US" altLang="en-US" sz="2400" dirty="0"/>
          </a:p>
          <a:p>
            <a:pPr indent="1864995" algn="l" rtl="0" eaLnBrk="0">
              <a:lnSpc>
                <a:spcPct val="76000"/>
              </a:lnSpc>
              <a:spcBef>
                <a:spcPts val="635"/>
              </a:spcBef>
            </a:pPr>
            <a:r>
              <a:rPr sz="240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CExcep</a:t>
            </a:r>
            <a:r>
              <a:rPr sz="2400" spc="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ion(string</a:t>
            </a:r>
            <a:r>
              <a:rPr sz="240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s):msg(s)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{</a:t>
            </a:r>
            <a:r>
              <a:rPr sz="240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}</a:t>
            </a:r>
            <a:endParaRPr lang="en-US" altLang="en-US" sz="2400" dirty="0"/>
          </a:p>
          <a:p>
            <a:pPr indent="50800" algn="l" rtl="0" eaLnBrk="0">
              <a:lnSpc>
                <a:spcPts val="2935"/>
              </a:lnSpc>
            </a:pPr>
            <a:r>
              <a:rPr sz="2400" spc="-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}</a:t>
            </a:r>
            <a:r>
              <a:rPr sz="2400" spc="-4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;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4"/>
          <p:cNvSpPr/>
          <p:nvPr/>
        </p:nvSpPr>
        <p:spPr>
          <a:xfrm>
            <a:off x="837514" y="217187"/>
            <a:ext cx="6544944" cy="616521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200" dirty="0"/>
          </a:p>
          <a:p>
            <a:pPr indent="13970" algn="l" rtl="0" eaLnBrk="0">
              <a:lnSpc>
                <a:spcPct val="76000"/>
              </a:lnSpc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double Devide(double x,</a:t>
            </a:r>
            <a:r>
              <a:rPr sz="2400" spc="-12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double y)</a:t>
            </a:r>
            <a:endParaRPr lang="en-US" altLang="en-US" sz="2400" dirty="0"/>
          </a:p>
          <a:p>
            <a:pPr indent="45720" algn="l" rtl="0" eaLnBrk="0">
              <a:lnSpc>
                <a:spcPts val="2935"/>
              </a:lnSpc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{</a:t>
            </a:r>
            <a:endParaRPr lang="en-US" altLang="en-US" sz="2400" dirty="0"/>
          </a:p>
          <a:p>
            <a:pPr indent="927100" algn="l" rtl="0" eaLnBrk="0">
              <a:lnSpc>
                <a:spcPct val="78000"/>
              </a:lnSpc>
              <a:spcBef>
                <a:spcPts val="635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if(y</a:t>
            </a:r>
            <a:r>
              <a:rPr sz="240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==</a:t>
            </a:r>
            <a:r>
              <a:rPr sz="240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0)</a:t>
            </a:r>
            <a:endParaRPr lang="en-US" altLang="en-US" sz="2400" dirty="0"/>
          </a:p>
          <a:p>
            <a:pPr marL="929005" indent="907415" algn="l" rtl="0" eaLnBrk="0">
              <a:lnSpc>
                <a:spcPct val="102000"/>
              </a:lnSpc>
              <a:spcBef>
                <a:spcPts val="5"/>
              </a:spcBef>
            </a:pPr>
            <a:r>
              <a:rPr sz="2400" spc="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throw</a:t>
            </a:r>
            <a:r>
              <a:rPr sz="240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66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CException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("devided</a:t>
            </a:r>
            <a:r>
              <a:rPr sz="240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by</a:t>
            </a:r>
            <a:r>
              <a:rPr sz="240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zero");</a:t>
            </a:r>
            <a:endParaRPr sz="2400" spc="0" dirty="0">
              <a:solidFill>
                <a:srgbClr val="000000">
                  <a:alpha val="100000"/>
                </a:srgbClr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929005" indent="907415" algn="l" rtl="0" eaLnBrk="0">
              <a:lnSpc>
                <a:spcPct val="102000"/>
              </a:lnSpc>
              <a:spcBef>
                <a:spcPts val="5"/>
              </a:spcBef>
            </a:pPr>
            <a:r>
              <a:rPr lang="en-US" b="1" spc="0" dirty="0">
                <a:solidFill>
                  <a:srgbClr val="00B05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//</a:t>
            </a:r>
            <a:r>
              <a:rPr lang="zh-CN" altLang="en-US" b="1" spc="0" dirty="0">
                <a:solidFill>
                  <a:srgbClr val="00B050">
                    <a:alpha val="100000"/>
                  </a:srgbClr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只抛出异常，没有捕获</a:t>
            </a:r>
            <a:r>
              <a:rPr lang="zh-CN" altLang="en-US" b="1" dirty="0">
                <a:solidFill>
                  <a:srgbClr val="00B050">
                    <a:alpha val="100000"/>
                  </a:srgbClr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  <a:sym typeface="+mn-ea"/>
              </a:rPr>
              <a:t>异常</a:t>
            </a:r>
            <a:endParaRPr b="1" spc="0" dirty="0">
              <a:solidFill>
                <a:srgbClr val="00B050">
                  <a:alpha val="100000"/>
                </a:srgbClr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929005" indent="907415" algn="l" rtl="0" eaLnBrk="0">
              <a:lnSpc>
                <a:spcPct val="102000"/>
              </a:lnSpc>
              <a:spcBef>
                <a:spcPts val="5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cout</a:t>
            </a:r>
            <a:r>
              <a:rPr sz="240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&lt;&lt;</a:t>
            </a:r>
            <a:r>
              <a:rPr sz="2400" spc="-3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"in</a:t>
            </a:r>
            <a:r>
              <a:rPr sz="240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Devide"</a:t>
            </a:r>
            <a:r>
              <a:rPr sz="240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&lt;&lt;</a:t>
            </a:r>
            <a:r>
              <a:rPr sz="240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endl;</a:t>
            </a:r>
            <a:endParaRPr lang="en-US" altLang="en-US" sz="2400" dirty="0"/>
          </a:p>
          <a:p>
            <a:pPr indent="920115" algn="l" rtl="0" eaLnBrk="0">
              <a:lnSpc>
                <a:spcPct val="76000"/>
              </a:lnSpc>
              <a:spcBef>
                <a:spcPts val="515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return</a:t>
            </a:r>
            <a:r>
              <a:rPr sz="240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</a:t>
            </a:r>
            <a:r>
              <a:rPr sz="240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</a:t>
            </a:r>
            <a:r>
              <a:rPr sz="2400" spc="-1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y;</a:t>
            </a:r>
            <a:endParaRPr lang="en-US" altLang="en-US" sz="2400" dirty="0"/>
          </a:p>
          <a:p>
            <a:pPr indent="29845" algn="l" rtl="0" eaLnBrk="0">
              <a:lnSpc>
                <a:spcPts val="2940"/>
              </a:lnSpc>
            </a:pPr>
            <a:r>
              <a:rPr sz="28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}</a:t>
            </a:r>
            <a:endParaRPr lang="en-US" altLang="en-US" sz="2800" dirty="0"/>
          </a:p>
          <a:p>
            <a:pPr indent="12700" algn="l" rtl="0" eaLnBrk="0">
              <a:lnSpc>
                <a:spcPct val="76000"/>
              </a:lnSpc>
              <a:spcBef>
                <a:spcPts val="635"/>
              </a:spcBef>
            </a:pPr>
            <a:r>
              <a:rPr sz="240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int</a:t>
            </a:r>
            <a:r>
              <a:rPr sz="2400" spc="-1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Count</a:t>
            </a:r>
            <a:r>
              <a:rPr sz="2400" spc="-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ax(int</a:t>
            </a:r>
            <a:r>
              <a:rPr sz="2400" spc="-1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salary)</a:t>
            </a:r>
            <a:endParaRPr lang="en-US" altLang="en-US" sz="2400" dirty="0"/>
          </a:p>
          <a:p>
            <a:pPr indent="45720" algn="l" rtl="0" eaLnBrk="0">
              <a:lnSpc>
                <a:spcPts val="2940"/>
              </a:lnSpc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{</a:t>
            </a:r>
            <a:endParaRPr lang="en-US" altLang="en-US" sz="2400" dirty="0"/>
          </a:p>
          <a:p>
            <a:pPr indent="921385" algn="l" rtl="0" eaLnBrk="0">
              <a:lnSpc>
                <a:spcPct val="78000"/>
              </a:lnSpc>
              <a:spcBef>
                <a:spcPts val="635"/>
              </a:spcBef>
            </a:pPr>
            <a:r>
              <a:rPr sz="2400" spc="4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</a:t>
            </a:r>
            <a:r>
              <a:rPr sz="2400" spc="5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</a:t>
            </a:r>
            <a:r>
              <a:rPr sz="2400" spc="7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y</a:t>
            </a:r>
            <a:r>
              <a:rPr sz="2400" spc="4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{</a:t>
            </a:r>
            <a:endParaRPr lang="en-US" altLang="en-US" sz="2400" dirty="0"/>
          </a:p>
          <a:p>
            <a:pPr indent="1842135" algn="l" rtl="0" eaLnBrk="0">
              <a:lnSpc>
                <a:spcPct val="76000"/>
              </a:lnSpc>
              <a:spcBef>
                <a:spcPts val="635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if(</a:t>
            </a:r>
            <a:r>
              <a:rPr sz="2400" spc="-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salary &lt; 0 )</a:t>
            </a:r>
            <a:endParaRPr lang="en-US" altLang="en-US" sz="2400" dirty="0"/>
          </a:p>
          <a:p>
            <a:pPr indent="2750820" algn="l" rtl="0" eaLnBrk="0">
              <a:lnSpc>
                <a:spcPts val="3060"/>
              </a:lnSpc>
            </a:pPr>
            <a:r>
              <a:rPr sz="2400" spc="-1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</a:t>
            </a:r>
            <a:r>
              <a:rPr sz="2400" spc="-2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hro</a:t>
            </a:r>
            <a:r>
              <a:rPr sz="2400" spc="-3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</a:t>
            </a:r>
            <a:r>
              <a:rPr sz="2400" spc="-2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-1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;</a:t>
            </a:r>
            <a:endParaRPr lang="en-US" altLang="en-US" sz="2400" dirty="0"/>
          </a:p>
          <a:p>
            <a:pPr marL="944880" indent="899160" algn="l" rtl="0" eaLnBrk="0">
              <a:lnSpc>
                <a:spcPct val="89000"/>
              </a:lnSpc>
              <a:spcBef>
                <a:spcPts val="520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cout</a:t>
            </a:r>
            <a:r>
              <a:rPr sz="240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&lt;&lt;</a:t>
            </a:r>
            <a:r>
              <a:rPr sz="240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"counting</a:t>
            </a:r>
            <a:r>
              <a:rPr sz="240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tax"</a:t>
            </a:r>
            <a:r>
              <a:rPr sz="2400" spc="-3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&lt;&lt;</a:t>
            </a:r>
            <a:r>
              <a:rPr sz="240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endl;           }</a:t>
            </a:r>
            <a:endParaRPr lang="en-US" altLang="en-US" sz="2400" dirty="0"/>
          </a:p>
          <a:p>
            <a:pPr indent="929005" algn="l" rtl="0" eaLnBrk="0">
              <a:lnSpc>
                <a:spcPct val="78000"/>
              </a:lnSpc>
              <a:spcBef>
                <a:spcPts val="635"/>
              </a:spcBef>
            </a:pPr>
            <a:r>
              <a:rPr sz="2400" spc="2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ca</a:t>
            </a:r>
            <a:r>
              <a:rPr sz="2400" spc="1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</a:t>
            </a:r>
            <a:r>
              <a:rPr sz="2400" spc="2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ch</a:t>
            </a:r>
            <a:r>
              <a:rPr sz="240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(</a:t>
            </a:r>
            <a:r>
              <a:rPr sz="240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</a:t>
            </a:r>
            <a:r>
              <a:rPr sz="240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</a:t>
            </a:r>
            <a:r>
              <a:rPr sz="240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</a:t>
            </a:r>
            <a:r>
              <a:rPr sz="240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{</a:t>
            </a:r>
            <a:r>
              <a:rPr lang="en-US"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</a:t>
            </a:r>
            <a:r>
              <a:rPr lang="en-US" b="1" dirty="0">
                <a:solidFill>
                  <a:srgbClr val="00B05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//</a:t>
            </a:r>
            <a:r>
              <a:rPr lang="zh-CN" altLang="en-US" b="1" dirty="0">
                <a:solidFill>
                  <a:srgbClr val="00B050">
                    <a:alpha val="100000"/>
                  </a:srgbClr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  <a:sym typeface="+mn-ea"/>
              </a:rPr>
              <a:t>捕获</a:t>
            </a:r>
            <a:r>
              <a:rPr lang="zh-CN" altLang="en-US" b="1" dirty="0">
                <a:solidFill>
                  <a:srgbClr val="00B050">
                    <a:alpha val="100000"/>
                  </a:srgbClr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  <a:sym typeface="+mn-ea"/>
              </a:rPr>
              <a:t>异常</a:t>
            </a:r>
            <a:endParaRPr lang="en-US" altLang="en-US" sz="2400" dirty="0"/>
          </a:p>
          <a:p>
            <a:pPr marL="944880" indent="899160" algn="l" rtl="0" eaLnBrk="0">
              <a:lnSpc>
                <a:spcPct val="100000"/>
              </a:lnSpc>
              <a:spcBef>
                <a:spcPts val="5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cout</a:t>
            </a:r>
            <a:r>
              <a:rPr sz="240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&lt;&lt;</a:t>
            </a:r>
            <a:r>
              <a:rPr sz="240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"salary</a:t>
            </a:r>
            <a:r>
              <a:rPr sz="240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</a:t>
            </a:r>
            <a:r>
              <a:rPr sz="240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0"</a:t>
            </a:r>
            <a:r>
              <a:rPr sz="240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&lt;&lt;</a:t>
            </a:r>
            <a:r>
              <a:rPr sz="240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endl;               }</a:t>
            </a:r>
            <a:endParaRPr lang="en-US" altLang="en-US" sz="2400" spc="0" dirty="0">
              <a:solidFill>
                <a:srgbClr val="000000">
                  <a:alpha val="100000"/>
                </a:srgbClr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5"/>
          <p:cNvSpPr/>
          <p:nvPr/>
        </p:nvSpPr>
        <p:spPr>
          <a:xfrm>
            <a:off x="240030" y="346075"/>
            <a:ext cx="8639810" cy="653097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lang="en-US" altLang="en-US" sz="100" dirty="0"/>
          </a:p>
          <a:p>
            <a:pPr indent="929005" algn="l" rtl="0" eaLnBrk="0">
              <a:lnSpc>
                <a:spcPct val="76000"/>
              </a:lnSpc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cout</a:t>
            </a:r>
            <a:r>
              <a:rPr sz="240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&lt;&lt;</a:t>
            </a:r>
            <a:r>
              <a:rPr sz="240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"tax</a:t>
            </a:r>
            <a:r>
              <a:rPr sz="240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counted"</a:t>
            </a:r>
            <a:r>
              <a:rPr sz="240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&lt;&lt;</a:t>
            </a:r>
            <a:r>
              <a:rPr sz="240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endl;</a:t>
            </a:r>
            <a:endParaRPr lang="en-US" altLang="en-US" sz="2400" dirty="0"/>
          </a:p>
          <a:p>
            <a:pPr indent="920115" algn="l" rtl="0" eaLnBrk="0">
              <a:lnSpc>
                <a:spcPts val="2935"/>
              </a:lnSpc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return</a:t>
            </a:r>
            <a:r>
              <a:rPr sz="240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salary</a:t>
            </a:r>
            <a:r>
              <a:rPr sz="2400" spc="-1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*</a:t>
            </a:r>
            <a:r>
              <a:rPr sz="240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0.15;</a:t>
            </a:r>
            <a:endParaRPr lang="en-US" altLang="en-US" sz="2400" dirty="0"/>
          </a:p>
          <a:p>
            <a:pPr indent="29845" algn="l" rtl="0" eaLnBrk="0">
              <a:lnSpc>
                <a:spcPct val="76000"/>
              </a:lnSpc>
              <a:spcBef>
                <a:spcPts val="635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}</a:t>
            </a:r>
            <a:endParaRPr lang="en-US" altLang="en-US" sz="2400" dirty="0"/>
          </a:p>
          <a:p>
            <a:pPr indent="12700" algn="l" rtl="0" eaLnBrk="0">
              <a:lnSpc>
                <a:spcPct val="99000"/>
              </a:lnSpc>
              <a:spcBef>
                <a:spcPts val="30"/>
              </a:spcBef>
            </a:pPr>
            <a:r>
              <a:rPr sz="240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</a:t>
            </a:r>
            <a:r>
              <a:rPr sz="2400" spc="-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main()</a:t>
            </a:r>
            <a:endParaRPr lang="en-US" altLang="en-US" sz="2400" dirty="0"/>
          </a:p>
          <a:p>
            <a:pPr indent="45720" algn="l" rtl="0" eaLnBrk="0">
              <a:lnSpc>
                <a:spcPts val="2940"/>
              </a:lnSpc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{</a:t>
            </a:r>
            <a:endParaRPr lang="en-US" altLang="en-US" sz="2400" dirty="0"/>
          </a:p>
          <a:p>
            <a:pPr indent="928370" algn="l" rtl="0" eaLnBrk="0">
              <a:lnSpc>
                <a:spcPct val="76000"/>
              </a:lnSpc>
              <a:spcBef>
                <a:spcPts val="635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double</a:t>
            </a:r>
            <a:r>
              <a:rPr sz="240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</a:t>
            </a:r>
            <a:r>
              <a:rPr sz="2400" spc="-2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=</a:t>
            </a:r>
            <a:r>
              <a:rPr sz="240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1.2;</a:t>
            </a:r>
            <a:endParaRPr lang="en-US" altLang="en-US" sz="2400" dirty="0"/>
          </a:p>
          <a:p>
            <a:pPr indent="921385" algn="l" rtl="0" eaLnBrk="0">
              <a:lnSpc>
                <a:spcPts val="2940"/>
              </a:lnSpc>
            </a:pPr>
            <a:r>
              <a:rPr sz="2400" spc="4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</a:t>
            </a:r>
            <a:r>
              <a:rPr sz="2400" spc="5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</a:t>
            </a:r>
            <a:r>
              <a:rPr sz="2400" spc="7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y</a:t>
            </a:r>
            <a:r>
              <a:rPr sz="2400" spc="45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{</a:t>
            </a:r>
            <a:endParaRPr lang="en-US" altLang="en-US" sz="2400" dirty="0"/>
          </a:p>
          <a:p>
            <a:pPr indent="1844040" algn="l" rtl="0" eaLnBrk="0">
              <a:lnSpc>
                <a:spcPct val="76000"/>
              </a:lnSpc>
              <a:spcBef>
                <a:spcPts val="635"/>
              </a:spcBef>
            </a:pPr>
            <a:r>
              <a:rPr sz="2400" spc="-40" dirty="0">
                <a:solidFill>
                  <a:srgbClr val="7030A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</a:t>
            </a:r>
            <a:r>
              <a:rPr sz="2400" spc="-30" dirty="0">
                <a:solidFill>
                  <a:srgbClr val="7030A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oun</a:t>
            </a:r>
            <a:r>
              <a:rPr sz="2400" spc="-20" dirty="0">
                <a:solidFill>
                  <a:srgbClr val="7030A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</a:t>
            </a:r>
            <a:r>
              <a:rPr sz="2400" spc="-40" dirty="0">
                <a:solidFill>
                  <a:srgbClr val="7030A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</a:t>
            </a:r>
            <a:r>
              <a:rPr sz="2400" spc="-30" dirty="0">
                <a:solidFill>
                  <a:srgbClr val="7030A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ax</a:t>
            </a:r>
            <a:r>
              <a:rPr sz="240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(-</a:t>
            </a:r>
            <a:r>
              <a:rPr sz="2400" spc="-48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r>
              <a:rPr sz="240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r>
              <a:rPr sz="2400" spc="-1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;</a:t>
            </a:r>
            <a:r>
              <a:rPr lang="en-US" sz="2400" spc="-1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</a:t>
            </a:r>
            <a:r>
              <a:rPr lang="en-US" b="1" spc="-15" dirty="0">
                <a:solidFill>
                  <a:srgbClr val="00B05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//-1</a:t>
            </a:r>
            <a:r>
              <a:rPr lang="zh-CN" altLang="en-US" b="1" spc="-15" dirty="0">
                <a:solidFill>
                  <a:srgbClr val="00B050">
                    <a:alpha val="100000"/>
                  </a:srgbClr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触发异常，在函数内被捕获并处理</a:t>
            </a:r>
            <a:endParaRPr lang="en-US" altLang="en-US" sz="2400" dirty="0"/>
          </a:p>
          <a:p>
            <a:pPr indent="1845310" algn="l" rtl="0" eaLnBrk="0">
              <a:lnSpc>
                <a:spcPts val="2945"/>
              </a:lnSpc>
            </a:pPr>
            <a:r>
              <a:rPr sz="240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</a:t>
            </a:r>
            <a:r>
              <a:rPr sz="2400" spc="-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=</a:t>
            </a:r>
            <a:r>
              <a:rPr sz="2400" spc="-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7030A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Devide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(3,0);</a:t>
            </a:r>
            <a:r>
              <a:rPr lang="en-US" b="1" spc="-15" dirty="0">
                <a:solidFill>
                  <a:srgbClr val="00B05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//0</a:t>
            </a:r>
            <a:r>
              <a:rPr lang="zh-CN" altLang="en-US" b="1" spc="-15" dirty="0">
                <a:solidFill>
                  <a:srgbClr val="00B050">
                    <a:alpha val="100000"/>
                  </a:srgbClr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  <a:sym typeface="+mn-ea"/>
              </a:rPr>
              <a:t>触发异常，函数内没有捕获处理，再抛给</a:t>
            </a:r>
            <a:r>
              <a:rPr lang="en-US" altLang="zh-CN" b="1" spc="-15" dirty="0">
                <a:solidFill>
                  <a:srgbClr val="00B050">
                    <a:alpha val="100000"/>
                  </a:srgbClr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  <a:sym typeface="+mn-ea"/>
              </a:rPr>
              <a:t>main</a:t>
            </a:r>
            <a:endParaRPr lang="en-US" altLang="en-US" sz="2400" dirty="0"/>
          </a:p>
          <a:p>
            <a:pPr indent="1843405" algn="l" rtl="0" eaLnBrk="0">
              <a:lnSpc>
                <a:spcPct val="78000"/>
              </a:lnSpc>
              <a:spcBef>
                <a:spcPts val="630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cout</a:t>
            </a:r>
            <a:r>
              <a:rPr sz="240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&lt;&lt;</a:t>
            </a:r>
            <a:r>
              <a:rPr sz="2400" spc="-2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"end</a:t>
            </a:r>
            <a:r>
              <a:rPr sz="240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of</a:t>
            </a:r>
            <a:r>
              <a:rPr sz="240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try</a:t>
            </a:r>
            <a:r>
              <a:rPr sz="240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block"</a:t>
            </a:r>
            <a:r>
              <a:rPr sz="240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&lt;&lt;</a:t>
            </a:r>
            <a:r>
              <a:rPr sz="240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endl;</a:t>
            </a:r>
            <a:endParaRPr lang="en-US" altLang="en-US" sz="2400" dirty="0"/>
          </a:p>
          <a:p>
            <a:pPr indent="944880" algn="l" rtl="0" eaLnBrk="0">
              <a:lnSpc>
                <a:spcPct val="78000"/>
              </a:lnSpc>
              <a:spcBef>
                <a:spcPts val="635"/>
              </a:spcBef>
            </a:pPr>
            <a:r>
              <a:rPr sz="21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}</a:t>
            </a:r>
            <a:endParaRPr lang="en-US" altLang="en-US" sz="2100" dirty="0"/>
          </a:p>
          <a:p>
            <a:pPr indent="929005" algn="l" rtl="0" eaLnBrk="0">
              <a:lnSpc>
                <a:spcPts val="2880"/>
              </a:lnSpc>
            </a:pPr>
            <a:r>
              <a:rPr sz="3600" spc="40" baseline="300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ca</a:t>
            </a:r>
            <a:r>
              <a:rPr sz="3600" spc="30" baseline="300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</a:t>
            </a:r>
            <a:r>
              <a:rPr sz="3600" spc="40" baseline="300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</a:t>
            </a:r>
            <a:r>
              <a:rPr sz="3600" spc="50" baseline="300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</a:t>
            </a:r>
            <a:r>
              <a:rPr sz="3200" spc="40" baseline="3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sz="3200" spc="60" baseline="3000" dirty="0">
                <a:solidFill>
                  <a:srgbClr val="0066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</a:t>
            </a:r>
            <a:r>
              <a:rPr sz="3200" spc="50" baseline="3000" dirty="0">
                <a:solidFill>
                  <a:srgbClr val="0066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Ex</a:t>
            </a:r>
            <a:r>
              <a:rPr sz="3200" spc="40" baseline="3000" dirty="0">
                <a:solidFill>
                  <a:srgbClr val="0066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ce</a:t>
            </a:r>
            <a:r>
              <a:rPr sz="3200" spc="50" baseline="3000" dirty="0">
                <a:solidFill>
                  <a:srgbClr val="0066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</a:t>
            </a:r>
            <a:r>
              <a:rPr sz="3200" spc="30" baseline="3000" dirty="0">
                <a:solidFill>
                  <a:srgbClr val="0066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ti</a:t>
            </a:r>
            <a:r>
              <a:rPr sz="3200" spc="50" baseline="3000" dirty="0">
                <a:solidFill>
                  <a:srgbClr val="0066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on</a:t>
            </a:r>
            <a:r>
              <a:rPr sz="200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3200" spc="40" baseline="3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e)</a:t>
            </a:r>
            <a:r>
              <a:rPr sz="20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3200" spc="45" baseline="3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{</a:t>
            </a:r>
            <a:r>
              <a:rPr sz="200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</a:t>
            </a:r>
            <a:r>
              <a:rPr sz="160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</a:t>
            </a:r>
            <a:r>
              <a:rPr lang="en-US" sz="1600" b="1" spc="-15" dirty="0">
                <a:solidFill>
                  <a:srgbClr val="00B05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//</a:t>
            </a:r>
            <a:r>
              <a:rPr lang="zh-CN" sz="1600" b="1" spc="-15" dirty="0">
                <a:solidFill>
                  <a:srgbClr val="00B050">
                    <a:alpha val="100000"/>
                  </a:srgbClr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  <a:sym typeface="+mn-ea"/>
              </a:rPr>
              <a:t>捕获</a:t>
            </a:r>
            <a:r>
              <a:rPr lang="zh-CN" altLang="en-US" sz="1600" b="1" spc="-15" dirty="0">
                <a:solidFill>
                  <a:srgbClr val="00B050">
                    <a:alpha val="100000"/>
                  </a:srgbClr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  <a:sym typeface="+mn-ea"/>
              </a:rPr>
              <a:t>异常</a:t>
            </a:r>
            <a:r>
              <a:rPr sz="160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</a:t>
            </a:r>
            <a:r>
              <a:rPr sz="200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  </a:t>
            </a:r>
            <a:r>
              <a:rPr sz="3200" spc="70" baseline="2200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输出结果</a:t>
            </a:r>
            <a:r>
              <a:rPr sz="3200" spc="80" baseline="2200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lang="en-US" altLang="en-US" sz="2080" dirty="0"/>
          </a:p>
          <a:p>
            <a:pPr indent="1843405" algn="l" rtl="0" eaLnBrk="0">
              <a:lnSpc>
                <a:spcPts val="2880"/>
              </a:lnSpc>
            </a:pPr>
            <a:r>
              <a:rPr sz="3100" spc="170" baseline="4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</a:t>
            </a:r>
            <a:r>
              <a:rPr sz="3100" spc="180" baseline="4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ou</a:t>
            </a:r>
            <a:r>
              <a:rPr sz="3100" spc="100" baseline="4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</a:t>
            </a:r>
            <a:r>
              <a:rPr sz="2000" spc="1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3100" spc="200" baseline="4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&lt;&lt;</a:t>
            </a:r>
            <a:r>
              <a:rPr sz="2000" spc="1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3100" spc="170" baseline="4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</a:t>
            </a:r>
            <a:r>
              <a:rPr sz="3100" spc="90" baseline="4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.</a:t>
            </a:r>
            <a:r>
              <a:rPr sz="3100" spc="280" baseline="4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</a:t>
            </a:r>
            <a:r>
              <a:rPr sz="3100" spc="150" baseline="4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</a:t>
            </a:r>
            <a:r>
              <a:rPr sz="3100" spc="180" baseline="4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</a:t>
            </a:r>
            <a:r>
              <a:rPr sz="2000" spc="1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3100" spc="200" baseline="4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&lt;&lt;</a:t>
            </a:r>
            <a:r>
              <a:rPr sz="2000" spc="1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3100" spc="170" baseline="4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</a:t>
            </a:r>
            <a:r>
              <a:rPr sz="3100" spc="180" baseline="4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nd</a:t>
            </a:r>
            <a:r>
              <a:rPr sz="3100" spc="100" baseline="4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l;</a:t>
            </a:r>
            <a:r>
              <a:rPr sz="20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320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   </a:t>
            </a:r>
            <a:r>
              <a:rPr sz="20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  </a:t>
            </a:r>
            <a:r>
              <a:rPr sz="2100" i="1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salary&lt;0                                                                         </a:t>
            </a:r>
            <a:r>
              <a:rPr sz="2100" i="1" spc="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en-US" sz="20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		</a:t>
            </a:r>
            <a:r>
              <a:rPr sz="3200" baseline="-7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}</a:t>
            </a:r>
            <a:r>
              <a:rPr lang="en-US" sz="20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			    	        </a:t>
            </a:r>
            <a:r>
              <a:rPr sz="2100" i="1" spc="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tax</a:t>
            </a:r>
            <a:r>
              <a:rPr sz="2100" spc="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100" i="1" spc="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counted</a:t>
            </a:r>
            <a:endParaRPr lang="en-US" altLang="en-US" sz="2100" dirty="0"/>
          </a:p>
          <a:p>
            <a:pPr indent="929005" algn="l" rtl="0" eaLnBrk="0">
              <a:lnSpc>
                <a:spcPts val="3075"/>
              </a:lnSpc>
            </a:pPr>
            <a:r>
              <a:rPr sz="3400" spc="80" baseline="-1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</a:t>
            </a:r>
            <a:r>
              <a:rPr sz="3400" spc="90" baseline="-1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ou</a:t>
            </a:r>
            <a:r>
              <a:rPr sz="3400" spc="60" baseline="-1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</a:t>
            </a:r>
            <a:r>
              <a:rPr sz="2200" spc="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3400" spc="100" baseline="-1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&lt;&lt;</a:t>
            </a:r>
            <a:r>
              <a:rPr sz="2200" spc="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3400" spc="80" baseline="-1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"</a:t>
            </a:r>
            <a:r>
              <a:rPr sz="3400" spc="70" baseline="-1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</a:t>
            </a:r>
            <a:r>
              <a:rPr sz="3400" spc="100" baseline="-1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=</a:t>
            </a:r>
            <a:r>
              <a:rPr sz="3400" spc="80" baseline="-1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"</a:t>
            </a:r>
            <a:r>
              <a:rPr sz="2200" spc="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3400" spc="100" baseline="-1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</a:t>
            </a:r>
            <a:r>
              <a:rPr sz="3400" spc="90" baseline="-1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</a:t>
            </a:r>
            <a:r>
              <a:rPr sz="2200" spc="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3400" spc="60" baseline="-1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</a:t>
            </a:r>
            <a:r>
              <a:rPr sz="2200" spc="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3400" spc="90" baseline="-1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&lt;&lt;</a:t>
            </a:r>
            <a:r>
              <a:rPr sz="2200" spc="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3400" spc="70" baseline="-1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</a:t>
            </a:r>
            <a:r>
              <a:rPr sz="3400" spc="80" baseline="-1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nd</a:t>
            </a:r>
            <a:r>
              <a:rPr sz="3400" spc="50" baseline="-1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l;</a:t>
            </a:r>
            <a:r>
              <a:rPr sz="22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              </a:t>
            </a:r>
            <a:r>
              <a:rPr sz="2100" i="1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devided by zero</a:t>
            </a:r>
            <a:endParaRPr lang="en-US" altLang="en-US" sz="2340" dirty="0"/>
          </a:p>
          <a:p>
            <a:pPr indent="929005" algn="l" rtl="0" eaLnBrk="0">
              <a:lnSpc>
                <a:spcPct val="98000"/>
              </a:lnSpc>
              <a:spcBef>
                <a:spcPts val="10"/>
              </a:spcBef>
            </a:pPr>
            <a:r>
              <a:rPr sz="2100" spc="1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</a:t>
            </a:r>
            <a:r>
              <a:rPr sz="2100" spc="1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ou</a:t>
            </a:r>
            <a:r>
              <a:rPr sz="2100" spc="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 </a:t>
            </a:r>
            <a:r>
              <a:rPr sz="2100" spc="1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&lt;&lt;</a:t>
            </a:r>
            <a:r>
              <a:rPr sz="2100" spc="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100" spc="1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"</a:t>
            </a:r>
            <a:r>
              <a:rPr sz="2100" spc="1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</a:t>
            </a:r>
            <a:r>
              <a:rPr sz="2100" spc="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</a:t>
            </a:r>
            <a:r>
              <a:rPr sz="2100" spc="1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</a:t>
            </a:r>
            <a:r>
              <a:rPr sz="2100" spc="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</a:t>
            </a:r>
            <a:r>
              <a:rPr sz="2100" spc="1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</a:t>
            </a:r>
            <a:r>
              <a:rPr sz="2100" spc="14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</a:t>
            </a:r>
            <a:r>
              <a:rPr sz="2100" spc="1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</a:t>
            </a:r>
            <a:r>
              <a:rPr sz="2100" spc="1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</a:t>
            </a:r>
            <a:r>
              <a:rPr sz="2100" spc="1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"</a:t>
            </a:r>
            <a:r>
              <a:rPr sz="2100" spc="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100" spc="1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&lt;&lt;</a:t>
            </a:r>
            <a:r>
              <a:rPr sz="2100" spc="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100" spc="1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</a:t>
            </a:r>
            <a:r>
              <a:rPr sz="2100" spc="1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nd</a:t>
            </a:r>
            <a:r>
              <a:rPr sz="2100" spc="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l;</a:t>
            </a:r>
            <a:r>
              <a:rPr sz="21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              </a:t>
            </a:r>
            <a:r>
              <a:rPr sz="2100" i="1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f=1.</a:t>
            </a:r>
            <a:r>
              <a:rPr sz="2100" i="1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endParaRPr sz="2100" i="1" dirty="0">
              <a:solidFill>
                <a:srgbClr val="FF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920115" algn="l" rtl="0" eaLnBrk="0">
              <a:lnSpc>
                <a:spcPts val="3100"/>
              </a:lnSpc>
            </a:pPr>
            <a:r>
              <a:rPr sz="3400" spc="70" baseline="-2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</a:t>
            </a:r>
            <a:r>
              <a:rPr sz="3400" spc="90" baseline="-2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</a:t>
            </a:r>
            <a:r>
              <a:rPr sz="3400" spc="60" baseline="-2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</a:t>
            </a:r>
            <a:r>
              <a:rPr sz="3400" spc="100" baseline="-2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</a:t>
            </a:r>
            <a:r>
              <a:rPr sz="3400" spc="70" baseline="-2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</a:t>
            </a:r>
            <a:r>
              <a:rPr sz="3400" spc="100" baseline="-2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</a:t>
            </a:r>
            <a:r>
              <a:rPr sz="2200" spc="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3400" spc="100" baseline="-2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</a:t>
            </a:r>
            <a:r>
              <a:rPr sz="3400" spc="60" baseline="-2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;</a:t>
            </a:r>
            <a:r>
              <a:rPr sz="22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                                              </a:t>
            </a:r>
            <a:r>
              <a:rPr sz="2100" i="1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finished</a:t>
            </a:r>
            <a:endParaRPr lang="en-US" altLang="en-US" sz="2340" dirty="0"/>
          </a:p>
          <a:p>
            <a:pPr indent="29845" algn="l" rtl="0" eaLnBrk="0">
              <a:lnSpc>
                <a:spcPct val="78000"/>
              </a:lnSpc>
              <a:spcBef>
                <a:spcPts val="695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}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2075942" y="1809406"/>
            <a:ext cx="5458459" cy="3239516"/>
          </a:xfrm>
          <a:prstGeom prst="rect">
            <a:avLst/>
          </a:prstGeom>
        </p:spPr>
      </p:pic>
      <p:sp>
        <p:nvSpPr>
          <p:cNvPr id="17" name="textbox 17"/>
          <p:cNvSpPr/>
          <p:nvPr/>
        </p:nvSpPr>
        <p:spPr>
          <a:xfrm>
            <a:off x="95503" y="755955"/>
            <a:ext cx="8792844" cy="73786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99000"/>
              </a:lnSpc>
            </a:pPr>
            <a:endParaRPr lang="en-US" altLang="en-US" sz="100" dirty="0"/>
          </a:p>
          <a:p>
            <a:pPr marL="353695" indent="-340995" algn="l" rtl="0" eaLnBrk="0">
              <a:lnSpc>
                <a:spcPct val="97000"/>
              </a:lnSpc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C++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标准库中有一些类代表异常</a:t>
            </a:r>
            <a:r>
              <a:rPr sz="240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这些类都是从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exception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类派生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而来</a:t>
            </a:r>
            <a:r>
              <a:rPr sz="2400" spc="-3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常用的几个异常类如下</a:t>
            </a:r>
            <a:r>
              <a:rPr sz="2400" spc="-3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lang="en-US" altLang="en-US" sz="2400" dirty="0"/>
          </a:p>
        </p:txBody>
      </p:sp>
      <p:sp>
        <p:nvSpPr>
          <p:cNvPr id="18" name="textbox 18"/>
          <p:cNvSpPr/>
          <p:nvPr/>
        </p:nvSpPr>
        <p:spPr>
          <a:xfrm>
            <a:off x="524052" y="167868"/>
            <a:ext cx="3118485" cy="40512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lang="en-US" altLang="en-US" sz="100" dirty="0"/>
          </a:p>
          <a:p>
            <a:pPr indent="12700" algn="l" rtl="0" eaLnBrk="0">
              <a:lnSpc>
                <a:spcPct val="69000"/>
              </a:lnSpc>
            </a:pPr>
            <a:r>
              <a:rPr sz="3600" spc="-20" dirty="0">
                <a:solidFill>
                  <a:srgbClr val="000099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</a:t>
            </a:r>
            <a:r>
              <a:rPr sz="3600" spc="-10" dirty="0">
                <a:solidFill>
                  <a:srgbClr val="000099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++</a:t>
            </a:r>
            <a:r>
              <a:rPr sz="3600" spc="-20" dirty="0">
                <a:solidFill>
                  <a:srgbClr val="000099">
                    <a:alpha val="100000"/>
                  </a:srgbClr>
                </a:solidFill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标准异</a:t>
            </a:r>
            <a:r>
              <a:rPr sz="3600" spc="-10" dirty="0">
                <a:solidFill>
                  <a:srgbClr val="000099">
                    <a:alpha val="100000"/>
                  </a:srgbClr>
                </a:solidFill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常</a:t>
            </a:r>
            <a:r>
              <a:rPr sz="3600" spc="0" dirty="0">
                <a:solidFill>
                  <a:srgbClr val="000099">
                    <a:alpha val="100000"/>
                  </a:srgbClr>
                </a:solidFill>
                <a:latin typeface="新宋体" panose="02010609030101010101" charset="-122"/>
                <a:ea typeface="新宋体" panose="02010609030101010101" charset="-122"/>
                <a:cs typeface="新宋体" panose="02010609030101010101" charset="-122"/>
              </a:rPr>
              <a:t>类</a:t>
            </a:r>
            <a:endParaRPr lang="en-US" altLang="en-US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20"/>
          <p:cNvSpPr/>
          <p:nvPr/>
        </p:nvSpPr>
        <p:spPr>
          <a:xfrm>
            <a:off x="230530" y="51461"/>
            <a:ext cx="8569325" cy="64598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indent="7004050" algn="l" rtl="0" eaLnBrk="0">
              <a:lnSpc>
                <a:spcPct val="95000"/>
              </a:lnSpc>
            </a:pPr>
            <a:endParaRPr lang="en-US" altLang="en-US" sz="1200" dirty="0"/>
          </a:p>
          <a:p>
            <a:pPr indent="12700" algn="l" rtl="0" eaLnBrk="0">
              <a:lnSpc>
                <a:spcPct val="78000"/>
              </a:lnSpc>
              <a:spcBef>
                <a:spcPts val="950"/>
              </a:spcBef>
            </a:pPr>
            <a:r>
              <a:rPr sz="2400" spc="-10" dirty="0">
                <a:solidFill>
                  <a:srgbClr val="7030A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ba</a:t>
            </a:r>
            <a:r>
              <a:rPr sz="2400" spc="0" dirty="0">
                <a:solidFill>
                  <a:srgbClr val="7030A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d_cast</a:t>
            </a:r>
            <a:endParaRPr lang="en-US" altLang="en-US" sz="2400" dirty="0"/>
          </a:p>
          <a:p>
            <a:pPr marL="25400" indent="0" algn="l" rtl="0" eaLnBrk="0">
              <a:lnSpc>
                <a:spcPct val="97000"/>
              </a:lnSpc>
              <a:spcBef>
                <a:spcPts val="285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在用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dynamic_cast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进行从多态基类对象（或引用</a:t>
            </a:r>
            <a:r>
              <a:rPr sz="2400" spc="-7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sz="2400" spc="-12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到派生类的引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用的强制类型转换时</a:t>
            </a:r>
            <a:r>
              <a:rPr sz="2400" spc="-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如果转换是不安全的</a:t>
            </a:r>
            <a:r>
              <a:rPr sz="2400" spc="-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则会抛出此异常</a:t>
            </a:r>
            <a:r>
              <a:rPr sz="2400" spc="-115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altLang="en-US" sz="2400" dirty="0"/>
          </a:p>
          <a:p>
            <a:pPr algn="l" rtl="0" eaLnBrk="0">
              <a:lnSpc>
                <a:spcPct val="192000"/>
              </a:lnSpc>
            </a:pPr>
            <a:endParaRPr lang="en-US" altLang="en-US" sz="1000" dirty="0"/>
          </a:p>
          <a:p>
            <a:pPr indent="13335" algn="l" rtl="0" eaLnBrk="0">
              <a:lnSpc>
                <a:spcPct val="92000"/>
              </a:lnSpc>
              <a:spcBef>
                <a:spcPts val="725"/>
              </a:spcBef>
            </a:pPr>
            <a:r>
              <a:rPr sz="2400" spc="20" dirty="0">
                <a:solidFill>
                  <a:srgbClr val="00B05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//bad_cast</a:t>
            </a:r>
            <a:r>
              <a:rPr sz="2400" spc="5" dirty="0">
                <a:solidFill>
                  <a:srgbClr val="00B05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异</a:t>
            </a:r>
            <a:r>
              <a:rPr sz="2400" spc="0" dirty="0">
                <a:solidFill>
                  <a:srgbClr val="00B05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常</a:t>
            </a:r>
            <a:endParaRPr lang="en-US" altLang="en-US" sz="2400" dirty="0"/>
          </a:p>
          <a:p>
            <a:pPr indent="19050" algn="l" rtl="0" eaLnBrk="0">
              <a:lnSpc>
                <a:spcPct val="76000"/>
              </a:lnSpc>
              <a:spcBef>
                <a:spcPts val="610"/>
              </a:spcBef>
            </a:pPr>
            <a:r>
              <a:rPr sz="240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#i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nclude</a:t>
            </a:r>
            <a:r>
              <a:rPr sz="2400" spc="-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&lt;iostream&gt;</a:t>
            </a:r>
            <a:endParaRPr lang="en-US" altLang="en-US" sz="2400" dirty="0"/>
          </a:p>
          <a:p>
            <a:pPr indent="19050" algn="l" rtl="0" eaLnBrk="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#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include</a:t>
            </a:r>
            <a:r>
              <a:rPr sz="2400" spc="-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</a:t>
            </a:r>
            <a:r>
              <a:rPr sz="2400" spc="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stdexcept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&gt;</a:t>
            </a:r>
            <a:endParaRPr lang="en-US" altLang="en-US" sz="2400" dirty="0"/>
          </a:p>
          <a:p>
            <a:pPr indent="13335" algn="l" rtl="0" eaLnBrk="0">
              <a:lnSpc>
                <a:spcPts val="2935"/>
              </a:lnSpc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using</a:t>
            </a:r>
            <a:r>
              <a:rPr sz="240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namespace</a:t>
            </a:r>
            <a:r>
              <a:rPr sz="2400" spc="-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std;</a:t>
            </a:r>
            <a:endParaRPr lang="en-US" altLang="en-US" sz="2400" dirty="0"/>
          </a:p>
          <a:p>
            <a:pPr indent="23495" algn="l" rtl="0" eaLnBrk="0">
              <a:lnSpc>
                <a:spcPct val="76000"/>
              </a:lnSpc>
              <a:spcBef>
                <a:spcPts val="635"/>
              </a:spcBef>
            </a:pPr>
            <a:r>
              <a:rPr sz="240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cla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ss</a:t>
            </a:r>
            <a:r>
              <a:rPr sz="2400" spc="-1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Base</a:t>
            </a:r>
            <a:endParaRPr lang="en-US" altLang="en-US" sz="2400" dirty="0"/>
          </a:p>
          <a:p>
            <a:pPr indent="55245" algn="l" rtl="0" eaLnBrk="0">
              <a:lnSpc>
                <a:spcPts val="2940"/>
              </a:lnSpc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{</a:t>
            </a:r>
            <a:endParaRPr lang="en-US" altLang="en-US" sz="2400" dirty="0"/>
          </a:p>
          <a:p>
            <a:pPr indent="930275" algn="l" rtl="0" eaLnBrk="0">
              <a:lnSpc>
                <a:spcPct val="76000"/>
              </a:lnSpc>
              <a:spcBef>
                <a:spcPts val="635"/>
              </a:spcBef>
            </a:pPr>
            <a:r>
              <a:rPr sz="240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irtual</a:t>
            </a:r>
            <a:r>
              <a:rPr sz="240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void</a:t>
            </a:r>
            <a:r>
              <a:rPr sz="240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func(){}</a:t>
            </a:r>
            <a:endParaRPr lang="en-US" altLang="en-US" sz="2400" dirty="0"/>
          </a:p>
          <a:p>
            <a:pPr indent="39370" algn="l" rtl="0" eaLnBrk="0">
              <a:lnSpc>
                <a:spcPts val="2940"/>
              </a:lnSpc>
            </a:pPr>
            <a:r>
              <a:rPr sz="2400" spc="-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}</a:t>
            </a:r>
            <a:r>
              <a:rPr sz="2400" spc="-4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;</a:t>
            </a:r>
            <a:endParaRPr lang="en-US" altLang="en-US" sz="2400" dirty="0"/>
          </a:p>
          <a:p>
            <a:pPr indent="23495" algn="l" rtl="0" eaLnBrk="0">
              <a:lnSpc>
                <a:spcPct val="78000"/>
              </a:lnSpc>
              <a:spcBef>
                <a:spcPts val="640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class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Derived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:</a:t>
            </a:r>
            <a:r>
              <a:rPr sz="2400" spc="-1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public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Base</a:t>
            </a:r>
            <a:endParaRPr lang="en-US" altLang="en-US" sz="2400" dirty="0"/>
          </a:p>
          <a:p>
            <a:pPr indent="55245" algn="l" rtl="0" eaLnBrk="0">
              <a:lnSpc>
                <a:spcPct val="76000"/>
              </a:lnSpc>
              <a:spcBef>
                <a:spcPts val="630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{</a:t>
            </a:r>
            <a:endParaRPr lang="en-US" altLang="en-US" sz="2400" dirty="0"/>
          </a:p>
          <a:p>
            <a:pPr indent="12700" algn="l" rtl="0" eaLnBrk="0">
              <a:lnSpc>
                <a:spcPts val="2940"/>
              </a:lnSpc>
            </a:pPr>
            <a:r>
              <a:rPr sz="240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ublic:</a:t>
            </a:r>
            <a:endParaRPr lang="en-US" altLang="en-US" sz="2400" dirty="0"/>
          </a:p>
          <a:p>
            <a:pPr indent="930275" algn="l" rtl="0" eaLnBrk="0">
              <a:lnSpc>
                <a:spcPct val="76000"/>
              </a:lnSpc>
              <a:spcBef>
                <a:spcPts val="630"/>
              </a:spcBef>
            </a:pPr>
            <a:r>
              <a:rPr sz="240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vo</a:t>
            </a:r>
            <a:r>
              <a:rPr sz="240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</a:t>
            </a:r>
            <a:r>
              <a:rPr sz="240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</a:t>
            </a:r>
            <a:r>
              <a:rPr sz="240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</a:t>
            </a:r>
            <a:r>
              <a:rPr sz="240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ri</a:t>
            </a:r>
            <a:r>
              <a:rPr sz="2400" spc="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t()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{</a:t>
            </a:r>
            <a:r>
              <a:rPr sz="240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}</a:t>
            </a:r>
            <a:endParaRPr lang="en-US" altLang="en-US" sz="2400" dirty="0"/>
          </a:p>
          <a:p>
            <a:pPr indent="39370" algn="l" rtl="0" eaLnBrk="0">
              <a:lnSpc>
                <a:spcPts val="2935"/>
              </a:lnSpc>
            </a:pPr>
            <a:r>
              <a:rPr sz="2400" spc="-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}</a:t>
            </a:r>
            <a:r>
              <a:rPr sz="2400" spc="-4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;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1"/>
          <p:cNvSpPr/>
          <p:nvPr/>
        </p:nvSpPr>
        <p:spPr>
          <a:xfrm>
            <a:off x="233578" y="51461"/>
            <a:ext cx="8566150" cy="539305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indent="7000875" algn="l" rtl="0" eaLnBrk="0">
              <a:lnSpc>
                <a:spcPct val="95000"/>
              </a:lnSpc>
            </a:pPr>
            <a:endParaRPr lang="en-US" altLang="en-US" sz="1200" dirty="0"/>
          </a:p>
          <a:p>
            <a:pPr indent="12700" algn="l" rtl="0" eaLnBrk="0">
              <a:lnSpc>
                <a:spcPct val="76000"/>
              </a:lnSpc>
              <a:spcBef>
                <a:spcPts val="1075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void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PrintObj(</a:t>
            </a:r>
            <a:r>
              <a:rPr sz="2400" spc="-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Base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&amp;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b)</a:t>
            </a:r>
            <a:endParaRPr lang="en-US" altLang="en-US" sz="2400" dirty="0"/>
          </a:p>
          <a:p>
            <a:pPr indent="52070" algn="l" rtl="0" eaLnBrk="0">
              <a:lnSpc>
                <a:spcPts val="2935"/>
              </a:lnSpc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{</a:t>
            </a:r>
            <a:endParaRPr lang="en-US" altLang="en-US" sz="2400" dirty="0"/>
          </a:p>
          <a:p>
            <a:pPr indent="1077595" algn="l" rtl="0" eaLnBrk="0">
              <a:lnSpc>
                <a:spcPct val="78000"/>
              </a:lnSpc>
              <a:spcBef>
                <a:spcPts val="635"/>
              </a:spcBef>
            </a:pPr>
            <a:r>
              <a:rPr sz="2400" spc="40" dirty="0">
                <a:solidFill>
                  <a:srgbClr val="0066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tr</a:t>
            </a:r>
            <a:r>
              <a:rPr sz="2400" spc="60" dirty="0">
                <a:solidFill>
                  <a:srgbClr val="0066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y</a:t>
            </a:r>
            <a:r>
              <a:rPr sz="2400" spc="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</a:t>
            </a:r>
            <a:r>
              <a:rPr sz="2400" spc="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{</a:t>
            </a:r>
            <a:endParaRPr lang="en-US" altLang="en-US" sz="2400" dirty="0"/>
          </a:p>
          <a:p>
            <a:pPr indent="1844675" algn="l" rtl="0" eaLnBrk="0">
              <a:lnSpc>
                <a:spcPct val="78000"/>
              </a:lnSpc>
              <a:spcBef>
                <a:spcPts val="635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Derived</a:t>
            </a:r>
            <a:r>
              <a:rPr sz="240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&amp;</a:t>
            </a:r>
            <a:r>
              <a:rPr sz="240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rd</a:t>
            </a:r>
            <a:r>
              <a:rPr sz="240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=</a:t>
            </a:r>
            <a:r>
              <a:rPr sz="240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dynamic_cast&lt;Derived&amp;&gt;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(b);</a:t>
            </a:r>
            <a:endParaRPr lang="en-US" altLang="en-US" sz="2400" dirty="0"/>
          </a:p>
          <a:p>
            <a:pPr indent="1227455" algn="l" rtl="0" eaLnBrk="0">
              <a:lnSpc>
                <a:spcPct val="92000"/>
              </a:lnSpc>
              <a:spcBef>
                <a:spcPts val="255"/>
              </a:spcBef>
            </a:pPr>
            <a:r>
              <a:rPr b="1" spc="0" dirty="0">
                <a:solidFill>
                  <a:srgbClr val="00B05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//</a:t>
            </a:r>
            <a:r>
              <a:rPr b="1" spc="0" dirty="0">
                <a:solidFill>
                  <a:srgbClr val="00B05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此转换若不安全</a:t>
            </a:r>
            <a:r>
              <a:rPr b="1" spc="-5" dirty="0">
                <a:solidFill>
                  <a:srgbClr val="00B05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b="1" spc="0" dirty="0">
                <a:solidFill>
                  <a:srgbClr val="00B05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会抛出</a:t>
            </a:r>
            <a:r>
              <a:rPr b="1" spc="0" dirty="0">
                <a:solidFill>
                  <a:srgbClr val="00B05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bad_cast</a:t>
            </a:r>
            <a:r>
              <a:rPr b="1" spc="0" dirty="0">
                <a:solidFill>
                  <a:srgbClr val="00B05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异常</a:t>
            </a:r>
            <a:endParaRPr lang="en-US" altLang="en-US" b="1" dirty="0"/>
          </a:p>
          <a:p>
            <a:pPr indent="1304925" algn="l" rtl="0" eaLnBrk="0">
              <a:lnSpc>
                <a:spcPct val="76000"/>
              </a:lnSpc>
              <a:spcBef>
                <a:spcPts val="610"/>
              </a:spcBef>
            </a:pPr>
            <a:r>
              <a:rPr sz="240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</a:t>
            </a:r>
            <a:r>
              <a:rPr sz="2400" spc="-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.Print();</a:t>
            </a:r>
            <a:endParaRPr lang="en-US" altLang="en-US" sz="2400" dirty="0"/>
          </a:p>
          <a:p>
            <a:pPr indent="1100455" algn="l" rtl="0" eaLnBrk="0">
              <a:lnSpc>
                <a:spcPts val="2935"/>
              </a:lnSpc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}</a:t>
            </a:r>
            <a:endParaRPr lang="en-US" altLang="en-US" sz="2400" dirty="0"/>
          </a:p>
          <a:p>
            <a:pPr indent="1084580" algn="l" rtl="0" eaLnBrk="0">
              <a:lnSpc>
                <a:spcPct val="78000"/>
              </a:lnSpc>
              <a:spcBef>
                <a:spcPts val="635"/>
              </a:spcBef>
            </a:pPr>
            <a:r>
              <a:rPr sz="2400" spc="20" dirty="0">
                <a:solidFill>
                  <a:srgbClr val="0066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ca</a:t>
            </a:r>
            <a:r>
              <a:rPr sz="2400" spc="10" dirty="0">
                <a:solidFill>
                  <a:srgbClr val="0066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</a:t>
            </a:r>
            <a:r>
              <a:rPr sz="2400" spc="20" dirty="0">
                <a:solidFill>
                  <a:srgbClr val="0066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ch</a:t>
            </a:r>
            <a:r>
              <a:rPr sz="240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(</a:t>
            </a:r>
            <a:r>
              <a:rPr sz="2400" spc="2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bad_cas</a:t>
            </a:r>
            <a:r>
              <a:rPr sz="2400" spc="5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</a:t>
            </a:r>
            <a:r>
              <a:rPr sz="2400" spc="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&amp;</a:t>
            </a:r>
            <a:r>
              <a:rPr sz="2400" spc="1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e)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{</a:t>
            </a:r>
            <a:endParaRPr lang="en-US" altLang="en-US" sz="2400" dirty="0"/>
          </a:p>
          <a:p>
            <a:pPr indent="1313815" algn="l" rtl="0" eaLnBrk="0">
              <a:lnSpc>
                <a:spcPct val="78000"/>
              </a:lnSpc>
              <a:spcBef>
                <a:spcPts val="640"/>
              </a:spcBef>
            </a:pPr>
            <a:r>
              <a:rPr sz="2400" spc="0" dirty="0">
                <a:solidFill>
                  <a:srgbClr val="0066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cerr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&lt;&lt; e</a:t>
            </a:r>
            <a:r>
              <a:rPr sz="2400" spc="0" dirty="0">
                <a:solidFill>
                  <a:srgbClr val="0066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.what()</a:t>
            </a:r>
            <a:r>
              <a:rPr sz="2400" spc="-1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&lt;&lt;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endl;</a:t>
            </a:r>
            <a:endParaRPr lang="en-US" altLang="en-US" sz="2400" dirty="0"/>
          </a:p>
          <a:p>
            <a:pPr indent="1100455" algn="l" rtl="0" eaLnBrk="0">
              <a:lnSpc>
                <a:spcPct val="76000"/>
              </a:lnSpc>
              <a:spcBef>
                <a:spcPts val="630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}</a:t>
            </a:r>
            <a:endParaRPr lang="en-US" altLang="en-US" sz="2400" dirty="0"/>
          </a:p>
          <a:p>
            <a:pPr indent="36195" algn="l" rtl="0" eaLnBrk="0">
              <a:lnSpc>
                <a:spcPct val="99000"/>
              </a:lnSpc>
              <a:spcBef>
                <a:spcPts val="30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}</a:t>
            </a:r>
            <a:endParaRPr lang="en-US" altLang="en-US" sz="2400" dirty="0"/>
          </a:p>
          <a:p>
            <a:pPr indent="19050" algn="l" rtl="0" eaLnBrk="0">
              <a:lnSpc>
                <a:spcPct val="100000"/>
              </a:lnSpc>
              <a:spcBef>
                <a:spcPts val="5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int</a:t>
            </a:r>
            <a:r>
              <a:rPr sz="240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main</a:t>
            </a:r>
            <a:r>
              <a:rPr sz="240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()</a:t>
            </a:r>
            <a:endParaRPr lang="en-US" altLang="en-US" sz="2400" dirty="0"/>
          </a:p>
          <a:p>
            <a:pPr indent="52070" algn="l" rtl="0" eaLnBrk="0">
              <a:lnSpc>
                <a:spcPts val="2935"/>
              </a:lnSpc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{</a:t>
            </a:r>
            <a:endParaRPr lang="en-US" altLang="en-US" sz="2400" dirty="0"/>
          </a:p>
          <a:p>
            <a:pPr indent="930275" algn="l" rtl="0" eaLnBrk="0">
              <a:lnSpc>
                <a:spcPct val="82000"/>
              </a:lnSpc>
              <a:spcBef>
                <a:spcPts val="640"/>
              </a:spcBef>
            </a:pPr>
            <a:r>
              <a:rPr sz="240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</a:t>
            </a:r>
            <a:r>
              <a:rPr sz="2400" spc="-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se</a:t>
            </a:r>
            <a:r>
              <a:rPr sz="2400" spc="-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b;</a:t>
            </a:r>
            <a:endParaRPr lang="en-US" altLang="en-US" sz="2400" dirty="0"/>
          </a:p>
        </p:txBody>
      </p:sp>
      <p:sp>
        <p:nvSpPr>
          <p:cNvPr id="22" name="textbox 22"/>
          <p:cNvSpPr/>
          <p:nvPr/>
        </p:nvSpPr>
        <p:spPr>
          <a:xfrm>
            <a:off x="257352" y="5484367"/>
            <a:ext cx="2403475" cy="104266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lang="en-US" altLang="en-US" sz="100" dirty="0"/>
          </a:p>
          <a:p>
            <a:pPr marL="902970" indent="3175" algn="l" rtl="0" eaLnBrk="0">
              <a:lnSpc>
                <a:spcPct val="91000"/>
              </a:lnSpc>
            </a:pPr>
            <a:r>
              <a:rPr sz="240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Prin</a:t>
            </a:r>
            <a:r>
              <a:rPr sz="2400" spc="-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Obj(b);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return</a:t>
            </a:r>
            <a:r>
              <a:rPr sz="2400" spc="-2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0;</a:t>
            </a:r>
            <a:endParaRPr lang="en-US" altLang="en-US" sz="2400" dirty="0"/>
          </a:p>
          <a:p>
            <a:pPr indent="12700" algn="l" rtl="0" eaLnBrk="0">
              <a:lnSpc>
                <a:spcPct val="78000"/>
              </a:lnSpc>
              <a:spcBef>
                <a:spcPts val="515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}</a:t>
            </a:r>
            <a:endParaRPr lang="en-US" altLang="en-US" sz="2400" dirty="0"/>
          </a:p>
        </p:txBody>
      </p:sp>
      <p:sp>
        <p:nvSpPr>
          <p:cNvPr id="23" name="textbox 23"/>
          <p:cNvSpPr/>
          <p:nvPr/>
        </p:nvSpPr>
        <p:spPr>
          <a:xfrm>
            <a:off x="4431302" y="5252821"/>
            <a:ext cx="2370454" cy="72390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2000"/>
              </a:lnSpc>
            </a:pPr>
            <a:endParaRPr lang="en-US" altLang="en-US" sz="100" dirty="0"/>
          </a:p>
          <a:p>
            <a:pPr indent="29845" algn="l" rtl="0" eaLnBrk="0">
              <a:lnSpc>
                <a:spcPct val="99000"/>
              </a:lnSpc>
            </a:pPr>
            <a:r>
              <a:rPr sz="2300" spc="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输出结果</a:t>
            </a:r>
            <a:r>
              <a:rPr sz="2300" spc="-97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lang="en-US" altLang="en-US" sz="2300" dirty="0"/>
          </a:p>
          <a:p>
            <a:pPr indent="12700" algn="l" rtl="0" eaLnBrk="0">
              <a:lnSpc>
                <a:spcPct val="78000"/>
              </a:lnSpc>
              <a:spcBef>
                <a:spcPts val="530"/>
              </a:spcBef>
            </a:pPr>
            <a:r>
              <a:rPr sz="2400" i="1" spc="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Bad</a:t>
            </a:r>
            <a:r>
              <a:rPr sz="2400" spc="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i="1" spc="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dynamic_cast!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4"/>
          <p:cNvSpPr/>
          <p:nvPr/>
        </p:nvSpPr>
        <p:spPr>
          <a:xfrm>
            <a:off x="230834" y="51461"/>
            <a:ext cx="8681719" cy="536194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indent="7003415" algn="l" rtl="0" eaLnBrk="0">
              <a:lnSpc>
                <a:spcPct val="95000"/>
              </a:lnSpc>
            </a:pPr>
            <a:endParaRPr lang="en-US" altLang="en-US" sz="1200" dirty="0"/>
          </a:p>
          <a:p>
            <a:pPr indent="12700" algn="l" rtl="0" eaLnBrk="0">
              <a:lnSpc>
                <a:spcPct val="78000"/>
              </a:lnSpc>
              <a:spcBef>
                <a:spcPts val="950"/>
              </a:spcBef>
            </a:pPr>
            <a:r>
              <a:rPr sz="2400" spc="-10" dirty="0">
                <a:solidFill>
                  <a:srgbClr val="7030A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</a:t>
            </a:r>
            <a:r>
              <a:rPr sz="2400" spc="0" dirty="0">
                <a:solidFill>
                  <a:srgbClr val="7030A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ad_alloc</a:t>
            </a:r>
            <a:endParaRPr lang="en-US" altLang="en-US" sz="2400" dirty="0"/>
          </a:p>
          <a:p>
            <a:pPr marL="23495" indent="1270" algn="l" rtl="0" eaLnBrk="0">
              <a:lnSpc>
                <a:spcPct val="97000"/>
              </a:lnSpc>
              <a:spcBef>
                <a:spcPts val="285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在用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new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运算符进行动态内存分配时</a:t>
            </a:r>
            <a:r>
              <a:rPr sz="240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如果没有足够的内存</a:t>
            </a:r>
            <a:r>
              <a:rPr sz="2400" spc="-25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则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会引发此异常</a:t>
            </a:r>
            <a:r>
              <a:rPr sz="2400" spc="-3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en-US" altLang="en-US" sz="2400" dirty="0"/>
          </a:p>
          <a:p>
            <a:pPr indent="13335" algn="l" rtl="0" eaLnBrk="0">
              <a:lnSpc>
                <a:spcPct val="92000"/>
              </a:lnSpc>
              <a:spcBef>
                <a:spcPts val="145"/>
              </a:spcBef>
            </a:pPr>
            <a:r>
              <a:rPr sz="2400" spc="0" dirty="0">
                <a:solidFill>
                  <a:srgbClr val="00B05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//bad_alloc</a:t>
            </a:r>
            <a:r>
              <a:rPr sz="2400" spc="0" dirty="0">
                <a:solidFill>
                  <a:srgbClr val="00B05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异常</a:t>
            </a:r>
            <a:endParaRPr lang="en-US" altLang="en-US" sz="2400" dirty="0"/>
          </a:p>
          <a:p>
            <a:pPr indent="18415" algn="l" rtl="0" eaLnBrk="0">
              <a:lnSpc>
                <a:spcPct val="76000"/>
              </a:lnSpc>
              <a:spcBef>
                <a:spcPts val="610"/>
              </a:spcBef>
            </a:pPr>
            <a:r>
              <a:rPr sz="240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#i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nclude</a:t>
            </a:r>
            <a:r>
              <a:rPr sz="2400" spc="-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&lt;iostream&gt;</a:t>
            </a:r>
            <a:endParaRPr lang="en-US" altLang="en-US" sz="2400" dirty="0"/>
          </a:p>
          <a:p>
            <a:pPr indent="18415" algn="l" rtl="0" eaLnBrk="0">
              <a:lnSpc>
                <a:spcPct val="100000"/>
              </a:lnSpc>
            </a:pPr>
            <a:r>
              <a:rPr sz="240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#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include</a:t>
            </a:r>
            <a:r>
              <a:rPr sz="2400" spc="-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</a:t>
            </a:r>
            <a:r>
              <a:rPr sz="2400" spc="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stdexcept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&gt;</a:t>
            </a:r>
            <a:endParaRPr lang="en-US" altLang="en-US" sz="2400" dirty="0"/>
          </a:p>
          <a:p>
            <a:pPr indent="13335" algn="l" rtl="0" eaLnBrk="0">
              <a:lnSpc>
                <a:spcPct val="100000"/>
              </a:lnSpc>
              <a:spcBef>
                <a:spcPts val="5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using</a:t>
            </a:r>
            <a:r>
              <a:rPr sz="240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namespace</a:t>
            </a:r>
            <a:r>
              <a:rPr sz="2400" spc="-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std;</a:t>
            </a:r>
            <a:endParaRPr lang="en-US" altLang="en-US" sz="2400" dirty="0"/>
          </a:p>
          <a:p>
            <a:pPr indent="21590" algn="l" rtl="0" eaLnBrk="0">
              <a:lnSpc>
                <a:spcPts val="2940"/>
              </a:lnSpc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int</a:t>
            </a:r>
            <a:r>
              <a:rPr sz="240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main</a:t>
            </a:r>
            <a:r>
              <a:rPr sz="240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()</a:t>
            </a:r>
            <a:endParaRPr lang="en-US" altLang="en-US" sz="2400" dirty="0"/>
          </a:p>
          <a:p>
            <a:pPr indent="55245" algn="l" rtl="0" eaLnBrk="0">
              <a:lnSpc>
                <a:spcPct val="78000"/>
              </a:lnSpc>
              <a:spcBef>
                <a:spcPts val="630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{</a:t>
            </a:r>
            <a:endParaRPr lang="en-US" altLang="en-US" sz="2400" dirty="0"/>
          </a:p>
          <a:p>
            <a:pPr indent="165100" algn="l" rtl="0" eaLnBrk="0">
              <a:lnSpc>
                <a:spcPct val="78000"/>
              </a:lnSpc>
              <a:spcBef>
                <a:spcPts val="635"/>
              </a:spcBef>
            </a:pPr>
            <a:r>
              <a:rPr sz="2400" spc="40" dirty="0">
                <a:solidFill>
                  <a:srgbClr val="0066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tr</a:t>
            </a:r>
            <a:r>
              <a:rPr sz="2400" spc="60" dirty="0">
                <a:solidFill>
                  <a:srgbClr val="0066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y</a:t>
            </a:r>
            <a:r>
              <a:rPr sz="2400" spc="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</a:t>
            </a:r>
            <a:r>
              <a:rPr sz="2400" spc="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{</a:t>
            </a:r>
            <a:endParaRPr lang="en-US" altLang="en-US" sz="2400" dirty="0"/>
          </a:p>
          <a:p>
            <a:pPr marL="32385" indent="293370" algn="l" rtl="0" eaLnBrk="0">
              <a:lnSpc>
                <a:spcPct val="98000"/>
              </a:lnSpc>
              <a:spcBef>
                <a:spcPts val="245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char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*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=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new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char[0x7fffffff];</a:t>
            </a:r>
            <a:r>
              <a:rPr sz="2400" spc="-3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//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无法分配这么多空间，会抛出异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常</a:t>
            </a:r>
            <a:endParaRPr lang="en-US" altLang="en-US" sz="2400" dirty="0"/>
          </a:p>
          <a:p>
            <a:pPr indent="188595" algn="l" rtl="0" eaLnBrk="0">
              <a:lnSpc>
                <a:spcPct val="78000"/>
              </a:lnSpc>
              <a:spcBef>
                <a:spcPts val="505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}</a:t>
            </a:r>
            <a:endParaRPr lang="en-US" altLang="en-US" sz="2400" dirty="0"/>
          </a:p>
          <a:p>
            <a:pPr indent="172720" algn="l" rtl="0" eaLnBrk="0">
              <a:lnSpc>
                <a:spcPct val="78000"/>
              </a:lnSpc>
              <a:spcBef>
                <a:spcPts val="635"/>
              </a:spcBef>
            </a:pPr>
            <a:r>
              <a:rPr sz="2400" spc="10" dirty="0">
                <a:solidFill>
                  <a:srgbClr val="0066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catch</a:t>
            </a:r>
            <a:r>
              <a:rPr sz="240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(</a:t>
            </a:r>
            <a:r>
              <a:rPr sz="2400" spc="1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bad_alloc </a:t>
            </a:r>
            <a:r>
              <a:rPr sz="2400" spc="2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&amp;</a:t>
            </a:r>
            <a:r>
              <a:rPr sz="240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{</a:t>
            </a:r>
            <a:endParaRPr lang="en-US" altLang="en-US" sz="2400" dirty="0"/>
          </a:p>
        </p:txBody>
      </p:sp>
      <p:sp>
        <p:nvSpPr>
          <p:cNvPr id="25" name="textbox 25"/>
          <p:cNvSpPr/>
          <p:nvPr/>
        </p:nvSpPr>
        <p:spPr>
          <a:xfrm>
            <a:off x="257379" y="5469128"/>
            <a:ext cx="3378200" cy="1407794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lang="en-US" altLang="en-US" sz="100" dirty="0"/>
          </a:p>
          <a:p>
            <a:pPr marL="161925" indent="136525" algn="l" rtl="0" eaLnBrk="0">
              <a:lnSpc>
                <a:spcPct val="89000"/>
              </a:lnSpc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cerr &lt;&lt; e</a:t>
            </a:r>
            <a:r>
              <a:rPr sz="2400" spc="0" dirty="0">
                <a:solidFill>
                  <a:srgbClr val="0066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.what()</a:t>
            </a:r>
            <a:r>
              <a:rPr sz="2400" spc="-130" dirty="0">
                <a:solidFill>
                  <a:srgbClr val="0066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&lt;&lt;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endl;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}</a:t>
            </a:r>
            <a:endParaRPr lang="en-US" altLang="en-US" sz="2400" dirty="0"/>
          </a:p>
          <a:p>
            <a:pPr indent="137795" algn="l" rtl="0" eaLnBrk="0">
              <a:lnSpc>
                <a:spcPct val="76000"/>
              </a:lnSpc>
              <a:spcBef>
                <a:spcPts val="635"/>
              </a:spcBef>
            </a:pPr>
            <a:r>
              <a:rPr sz="2400" spc="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eturn</a:t>
            </a:r>
            <a:r>
              <a:rPr sz="240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0;</a:t>
            </a:r>
            <a:endParaRPr lang="en-US" altLang="en-US" sz="2400" dirty="0"/>
          </a:p>
          <a:p>
            <a:pPr indent="12700" algn="l" rtl="0" eaLnBrk="0">
              <a:lnSpc>
                <a:spcPts val="2940"/>
              </a:lnSpc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}</a:t>
            </a:r>
            <a:endParaRPr lang="en-US" altLang="en-US" sz="2400" dirty="0"/>
          </a:p>
        </p:txBody>
      </p:sp>
      <p:sp>
        <p:nvSpPr>
          <p:cNvPr id="26" name="textbox 26"/>
          <p:cNvSpPr/>
          <p:nvPr/>
        </p:nvSpPr>
        <p:spPr>
          <a:xfrm>
            <a:off x="5660575" y="5716016"/>
            <a:ext cx="1785620" cy="78613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72000"/>
              </a:lnSpc>
            </a:pPr>
            <a:endParaRPr lang="en-US" altLang="en-US" sz="100" dirty="0"/>
          </a:p>
          <a:p>
            <a:pPr indent="15240" algn="l" rtl="0" eaLnBrk="0">
              <a:lnSpc>
                <a:spcPct val="99000"/>
              </a:lnSpc>
            </a:pPr>
            <a:r>
              <a:rPr sz="2300" spc="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输出结果</a:t>
            </a:r>
            <a:r>
              <a:rPr sz="2300" spc="-965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lang="en-US" altLang="en-US" sz="2300" dirty="0"/>
          </a:p>
          <a:p>
            <a:pPr indent="12700" algn="l" rtl="0" eaLnBrk="0">
              <a:lnSpc>
                <a:spcPct val="95000"/>
              </a:lnSpc>
              <a:spcBef>
                <a:spcPts val="535"/>
              </a:spcBef>
            </a:pPr>
            <a:r>
              <a:rPr sz="2400" i="1" spc="-1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</a:t>
            </a:r>
            <a:r>
              <a:rPr sz="2400" i="1" spc="-5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</a:t>
            </a:r>
            <a:r>
              <a:rPr sz="2400" i="1" spc="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</a:t>
            </a:r>
            <a:r>
              <a:rPr sz="2400" spc="-6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i="1" spc="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allocation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7"/>
          <p:cNvSpPr/>
          <p:nvPr/>
        </p:nvSpPr>
        <p:spPr>
          <a:xfrm>
            <a:off x="231444" y="51461"/>
            <a:ext cx="8568055" cy="682561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indent="7002780" algn="l" rtl="0" eaLnBrk="0">
              <a:lnSpc>
                <a:spcPct val="95000"/>
              </a:lnSpc>
            </a:pPr>
            <a:endParaRPr lang="en-US" altLang="en-US" sz="1200" dirty="0"/>
          </a:p>
          <a:p>
            <a:pPr indent="22860" algn="l" rtl="0" eaLnBrk="0">
              <a:lnSpc>
                <a:spcPct val="78000"/>
              </a:lnSpc>
              <a:spcBef>
                <a:spcPts val="950"/>
              </a:spcBef>
            </a:pPr>
            <a:r>
              <a:rPr sz="2400" spc="-10" dirty="0">
                <a:solidFill>
                  <a:srgbClr val="7030A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out_of_ran</a:t>
            </a:r>
            <a:r>
              <a:rPr sz="2400" spc="0" dirty="0">
                <a:solidFill>
                  <a:srgbClr val="7030A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ge</a:t>
            </a:r>
            <a:endParaRPr lang="en-US" altLang="en-US" sz="2400" dirty="0"/>
          </a:p>
          <a:p>
            <a:pPr marL="31750" indent="-7620" algn="l" rtl="0" eaLnBrk="0">
              <a:lnSpc>
                <a:spcPct val="97000"/>
              </a:lnSpc>
              <a:spcBef>
                <a:spcPts val="285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vector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或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string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at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成员函数根据下标访问元素时</a:t>
            </a:r>
            <a:r>
              <a:rPr sz="2400" spc="-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如果下标越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界</a:t>
            </a:r>
            <a:r>
              <a:rPr sz="2400" spc="-2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就会抛出此异常</a:t>
            </a:r>
            <a:r>
              <a:rPr sz="2400" spc="-2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例如</a:t>
            </a:r>
            <a:r>
              <a:rPr sz="2400" spc="-205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lang="en-US" altLang="en-US" sz="2400" dirty="0"/>
          </a:p>
          <a:p>
            <a:pPr indent="12700" algn="l" rtl="0" eaLnBrk="0">
              <a:lnSpc>
                <a:spcPct val="92000"/>
              </a:lnSpc>
              <a:spcBef>
                <a:spcPts val="145"/>
              </a:spcBef>
            </a:pPr>
            <a:r>
              <a:rPr sz="2400" spc="-5" dirty="0">
                <a:solidFill>
                  <a:srgbClr val="00B05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</a:t>
            </a:r>
            <a:r>
              <a:rPr sz="2400" spc="0" dirty="0">
                <a:solidFill>
                  <a:srgbClr val="00B05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/out_of_range</a:t>
            </a:r>
            <a:r>
              <a:rPr sz="2400" spc="0" dirty="0">
                <a:solidFill>
                  <a:srgbClr val="00B05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异常</a:t>
            </a:r>
            <a:endParaRPr lang="en-US" altLang="en-US" sz="2400" dirty="0"/>
          </a:p>
          <a:p>
            <a:pPr indent="17780" algn="l" rtl="0" eaLnBrk="0">
              <a:lnSpc>
                <a:spcPct val="76000"/>
              </a:lnSpc>
              <a:spcBef>
                <a:spcPts val="610"/>
              </a:spcBef>
            </a:pPr>
            <a:r>
              <a:rPr sz="240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#i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nclude</a:t>
            </a:r>
            <a:r>
              <a:rPr sz="2400" spc="-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&lt;iostream&gt;</a:t>
            </a:r>
            <a:endParaRPr lang="en-US" altLang="en-US" sz="2400" dirty="0"/>
          </a:p>
          <a:p>
            <a:pPr indent="17780" algn="l" rtl="0" eaLnBrk="0">
              <a:lnSpc>
                <a:spcPct val="100000"/>
              </a:lnSpc>
            </a:pPr>
            <a:r>
              <a:rPr sz="240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#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include</a:t>
            </a:r>
            <a:r>
              <a:rPr sz="2400" spc="-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</a:t>
            </a:r>
            <a:r>
              <a:rPr sz="2400" spc="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stdexcept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&gt;</a:t>
            </a:r>
            <a:endParaRPr lang="en-US" altLang="en-US" sz="2400" dirty="0"/>
          </a:p>
          <a:p>
            <a:pPr indent="17780" algn="l" rtl="0" eaLnBrk="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#i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nclude</a:t>
            </a:r>
            <a:r>
              <a:rPr sz="2400" spc="-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&lt;vector&gt;</a:t>
            </a:r>
            <a:endParaRPr lang="en-US" altLang="en-US" sz="2400" dirty="0"/>
          </a:p>
          <a:p>
            <a:pPr indent="17780" algn="l" rtl="0" eaLnBrk="0">
              <a:lnSpc>
                <a:spcPct val="100000"/>
              </a:lnSpc>
            </a:pPr>
            <a:r>
              <a:rPr sz="240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#</a:t>
            </a:r>
            <a:r>
              <a:rPr sz="2400" spc="-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nclude</a:t>
            </a:r>
            <a:r>
              <a:rPr sz="2400" spc="-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&lt;string&gt;</a:t>
            </a:r>
            <a:endParaRPr lang="en-US" altLang="en-US" sz="2400" dirty="0"/>
          </a:p>
          <a:p>
            <a:pPr indent="12700" algn="l" rtl="0" eaLnBrk="0">
              <a:lnSpc>
                <a:spcPct val="100000"/>
              </a:lnSpc>
              <a:spcBef>
                <a:spcPts val="0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using</a:t>
            </a:r>
            <a:r>
              <a:rPr sz="240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namespace</a:t>
            </a:r>
            <a:r>
              <a:rPr sz="2400" spc="-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std;</a:t>
            </a:r>
            <a:endParaRPr lang="en-US" altLang="en-US" sz="2400" dirty="0"/>
          </a:p>
          <a:p>
            <a:pPr indent="20955" algn="l" rtl="0" eaLnBrk="0">
              <a:lnSpc>
                <a:spcPts val="2945"/>
              </a:lnSpc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int</a:t>
            </a:r>
            <a:r>
              <a:rPr sz="240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main</a:t>
            </a:r>
            <a:r>
              <a:rPr sz="240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()</a:t>
            </a:r>
            <a:endParaRPr lang="en-US" altLang="en-US" sz="2400" dirty="0"/>
          </a:p>
          <a:p>
            <a:pPr indent="54610" algn="l" rtl="0" eaLnBrk="0">
              <a:lnSpc>
                <a:spcPct val="78000"/>
              </a:lnSpc>
              <a:spcBef>
                <a:spcPts val="630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{</a:t>
            </a:r>
            <a:endParaRPr lang="en-US" altLang="en-US" sz="2400" dirty="0"/>
          </a:p>
          <a:p>
            <a:pPr indent="164465" algn="l" rtl="0" eaLnBrk="0">
              <a:lnSpc>
                <a:spcPct val="76000"/>
              </a:lnSpc>
              <a:spcBef>
                <a:spcPts val="635"/>
              </a:spcBef>
            </a:pPr>
            <a:r>
              <a:rPr sz="2400" spc="-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ector&lt;int&gt;</a:t>
            </a:r>
            <a:r>
              <a:rPr sz="240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v(10);</a:t>
            </a:r>
            <a:endParaRPr lang="en-US" altLang="en-US" sz="2400" dirty="0"/>
          </a:p>
          <a:p>
            <a:pPr indent="165100" algn="l" rtl="0" eaLnBrk="0">
              <a:lnSpc>
                <a:spcPts val="2935"/>
              </a:lnSpc>
            </a:pPr>
            <a:r>
              <a:rPr sz="2400" spc="50" dirty="0">
                <a:solidFill>
                  <a:srgbClr val="0066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tr</a:t>
            </a:r>
            <a:r>
              <a:rPr sz="2400" spc="70" dirty="0">
                <a:solidFill>
                  <a:srgbClr val="0066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y</a:t>
            </a:r>
            <a:r>
              <a:rPr sz="2400" spc="60" dirty="0">
                <a:solidFill>
                  <a:srgbClr val="0066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{</a:t>
            </a:r>
            <a:endParaRPr lang="en-US" altLang="en-US" sz="2400" dirty="0"/>
          </a:p>
          <a:p>
            <a:pPr indent="316865" algn="l" rtl="0" eaLnBrk="0">
              <a:lnSpc>
                <a:spcPct val="90000"/>
              </a:lnSpc>
              <a:spcBef>
                <a:spcPts val="255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v.at(100)=100;</a:t>
            </a:r>
            <a:r>
              <a:rPr sz="2400" spc="-1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-10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b="1" spc="0" dirty="0">
                <a:solidFill>
                  <a:srgbClr val="00B05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//</a:t>
            </a:r>
            <a:r>
              <a:rPr b="1" spc="0" dirty="0">
                <a:solidFill>
                  <a:srgbClr val="00B05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抛出</a:t>
            </a:r>
            <a:r>
              <a:rPr b="1" spc="0" dirty="0">
                <a:solidFill>
                  <a:srgbClr val="00B05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out_of_range</a:t>
            </a:r>
            <a:r>
              <a:rPr b="1" spc="0" dirty="0">
                <a:solidFill>
                  <a:srgbClr val="00B05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异常</a:t>
            </a:r>
            <a:endParaRPr lang="en-US" altLang="en-US" sz="2400" dirty="0"/>
          </a:p>
          <a:p>
            <a:pPr indent="187960" algn="l" rtl="0" eaLnBrk="0">
              <a:lnSpc>
                <a:spcPts val="2915"/>
              </a:lnSpc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}</a:t>
            </a:r>
            <a:endParaRPr lang="en-US" altLang="en-US" sz="2400" dirty="0"/>
          </a:p>
          <a:p>
            <a:pPr indent="172085" algn="l" rtl="0" eaLnBrk="0">
              <a:lnSpc>
                <a:spcPct val="76000"/>
              </a:lnSpc>
              <a:spcBef>
                <a:spcPts val="635"/>
              </a:spcBef>
            </a:pPr>
            <a:r>
              <a:rPr sz="2400" spc="10" dirty="0">
                <a:solidFill>
                  <a:srgbClr val="0066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catc</a:t>
            </a:r>
            <a:r>
              <a:rPr sz="2400" spc="20" dirty="0">
                <a:solidFill>
                  <a:srgbClr val="0066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</a:t>
            </a:r>
            <a:r>
              <a:rPr sz="240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(</a:t>
            </a:r>
            <a:r>
              <a:rPr sz="2400" spc="2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ou</a:t>
            </a:r>
            <a:r>
              <a:rPr sz="2400" spc="1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</a:t>
            </a:r>
            <a:r>
              <a:rPr sz="2400" spc="2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_o</a:t>
            </a:r>
            <a:r>
              <a:rPr sz="2400" spc="1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</a:t>
            </a:r>
            <a:r>
              <a:rPr sz="2400" spc="2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_</a:t>
            </a:r>
            <a:r>
              <a:rPr sz="2400" spc="1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</a:t>
            </a:r>
            <a:r>
              <a:rPr sz="2400" spc="5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</a:t>
            </a:r>
            <a:r>
              <a:rPr sz="2400" spc="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nge&amp;</a:t>
            </a:r>
            <a:r>
              <a:rPr sz="240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e)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{</a:t>
            </a:r>
            <a:endParaRPr lang="en-US" altLang="en-US" sz="2400" dirty="0"/>
          </a:p>
          <a:p>
            <a:pPr indent="325120" algn="l" rtl="0" eaLnBrk="0">
              <a:lnSpc>
                <a:spcPts val="2940"/>
              </a:lnSpc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cerr &lt;&lt; e</a:t>
            </a:r>
            <a:r>
              <a:rPr sz="2400" spc="0" dirty="0">
                <a:solidFill>
                  <a:srgbClr val="0066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.what()</a:t>
            </a:r>
            <a:r>
              <a:rPr sz="2400" spc="-130" dirty="0">
                <a:solidFill>
                  <a:srgbClr val="0066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&lt;&lt;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endl;</a:t>
            </a:r>
            <a:endParaRPr lang="en-US" altLang="en-US" sz="2400" dirty="0"/>
          </a:p>
          <a:p>
            <a:pPr indent="187960" algn="l" rtl="0" eaLnBrk="0">
              <a:lnSpc>
                <a:spcPct val="78000"/>
              </a:lnSpc>
              <a:spcBef>
                <a:spcPts val="630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}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8"/>
          <p:cNvSpPr/>
          <p:nvPr/>
        </p:nvSpPr>
        <p:spPr>
          <a:xfrm>
            <a:off x="241808" y="51461"/>
            <a:ext cx="8557894" cy="4544059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lang="en-US" altLang="en-US" sz="100" dirty="0"/>
          </a:p>
          <a:p>
            <a:pPr indent="6992620" algn="l" rtl="0" eaLnBrk="0">
              <a:lnSpc>
                <a:spcPct val="95000"/>
              </a:lnSpc>
            </a:pPr>
            <a:endParaRPr lang="en-US" altLang="en-US" sz="1200" dirty="0"/>
          </a:p>
          <a:p>
            <a:pPr indent="17145" algn="l" rtl="0" eaLnBrk="0">
              <a:lnSpc>
                <a:spcPct val="78000"/>
              </a:lnSpc>
              <a:spcBef>
                <a:spcPts val="275"/>
              </a:spcBef>
            </a:pPr>
            <a:r>
              <a:rPr sz="240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ring</a:t>
            </a:r>
            <a:r>
              <a:rPr sz="240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</a:t>
            </a:r>
            <a:r>
              <a:rPr sz="240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=</a:t>
            </a:r>
            <a:r>
              <a:rPr sz="240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"hello";</a:t>
            </a:r>
            <a:endParaRPr lang="en-US" altLang="en-US" sz="2400" dirty="0"/>
          </a:p>
          <a:p>
            <a:pPr indent="154305" algn="l" rtl="0" eaLnBrk="0">
              <a:lnSpc>
                <a:spcPct val="78000"/>
              </a:lnSpc>
              <a:spcBef>
                <a:spcPts val="635"/>
              </a:spcBef>
            </a:pPr>
            <a:r>
              <a:rPr sz="2400" spc="50" dirty="0">
                <a:solidFill>
                  <a:srgbClr val="0066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tr</a:t>
            </a:r>
            <a:r>
              <a:rPr sz="2400" spc="70" dirty="0">
                <a:solidFill>
                  <a:srgbClr val="0066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y</a:t>
            </a:r>
            <a:r>
              <a:rPr sz="2400" spc="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{</a:t>
            </a:r>
            <a:endParaRPr lang="en-US" altLang="en-US" sz="2400" dirty="0"/>
          </a:p>
          <a:p>
            <a:pPr indent="314325" algn="l" rtl="0" eaLnBrk="0">
              <a:lnSpc>
                <a:spcPct val="90000"/>
              </a:lnSpc>
              <a:spcBef>
                <a:spcPts val="255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char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=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s.at(100);</a:t>
            </a:r>
            <a:r>
              <a:rPr sz="2400" spc="-11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//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抛出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out_of_range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异常</a:t>
            </a:r>
            <a:endParaRPr lang="en-US" altLang="en-US" sz="2400" dirty="0"/>
          </a:p>
          <a:p>
            <a:pPr indent="177800" algn="l" rtl="0" eaLnBrk="0">
              <a:lnSpc>
                <a:spcPts val="2915"/>
              </a:lnSpc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}</a:t>
            </a:r>
            <a:endParaRPr lang="en-US" altLang="en-US" sz="2400" dirty="0"/>
          </a:p>
          <a:p>
            <a:pPr indent="161925" algn="l" rtl="0" eaLnBrk="0">
              <a:lnSpc>
                <a:spcPct val="76000"/>
              </a:lnSpc>
              <a:spcBef>
                <a:spcPts val="635"/>
              </a:spcBef>
            </a:pPr>
            <a:r>
              <a:rPr sz="2400" spc="10" dirty="0">
                <a:solidFill>
                  <a:srgbClr val="0066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catc</a:t>
            </a:r>
            <a:r>
              <a:rPr sz="2400" spc="20" dirty="0">
                <a:solidFill>
                  <a:srgbClr val="0066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</a:t>
            </a:r>
            <a:r>
              <a:rPr sz="240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(</a:t>
            </a:r>
            <a:r>
              <a:rPr sz="2400" spc="2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ou</a:t>
            </a:r>
            <a:r>
              <a:rPr sz="2400" spc="1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</a:t>
            </a:r>
            <a:r>
              <a:rPr sz="2400" spc="2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_o</a:t>
            </a:r>
            <a:r>
              <a:rPr sz="2400" spc="1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</a:t>
            </a:r>
            <a:r>
              <a:rPr sz="2400" spc="2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_</a:t>
            </a:r>
            <a:r>
              <a:rPr sz="2400" spc="1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</a:t>
            </a:r>
            <a:r>
              <a:rPr sz="2400" spc="5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</a:t>
            </a:r>
            <a:r>
              <a:rPr sz="2400" spc="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nge&amp;</a:t>
            </a:r>
            <a:r>
              <a:rPr sz="240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e)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{</a:t>
            </a:r>
            <a:endParaRPr lang="en-US" altLang="en-US" sz="2400" dirty="0"/>
          </a:p>
          <a:p>
            <a:pPr indent="314325" algn="l" rtl="0" eaLnBrk="0">
              <a:lnSpc>
                <a:spcPts val="2940"/>
              </a:lnSpc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cerr &lt;&lt; e</a:t>
            </a:r>
            <a:r>
              <a:rPr sz="2400" spc="0" dirty="0">
                <a:solidFill>
                  <a:srgbClr val="0066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.what()</a:t>
            </a:r>
            <a:r>
              <a:rPr sz="2400" spc="-1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&lt;&lt;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endl;</a:t>
            </a:r>
            <a:endParaRPr lang="en-US" altLang="en-US" sz="2400" dirty="0"/>
          </a:p>
          <a:p>
            <a:pPr indent="177800" algn="l" rtl="0" eaLnBrk="0">
              <a:lnSpc>
                <a:spcPct val="76000"/>
              </a:lnSpc>
              <a:spcBef>
                <a:spcPts val="630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}</a:t>
            </a:r>
            <a:endParaRPr lang="en-US" altLang="en-US" sz="2400" dirty="0"/>
          </a:p>
          <a:p>
            <a:pPr indent="153035" algn="l" rtl="0" eaLnBrk="0">
              <a:lnSpc>
                <a:spcPts val="3055"/>
              </a:lnSpc>
            </a:pPr>
            <a:r>
              <a:rPr sz="2400" spc="5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eturn</a:t>
            </a:r>
            <a:r>
              <a:rPr sz="240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0;</a:t>
            </a:r>
            <a:endParaRPr lang="en-US" altLang="en-US" sz="2400" dirty="0"/>
          </a:p>
          <a:p>
            <a:pPr indent="28575" algn="l" rtl="0" eaLnBrk="0">
              <a:lnSpc>
                <a:spcPct val="78000"/>
              </a:lnSpc>
              <a:spcBef>
                <a:spcPts val="520"/>
              </a:spcBef>
            </a:pPr>
            <a:r>
              <a:rPr sz="240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}</a:t>
            </a:r>
            <a:endParaRPr lang="en-US" altLang="en-US" sz="2400" dirty="0"/>
          </a:p>
          <a:p>
            <a:pPr indent="12700" algn="l" rtl="0" eaLnBrk="0">
              <a:lnSpc>
                <a:spcPct val="99000"/>
              </a:lnSpc>
              <a:spcBef>
                <a:spcPts val="250"/>
              </a:spcBef>
            </a:pPr>
            <a:r>
              <a:rPr sz="2300" spc="0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输出结果</a:t>
            </a:r>
            <a:r>
              <a:rPr sz="2300" spc="-965" dirty="0">
                <a:solidFill>
                  <a:srgbClr val="FF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lang="en-US" altLang="en-US" sz="2300" dirty="0"/>
          </a:p>
          <a:p>
            <a:pPr indent="15240" algn="l" rtl="0" eaLnBrk="0">
              <a:lnSpc>
                <a:spcPct val="76000"/>
              </a:lnSpc>
              <a:spcBef>
                <a:spcPts val="530"/>
              </a:spcBef>
            </a:pPr>
            <a:r>
              <a:rPr sz="2400" i="1" spc="-1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</a:t>
            </a:r>
            <a:r>
              <a:rPr sz="2400" i="1" spc="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nvalid</a:t>
            </a:r>
            <a:r>
              <a:rPr sz="2400" spc="-4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i="1" spc="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vector&lt;T&gt;</a:t>
            </a:r>
            <a:r>
              <a:rPr sz="2400" spc="-4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i="1" spc="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subscript</a:t>
            </a:r>
            <a:endParaRPr lang="en-US" altLang="en-US" sz="2400" dirty="0"/>
          </a:p>
          <a:p>
            <a:pPr indent="15240" algn="l" rtl="0" eaLnBrk="0">
              <a:lnSpc>
                <a:spcPts val="2935"/>
              </a:lnSpc>
            </a:pPr>
            <a:r>
              <a:rPr sz="2400" i="1" spc="-1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</a:t>
            </a:r>
            <a:r>
              <a:rPr sz="2400" i="1" spc="-5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</a:t>
            </a:r>
            <a:r>
              <a:rPr sz="2400" i="1" spc="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alid</a:t>
            </a:r>
            <a:r>
              <a:rPr sz="2400" spc="-6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i="1" spc="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string</a:t>
            </a:r>
            <a:r>
              <a:rPr sz="2400" spc="-6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i="1" spc="0" dirty="0">
                <a:solidFill>
                  <a:srgbClr val="FF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position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542223" y="2991326"/>
            <a:ext cx="427720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/>
              <a:t>本章结束，谢谢！</a:t>
            </a:r>
            <a:endParaRPr lang="zh-CN" altLang="en-US" sz="2400" b="1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e283e79b-1f2f-4ddf-8b30-b9a810283345"/>
  <p:tag name="COMMONDATA" val="eyJoZGlkIjoiNDI0NGE4MmNiOWM4MDZkMDdkNTIyYjlkODg4OWU4ODcifQ==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3593</Words>
  <Application>WPS 演示</Application>
  <PresentationFormat/>
  <Paragraphs>230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宋体</vt:lpstr>
      <vt:lpstr>Wingdings</vt:lpstr>
      <vt:lpstr>等线</vt:lpstr>
      <vt:lpstr>微软雅黑</vt:lpstr>
      <vt:lpstr>Times New Roman</vt:lpstr>
      <vt:lpstr>新宋体</vt:lpstr>
      <vt:lpstr>Arial Unicode MS</vt:lpstr>
      <vt:lpstr>Calibri</vt:lpstr>
      <vt:lpstr>Office theme</vt:lpstr>
      <vt:lpstr>面向对象程序设计（C++）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朱静</cp:lastModifiedBy>
  <cp:revision>8</cp:revision>
  <dcterms:created xsi:type="dcterms:W3CDTF">2022-03-29T00:57:00Z</dcterms:created>
  <dcterms:modified xsi:type="dcterms:W3CDTF">2023-04-11T15:35:53Z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wqlLaW5nc29mdCBQREYgdG8gV1BTIDc1</vt:lpwstr>
  </property>
  <property fmtid="{D5CDD505-2E9C-101B-9397-08002B2CF9AE}" pid="3" name="Created">
    <vt:filetime>2022-03-31T00:56:08Z</vt:filetime>
  </property>
  <property fmtid="{D5CDD505-2E9C-101B-9397-08002B2CF9AE}" pid="4" name="ICV">
    <vt:lpwstr>CE9B34D675164181AC46AC5555C5A048</vt:lpwstr>
  </property>
  <property fmtid="{D5CDD505-2E9C-101B-9397-08002B2CF9AE}" pid="5" name="KSOProductBuildVer">
    <vt:lpwstr>2052-11.1.0.13703</vt:lpwstr>
  </property>
</Properties>
</file>