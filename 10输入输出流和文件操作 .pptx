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9" r:id="rId5"/>
    <p:sldId id="369" r:id="rId6"/>
    <p:sldId id="368" r:id="rId7"/>
    <p:sldId id="260" r:id="rId8"/>
    <p:sldId id="370" r:id="rId10"/>
    <p:sldId id="325" r:id="rId11"/>
    <p:sldId id="413" r:id="rId12"/>
    <p:sldId id="381" r:id="rId13"/>
    <p:sldId id="382" r:id="rId14"/>
    <p:sldId id="261" r:id="rId15"/>
    <p:sldId id="326" r:id="rId16"/>
    <p:sldId id="302" r:id="rId17"/>
    <p:sldId id="301" r:id="rId18"/>
    <p:sldId id="263" r:id="rId19"/>
    <p:sldId id="383" r:id="rId20"/>
    <p:sldId id="373" r:id="rId21"/>
    <p:sldId id="372" r:id="rId22"/>
    <p:sldId id="384" r:id="rId23"/>
    <p:sldId id="385" r:id="rId24"/>
    <p:sldId id="414" r:id="rId25"/>
    <p:sldId id="374" r:id="rId26"/>
    <p:sldId id="387" r:id="rId27"/>
    <p:sldId id="388" r:id="rId28"/>
    <p:sldId id="389" r:id="rId29"/>
    <p:sldId id="390" r:id="rId30"/>
    <p:sldId id="391" r:id="rId31"/>
    <p:sldId id="415" r:id="rId32"/>
    <p:sldId id="375" r:id="rId33"/>
    <p:sldId id="376" r:id="rId34"/>
    <p:sldId id="377" r:id="rId35"/>
    <p:sldId id="411" r:id="rId36"/>
    <p:sldId id="412" r:id="rId37"/>
    <p:sldId id="392" r:id="rId38"/>
    <p:sldId id="405" r:id="rId39"/>
    <p:sldId id="393" r:id="rId40"/>
    <p:sldId id="406" r:id="rId41"/>
    <p:sldId id="407" r:id="rId42"/>
    <p:sldId id="394" r:id="rId43"/>
    <p:sldId id="395" r:id="rId44"/>
    <p:sldId id="396" r:id="rId45"/>
    <p:sldId id="416" r:id="rId46"/>
    <p:sldId id="398" r:id="rId47"/>
    <p:sldId id="399" r:id="rId48"/>
    <p:sldId id="408" r:id="rId49"/>
    <p:sldId id="400" r:id="rId50"/>
    <p:sldId id="401" r:id="rId51"/>
    <p:sldId id="402" r:id="rId52"/>
    <p:sldId id="403" r:id="rId53"/>
    <p:sldId id="397" r:id="rId54"/>
    <p:sldId id="404" r:id="rId55"/>
    <p:sldId id="410" r:id="rId56"/>
    <p:sldId id="409" r:id="rId57"/>
    <p:sldId id="417" r:id="rId58"/>
    <p:sldId id="460" r:id="rId59"/>
  </p:sldIdLst>
  <p:sldSz cx="12192000" cy="6858000"/>
  <p:notesSz cx="6858000" cy="9144000"/>
  <p:custDataLst>
    <p:tags r:id="rId6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j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D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0336" autoAdjust="0"/>
  </p:normalViewPr>
  <p:slideViewPr>
    <p:cSldViewPr snapToGrid="0">
      <p:cViewPr varScale="1">
        <p:scale>
          <a:sx n="57" d="100"/>
          <a:sy n="57" d="100"/>
        </p:scale>
        <p:origin x="9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4" Type="http://schemas.openxmlformats.org/officeDocument/2006/relationships/tags" Target="tags/tag6.xml"/><Relationship Id="rId63" Type="http://schemas.openxmlformats.org/officeDocument/2006/relationships/commentAuthors" Target="commentAuthors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3-30T21:41:58.641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B8E62D-9C44-4DA9-8756-456C7B3F810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A6CB7-C145-4002-B5F9-221C9038493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6CB7-C145-4002-B5F9-221C903849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•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整数流的基数：流操纵算子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dec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10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进制）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,oct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8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进制）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,hex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16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进制）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,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setbase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（设置任意进制）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6CB7-C145-4002-B5F9-221C903849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6CB7-C145-4002-B5F9-221C903849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6CB7-C145-4002-B5F9-221C903849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6CB7-C145-4002-B5F9-221C903849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6CB7-C145-4002-B5F9-221C903849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6CB7-C145-4002-B5F9-221C903849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6CB7-C145-4002-B5F9-221C903849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6CB7-C145-4002-B5F9-221C903849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A6CB7-C145-4002-B5F9-221C903849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字符文件能用二进制方式读取吗？不行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627" y="287000"/>
            <a:ext cx="835224" cy="7742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49D5C-8927-4036-B92A-D9F195A44A7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mailto:328492647@qq.co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tags" Target="../tags/tag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image" Target="../media/image16.png"/><Relationship Id="rId2" Type="http://schemas.openxmlformats.org/officeDocument/2006/relationships/image" Target="../media/image21.png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16.png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png"/><Relationship Id="rId2" Type="http://schemas.openxmlformats.org/officeDocument/2006/relationships/image" Target="../media/image16.png"/><Relationship Id="rId1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4.xml"/><Relationship Id="rId6" Type="http://schemas.openxmlformats.org/officeDocument/2006/relationships/image" Target="../media/image34.png"/><Relationship Id="rId5" Type="http://schemas.openxmlformats.org/officeDocument/2006/relationships/tags" Target="../tags/tag3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16.png"/><Relationship Id="rId1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16.png"/><Relationship Id="rId1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6.png"/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0.png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7.png"/><Relationship Id="rId7" Type="http://schemas.openxmlformats.org/officeDocument/2006/relationships/image" Target="../media/image66.png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0.png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4.png"/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image" Target="../media/image50.png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73.png"/><Relationship Id="rId7" Type="http://schemas.openxmlformats.org/officeDocument/2006/relationships/image" Target="../media/image72.png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4.png"/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image" Target="../media/image50.png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78.png"/><Relationship Id="rId7" Type="http://schemas.openxmlformats.org/officeDocument/2006/relationships/image" Target="../media/image77.png"/><Relationship Id="rId6" Type="http://schemas.openxmlformats.org/officeDocument/2006/relationships/image" Target="../media/image73.png"/><Relationship Id="rId5" Type="http://schemas.openxmlformats.org/officeDocument/2006/relationships/image" Target="../media/image70.png"/><Relationship Id="rId4" Type="http://schemas.openxmlformats.org/officeDocument/2006/relationships/image" Target="../media/image64.png"/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image" Target="../media/image50.png"/></Relationships>
</file>

<file path=ppt/slides/_rels/slide5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0.png"/><Relationship Id="rId4" Type="http://schemas.openxmlformats.org/officeDocument/2006/relationships/image" Target="../media/image64.png"/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image" Target="../media/image50.png"/></Relationships>
</file>

<file path=ppt/slides/_rels/slide5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0.png"/><Relationship Id="rId4" Type="http://schemas.openxmlformats.org/officeDocument/2006/relationships/image" Target="../media/image64.png"/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image" Target="../media/image50.png"/></Relationships>
</file>

<file path=ppt/slides/_rels/slide5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0.png"/><Relationship Id="rId4" Type="http://schemas.openxmlformats.org/officeDocument/2006/relationships/image" Target="../media/image64.png"/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image" Target="../media/image50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面向对象程序设计（</a:t>
            </a:r>
            <a:r>
              <a:rPr lang="en-US" altLang="zh-CN" b="1" dirty="0"/>
              <a:t>C++</a:t>
            </a:r>
            <a:r>
              <a:rPr lang="zh-CN" altLang="en-US" b="1" dirty="0"/>
              <a:t>）</a:t>
            </a:r>
            <a:endParaRPr lang="zh-CN" altLang="en-US" b="1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2453244" y="3972296"/>
            <a:ext cx="7543800" cy="2245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中国地质大学（武汉）计算机学院信息安全系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朱    静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328492647@qq.com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 txBox="1">
            <a:spLocks noRot="1" noChangeArrowheads="1"/>
          </p:cNvSpPr>
          <p:nvPr/>
        </p:nvSpPr>
        <p:spPr>
          <a:xfrm>
            <a:off x="2084125" y="523617"/>
            <a:ext cx="8280400" cy="9826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 输入输出流和文件操作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3464626" y="1997034"/>
            <a:ext cx="5943600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本章主要内容：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输入输出流的概念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流类库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标准输入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输出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输出的格式控制（了解）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输出重定向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文件流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文件操作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/>
          <p:cNvSpPr txBox="1">
            <a:spLocks noRot="1" noChangeArrowheads="1"/>
          </p:cNvSpPr>
          <p:nvPr/>
        </p:nvSpPr>
        <p:spPr>
          <a:xfrm>
            <a:off x="1697831" y="140494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10.1  </a:t>
            </a:r>
            <a:r>
              <a:rPr lang="en-US" altLang="zh-CN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C++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中的基本流类体系</a:t>
            </a:r>
            <a:endParaRPr lang="zh-CN" altLang="en-US" sz="4000" b="1" dirty="0"/>
          </a:p>
        </p:txBody>
      </p:sp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1888177" y="1122864"/>
            <a:ext cx="9345880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流（</a:t>
            </a:r>
            <a:r>
              <a:rPr kumimoji="1" lang="en-US" altLang="zh-CN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stream</a:t>
            </a:r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）</a:t>
            </a:r>
            <a:endParaRPr kumimoji="1" lang="en-US" altLang="zh-CN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/>
              <a:t>流负责在</a:t>
            </a:r>
            <a:r>
              <a:rPr kumimoji="1" lang="zh-CN" altLang="en-US" sz="2400" b="1" dirty="0">
                <a:solidFill>
                  <a:srgbClr val="0066FF"/>
                </a:solidFill>
              </a:rPr>
              <a:t>数据的产生者</a:t>
            </a:r>
            <a:r>
              <a:rPr kumimoji="1" lang="zh-CN" altLang="en-US" sz="2400" dirty="0"/>
              <a:t>和</a:t>
            </a:r>
            <a:r>
              <a:rPr kumimoji="1" lang="zh-CN" altLang="en-US" sz="2400" b="1" dirty="0">
                <a:solidFill>
                  <a:srgbClr val="0066FF"/>
                </a:solidFill>
              </a:rPr>
              <a:t>数据的使用者</a:t>
            </a:r>
            <a:r>
              <a:rPr kumimoji="1" lang="zh-CN" altLang="en-US" sz="2400" dirty="0"/>
              <a:t>之间</a:t>
            </a:r>
            <a:r>
              <a:rPr kumimoji="1" lang="zh-CN" altLang="en-US" sz="2400" b="1" dirty="0">
                <a:solidFill>
                  <a:srgbClr val="0066FF"/>
                </a:solidFill>
              </a:rPr>
              <a:t>建立联系</a:t>
            </a:r>
            <a:r>
              <a:rPr kumimoji="1" lang="zh-CN" altLang="en-US" sz="2400" dirty="0"/>
              <a:t>。</a:t>
            </a: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数据从一个对象到另一个对象的传送被抽象为“流”。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中为数据输入</a:t>
            </a:r>
            <a:r>
              <a:rPr kumimoji="1"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输出创建</a:t>
            </a:r>
            <a:r>
              <a:rPr kumimoji="1"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缓冲区</a:t>
            </a:r>
            <a:r>
              <a:rPr kumimoji="1"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实现数据流的传送。</a:t>
            </a:r>
            <a:endParaRPr kumimoji="1" lang="en-US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Text Box 3"/>
          <p:cNvSpPr txBox="1">
            <a:spLocks noChangeArrowheads="1"/>
          </p:cNvSpPr>
          <p:nvPr/>
        </p:nvSpPr>
        <p:spPr bwMode="auto">
          <a:xfrm>
            <a:off x="1888177" y="3270262"/>
            <a:ext cx="934588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流类库</a:t>
            </a:r>
            <a:endParaRPr kumimoji="1" lang="en-US" altLang="zh-CN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C++</a:t>
            </a:r>
            <a:r>
              <a:rPr kumimoji="1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语言中没有标准输入</a:t>
            </a:r>
            <a:r>
              <a:rPr kumimoji="1"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/</a:t>
            </a:r>
            <a:r>
              <a:rPr kumimoji="1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输出函数（</a:t>
            </a:r>
            <a:r>
              <a:rPr kumimoji="1" lang="en-US" altLang="zh-CN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printf</a:t>
            </a:r>
            <a:r>
              <a:rPr kumimoji="1"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kumimoji="1" lang="en-US" altLang="zh-CN" sz="2400" dirty="0" err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scanf</a:t>
            </a:r>
            <a:r>
              <a:rPr kumimoji="1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），不能直接处理</a:t>
            </a:r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I/O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kumimoji="1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，而是在标准库里包含了一个</a:t>
            </a:r>
            <a:r>
              <a:rPr kumimoji="1" lang="en-US" altLang="zh-CN" sz="240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I/O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流类库</a:t>
            </a:r>
            <a:r>
              <a:rPr kumimoji="1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，它与标准模板库同为</a:t>
            </a:r>
            <a:r>
              <a:rPr kumimoji="1"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C++</a:t>
            </a:r>
            <a:r>
              <a:rPr kumimoji="1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标准库中最重要的组成部分。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C++ </a:t>
            </a:r>
            <a:r>
              <a:rPr kumimoji="1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依靠不同的</a:t>
            </a:r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I/O </a:t>
            </a:r>
            <a:r>
              <a:rPr kumimoji="1"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类对象来实现从设备中读取数据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kumimoji="1"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例：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cin</a:t>
            </a:r>
            <a:r>
              <a:rPr lang="en-US" altLang="zh-CN" sz="2400" dirty="0">
                <a:latin typeface="Consolas" panose="020B0609020204030204" pitchFamily="49" charset="0"/>
              </a:rPr>
              <a:t>&gt;&gt;a;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algn="just"/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&lt;&lt;a&lt;&lt;</a:t>
            </a:r>
            <a:r>
              <a:rPr lang="en-US" altLang="zh-CN" sz="2400" dirty="0" err="1">
                <a:latin typeface="Consolas" panose="020B0609020204030204" pitchFamily="49" charset="0"/>
              </a:rPr>
              <a:t>endl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  <a:endParaRPr kumimoji="1"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932" y="2112363"/>
            <a:ext cx="10020074" cy="4194660"/>
          </a:xfrm>
          <a:prstGeom prst="rect">
            <a:avLst/>
          </a:prstGeom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268412" y="143734"/>
            <a:ext cx="10684102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en-US" altLang="zh-CN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C++</a:t>
            </a:r>
            <a:r>
              <a:rPr kumimoji="1" lang="zh-CN" altLang="en-US" sz="3200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中的流类体系</a:t>
            </a:r>
            <a:endParaRPr kumimoji="1" lang="en-US" altLang="zh-CN" sz="3200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200" b="1" dirty="0"/>
              <a:t>以抽象</a:t>
            </a:r>
            <a:r>
              <a:rPr kumimoji="1" lang="zh-CN" altLang="en-US" sz="2200" b="1" dirty="0">
                <a:solidFill>
                  <a:srgbClr val="FF0000"/>
                </a:solidFill>
              </a:rPr>
              <a:t>类模板</a:t>
            </a:r>
            <a:r>
              <a:rPr kumimoji="1" lang="en-US" altLang="zh-CN" sz="2200" b="1" dirty="0" err="1"/>
              <a:t>ios</a:t>
            </a:r>
            <a:r>
              <a:rPr kumimoji="1" lang="zh-CN" altLang="en-US" sz="2200" b="1" dirty="0"/>
              <a:t>为基类。</a:t>
            </a:r>
            <a:endParaRPr kumimoji="1" lang="en-US" altLang="zh-CN" sz="2200" b="1" dirty="0"/>
          </a:p>
          <a:p>
            <a:pPr marL="342900" indent="-3429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en-US" altLang="zh-CN" sz="2200" b="1" dirty="0"/>
              <a:t>I/O</a:t>
            </a:r>
            <a:r>
              <a:rPr kumimoji="1" lang="zh-CN" altLang="en-US" sz="2200" b="1" dirty="0"/>
              <a:t>流在头文件</a:t>
            </a:r>
            <a:r>
              <a:rPr kumimoji="1" lang="en-US" altLang="zh-CN" sz="2200" b="1" dirty="0"/>
              <a:t>&lt;</a:t>
            </a:r>
            <a:r>
              <a:rPr kumimoji="1" lang="en-US" altLang="zh-CN" sz="2200" b="1" dirty="0">
                <a:solidFill>
                  <a:srgbClr val="FF0000"/>
                </a:solidFill>
              </a:rPr>
              <a:t>iostream</a:t>
            </a:r>
            <a:r>
              <a:rPr kumimoji="1" lang="en-US" altLang="zh-CN" sz="2200" b="1" dirty="0"/>
              <a:t>&gt;</a:t>
            </a:r>
            <a:r>
              <a:rPr kumimoji="1" lang="zh-CN" altLang="en-US" sz="2200" b="1" dirty="0"/>
              <a:t>中说明，包含头文件</a:t>
            </a:r>
            <a:r>
              <a:rPr kumimoji="1" lang="en-US" altLang="zh-CN" sz="2200" b="1" dirty="0"/>
              <a:t>&lt;</a:t>
            </a:r>
            <a:r>
              <a:rPr kumimoji="1" lang="en-US" altLang="zh-CN" sz="2200" b="1" dirty="0" err="1"/>
              <a:t>ios</a:t>
            </a:r>
            <a:r>
              <a:rPr kumimoji="1" lang="en-US" altLang="zh-CN" sz="2200" b="1" dirty="0"/>
              <a:t>&gt;</a:t>
            </a:r>
            <a:r>
              <a:rPr kumimoji="1" lang="zh-CN" altLang="en-US" sz="2200" b="1" dirty="0"/>
              <a:t>、</a:t>
            </a:r>
            <a:r>
              <a:rPr kumimoji="1" lang="en-US" altLang="zh-CN" sz="2200" b="1" dirty="0"/>
              <a:t>&lt;</a:t>
            </a:r>
            <a:r>
              <a:rPr kumimoji="1" lang="en-US" altLang="zh-CN" sz="2200" b="1" dirty="0" err="1"/>
              <a:t>streambuf</a:t>
            </a:r>
            <a:r>
              <a:rPr kumimoji="1" lang="en-US" altLang="zh-CN" sz="2200" b="1" dirty="0"/>
              <a:t>&gt;</a:t>
            </a:r>
            <a:r>
              <a:rPr kumimoji="1" lang="zh-CN" altLang="en-US" sz="2200" b="1" dirty="0"/>
              <a:t>、</a:t>
            </a:r>
            <a:r>
              <a:rPr kumimoji="1" lang="en-US" altLang="zh-CN" sz="2200" b="1" dirty="0"/>
              <a:t>&lt;</a:t>
            </a:r>
            <a:r>
              <a:rPr kumimoji="1" lang="en-US" altLang="zh-CN" sz="2200" b="1" dirty="0" err="1"/>
              <a:t>istream</a:t>
            </a:r>
            <a:r>
              <a:rPr kumimoji="1" lang="en-US" altLang="zh-CN" sz="2200" b="1" dirty="0"/>
              <a:t>&gt;</a:t>
            </a:r>
            <a:r>
              <a:rPr kumimoji="1" lang="zh-CN" altLang="en-US" sz="2200" b="1" dirty="0"/>
              <a:t>和</a:t>
            </a:r>
            <a:r>
              <a:rPr kumimoji="1" lang="en-US" altLang="zh-CN" sz="2200" b="1" dirty="0"/>
              <a:t>&lt;</a:t>
            </a:r>
            <a:r>
              <a:rPr kumimoji="1" lang="en-US" altLang="zh-CN" sz="2200" b="1" dirty="0" err="1"/>
              <a:t>ostream</a:t>
            </a:r>
            <a:r>
              <a:rPr kumimoji="1" lang="en-US" altLang="zh-CN" sz="2200" b="1" dirty="0"/>
              <a:t>&gt;</a:t>
            </a:r>
            <a:r>
              <a:rPr kumimoji="1" lang="zh-CN" altLang="en-US" sz="2200" b="1" dirty="0"/>
              <a:t>。</a:t>
            </a:r>
            <a:endParaRPr kumimoji="1" lang="en-US" altLang="zh-CN" sz="2200" b="1" dirty="0"/>
          </a:p>
          <a:p>
            <a:pPr marL="342900" indent="-3429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200" b="1" dirty="0">
                <a:solidFill>
                  <a:srgbClr val="FF0000"/>
                </a:solidFill>
              </a:rPr>
              <a:t>文件流</a:t>
            </a:r>
            <a:r>
              <a:rPr kumimoji="1" lang="zh-CN" altLang="en-US" sz="2200" b="1" dirty="0"/>
              <a:t>在头文件</a:t>
            </a:r>
            <a:r>
              <a:rPr kumimoji="1" lang="en-US" altLang="zh-CN" sz="2200" b="1" dirty="0"/>
              <a:t>&lt;</a:t>
            </a:r>
            <a:r>
              <a:rPr kumimoji="1" lang="en-US" altLang="zh-CN" sz="2200" b="1" dirty="0" err="1">
                <a:solidFill>
                  <a:srgbClr val="FF0000"/>
                </a:solidFill>
              </a:rPr>
              <a:t>fstream</a:t>
            </a:r>
            <a:r>
              <a:rPr kumimoji="1" lang="en-US" altLang="zh-CN" sz="2200" b="1" dirty="0"/>
              <a:t>&gt;</a:t>
            </a:r>
            <a:r>
              <a:rPr kumimoji="1" lang="zh-CN" altLang="en-US" sz="2200" b="1" dirty="0"/>
              <a:t>中说明。</a:t>
            </a:r>
            <a:r>
              <a:rPr kumimoji="1" lang="zh-CN" altLang="en-US" sz="2200" dirty="0"/>
              <a:t> </a:t>
            </a:r>
            <a:endParaRPr kumimoji="1" lang="zh-CN" altLang="en-US" sz="2200" dirty="0"/>
          </a:p>
        </p:txBody>
      </p:sp>
      <p:sp>
        <p:nvSpPr>
          <p:cNvPr id="8" name="文本框 7"/>
          <p:cNvSpPr txBox="1"/>
          <p:nvPr/>
        </p:nvSpPr>
        <p:spPr>
          <a:xfrm>
            <a:off x="7661746" y="2658290"/>
            <a:ext cx="2692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类名中的</a:t>
            </a:r>
            <a:r>
              <a:rPr lang="en-US" altLang="zh-CN" b="1" dirty="0" err="1">
                <a:solidFill>
                  <a:srgbClr val="0066FF"/>
                </a:solidFill>
                <a:latin typeface="Consolas" panose="020B0609020204030204" pitchFamily="49" charset="0"/>
              </a:rPr>
              <a:t>i</a:t>
            </a:r>
            <a:r>
              <a:rPr lang="zh-CN" alt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和</a:t>
            </a:r>
            <a:r>
              <a:rPr lang="en-US" altLang="zh-CN" b="1" dirty="0">
                <a:solidFill>
                  <a:srgbClr val="0066FF"/>
                </a:solidFill>
                <a:latin typeface="Consolas" panose="020B0609020204030204" pitchFamily="49" charset="0"/>
              </a:rPr>
              <a:t>o</a:t>
            </a:r>
            <a:r>
              <a:rPr lang="zh-CN" alt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分别代表</a:t>
            </a:r>
            <a:r>
              <a:rPr lang="en-US" altLang="zh-CN" b="1" dirty="0">
                <a:solidFill>
                  <a:srgbClr val="0066FF"/>
                </a:solidFill>
                <a:latin typeface="Consolas" panose="020B0609020204030204" pitchFamily="49" charset="0"/>
              </a:rPr>
              <a:t>input</a:t>
            </a:r>
            <a:r>
              <a:rPr lang="zh-CN" altLang="en-US" b="1" dirty="0">
                <a:solidFill>
                  <a:srgbClr val="00B050"/>
                </a:solidFill>
                <a:latin typeface="Consolas" panose="020B0609020204030204" pitchFamily="49" charset="0"/>
              </a:rPr>
              <a:t>和</a:t>
            </a:r>
            <a:r>
              <a:rPr lang="en-US" altLang="zh-CN" b="1" dirty="0">
                <a:solidFill>
                  <a:srgbClr val="0066FF"/>
                </a:solidFill>
                <a:latin typeface="Consolas" panose="020B0609020204030204" pitchFamily="49" charset="0"/>
              </a:rPr>
              <a:t>output</a:t>
            </a:r>
            <a:endParaRPr lang="zh-CN" altLang="en-US" b="1" dirty="0">
              <a:solidFill>
                <a:srgbClr val="0066FF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922932" y="2648173"/>
            <a:ext cx="2305050" cy="4064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pPr algn="ctr" eaLnBrk="0" hangingPunct="0"/>
            <a:r>
              <a:rPr lang="en-US" altLang="zh-CN" sz="22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streambuf</a:t>
            </a:r>
            <a:endParaRPr lang="en-US" altLang="zh-CN" sz="2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Line 17"/>
          <p:cNvSpPr>
            <a:spLocks noChangeShapeType="1"/>
          </p:cNvSpPr>
          <p:nvPr/>
        </p:nvSpPr>
        <p:spPr bwMode="auto">
          <a:xfrm flipV="1">
            <a:off x="4208932" y="2771204"/>
            <a:ext cx="211296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18"/>
          <p:cNvSpPr>
            <a:spLocks noChangeArrowheads="1"/>
          </p:cNvSpPr>
          <p:nvPr/>
        </p:nvSpPr>
        <p:spPr bwMode="auto">
          <a:xfrm>
            <a:off x="4227982" y="2804541"/>
            <a:ext cx="17272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包含</a:t>
            </a:r>
            <a:r>
              <a:rPr lang="en-US" altLang="zh-CN" sz="18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streambuf</a:t>
            </a:r>
            <a:endParaRPr lang="en-US" altLang="zh-CN" sz="1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对象指针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Rectangle 1035"/>
          <p:cNvSpPr>
            <a:spLocks noChangeArrowheads="1"/>
          </p:cNvSpPr>
          <p:nvPr/>
        </p:nvSpPr>
        <p:spPr bwMode="auto">
          <a:xfrm>
            <a:off x="-54666" y="3104285"/>
            <a:ext cx="341988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b="1" dirty="0" err="1">
                <a:solidFill>
                  <a:srgbClr val="3333FF"/>
                </a:solidFill>
              </a:rPr>
              <a:t>streambuf</a:t>
            </a:r>
            <a:r>
              <a:rPr lang="zh-CN" altLang="en-US" b="1" dirty="0">
                <a:solidFill>
                  <a:srgbClr val="3333FF"/>
                </a:solidFill>
              </a:rPr>
              <a:t>不是</a:t>
            </a:r>
            <a:r>
              <a:rPr lang="en-US" altLang="zh-CN" b="1" dirty="0" err="1">
                <a:solidFill>
                  <a:srgbClr val="3333FF"/>
                </a:solidFill>
              </a:rPr>
              <a:t>ios</a:t>
            </a:r>
            <a:r>
              <a:rPr lang="zh-CN" altLang="en-US" b="1" dirty="0">
                <a:solidFill>
                  <a:srgbClr val="3333FF"/>
                </a:solidFill>
              </a:rPr>
              <a:t>的派生类，而是一个独立的类。</a:t>
            </a:r>
            <a:endParaRPr lang="en-US" altLang="zh-CN" b="1" dirty="0">
              <a:solidFill>
                <a:srgbClr val="3333FF"/>
              </a:solidFill>
            </a:endParaRPr>
          </a:p>
          <a:p>
            <a:pPr marL="342900" indent="-3429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b="1" dirty="0" err="1">
                <a:solidFill>
                  <a:srgbClr val="3333FF"/>
                </a:solidFill>
              </a:rPr>
              <a:t>ios</a:t>
            </a:r>
            <a:r>
              <a:rPr lang="zh-CN" altLang="en-US" b="1" dirty="0">
                <a:solidFill>
                  <a:srgbClr val="3333FF"/>
                </a:solidFill>
              </a:rPr>
              <a:t>类中有一个保护访问限制的指针指向</a:t>
            </a:r>
            <a:r>
              <a:rPr lang="en-US" altLang="zh-CN" b="1" dirty="0" err="1">
                <a:solidFill>
                  <a:srgbClr val="3333FF"/>
                </a:solidFill>
              </a:rPr>
              <a:t>streambuf</a:t>
            </a:r>
            <a:r>
              <a:rPr lang="en-US" altLang="zh-CN" b="1" dirty="0">
                <a:solidFill>
                  <a:srgbClr val="3333FF"/>
                </a:solidFill>
              </a:rPr>
              <a:t> </a:t>
            </a:r>
            <a:r>
              <a:rPr lang="zh-CN" altLang="en-US" b="1" dirty="0">
                <a:solidFill>
                  <a:srgbClr val="3333FF"/>
                </a:solidFill>
              </a:rPr>
              <a:t>对象。 </a:t>
            </a:r>
            <a:endParaRPr lang="en-US" altLang="zh-CN" b="1" dirty="0">
              <a:solidFill>
                <a:srgbClr val="3333FF"/>
              </a:solidFill>
            </a:endParaRPr>
          </a:p>
          <a:p>
            <a:pPr marL="342900" indent="-3429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b="1" dirty="0" err="1">
                <a:solidFill>
                  <a:srgbClr val="3333FF"/>
                </a:solidFill>
              </a:rPr>
              <a:t>streambuf</a:t>
            </a:r>
            <a:r>
              <a:rPr lang="zh-CN" altLang="en-US" b="1" dirty="0">
                <a:solidFill>
                  <a:srgbClr val="3333FF"/>
                </a:solidFill>
              </a:rPr>
              <a:t>的作用是管理一个流的缓冲区。</a:t>
            </a:r>
            <a:endParaRPr lang="zh-CN" altLang="en-US" b="1" dirty="0">
              <a:solidFill>
                <a:srgbClr val="3333F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10780" y="1818640"/>
            <a:ext cx="4197350" cy="533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1034"/>
          <p:cNvSpPr txBox="1">
            <a:spLocks noChangeArrowheads="1"/>
          </p:cNvSpPr>
          <p:nvPr/>
        </p:nvSpPr>
        <p:spPr bwMode="auto">
          <a:xfrm>
            <a:off x="1544118" y="441856"/>
            <a:ext cx="910376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5750" indent="-28575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 err="1"/>
              <a:t>ios</a:t>
            </a:r>
            <a:r>
              <a:rPr lang="zh-CN" altLang="en-US" sz="2400" b="1" dirty="0"/>
              <a:t>类模板提供对流进行</a:t>
            </a:r>
            <a:r>
              <a:rPr lang="zh-CN" altLang="en-US" sz="2400" b="1" dirty="0">
                <a:solidFill>
                  <a:srgbClr val="0066FF"/>
                </a:solidFill>
              </a:rPr>
              <a:t>格式化输入输出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solidFill>
                  <a:srgbClr val="0066FF"/>
                </a:solidFill>
              </a:rPr>
              <a:t>错误处理</a:t>
            </a:r>
            <a:r>
              <a:rPr lang="zh-CN" altLang="en-US" sz="2400" b="1" dirty="0"/>
              <a:t>的成员函数。</a:t>
            </a:r>
            <a:endParaRPr lang="en-US" altLang="zh-CN" sz="2400" b="1" dirty="0"/>
          </a:p>
          <a:p>
            <a:pPr marL="285750" indent="-28575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 err="1"/>
              <a:t>istream</a:t>
            </a:r>
            <a:r>
              <a:rPr lang="zh-CN" altLang="en-US" sz="2400" b="1" dirty="0"/>
              <a:t>类模板提供完成提取（输入）操作的成员函数。</a:t>
            </a:r>
            <a:r>
              <a:rPr lang="en-US" altLang="zh-CN" sz="2400" b="1" dirty="0" err="1">
                <a:solidFill>
                  <a:srgbClr val="0066FF"/>
                </a:solidFill>
              </a:rPr>
              <a:t>cin</a:t>
            </a:r>
            <a:r>
              <a:rPr lang="zh-CN" altLang="en-US" sz="2400" b="1" dirty="0"/>
              <a:t>就是该类的</a:t>
            </a:r>
            <a:r>
              <a:rPr lang="zh-CN" altLang="en-US" sz="2400" b="1" dirty="0">
                <a:solidFill>
                  <a:srgbClr val="FF0000"/>
                </a:solidFill>
              </a:rPr>
              <a:t>对象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pPr marL="285750" indent="-28575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 err="1"/>
              <a:t>ostream</a:t>
            </a:r>
            <a:r>
              <a:rPr lang="zh-CN" altLang="en-US" sz="2400" b="1" dirty="0"/>
              <a:t>类模板提供完成插入（输出）操作的成员函数。</a:t>
            </a:r>
            <a:r>
              <a:rPr lang="en-US" altLang="zh-CN" sz="2400" b="1" dirty="0" err="1">
                <a:solidFill>
                  <a:srgbClr val="0066FF"/>
                </a:solidFill>
              </a:rPr>
              <a:t>cout</a:t>
            </a:r>
            <a:r>
              <a:rPr lang="zh-CN" altLang="en-US" sz="2400" b="1" dirty="0"/>
              <a:t>就是该类的</a:t>
            </a:r>
            <a:r>
              <a:rPr lang="zh-CN" altLang="en-US" sz="2400" b="1" dirty="0">
                <a:solidFill>
                  <a:srgbClr val="FF0000"/>
                </a:solidFill>
              </a:rPr>
              <a:t>对象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pPr marL="285750" indent="-28575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/>
              <a:t>iostream</a:t>
            </a:r>
            <a:r>
              <a:rPr lang="zh-CN" altLang="en-US" sz="2400" b="1" dirty="0"/>
              <a:t>类是前两者的</a:t>
            </a:r>
            <a:r>
              <a:rPr lang="zh-CN" altLang="en-US" sz="2400" b="1" dirty="0">
                <a:solidFill>
                  <a:srgbClr val="FF0000"/>
                </a:solidFill>
              </a:rPr>
              <a:t>聚合</a:t>
            </a:r>
            <a:r>
              <a:rPr lang="zh-CN" altLang="en-US" sz="2400" b="1" dirty="0"/>
              <a:t>，并没有增加成员。</a:t>
            </a:r>
            <a:endParaRPr lang="en-US" altLang="zh-CN" sz="2400" b="1" dirty="0"/>
          </a:p>
          <a:p>
            <a:pPr marL="285750" indent="-28575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 err="1"/>
              <a:t>ifstream</a:t>
            </a:r>
            <a:r>
              <a:rPr lang="zh-CN" altLang="en-US" sz="2400" b="1" dirty="0"/>
              <a:t>是用于从文件读取数据的类。</a:t>
            </a:r>
            <a:endParaRPr lang="en-US" altLang="zh-CN" sz="2400" b="1" dirty="0"/>
          </a:p>
          <a:p>
            <a:pPr marL="285750" indent="-28575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 err="1"/>
              <a:t>ofstream</a:t>
            </a:r>
            <a:r>
              <a:rPr lang="zh-CN" altLang="en-US" sz="2400" b="1" dirty="0"/>
              <a:t>是用于向文件写入数据的类。</a:t>
            </a:r>
            <a:endParaRPr lang="en-US" altLang="zh-CN" sz="2400" b="1" dirty="0"/>
          </a:p>
          <a:p>
            <a:pPr marL="285750" indent="-28575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 err="1"/>
              <a:t>fstream</a:t>
            </a:r>
            <a:r>
              <a:rPr lang="zh-CN" altLang="en-US" sz="2400" b="1" dirty="0"/>
              <a:t>是既能读文件，又能写文件的类。</a:t>
            </a:r>
            <a:endParaRPr lang="en-US" altLang="zh-CN" sz="2400" b="1" dirty="0"/>
          </a:p>
          <a:p>
            <a:pPr marL="285750" indent="-28575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/>
              <a:t>所有派生为</a:t>
            </a:r>
            <a:r>
              <a:rPr lang="zh-CN" altLang="en-US" sz="2400" b="1" dirty="0">
                <a:solidFill>
                  <a:srgbClr val="0066FF"/>
                </a:solidFill>
              </a:rPr>
              <a:t>公有</a:t>
            </a:r>
            <a:r>
              <a:rPr lang="zh-CN" altLang="en-US" sz="2400" b="1" dirty="0"/>
              <a:t>派生。</a:t>
            </a:r>
            <a:endParaRPr lang="zh-CN" altLang="en-US" sz="2400" b="1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Rot="1" noChangeArrowheads="1"/>
          </p:cNvSpPr>
          <p:nvPr/>
        </p:nvSpPr>
        <p:spPr>
          <a:xfrm>
            <a:off x="1495700" y="92369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10.2 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标准输入</a:t>
            </a:r>
            <a:r>
              <a:rPr lang="en-US" altLang="zh-CN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输出</a:t>
            </a:r>
            <a:endParaRPr lang="zh-CN" altLang="en-US" sz="4000" b="1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57" b="5722"/>
          <a:stretch>
            <a:fillRect/>
          </a:stretch>
        </p:blipFill>
        <p:spPr>
          <a:xfrm>
            <a:off x="2454442" y="3964589"/>
            <a:ext cx="8230498" cy="2752917"/>
          </a:xfrm>
          <a:prstGeom prst="rect">
            <a:avLst/>
          </a:prstGeom>
        </p:spPr>
      </p:pic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904775" y="807905"/>
            <a:ext cx="10655166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sz="28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 </a:t>
            </a:r>
            <a:r>
              <a:rPr kumimoji="1" lang="zh-CN" altLang="en-US" sz="28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标准输入</a:t>
            </a:r>
            <a:r>
              <a:rPr kumimoji="1" lang="en-US" altLang="zh-CN" sz="28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</a:t>
            </a:r>
            <a:r>
              <a:rPr kumimoji="1" lang="zh-CN" altLang="en-US" sz="28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输出流对象</a:t>
            </a:r>
            <a:endParaRPr kumimoji="1" lang="zh-CN" altLang="en-US" sz="2800" b="1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l"/>
            <a:r>
              <a:rPr kumimoji="1" lang="zh-CN" altLang="en-US" sz="2400" b="1" dirty="0">
                <a:latin typeface="幼圆" panose="02010509060101010101" pitchFamily="49" charset="-122"/>
              </a:rPr>
              <a:t>    在</a:t>
            </a:r>
            <a:r>
              <a:rPr kumimoji="1" lang="en-US" altLang="zh-CN" sz="2400" b="1" dirty="0">
                <a:latin typeface="幼圆" panose="02010509060101010101" pitchFamily="49" charset="-122"/>
              </a:rPr>
              <a:t>C++</a:t>
            </a:r>
            <a:r>
              <a:rPr kumimoji="1" lang="zh-CN" altLang="en-US" sz="2400" b="1" dirty="0">
                <a:latin typeface="幼圆" panose="02010509060101010101" pitchFamily="49" charset="-122"/>
              </a:rPr>
              <a:t>的流类库中定义了四个全局流对象：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幼圆" panose="02010509060101010101" pitchFamily="49" charset="-122"/>
              </a:rPr>
              <a:t>cin</a:t>
            </a:r>
            <a:r>
              <a:rPr kumimoji="1" lang="zh-CN" altLang="en-US" sz="2400" b="1" dirty="0">
                <a:solidFill>
                  <a:srgbClr val="FF0000"/>
                </a:solidFill>
                <a:latin typeface="幼圆" panose="02010509060101010101" pitchFamily="49" charset="-122"/>
              </a:rPr>
              <a:t>，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幼圆" panose="02010509060101010101" pitchFamily="49" charset="-122"/>
              </a:rPr>
              <a:t>cout</a:t>
            </a:r>
            <a:r>
              <a:rPr kumimoji="1" lang="zh-CN" altLang="en-US" sz="2400" b="1" dirty="0">
                <a:solidFill>
                  <a:srgbClr val="FF0000"/>
                </a:solidFill>
                <a:latin typeface="幼圆" panose="02010509060101010101" pitchFamily="49" charset="-122"/>
              </a:rPr>
              <a:t>，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幼圆" panose="02010509060101010101" pitchFamily="49" charset="-122"/>
              </a:rPr>
              <a:t>cerr</a:t>
            </a:r>
            <a:r>
              <a:rPr kumimoji="1" lang="zh-CN" altLang="en-US" sz="2400" b="1" dirty="0">
                <a:latin typeface="幼圆" panose="02010509060101010101" pitchFamily="49" charset="-122"/>
              </a:rPr>
              <a:t>和</a:t>
            </a:r>
            <a:r>
              <a:rPr kumimoji="1" lang="en-US" altLang="zh-CN" sz="2400" b="1" dirty="0">
                <a:solidFill>
                  <a:srgbClr val="FF0000"/>
                </a:solidFill>
                <a:latin typeface="幼圆" panose="02010509060101010101" pitchFamily="49" charset="-122"/>
              </a:rPr>
              <a:t>clog</a:t>
            </a:r>
            <a:r>
              <a:rPr kumimoji="1" lang="zh-CN" altLang="en-US" sz="2400" b="1" dirty="0">
                <a:latin typeface="幼圆" panose="02010509060101010101" pitchFamily="49" charset="-122"/>
              </a:rPr>
              <a:t>。 </a:t>
            </a:r>
            <a:endParaRPr kumimoji="1" lang="en-US" altLang="zh-CN" sz="2400" b="1" dirty="0">
              <a:latin typeface="幼圆" panose="02010509060101010101" pitchFamily="49" charset="-122"/>
            </a:endParaRPr>
          </a:p>
          <a:p>
            <a:r>
              <a:rPr kumimoji="1" lang="zh-CN" altLang="en-US" sz="2400" b="1" dirty="0">
                <a:latin typeface="幼圆" panose="02010509060101010101" pitchFamily="49" charset="-122"/>
              </a:rPr>
              <a:t>    </a:t>
            </a:r>
            <a:r>
              <a:rPr kumimoji="1" lang="en-US" altLang="zh-CN" sz="2400" b="1" dirty="0" err="1">
                <a:ea typeface="宋体" panose="02010600030101010101" pitchFamily="2" charset="-122"/>
              </a:rPr>
              <a:t>cin</a:t>
            </a:r>
            <a:r>
              <a:rPr kumimoji="1" lang="zh-CN" altLang="en-US" sz="2400" b="1" dirty="0">
                <a:ea typeface="宋体" panose="02010600030101010101" pitchFamily="2" charset="-122"/>
              </a:rPr>
              <a:t>标准输入流对象，其对应的标准设备为键盘。</a:t>
            </a:r>
            <a:endParaRPr kumimoji="1" lang="zh-CN" altLang="en-US" sz="2400" b="1" dirty="0">
              <a:ea typeface="宋体" panose="02010600030101010101" pitchFamily="2" charset="-122"/>
            </a:endParaRPr>
          </a:p>
          <a:p>
            <a:r>
              <a:rPr kumimoji="1" lang="zh-CN" altLang="en-US" sz="2400" b="1" dirty="0">
                <a:ea typeface="宋体" panose="02010600030101010101" pitchFamily="2" charset="-122"/>
              </a:rPr>
              <a:t>       </a:t>
            </a:r>
            <a:r>
              <a:rPr kumimoji="1" lang="en-US" altLang="zh-CN" sz="2400" b="1" dirty="0" err="1">
                <a:ea typeface="宋体" panose="02010600030101010101" pitchFamily="2" charset="-122"/>
              </a:rPr>
              <a:t>cout</a:t>
            </a:r>
            <a:r>
              <a:rPr kumimoji="1" lang="zh-CN" altLang="en-US" sz="2400" b="1" dirty="0">
                <a:ea typeface="宋体" panose="02010600030101010101" pitchFamily="2" charset="-122"/>
              </a:rPr>
              <a:t>标准输出流对象，其对应的标准设备为显示器。</a:t>
            </a:r>
            <a:endParaRPr kumimoji="1" lang="zh-CN" altLang="en-US" sz="2400" b="1" dirty="0">
              <a:ea typeface="宋体" panose="02010600030101010101" pitchFamily="2" charset="-122"/>
            </a:endParaRPr>
          </a:p>
          <a:p>
            <a:r>
              <a:rPr kumimoji="1" lang="zh-CN" altLang="en-US" sz="2400" b="1" dirty="0">
                <a:ea typeface="宋体" panose="02010600030101010101" pitchFamily="2" charset="-122"/>
              </a:rPr>
              <a:t>       </a:t>
            </a:r>
            <a:r>
              <a:rPr kumimoji="1" lang="en-US" altLang="zh-CN" sz="2400" b="1" dirty="0" err="1">
                <a:ea typeface="宋体" panose="02010600030101010101" pitchFamily="2" charset="-122"/>
              </a:rPr>
              <a:t>cerr</a:t>
            </a:r>
            <a:r>
              <a:rPr kumimoji="1" lang="zh-CN" altLang="en-US" sz="2400" b="1" dirty="0">
                <a:ea typeface="宋体" panose="02010600030101010101" pitchFamily="2" charset="-122"/>
              </a:rPr>
              <a:t>和</a:t>
            </a:r>
            <a:r>
              <a:rPr kumimoji="1" lang="en-US" altLang="zh-CN" sz="2400" b="1" dirty="0">
                <a:ea typeface="宋体" panose="02010600030101010101" pitchFamily="2" charset="-122"/>
              </a:rPr>
              <a:t>clog</a:t>
            </a:r>
            <a:r>
              <a:rPr kumimoji="1" lang="zh-CN" altLang="en-US" sz="2400" b="1" dirty="0">
                <a:ea typeface="宋体" panose="02010600030101010101" pitchFamily="2" charset="-122"/>
              </a:rPr>
              <a:t>标准错误输出流，其对应的输出设备是显示器。</a:t>
            </a:r>
            <a:endParaRPr kumimoji="1" lang="zh-CN" altLang="en-US" sz="2400" b="1" dirty="0">
              <a:ea typeface="宋体" panose="02010600030101010101" pitchFamily="2" charset="-122"/>
            </a:endParaRPr>
          </a:p>
          <a:p>
            <a:pPr algn="l"/>
            <a:r>
              <a:rPr kumimoji="1" lang="zh-CN" altLang="en-US" sz="2400" b="1" dirty="0">
                <a:ea typeface="宋体" panose="02010600030101010101" pitchFamily="2" charset="-122"/>
              </a:rPr>
              <a:t>       其中</a:t>
            </a:r>
            <a:r>
              <a:rPr kumimoji="1" lang="en-US" altLang="zh-CN" sz="2400" b="1" dirty="0" err="1">
                <a:ea typeface="宋体" panose="02010600030101010101" pitchFamily="2" charset="-122"/>
              </a:rPr>
              <a:t>cin</a:t>
            </a:r>
            <a:r>
              <a:rPr kumimoji="1" lang="zh-CN" altLang="en-US" sz="2400" b="1" dirty="0">
                <a:ea typeface="宋体" panose="02010600030101010101" pitchFamily="2" charset="-122"/>
              </a:rPr>
              <a:t>、</a:t>
            </a:r>
            <a:r>
              <a:rPr kumimoji="1" lang="en-US" altLang="zh-CN" sz="2400" b="1" dirty="0" err="1">
                <a:ea typeface="宋体" panose="02010600030101010101" pitchFamily="2" charset="-122"/>
              </a:rPr>
              <a:t>cout</a:t>
            </a:r>
            <a:r>
              <a:rPr kumimoji="1" lang="zh-CN" altLang="en-US" sz="2400" b="1" dirty="0">
                <a:ea typeface="宋体" panose="02010600030101010101" pitchFamily="2" charset="-122"/>
              </a:rPr>
              <a:t>和</a:t>
            </a:r>
            <a:r>
              <a:rPr kumimoji="1" lang="en-US" altLang="zh-CN" sz="2400" b="1" dirty="0">
                <a:ea typeface="宋体" panose="02010600030101010101" pitchFamily="2" charset="-122"/>
              </a:rPr>
              <a:t>clog</a:t>
            </a:r>
            <a:r>
              <a:rPr kumimoji="1" lang="zh-CN" altLang="en-US" sz="2400" b="1" dirty="0">
                <a:ea typeface="宋体" panose="02010600030101010101" pitchFamily="2" charset="-122"/>
              </a:rPr>
              <a:t>是带</a:t>
            </a:r>
            <a:r>
              <a:rPr kumimoji="1"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缓冲区</a:t>
            </a:r>
            <a:r>
              <a:rPr kumimoji="1" lang="zh-CN" altLang="en-US" sz="2400" b="1" dirty="0">
                <a:ea typeface="宋体" panose="02010600030101010101" pitchFamily="2" charset="-122"/>
              </a:rPr>
              <a:t>的，缓冲区由</a:t>
            </a:r>
            <a:r>
              <a:rPr kumimoji="1" lang="en-US" altLang="zh-CN" sz="2400" b="1" dirty="0" err="1">
                <a:ea typeface="宋体" panose="02010600030101010101" pitchFamily="2" charset="-122"/>
              </a:rPr>
              <a:t>streambuf</a:t>
            </a:r>
            <a:r>
              <a:rPr kumimoji="1" lang="zh-CN" altLang="en-US" sz="2400" b="1" dirty="0">
                <a:ea typeface="宋体" panose="02010600030101010101" pitchFamily="2" charset="-122"/>
              </a:rPr>
              <a:t>类对象来管理。而</a:t>
            </a:r>
            <a:r>
              <a:rPr kumimoji="1" lang="en-US" altLang="zh-CN" sz="2400" b="1" dirty="0" err="1">
                <a:ea typeface="宋体" panose="02010600030101010101" pitchFamily="2" charset="-122"/>
              </a:rPr>
              <a:t>cerr</a:t>
            </a:r>
            <a:r>
              <a:rPr kumimoji="1" lang="zh-CN" altLang="en-US" sz="2400" b="1" dirty="0">
                <a:ea typeface="宋体" panose="02010600030101010101" pitchFamily="2" charset="-122"/>
              </a:rPr>
              <a:t>为</a:t>
            </a:r>
            <a:r>
              <a:rPr kumimoji="1" lang="zh-CN" altLang="en-US" sz="2400" b="1" dirty="0">
                <a:solidFill>
                  <a:srgbClr val="0000CC"/>
                </a:solidFill>
                <a:ea typeface="宋体" panose="02010600030101010101" pitchFamily="2" charset="-122"/>
              </a:rPr>
              <a:t>非缓冲区流，一旦错误发生立即显示。</a:t>
            </a:r>
            <a:endParaRPr kumimoji="1" lang="zh-CN" altLang="en-US" sz="2400" b="1" dirty="0">
              <a:solidFill>
                <a:srgbClr val="0000CC"/>
              </a:solidFill>
              <a:ea typeface="宋体" panose="02010600030101010101" pitchFamily="2" charset="-122"/>
            </a:endParaRPr>
          </a:p>
          <a:p>
            <a:pPr algn="l"/>
            <a:r>
              <a:rPr kumimoji="1" lang="zh-CN" altLang="en-US" sz="2400" b="1" dirty="0">
                <a:ea typeface="宋体" panose="02010600030101010101" pitchFamily="2" charset="-122"/>
              </a:rPr>
              <a:t>       </a:t>
            </a:r>
            <a:r>
              <a:rPr kumimoji="1" lang="zh-CN" altLang="en-US" sz="2400" b="1" dirty="0">
                <a:latin typeface="幼圆" panose="02010509060101010101" pitchFamily="49" charset="-122"/>
              </a:rPr>
              <a:t>要使用这四个对象，必须包含</a:t>
            </a:r>
            <a:r>
              <a:rPr kumimoji="1" lang="en-US" altLang="zh-CN" sz="2400" b="1" dirty="0">
                <a:solidFill>
                  <a:srgbClr val="FF0000"/>
                </a:solidFill>
                <a:latin typeface="幼圆" panose="02010509060101010101" pitchFamily="49" charset="-122"/>
              </a:rPr>
              <a:t>&lt;iostream&gt;</a:t>
            </a:r>
            <a:r>
              <a:rPr kumimoji="1" lang="zh-CN" altLang="en-US" sz="2400" b="1" dirty="0">
                <a:latin typeface="幼圆" panose="02010509060101010101" pitchFamily="49" charset="-122"/>
              </a:rPr>
              <a:t>文件。 </a:t>
            </a:r>
            <a:endParaRPr kumimoji="1" lang="zh-CN" altLang="en-US" sz="2400" b="1" dirty="0">
              <a:latin typeface="幼圆" panose="02010509060101010101" pitchFamily="49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6176" y="978727"/>
            <a:ext cx="8296977" cy="290394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83" y="4091114"/>
            <a:ext cx="6134415" cy="206385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176" y="168373"/>
            <a:ext cx="7979344" cy="64009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607419" y="1412876"/>
            <a:ext cx="928837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zh-CN" altLang="en-US" sz="2400" b="1" dirty="0"/>
              <a:t>重载的</a:t>
            </a:r>
            <a:r>
              <a:rPr kumimoji="1"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提取运算符“</a:t>
            </a:r>
            <a:r>
              <a:rPr kumimoji="1"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&gt;&gt;”</a:t>
            </a:r>
            <a:r>
              <a:rPr kumimoji="1" lang="zh-CN" altLang="en-US" sz="2400" b="1" dirty="0">
                <a:ea typeface="宋体" panose="02010600030101010101" pitchFamily="2" charset="-122"/>
              </a:rPr>
              <a:t>（</a:t>
            </a:r>
            <a:r>
              <a:rPr kumimoji="1" lang="en-US" altLang="zh-CN" sz="2400" b="1" dirty="0" err="1">
                <a:ea typeface="宋体" panose="02010600030101010101" pitchFamily="2" charset="-122"/>
              </a:rPr>
              <a:t>stream_extraction</a:t>
            </a:r>
            <a:r>
              <a:rPr kumimoji="1" lang="en-US" altLang="zh-CN" sz="2400" b="1" dirty="0">
                <a:ea typeface="宋体" panose="02010600030101010101" pitchFamily="2" charset="-122"/>
              </a:rPr>
              <a:t> operator</a:t>
            </a:r>
            <a:r>
              <a:rPr kumimoji="1" lang="zh-CN" altLang="en-US" sz="2400" b="1" dirty="0">
                <a:ea typeface="宋体" panose="02010600030101010101" pitchFamily="2" charset="-122"/>
              </a:rPr>
              <a:t>）和</a:t>
            </a:r>
            <a:r>
              <a:rPr kumimoji="1"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插入运算符“</a:t>
            </a:r>
            <a:r>
              <a:rPr kumimoji="1"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&lt;&lt;”</a:t>
            </a:r>
            <a:r>
              <a:rPr kumimoji="1" lang="zh-CN" altLang="en-US" sz="2400" b="1" dirty="0">
                <a:ea typeface="宋体" panose="02010600030101010101" pitchFamily="2" charset="-122"/>
              </a:rPr>
              <a:t>（</a:t>
            </a:r>
            <a:r>
              <a:rPr kumimoji="1" lang="en-US" altLang="zh-CN" sz="2400" b="1" dirty="0" err="1">
                <a:ea typeface="宋体" panose="02010600030101010101" pitchFamily="2" charset="-122"/>
              </a:rPr>
              <a:t>stream_insertion</a:t>
            </a:r>
            <a:r>
              <a:rPr kumimoji="1" lang="en-US" altLang="zh-CN" sz="2400" b="1" dirty="0">
                <a:ea typeface="宋体" panose="02010600030101010101" pitchFamily="2" charset="-122"/>
              </a:rPr>
              <a:t> operator</a:t>
            </a:r>
            <a:r>
              <a:rPr kumimoji="1" lang="zh-CN" altLang="en-US" sz="2400" b="1" dirty="0">
                <a:ea typeface="宋体" panose="02010600030101010101" pitchFamily="2" charset="-122"/>
              </a:rPr>
              <a:t>），执行输入</a:t>
            </a:r>
            <a:r>
              <a:rPr kumimoji="1" lang="en-US" altLang="zh-CN" sz="2400" b="1" dirty="0">
                <a:ea typeface="宋体" panose="02010600030101010101" pitchFamily="2" charset="-122"/>
              </a:rPr>
              <a:t>/</a:t>
            </a:r>
            <a:r>
              <a:rPr kumimoji="1" lang="zh-CN" altLang="en-US" sz="2400" b="1" dirty="0">
                <a:ea typeface="宋体" panose="02010600030101010101" pitchFamily="2" charset="-122"/>
              </a:rPr>
              <a:t>输出操作。</a:t>
            </a:r>
            <a:endParaRPr kumimoji="1" lang="zh-CN" altLang="en-US" sz="2400" b="1" dirty="0">
              <a:ea typeface="宋体" panose="02010600030101010101" pitchFamily="2" charset="-122"/>
            </a:endParaRPr>
          </a:p>
          <a:p>
            <a:pPr algn="l"/>
            <a:r>
              <a:rPr kumimoji="1" lang="zh-CN" altLang="en-US" sz="2400" b="1" dirty="0">
                <a:ea typeface="宋体" panose="02010600030101010101" pitchFamily="2" charset="-122"/>
              </a:rPr>
              <a:t>      </a:t>
            </a:r>
            <a:r>
              <a:rPr kumimoji="1" lang="zh-CN" altLang="en-US" sz="2400" b="1" dirty="0">
                <a:solidFill>
                  <a:srgbClr val="006600"/>
                </a:solidFill>
                <a:ea typeface="宋体" panose="02010600030101010101" pitchFamily="2" charset="-122"/>
              </a:rPr>
              <a:t>“提取”的含义是指输入操作，可看作从流中提取一个字符序列。</a:t>
            </a:r>
            <a:endParaRPr kumimoji="1" lang="zh-CN" altLang="en-US" sz="2400" b="1" dirty="0">
              <a:solidFill>
                <a:srgbClr val="006600"/>
              </a:solidFill>
              <a:ea typeface="宋体" panose="02010600030101010101" pitchFamily="2" charset="-122"/>
            </a:endParaRPr>
          </a:p>
          <a:p>
            <a:pPr algn="l"/>
            <a:r>
              <a:rPr kumimoji="1" lang="zh-CN" altLang="en-US" sz="2400" b="1" dirty="0">
                <a:ea typeface="宋体" panose="02010600030101010101" pitchFamily="2" charset="-122"/>
              </a:rPr>
              <a:t>      </a:t>
            </a:r>
            <a:r>
              <a:rPr kumimoji="1" lang="zh-CN" altLang="en-US" sz="2400" b="1" dirty="0">
                <a:solidFill>
                  <a:srgbClr val="006600"/>
                </a:solidFill>
                <a:ea typeface="宋体" panose="02010600030101010101" pitchFamily="2" charset="-122"/>
              </a:rPr>
              <a:t>“插入”的含义是指输出操作，可看作向流中插入一个字符序列</a:t>
            </a:r>
            <a:r>
              <a:rPr kumimoji="1" lang="zh-CN" altLang="en-US" sz="2400" b="1" dirty="0">
                <a:ea typeface="宋体" panose="02010600030101010101" pitchFamily="2" charset="-122"/>
              </a:rPr>
              <a:t>。</a:t>
            </a:r>
            <a:endParaRPr kumimoji="1" lang="zh-CN" altLang="en-US" sz="2400" b="1" dirty="0">
              <a:ea typeface="宋体" panose="02010600030101010101" pitchFamily="2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en-US" altLang="zh-CN" sz="2400" b="1" dirty="0" err="1">
                <a:ea typeface="宋体" panose="02010600030101010101" pitchFamily="2" charset="-122"/>
              </a:rPr>
              <a:t>cin</a:t>
            </a:r>
            <a:r>
              <a:rPr kumimoji="1" lang="zh-CN" altLang="en-US" sz="2400" b="1" dirty="0">
                <a:ea typeface="宋体" panose="02010600030101010101" pitchFamily="2" charset="-122"/>
              </a:rPr>
              <a:t>使用提取运算符。 	</a:t>
            </a:r>
            <a:endParaRPr kumimoji="1" lang="zh-CN" altLang="en-US" sz="2400" b="1" dirty="0">
              <a:ea typeface="宋体" panose="02010600030101010101" pitchFamily="2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en-US" altLang="zh-CN" sz="2400" b="1" dirty="0" err="1">
                <a:ea typeface="宋体" panose="02010600030101010101" pitchFamily="2" charset="-122"/>
              </a:rPr>
              <a:t>cout</a:t>
            </a:r>
            <a:r>
              <a:rPr kumimoji="1" lang="zh-CN" altLang="en-US" sz="2400" b="1" dirty="0">
                <a:ea typeface="宋体" panose="02010600030101010101" pitchFamily="2" charset="-122"/>
              </a:rPr>
              <a:t>、</a:t>
            </a:r>
            <a:r>
              <a:rPr kumimoji="1" lang="en-US" altLang="zh-CN" sz="2400" b="1" dirty="0" err="1">
                <a:ea typeface="宋体" panose="02010600030101010101" pitchFamily="2" charset="-122"/>
              </a:rPr>
              <a:t>cerr</a:t>
            </a:r>
            <a:r>
              <a:rPr kumimoji="1" lang="zh-CN" altLang="en-US" sz="2400" b="1" dirty="0">
                <a:ea typeface="宋体" panose="02010600030101010101" pitchFamily="2" charset="-122"/>
              </a:rPr>
              <a:t>和</a:t>
            </a:r>
            <a:r>
              <a:rPr kumimoji="1" lang="en-US" altLang="zh-CN" sz="2400" b="1" dirty="0">
                <a:ea typeface="宋体" panose="02010600030101010101" pitchFamily="2" charset="-122"/>
              </a:rPr>
              <a:t>clog</a:t>
            </a:r>
            <a:r>
              <a:rPr kumimoji="1" lang="zh-CN" altLang="en-US" sz="2400" b="1" dirty="0">
                <a:ea typeface="宋体" panose="02010600030101010101" pitchFamily="2" charset="-122"/>
              </a:rPr>
              <a:t>使用插入运算符。</a:t>
            </a:r>
            <a:endParaRPr kumimoji="1" lang="zh-CN" altLang="en-US" sz="2400" b="1" dirty="0">
              <a:ea typeface="宋体" panose="02010600030101010101" pitchFamily="2" charset="-122"/>
            </a:endParaRPr>
          </a:p>
        </p:txBody>
      </p:sp>
      <p:sp>
        <p:nvSpPr>
          <p:cNvPr id="24587" name="Rectangle 1035"/>
          <p:cNvSpPr>
            <a:spLocks noChangeArrowheads="1"/>
          </p:cNvSpPr>
          <p:nvPr/>
        </p:nvSpPr>
        <p:spPr bwMode="auto">
          <a:xfrm>
            <a:off x="1784450" y="701943"/>
            <a:ext cx="41520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6600"/>
                </a:solidFill>
                <a:ea typeface="隶书" panose="02010509060101010101" pitchFamily="49" charset="-122"/>
              </a:rPr>
              <a:t>提取运算符和插入运算符</a:t>
            </a:r>
            <a:endParaRPr kumimoji="1" lang="zh-CN" altLang="en-US" sz="2800" b="1" dirty="0">
              <a:solidFill>
                <a:srgbClr val="006600"/>
              </a:solidFill>
              <a:ea typeface="隶书" panose="020105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872" y="4168120"/>
            <a:ext cx="5772447" cy="206385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830455" y="4090532"/>
            <a:ext cx="2722208" cy="2554545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0000"/>
                </a:solidFill>
                <a:latin typeface="MicrosoftYaHei"/>
              </a:rPr>
              <a:t>缓冲区刷新完成后，原来的数据被清空。</a:t>
            </a:r>
            <a:endParaRPr lang="en-US" altLang="zh-CN" sz="2000" b="1" dirty="0">
              <a:solidFill>
                <a:srgbClr val="000000"/>
              </a:solidFill>
              <a:latin typeface="MicrosoftYaHe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solidFill>
                <a:srgbClr val="000000"/>
              </a:solidFill>
              <a:latin typeface="MicrosoftYaHe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0000"/>
                </a:solidFill>
                <a:latin typeface="MicrosoftYaHei"/>
              </a:rPr>
              <a:t>缓冲区刷新有很多原因，比如</a:t>
            </a:r>
            <a:r>
              <a:rPr lang="zh-CN" altLang="en-US" sz="2000" b="1" dirty="0">
                <a:solidFill>
                  <a:srgbClr val="FF0000"/>
                </a:solidFill>
                <a:latin typeface="MicrosoftYaHei"/>
              </a:rPr>
              <a:t>缓冲区满、程序正常结束、执行</a:t>
            </a:r>
            <a:r>
              <a:rPr lang="en-US" altLang="zh-CN" sz="2000" b="1" dirty="0">
                <a:solidFill>
                  <a:srgbClr val="FF0000"/>
                </a:solidFill>
                <a:latin typeface="MicrosoftYaHei"/>
              </a:rPr>
              <a:t>flush</a:t>
            </a:r>
            <a:r>
              <a:rPr lang="zh-CN" altLang="en-US" sz="2000" b="1" dirty="0">
                <a:solidFill>
                  <a:srgbClr val="FF0000"/>
                </a:solidFill>
                <a:latin typeface="MicrosoftYaHei"/>
              </a:rPr>
              <a:t>、遇到</a:t>
            </a:r>
            <a:r>
              <a:rPr lang="en-US" altLang="zh-CN" sz="2000" b="1" dirty="0" err="1">
                <a:solidFill>
                  <a:srgbClr val="FF0000"/>
                </a:solidFill>
                <a:latin typeface="LMSans10-Regular-Identity-H"/>
              </a:rPr>
              <a:t>endl</a:t>
            </a:r>
            <a:r>
              <a:rPr lang="en-US" altLang="zh-CN" sz="2000" b="1" dirty="0">
                <a:solidFill>
                  <a:srgbClr val="FF0000"/>
                </a:solidFill>
                <a:latin typeface="LMSans10-Regular-Identity-H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MicrosoftYaHei"/>
              </a:rPr>
              <a:t>等</a:t>
            </a:r>
            <a:r>
              <a:rPr lang="zh-CN" altLang="en-US" sz="2000" b="1" dirty="0">
                <a:solidFill>
                  <a:srgbClr val="000000"/>
                </a:solidFill>
                <a:latin typeface="MicrosoftYaHei"/>
              </a:rPr>
              <a:t>。</a:t>
            </a:r>
            <a:endParaRPr lang="zh-CN" altLang="en-US" sz="2000" b="1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7" name="Rectangle 1035"/>
          <p:cNvSpPr>
            <a:spLocks noChangeArrowheads="1"/>
          </p:cNvSpPr>
          <p:nvPr/>
        </p:nvSpPr>
        <p:spPr bwMode="auto">
          <a:xfrm>
            <a:off x="1784450" y="701943"/>
            <a:ext cx="35573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dirty="0" err="1">
                <a:solidFill>
                  <a:srgbClr val="006600"/>
                </a:solidFill>
                <a:ea typeface="隶书" panose="02010509060101010101" pitchFamily="49" charset="-122"/>
              </a:rPr>
              <a:t>istream</a:t>
            </a:r>
            <a:r>
              <a:rPr kumimoji="1" lang="zh-CN" altLang="en-US" sz="2800" b="1" dirty="0">
                <a:solidFill>
                  <a:srgbClr val="006600"/>
                </a:solidFill>
                <a:ea typeface="隶书" panose="02010509060101010101" pitchFamily="49" charset="-122"/>
              </a:rPr>
              <a:t>类的成员函数</a:t>
            </a:r>
            <a:endParaRPr kumimoji="1" lang="zh-CN" altLang="en-US" sz="2800" b="1" dirty="0">
              <a:solidFill>
                <a:srgbClr val="006600"/>
              </a:solidFill>
              <a:ea typeface="隶书" panose="02010509060101010101" pitchFamily="49" charset="-122"/>
            </a:endParaRPr>
          </a:p>
        </p:txBody>
      </p:sp>
      <p:sp>
        <p:nvSpPr>
          <p:cNvPr id="14" name="Rectangle 1035"/>
          <p:cNvSpPr>
            <a:spLocks noChangeArrowheads="1"/>
          </p:cNvSpPr>
          <p:nvPr/>
        </p:nvSpPr>
        <p:spPr bwMode="auto">
          <a:xfrm>
            <a:off x="794893" y="2404995"/>
            <a:ext cx="871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rgbClr val="006600"/>
                </a:solidFill>
                <a:ea typeface="隶书" panose="02010509060101010101" pitchFamily="49" charset="-122"/>
              </a:rPr>
              <a:t>例：</a:t>
            </a:r>
            <a:endParaRPr kumimoji="1" lang="zh-CN" altLang="en-US" sz="2400" dirty="0">
              <a:solidFill>
                <a:srgbClr val="006600"/>
              </a:solidFill>
              <a:ea typeface="隶书" panose="020105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680" y="1566996"/>
            <a:ext cx="5455906" cy="1764550"/>
          </a:xfrm>
          <a:prstGeom prst="rect">
            <a:avLst/>
          </a:prstGeom>
          <a:solidFill>
            <a:srgbClr val="FDFCFF">
              <a:alpha val="64000"/>
            </a:srgbClr>
          </a:solidFill>
        </p:spPr>
      </p:pic>
      <p:sp>
        <p:nvSpPr>
          <p:cNvPr id="2" name="矩形 1"/>
          <p:cNvSpPr/>
          <p:nvPr/>
        </p:nvSpPr>
        <p:spPr>
          <a:xfrm>
            <a:off x="6569983" y="1459641"/>
            <a:ext cx="5367157" cy="19042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94893" y="1461136"/>
            <a:ext cx="5048715" cy="707886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LMMono9-Regular-Identity-H"/>
              </a:rPr>
              <a:t>get()</a:t>
            </a:r>
            <a:r>
              <a:rPr lang="zh-CN" altLang="en-US" sz="2000" dirty="0">
                <a:solidFill>
                  <a:srgbClr val="000000"/>
                </a:solidFill>
                <a:latin typeface="LMMono9-Regular-Identity-H"/>
              </a:rPr>
              <a:t>可以从输入流中获取一个字符，并将其返回。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75412" y="2989692"/>
            <a:ext cx="6094140" cy="1696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LMMono9-Regular-Identity-H"/>
              </a:rPr>
              <a:t>for</a:t>
            </a:r>
            <a:r>
              <a:rPr lang="en-US" altLang="zh-CN" sz="2400" dirty="0">
                <a:solidFill>
                  <a:srgbClr val="000000"/>
                </a:solidFill>
                <a:latin typeface="LMMono9-Regular-Identity-H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LMMono9-Regular-Identity-H"/>
              </a:rPr>
              <a:t>char </a:t>
            </a:r>
            <a:r>
              <a:rPr lang="en-US" altLang="zh-CN" sz="2400" dirty="0">
                <a:solidFill>
                  <a:srgbClr val="000000"/>
                </a:solidFill>
                <a:latin typeface="LMMono9-Regular-Identity-H"/>
              </a:rPr>
              <a:t>c;(c=</a:t>
            </a:r>
            <a:r>
              <a:rPr lang="en-US" altLang="zh-CN" sz="2400" dirty="0" err="1">
                <a:solidFill>
                  <a:srgbClr val="000000"/>
                </a:solidFill>
                <a:latin typeface="LMMono9-Regular-Identity-H"/>
              </a:rPr>
              <a:t>cin.get</a:t>
            </a:r>
            <a:r>
              <a:rPr lang="en-US" altLang="zh-CN" sz="2400" dirty="0">
                <a:solidFill>
                  <a:srgbClr val="000000"/>
                </a:solidFill>
                <a:latin typeface="LMMono9-Regular-Identity-H"/>
              </a:rPr>
              <a:t>())!=</a:t>
            </a:r>
            <a:r>
              <a:rPr lang="en-US" altLang="zh-CN" sz="2400" dirty="0">
                <a:solidFill>
                  <a:srgbClr val="C08040"/>
                </a:solidFill>
                <a:latin typeface="LMMono9-Regular-Identity-H"/>
              </a:rPr>
              <a:t>'\n'</a:t>
            </a:r>
            <a:r>
              <a:rPr lang="en-US" altLang="zh-CN" sz="2400" dirty="0">
                <a:solidFill>
                  <a:srgbClr val="000000"/>
                </a:solidFill>
                <a:latin typeface="LMMono9-Regular-Identity-H"/>
              </a:rPr>
              <a:t>;)</a:t>
            </a:r>
            <a:endParaRPr lang="en-US" altLang="zh-CN" sz="2400" dirty="0">
              <a:solidFill>
                <a:srgbClr val="000000"/>
              </a:solidFill>
              <a:latin typeface="LMMono9-Regular-Identity-H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LMMono9-Regular-Identity-H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latin typeface="LMMono9-Regular-Identity-H"/>
              </a:rPr>
              <a:t>&lt;&lt;c;</a:t>
            </a:r>
            <a:endParaRPr lang="en-US" altLang="zh-CN" sz="2400" dirty="0">
              <a:solidFill>
                <a:srgbClr val="000000"/>
              </a:solidFill>
              <a:latin typeface="LMMono9-Regular-Identity-H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LMMono9-Regular-Identity-H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latin typeface="LMMono9-Regular-Identity-H"/>
              </a:rPr>
              <a:t>&lt;&lt;</a:t>
            </a:r>
            <a:r>
              <a:rPr lang="en-US" altLang="zh-CN" sz="2400" dirty="0" err="1">
                <a:solidFill>
                  <a:srgbClr val="000000"/>
                </a:solidFill>
                <a:latin typeface="LMMono9-Regular-Identity-H"/>
              </a:rPr>
              <a:t>endl</a:t>
            </a:r>
            <a:r>
              <a:rPr lang="en-US" altLang="zh-CN" sz="2400" dirty="0">
                <a:solidFill>
                  <a:srgbClr val="000000"/>
                </a:solidFill>
                <a:latin typeface="LMMono9-Regular-Identity-H"/>
              </a:rPr>
              <a:t>;</a:t>
            </a:r>
            <a:endParaRPr lang="zh-CN" alt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00" y="4146630"/>
            <a:ext cx="6139940" cy="1904272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5723611" y="4110860"/>
            <a:ext cx="6212827" cy="19042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7" name="Rectangle 1035"/>
          <p:cNvSpPr>
            <a:spLocks noChangeArrowheads="1"/>
          </p:cNvSpPr>
          <p:nvPr/>
        </p:nvSpPr>
        <p:spPr bwMode="auto">
          <a:xfrm>
            <a:off x="1784450" y="701943"/>
            <a:ext cx="35573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dirty="0" err="1">
                <a:solidFill>
                  <a:srgbClr val="006600"/>
                </a:solidFill>
                <a:ea typeface="隶书" panose="02010509060101010101" pitchFamily="49" charset="-122"/>
              </a:rPr>
              <a:t>istream</a:t>
            </a:r>
            <a:r>
              <a:rPr kumimoji="1" lang="zh-CN" altLang="en-US" sz="2800" b="1" dirty="0">
                <a:solidFill>
                  <a:srgbClr val="006600"/>
                </a:solidFill>
                <a:ea typeface="隶书" panose="02010509060101010101" pitchFamily="49" charset="-122"/>
              </a:rPr>
              <a:t>类的成员函数</a:t>
            </a:r>
            <a:endParaRPr kumimoji="1" lang="zh-CN" altLang="en-US" sz="2800" b="1" dirty="0">
              <a:solidFill>
                <a:srgbClr val="006600"/>
              </a:solidFill>
              <a:ea typeface="隶书" panose="020105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9431" y="1352065"/>
            <a:ext cx="7903589" cy="450284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069431" y="1352064"/>
            <a:ext cx="7903588" cy="20073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7" name="Rectangle 1035"/>
          <p:cNvSpPr>
            <a:spLocks noChangeArrowheads="1"/>
          </p:cNvSpPr>
          <p:nvPr/>
        </p:nvSpPr>
        <p:spPr bwMode="auto">
          <a:xfrm>
            <a:off x="1136758" y="416912"/>
            <a:ext cx="36904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dirty="0">
                <a:solidFill>
                  <a:srgbClr val="006600"/>
                </a:solidFill>
                <a:ea typeface="隶书" panose="02010509060101010101" pitchFamily="49" charset="-122"/>
              </a:rPr>
              <a:t>例：</a:t>
            </a:r>
            <a:r>
              <a:rPr kumimoji="1" lang="en-US" altLang="zh-CN" sz="2400" b="1" dirty="0" err="1">
                <a:solidFill>
                  <a:srgbClr val="006600"/>
                </a:solidFill>
                <a:ea typeface="隶书" panose="02010509060101010101" pitchFamily="49" charset="-122"/>
              </a:rPr>
              <a:t>istream</a:t>
            </a:r>
            <a:r>
              <a:rPr kumimoji="1" lang="zh-CN" altLang="en-US" sz="2400" b="1" dirty="0">
                <a:solidFill>
                  <a:srgbClr val="006600"/>
                </a:solidFill>
                <a:ea typeface="隶书" panose="02010509060101010101" pitchFamily="49" charset="-122"/>
              </a:rPr>
              <a:t>类的成员函数</a:t>
            </a:r>
            <a:endParaRPr kumimoji="1" lang="zh-CN" altLang="en-US" sz="2400" b="1" dirty="0">
              <a:solidFill>
                <a:srgbClr val="006600"/>
              </a:solidFill>
              <a:ea typeface="隶书" panose="020105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/>
          <a:srcRect t="1" b="1846"/>
          <a:stretch>
            <a:fillRect/>
          </a:stretch>
        </p:blipFill>
        <p:spPr>
          <a:xfrm>
            <a:off x="1729982" y="923496"/>
            <a:ext cx="4225004" cy="349192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035" y="878576"/>
            <a:ext cx="3427808" cy="35081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248271" y="4908759"/>
            <a:ext cx="67096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solidFill>
                  <a:srgbClr val="006600"/>
                </a:solidFill>
                <a:ea typeface="隶书" panose="02010509060101010101" pitchFamily="49" charset="-122"/>
              </a:rPr>
              <a:t>例：</a:t>
            </a:r>
            <a:endParaRPr kumimoji="1" lang="en-US" altLang="zh-CN" sz="2000" b="1" dirty="0">
              <a:solidFill>
                <a:srgbClr val="006600"/>
              </a:solidFill>
              <a:ea typeface="隶书" panose="02010509060101010101" pitchFamily="49" charset="-122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LMSans10-Regular-Identity-H"/>
              </a:rPr>
              <a:t>普通</a:t>
            </a:r>
            <a:r>
              <a:rPr lang="en-US" altLang="zh-CN" sz="2000" dirty="0" err="1">
                <a:solidFill>
                  <a:srgbClr val="000000"/>
                </a:solidFill>
                <a:latin typeface="LMSans10-Regular-Identity-H"/>
              </a:rPr>
              <a:t>getline</a:t>
            </a:r>
            <a:r>
              <a:rPr lang="zh-CN" altLang="en-US" sz="2000" dirty="0">
                <a:solidFill>
                  <a:srgbClr val="000000"/>
                </a:solidFill>
                <a:latin typeface="MicrosoftYaHei"/>
              </a:rPr>
              <a:t>函数以</a:t>
            </a:r>
            <a:r>
              <a:rPr lang="zh-CN" altLang="en-US" sz="2000" dirty="0">
                <a:solidFill>
                  <a:srgbClr val="FF0000"/>
                </a:solidFill>
                <a:latin typeface="MicrosoftYaHei"/>
              </a:rPr>
              <a:t>回车符</a:t>
            </a:r>
            <a:r>
              <a:rPr lang="zh-CN" altLang="en-US" sz="2000" dirty="0">
                <a:solidFill>
                  <a:srgbClr val="000000"/>
                </a:solidFill>
                <a:latin typeface="MicrosoftYaHei"/>
              </a:rPr>
              <a:t>作为输入结束的标志符，把从输入流</a:t>
            </a:r>
            <a:r>
              <a:rPr lang="en-US" altLang="zh-CN" sz="2000" dirty="0" err="1">
                <a:solidFill>
                  <a:srgbClr val="000000"/>
                </a:solidFill>
                <a:latin typeface="LMSans10-Regular-Identity-H"/>
              </a:rPr>
              <a:t>cin</a:t>
            </a:r>
            <a:r>
              <a:rPr lang="zh-CN" altLang="en-US" sz="2000" dirty="0">
                <a:solidFill>
                  <a:srgbClr val="000000"/>
                </a:solidFill>
                <a:latin typeface="MicrosoftYaHei"/>
              </a:rPr>
              <a:t>中提取的字符序列（不包括回车符）放到</a:t>
            </a:r>
            <a:r>
              <a:rPr lang="en-US" altLang="zh-CN" sz="2000" dirty="0">
                <a:solidFill>
                  <a:srgbClr val="000000"/>
                </a:solidFill>
                <a:latin typeface="LMSans10-Regular-Identity-H"/>
              </a:rPr>
              <a:t>string</a:t>
            </a:r>
            <a:r>
              <a:rPr lang="zh-CN" altLang="en-US" sz="2000" dirty="0">
                <a:solidFill>
                  <a:srgbClr val="000000"/>
                </a:solidFill>
                <a:latin typeface="MicrosoftYaHei"/>
              </a:rPr>
              <a:t>类对象</a:t>
            </a:r>
            <a:r>
              <a:rPr lang="en-US" altLang="zh-CN" sz="2000" dirty="0">
                <a:solidFill>
                  <a:srgbClr val="000000"/>
                </a:solidFill>
                <a:latin typeface="LMSans10-Regular-Identity-H"/>
              </a:rPr>
              <a:t>s</a:t>
            </a:r>
            <a:r>
              <a:rPr lang="zh-CN" altLang="en-US" sz="2000" dirty="0">
                <a:solidFill>
                  <a:srgbClr val="000000"/>
                </a:solidFill>
                <a:latin typeface="MicrosoftYaHei"/>
              </a:rPr>
              <a:t>中，并返回</a:t>
            </a:r>
            <a:r>
              <a:rPr lang="en-US" altLang="zh-CN" sz="2000" dirty="0" err="1">
                <a:solidFill>
                  <a:srgbClr val="000000"/>
                </a:solidFill>
                <a:latin typeface="LMSans10-Regular-Identity-H"/>
              </a:rPr>
              <a:t>cin</a:t>
            </a:r>
            <a:r>
              <a:rPr lang="zh-CN" altLang="en-US" sz="2000" dirty="0">
                <a:solidFill>
                  <a:srgbClr val="000000"/>
                </a:solidFill>
                <a:latin typeface="MicrosoftYaHei"/>
              </a:rPr>
              <a:t>的引用。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263581" y="5180144"/>
            <a:ext cx="3144537" cy="133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 &lt;string&gt;</a:t>
            </a:r>
            <a:endParaRPr lang="en-US" altLang="zh-CN" dirty="0">
              <a:solidFill>
                <a:srgbClr val="008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 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s;</a:t>
            </a: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getline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cin,s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793230" y="3273425"/>
            <a:ext cx="914400" cy="3111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1774822" y="1990941"/>
            <a:ext cx="8569325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000" b="1" dirty="0" err="1">
                <a:solidFill>
                  <a:srgbClr val="3333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enum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{</a:t>
            </a:r>
            <a:endParaRPr kumimoji="1" lang="en-US" altLang="zh-CN" sz="20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kumimoji="1" lang="en-US" altLang="zh-CN" b="1" dirty="0" err="1">
                <a:latin typeface="Tahoma" panose="020B0604030504040204" pitchFamily="34" charset="0"/>
                <a:ea typeface="宋体" panose="02010600030101010101" pitchFamily="2" charset="-122"/>
              </a:rPr>
              <a:t>skipws</a:t>
            </a:r>
            <a:r>
              <a:rPr kumimoji="1"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=0x0001,	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跳过输入中的空白字符</a:t>
            </a:r>
            <a:endParaRPr kumimoji="1" lang="zh-CN" altLang="en-US" b="1" dirty="0">
              <a:solidFill>
                <a:srgbClr val="00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kumimoji="1"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left=0x0002, 		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输出左对齐</a:t>
            </a:r>
            <a:endParaRPr kumimoji="1" lang="zh-CN" altLang="en-US" b="1" dirty="0">
              <a:solidFill>
                <a:srgbClr val="00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kumimoji="1"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right=0x0004,		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输出右对齐</a:t>
            </a:r>
            <a:endParaRPr kumimoji="1" lang="zh-CN" altLang="en-US" b="1" dirty="0">
              <a:solidFill>
                <a:srgbClr val="00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kumimoji="1"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internal=0x0008,	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在输出符号或数制字符后填充</a:t>
            </a:r>
            <a:endParaRPr kumimoji="1" lang="zh-CN" altLang="en-US" b="1" dirty="0">
              <a:solidFill>
                <a:srgbClr val="00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kumimoji="1"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dec=0x0010,	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在输入输出时将数据按十进制处理</a:t>
            </a:r>
            <a:endParaRPr kumimoji="1" lang="zh-CN" altLang="en-US" b="1" dirty="0">
              <a:solidFill>
                <a:srgbClr val="00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kumimoji="1"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oct=0x0020,	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在输入输出时将数据按八进制处理</a:t>
            </a:r>
            <a:endParaRPr kumimoji="1" lang="zh-CN" altLang="en-US" b="1" dirty="0">
              <a:solidFill>
                <a:srgbClr val="00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kumimoji="1"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hex=0x0040,	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在输入输出时将数据按十六进制处理</a:t>
            </a:r>
            <a:endParaRPr kumimoji="1" lang="zh-CN" altLang="en-US" b="1" dirty="0">
              <a:solidFill>
                <a:srgbClr val="00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zh-CN" altLang="en-US" sz="2000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kumimoji="1" lang="en-US" altLang="zh-CN" sz="2000" b="1" dirty="0" err="1">
                <a:latin typeface="Tahoma" panose="020B0604030504040204" pitchFamily="34" charset="0"/>
                <a:ea typeface="宋体" panose="02010600030101010101" pitchFamily="2" charset="-122"/>
              </a:rPr>
              <a:t>showbase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=0x0080,	</a:t>
            </a:r>
            <a:r>
              <a:rPr kumimoji="1" lang="en-US" altLang="zh-CN" sz="2000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sz="2000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在输出时带有表示数制基的字符</a:t>
            </a:r>
            <a:endParaRPr kumimoji="1" lang="en-US" altLang="zh-CN" sz="2000" b="1" dirty="0">
              <a:solidFill>
                <a:srgbClr val="0066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kumimoji="1"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kumimoji="1" lang="en-US" altLang="zh-CN" b="1" dirty="0" err="1">
                <a:latin typeface="Tahoma" panose="020B0604030504040204" pitchFamily="34" charset="0"/>
                <a:ea typeface="宋体" panose="02010600030101010101" pitchFamily="2" charset="-122"/>
              </a:rPr>
              <a:t>showpoint</a:t>
            </a:r>
            <a:r>
              <a:rPr kumimoji="1"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=0x0100,       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输出浮点数时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,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必定带小数点</a:t>
            </a:r>
            <a:endParaRPr kumimoji="1" lang="zh-CN" altLang="en-US" b="1" dirty="0">
              <a:solidFill>
                <a:srgbClr val="00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kumimoji="1"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uppercase=0x0200,	   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输出十六进制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,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用大写</a:t>
            </a:r>
            <a:endParaRPr kumimoji="1" lang="zh-CN" altLang="en-US" b="1" dirty="0">
              <a:solidFill>
                <a:srgbClr val="00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kumimoji="1" lang="en-US" altLang="zh-CN" b="1" dirty="0" err="1">
                <a:latin typeface="Tahoma" panose="020B0604030504040204" pitchFamily="34" charset="0"/>
                <a:ea typeface="宋体" panose="02010600030101010101" pitchFamily="2" charset="-122"/>
              </a:rPr>
              <a:t>showpos</a:t>
            </a:r>
            <a:r>
              <a:rPr kumimoji="1"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=0x0400,		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输出正数时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,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加”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+</a:t>
            </a:r>
            <a:r>
              <a:rPr kumimoji="1" lang="en-US" altLang="zh-CN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号</a:t>
            </a:r>
            <a:endParaRPr kumimoji="1" lang="zh-CN" altLang="en-US" b="1" dirty="0">
              <a:solidFill>
                <a:srgbClr val="00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kumimoji="1"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scientific=0x0800,		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科学数方式输出浮点数</a:t>
            </a:r>
            <a:endParaRPr kumimoji="1" lang="zh-CN" altLang="en-US" b="1" dirty="0">
              <a:solidFill>
                <a:srgbClr val="00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kumimoji="1"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fixed=0x1000,		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定点数方式输出实数</a:t>
            </a:r>
            <a:endParaRPr kumimoji="1" lang="zh-CN" altLang="en-US" b="1" dirty="0">
              <a:solidFill>
                <a:srgbClr val="00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kumimoji="1" lang="en-US" altLang="zh-CN" b="1" dirty="0" err="1">
                <a:latin typeface="Tahoma" panose="020B0604030504040204" pitchFamily="34" charset="0"/>
                <a:ea typeface="宋体" panose="02010600030101010101" pitchFamily="2" charset="-122"/>
              </a:rPr>
              <a:t>unitbuf</a:t>
            </a:r>
            <a:r>
              <a:rPr kumimoji="1"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=0x2000,		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插入后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,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立即刷新流</a:t>
            </a:r>
            <a:endParaRPr kumimoji="1" lang="zh-CN" altLang="en-US" b="1" dirty="0">
              <a:solidFill>
                <a:srgbClr val="00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kumimoji="1" lang="en-US" altLang="zh-CN" b="1" dirty="0" err="1">
                <a:latin typeface="Tahoma" panose="020B0604030504040204" pitchFamily="34" charset="0"/>
                <a:ea typeface="宋体" panose="02010600030101010101" pitchFamily="2" charset="-122"/>
              </a:rPr>
              <a:t>stdio</a:t>
            </a:r>
            <a:r>
              <a:rPr kumimoji="1" lang="en-US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=0x4000}	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插入后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,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立即刷新</a:t>
            </a:r>
            <a:r>
              <a:rPr kumimoji="1" lang="en-US" altLang="zh-CN" b="1" dirty="0" err="1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stdout</a:t>
            </a:r>
            <a:r>
              <a:rPr kumimoji="1"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stderr</a:t>
            </a:r>
            <a:r>
              <a:rPr kumimoji="1"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endParaRPr kumimoji="1" lang="zh-CN" altLang="en-US" b="1" dirty="0">
              <a:solidFill>
                <a:srgbClr val="0033CC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1774822" y="852168"/>
            <a:ext cx="9246101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2800" b="1" dirty="0">
                <a:solidFill>
                  <a:srgbClr val="006600"/>
                </a:solidFill>
                <a:ea typeface="隶书" panose="02010509060101010101" pitchFamily="49" charset="-122"/>
              </a:rPr>
              <a:t>输入</a:t>
            </a:r>
            <a:r>
              <a:rPr kumimoji="1" lang="en-US" altLang="zh-CN" sz="2800" b="1" dirty="0">
                <a:solidFill>
                  <a:srgbClr val="006600"/>
                </a:solidFill>
                <a:ea typeface="隶书" panose="02010509060101010101" pitchFamily="49" charset="-122"/>
              </a:rPr>
              <a:t>/</a:t>
            </a:r>
            <a:r>
              <a:rPr kumimoji="1" lang="zh-CN" altLang="en-US" sz="2800" b="1" dirty="0">
                <a:solidFill>
                  <a:srgbClr val="006600"/>
                </a:solidFill>
                <a:ea typeface="隶书" panose="02010509060101010101" pitchFamily="49" charset="-122"/>
              </a:rPr>
              <a:t>输出格式控制</a:t>
            </a:r>
            <a:endParaRPr kumimoji="1" lang="zh-CN" altLang="en-US" sz="2800" b="1" dirty="0">
              <a:solidFill>
                <a:srgbClr val="006600"/>
              </a:solidFill>
              <a:ea typeface="隶书" panose="020105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C++</a:t>
            </a:r>
            <a:r>
              <a:rPr kumimoji="1" lang="zh-CN" altLang="en-US" sz="2000" dirty="0"/>
              <a:t>在类</a:t>
            </a:r>
            <a:r>
              <a:rPr kumimoji="1" lang="en-US" altLang="zh-CN" sz="2000" b="1" dirty="0" err="1">
                <a:solidFill>
                  <a:srgbClr val="0066FF"/>
                </a:solidFill>
              </a:rPr>
              <a:t>ios</a:t>
            </a:r>
            <a:r>
              <a:rPr kumimoji="1" lang="zh-CN" altLang="en-US" sz="2000" dirty="0"/>
              <a:t>中提供的格式化输入输出控制符。</a:t>
            </a:r>
            <a:endParaRPr kumimoji="1" lang="en-US" altLang="zh-CN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FF0000"/>
                </a:solidFill>
              </a:rPr>
              <a:t>格式控制符被定义为公有的无名的枚举类型</a:t>
            </a:r>
            <a:r>
              <a:rPr kumimoji="1" lang="zh-CN" altLang="en-US" sz="2000" dirty="0">
                <a:solidFill>
                  <a:srgbClr val="3333FF"/>
                </a:solidFill>
              </a:rPr>
              <a:t>：</a:t>
            </a:r>
            <a:endParaRPr kumimoji="1" lang="zh-CN" altLang="en-US" sz="2000" dirty="0">
              <a:solidFill>
                <a:srgbClr val="3333FF"/>
              </a:solidFill>
            </a:endParaRPr>
          </a:p>
        </p:txBody>
      </p:sp>
      <p:sp>
        <p:nvSpPr>
          <p:cNvPr id="11" name="Rectangle 2"/>
          <p:cNvSpPr txBox="1">
            <a:spLocks noRot="1" noChangeArrowheads="1"/>
          </p:cNvSpPr>
          <p:nvPr/>
        </p:nvSpPr>
        <p:spPr>
          <a:xfrm>
            <a:off x="1495700" y="92369"/>
            <a:ext cx="9525223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10.3 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输入</a:t>
            </a:r>
            <a:r>
              <a:rPr lang="en-US" altLang="zh-CN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输出格式控制（了解）</a:t>
            </a:r>
            <a:endParaRPr lang="zh-CN" altLang="en-US" sz="4000" b="1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7" name="Text Box 3"/>
          <p:cNvSpPr txBox="1">
            <a:spLocks noChangeArrowheads="1"/>
          </p:cNvSpPr>
          <p:nvPr/>
        </p:nvSpPr>
        <p:spPr bwMode="auto">
          <a:xfrm>
            <a:off x="1703389" y="1052513"/>
            <a:ext cx="85693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endParaRPr kumimoji="1" lang="en-US" altLang="zh-CN" sz="2000" b="1" dirty="0">
              <a:solidFill>
                <a:srgbClr val="00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9752" name="Rectangle 8"/>
          <p:cNvSpPr>
            <a:spLocks noChangeArrowheads="1"/>
          </p:cNvSpPr>
          <p:nvPr/>
        </p:nvSpPr>
        <p:spPr bwMode="auto">
          <a:xfrm>
            <a:off x="1472665" y="588425"/>
            <a:ext cx="984664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2000" dirty="0"/>
              <a:t>该枚举量说明中</a:t>
            </a:r>
            <a:r>
              <a:rPr kumimoji="1" lang="zh-CN" altLang="en-US" sz="2000" dirty="0">
                <a:solidFill>
                  <a:srgbClr val="FF0000"/>
                </a:solidFill>
              </a:rPr>
              <a:t>每一个枚举量实际对应两字节数据（</a:t>
            </a:r>
            <a:r>
              <a:rPr kumimoji="1" lang="en-US" altLang="zh-CN" sz="2000" dirty="0">
                <a:solidFill>
                  <a:srgbClr val="FF0000"/>
                </a:solidFill>
              </a:rPr>
              <a:t>16</a:t>
            </a:r>
            <a:r>
              <a:rPr kumimoji="1" lang="zh-CN" altLang="en-US" sz="2000" dirty="0">
                <a:solidFill>
                  <a:srgbClr val="FF0000"/>
                </a:solidFill>
              </a:rPr>
              <a:t>位）中的一个位（</a:t>
            </a:r>
            <a:r>
              <a:rPr kumimoji="1" lang="en-US" altLang="zh-CN" sz="2000" dirty="0">
                <a:solidFill>
                  <a:srgbClr val="FF0000"/>
                </a:solidFill>
              </a:rPr>
              <a:t>bit</a:t>
            </a:r>
            <a:r>
              <a:rPr kumimoji="1" lang="zh-CN" altLang="en-US" sz="2000" dirty="0">
                <a:solidFill>
                  <a:srgbClr val="FF0000"/>
                </a:solidFill>
              </a:rPr>
              <a:t>）</a:t>
            </a:r>
            <a:r>
              <a:rPr kumimoji="1" lang="zh-CN" altLang="en-US" sz="2000" dirty="0"/>
              <a:t>，所以可以同时采用几个格式控制，只要把</a:t>
            </a:r>
            <a:r>
              <a:rPr kumimoji="1" lang="zh-CN" altLang="en-US" sz="2000" dirty="0">
                <a:solidFill>
                  <a:srgbClr val="FF0000"/>
                </a:solidFill>
              </a:rPr>
              <a:t>对应位置</a:t>
            </a:r>
            <a:r>
              <a:rPr kumimoji="1" lang="en-US" altLang="zh-CN" sz="2000" dirty="0">
                <a:solidFill>
                  <a:srgbClr val="FF0000"/>
                </a:solidFill>
              </a:rPr>
              <a:t>1</a:t>
            </a:r>
            <a:r>
              <a:rPr kumimoji="1" lang="zh-CN" altLang="en-US" sz="2000" dirty="0"/>
              <a:t>即可，这样既方便又节约内存。取多种控制时，用或“</a:t>
            </a:r>
            <a:r>
              <a:rPr kumimoji="1" lang="en-US" altLang="zh-CN" sz="2000" b="1" dirty="0">
                <a:solidFill>
                  <a:srgbClr val="FF0000"/>
                </a:solidFill>
              </a:rPr>
              <a:t>|</a:t>
            </a:r>
            <a:r>
              <a:rPr kumimoji="1" lang="en-US" altLang="zh-CN" sz="2000" dirty="0"/>
              <a:t>”</a:t>
            </a:r>
            <a:r>
              <a:rPr kumimoji="1" lang="zh-CN" altLang="en-US" sz="2000" dirty="0"/>
              <a:t>运算符来合成，合成为一个长整型数，在</a:t>
            </a:r>
            <a:r>
              <a:rPr kumimoji="1" lang="en-US" altLang="zh-CN" sz="2000" b="1" dirty="0" err="1">
                <a:solidFill>
                  <a:srgbClr val="FF0000"/>
                </a:solidFill>
              </a:rPr>
              <a:t>ios</a:t>
            </a:r>
            <a:r>
              <a:rPr kumimoji="1" lang="zh-CN" altLang="en-US" sz="2000" dirty="0"/>
              <a:t>中为：</a:t>
            </a:r>
            <a:endParaRPr kumimoji="1" lang="zh-CN" altLang="en-US" sz="2000" dirty="0"/>
          </a:p>
          <a:p>
            <a:pPr algn="l"/>
            <a:r>
              <a:rPr kumimoji="1" lang="en-US" altLang="zh-CN" sz="2000" b="1" dirty="0"/>
              <a:t>protected:</a:t>
            </a:r>
            <a:endParaRPr kumimoji="1" lang="en-US" altLang="zh-CN" sz="2000" b="1" dirty="0"/>
          </a:p>
          <a:p>
            <a:pPr algn="l"/>
            <a:r>
              <a:rPr kumimoji="1" lang="en-US" altLang="zh-CN" sz="2000" b="1" dirty="0"/>
              <a:t>	long </a:t>
            </a:r>
            <a:r>
              <a:rPr kumimoji="1" lang="en-US" altLang="zh-CN" sz="2000" b="1" dirty="0" err="1"/>
              <a:t>x_flags</a:t>
            </a:r>
            <a:r>
              <a:rPr kumimoji="1" lang="en-US" altLang="zh-CN" sz="2000" b="1" dirty="0"/>
              <a:t>;</a:t>
            </a:r>
            <a:endParaRPr kumimoji="1" lang="en-US" altLang="zh-CN" sz="2000" b="1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559010" y="2538065"/>
            <a:ext cx="9413790" cy="3175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zh-CN" altLang="en-US" sz="2000" b="1" dirty="0">
                <a:solidFill>
                  <a:srgbClr val="660066"/>
                </a:solidFill>
                <a:ea typeface="宋体" panose="02010600030101010101" pitchFamily="2" charset="-122"/>
              </a:rPr>
              <a:t>访问</a:t>
            </a:r>
            <a:r>
              <a:rPr kumimoji="1" lang="en-US" altLang="zh-CN" sz="2000" b="1" dirty="0" err="1">
                <a:solidFill>
                  <a:srgbClr val="660066"/>
                </a:solidFill>
                <a:ea typeface="宋体" panose="02010600030101010101" pitchFamily="2" charset="-122"/>
              </a:rPr>
              <a:t>x_flags</a:t>
            </a:r>
            <a:r>
              <a:rPr kumimoji="1" lang="zh-CN" altLang="en-US" sz="2000" b="1" dirty="0">
                <a:solidFill>
                  <a:srgbClr val="660066"/>
                </a:solidFill>
                <a:ea typeface="宋体" panose="02010600030101010101" pitchFamily="2" charset="-122"/>
              </a:rPr>
              <a:t>的重载函数声明如下：</a:t>
            </a:r>
            <a:endParaRPr kumimoji="1" lang="zh-CN" altLang="en-US" sz="2000" b="1" dirty="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kumimoji="1" lang="en-US" altLang="zh-CN" sz="2000" b="1" dirty="0">
                <a:solidFill>
                  <a:srgbClr val="0000CC"/>
                </a:solidFill>
              </a:rPr>
              <a:t>inline long</a:t>
            </a:r>
            <a:r>
              <a:rPr kumimoji="1" lang="en-US" altLang="zh-CN" sz="2000" b="1" dirty="0"/>
              <a:t> </a:t>
            </a:r>
            <a:r>
              <a:rPr kumimoji="1" lang="en-US" altLang="zh-CN" sz="2000" b="1" dirty="0" err="1"/>
              <a:t>ios</a:t>
            </a:r>
            <a:r>
              <a:rPr kumimoji="1" lang="en-US" altLang="zh-CN" sz="2000" b="1" dirty="0"/>
              <a:t>::flags() </a:t>
            </a:r>
            <a:r>
              <a:rPr kumimoji="1" lang="en-US" altLang="zh-CN" sz="2000" b="1" dirty="0">
                <a:solidFill>
                  <a:srgbClr val="0000CC"/>
                </a:solidFill>
              </a:rPr>
              <a:t>const</a:t>
            </a:r>
            <a:r>
              <a:rPr kumimoji="1" lang="en-US" altLang="zh-CN" sz="2000" b="1" dirty="0"/>
              <a:t>;           </a:t>
            </a:r>
            <a:r>
              <a:rPr kumimoji="1" lang="en-US" altLang="zh-CN" dirty="0">
                <a:solidFill>
                  <a:srgbClr val="006600"/>
                </a:solidFill>
              </a:rPr>
              <a:t>//</a:t>
            </a:r>
            <a:r>
              <a:rPr kumimoji="1" lang="zh-CN" altLang="en-US" dirty="0">
                <a:solidFill>
                  <a:srgbClr val="006600"/>
                </a:solidFill>
              </a:rPr>
              <a:t>返回当前标志字</a:t>
            </a:r>
            <a:endParaRPr kumimoji="1" lang="zh-CN" altLang="en-US" dirty="0">
              <a:solidFill>
                <a:srgbClr val="006600"/>
              </a:solidFill>
            </a:endParaRPr>
          </a:p>
          <a:p>
            <a:pPr algn="l">
              <a:lnSpc>
                <a:spcPct val="125000"/>
              </a:lnSpc>
            </a:pPr>
            <a:r>
              <a:rPr kumimoji="1" lang="en-US" altLang="zh-CN" sz="2000" b="1" dirty="0">
                <a:solidFill>
                  <a:srgbClr val="0000CC"/>
                </a:solidFill>
              </a:rPr>
              <a:t>inline long</a:t>
            </a:r>
            <a:r>
              <a:rPr kumimoji="1" lang="en-US" altLang="zh-CN" sz="2000" b="1" dirty="0"/>
              <a:t> </a:t>
            </a:r>
            <a:r>
              <a:rPr kumimoji="1" lang="en-US" altLang="zh-CN" sz="2000" b="1" dirty="0" err="1"/>
              <a:t>ios</a:t>
            </a:r>
            <a:r>
              <a:rPr kumimoji="1" lang="en-US" altLang="zh-CN" sz="2000" b="1" dirty="0"/>
              <a:t>::flags(</a:t>
            </a:r>
            <a:r>
              <a:rPr kumimoji="1" lang="en-US" altLang="zh-CN" sz="2000" b="1" dirty="0">
                <a:solidFill>
                  <a:srgbClr val="0000CC"/>
                </a:solidFill>
              </a:rPr>
              <a:t>long</a:t>
            </a:r>
            <a:r>
              <a:rPr kumimoji="1" lang="en-US" altLang="zh-CN" sz="2000" b="1" dirty="0"/>
              <a:t> );  </a:t>
            </a:r>
            <a:endParaRPr kumimoji="1" lang="en-US" altLang="zh-CN" sz="2000" b="1" dirty="0"/>
          </a:p>
          <a:p>
            <a:pPr algn="l">
              <a:lnSpc>
                <a:spcPct val="125000"/>
              </a:lnSpc>
            </a:pPr>
            <a:r>
              <a:rPr kumimoji="1" lang="en-US" altLang="zh-CN" sz="2000" b="1" dirty="0"/>
              <a:t> </a:t>
            </a:r>
            <a:r>
              <a:rPr kumimoji="1" lang="en-US" altLang="zh-CN" dirty="0">
                <a:solidFill>
                  <a:srgbClr val="006600"/>
                </a:solidFill>
              </a:rPr>
              <a:t>//</a:t>
            </a:r>
            <a:r>
              <a:rPr kumimoji="1" lang="zh-CN" altLang="en-US" dirty="0">
                <a:solidFill>
                  <a:srgbClr val="006600"/>
                </a:solidFill>
              </a:rPr>
              <a:t>把参数作为新的标志字</a:t>
            </a:r>
            <a:r>
              <a:rPr kumimoji="1" lang="en-US" altLang="zh-CN" dirty="0">
                <a:solidFill>
                  <a:srgbClr val="006600"/>
                </a:solidFill>
              </a:rPr>
              <a:t>,</a:t>
            </a:r>
            <a:r>
              <a:rPr kumimoji="1" lang="zh-CN" altLang="en-US" dirty="0">
                <a:solidFill>
                  <a:srgbClr val="006600"/>
                </a:solidFill>
              </a:rPr>
              <a:t>并返回原标志字</a:t>
            </a:r>
            <a:r>
              <a:rPr kumimoji="1" lang="en-US" altLang="zh-CN" dirty="0">
                <a:solidFill>
                  <a:srgbClr val="006600"/>
                </a:solidFill>
              </a:rPr>
              <a:t>(</a:t>
            </a:r>
            <a:r>
              <a:rPr kumimoji="1" lang="zh-CN" altLang="en-US" dirty="0">
                <a:solidFill>
                  <a:srgbClr val="006600"/>
                </a:solidFill>
              </a:rPr>
              <a:t>下同</a:t>
            </a:r>
            <a:r>
              <a:rPr kumimoji="1" lang="en-US" altLang="zh-CN" dirty="0">
                <a:solidFill>
                  <a:srgbClr val="006600"/>
                </a:solidFill>
              </a:rPr>
              <a:t>)</a:t>
            </a:r>
            <a:endParaRPr kumimoji="1" lang="en-US" altLang="zh-CN" dirty="0">
              <a:solidFill>
                <a:srgbClr val="006600"/>
              </a:solidFill>
            </a:endParaRPr>
          </a:p>
          <a:p>
            <a:pPr algn="l">
              <a:lnSpc>
                <a:spcPct val="125000"/>
              </a:lnSpc>
            </a:pPr>
            <a:r>
              <a:rPr kumimoji="1" lang="en-US" altLang="zh-CN" sz="2000" b="1" dirty="0">
                <a:solidFill>
                  <a:srgbClr val="0000CC"/>
                </a:solidFill>
              </a:rPr>
              <a:t>inline long</a:t>
            </a:r>
            <a:r>
              <a:rPr kumimoji="1" lang="en-US" altLang="zh-CN" sz="2000" b="1" dirty="0"/>
              <a:t> </a:t>
            </a:r>
            <a:r>
              <a:rPr kumimoji="1" lang="en-US" altLang="zh-CN" sz="2000" b="1" dirty="0" err="1"/>
              <a:t>ios</a:t>
            </a:r>
            <a:r>
              <a:rPr kumimoji="1" lang="en-US" altLang="zh-CN" sz="2000" b="1" dirty="0"/>
              <a:t>::</a:t>
            </a:r>
            <a:r>
              <a:rPr kumimoji="1" lang="en-US" altLang="zh-CN" sz="2000" b="1" dirty="0" err="1"/>
              <a:t>setf</a:t>
            </a:r>
            <a:r>
              <a:rPr kumimoji="1" lang="en-US" altLang="zh-CN" sz="2000" b="1" dirty="0"/>
              <a:t>(</a:t>
            </a:r>
            <a:r>
              <a:rPr kumimoji="1" lang="en-US" altLang="zh-CN" sz="2000" b="1" dirty="0">
                <a:solidFill>
                  <a:srgbClr val="0000CC"/>
                </a:solidFill>
              </a:rPr>
              <a:t>long </a:t>
            </a:r>
            <a:r>
              <a:rPr kumimoji="1" lang="en-US" altLang="zh-CN" sz="2000" b="1" dirty="0"/>
              <a:t>,</a:t>
            </a:r>
            <a:r>
              <a:rPr kumimoji="1" lang="en-US" altLang="zh-CN" sz="2000" b="1" dirty="0">
                <a:solidFill>
                  <a:srgbClr val="0000CC"/>
                </a:solidFill>
              </a:rPr>
              <a:t>long </a:t>
            </a:r>
            <a:r>
              <a:rPr kumimoji="1" lang="en-US" altLang="zh-CN" sz="2000" b="1" dirty="0"/>
              <a:t>);  </a:t>
            </a:r>
            <a:r>
              <a:rPr kumimoji="1" lang="en-US" altLang="zh-CN" dirty="0">
                <a:solidFill>
                  <a:srgbClr val="006600"/>
                </a:solidFill>
              </a:rPr>
              <a:t>//</a:t>
            </a:r>
            <a:r>
              <a:rPr kumimoji="1" lang="zh-CN" altLang="en-US" dirty="0">
                <a:solidFill>
                  <a:srgbClr val="006600"/>
                </a:solidFill>
              </a:rPr>
              <a:t>在原标志字上增加控制，第一个参数为增加的控制</a:t>
            </a:r>
            <a:r>
              <a:rPr kumimoji="1" lang="en-US" altLang="zh-CN" dirty="0">
                <a:solidFill>
                  <a:srgbClr val="006600"/>
                </a:solidFill>
              </a:rPr>
              <a:t>,</a:t>
            </a:r>
            <a:r>
              <a:rPr kumimoji="1" lang="zh-CN" altLang="en-US" dirty="0">
                <a:solidFill>
                  <a:srgbClr val="006600"/>
                </a:solidFill>
              </a:rPr>
              <a:t>第二个参数表示取代原来哪几位</a:t>
            </a:r>
            <a:endParaRPr kumimoji="1" lang="zh-CN" altLang="en-US" sz="2000" dirty="0">
              <a:solidFill>
                <a:srgbClr val="006600"/>
              </a:solidFill>
            </a:endParaRPr>
          </a:p>
          <a:p>
            <a:pPr algn="l">
              <a:lnSpc>
                <a:spcPct val="125000"/>
              </a:lnSpc>
            </a:pPr>
            <a:r>
              <a:rPr kumimoji="1" lang="en-US" altLang="zh-CN" sz="2000" b="1" dirty="0">
                <a:solidFill>
                  <a:srgbClr val="0000CC"/>
                </a:solidFill>
              </a:rPr>
              <a:t>inline long</a:t>
            </a:r>
            <a:r>
              <a:rPr kumimoji="1" lang="en-US" altLang="zh-CN" sz="2000" b="1" dirty="0"/>
              <a:t> </a:t>
            </a:r>
            <a:r>
              <a:rPr kumimoji="1" lang="en-US" altLang="zh-CN" sz="2000" b="1" dirty="0" err="1"/>
              <a:t>ios</a:t>
            </a:r>
            <a:r>
              <a:rPr kumimoji="1" lang="en-US" altLang="zh-CN" sz="2000" b="1" dirty="0"/>
              <a:t>::</a:t>
            </a:r>
            <a:r>
              <a:rPr kumimoji="1" lang="en-US" altLang="zh-CN" sz="2000" b="1" dirty="0" err="1"/>
              <a:t>setf</a:t>
            </a:r>
            <a:r>
              <a:rPr kumimoji="1" lang="en-US" altLang="zh-CN" sz="2000" b="1" dirty="0"/>
              <a:t>(</a:t>
            </a:r>
            <a:r>
              <a:rPr kumimoji="1" lang="en-US" altLang="zh-CN" sz="2000" b="1" dirty="0">
                <a:solidFill>
                  <a:srgbClr val="0000CC"/>
                </a:solidFill>
              </a:rPr>
              <a:t>long </a:t>
            </a:r>
            <a:r>
              <a:rPr kumimoji="1" lang="en-US" altLang="zh-CN" sz="2000" b="1" dirty="0"/>
              <a:t>);            </a:t>
            </a:r>
            <a:r>
              <a:rPr kumimoji="1" lang="en-US" altLang="zh-CN" dirty="0">
                <a:solidFill>
                  <a:srgbClr val="006600"/>
                </a:solidFill>
              </a:rPr>
              <a:t>//</a:t>
            </a:r>
            <a:r>
              <a:rPr kumimoji="1" lang="zh-CN" altLang="en-US" dirty="0">
                <a:solidFill>
                  <a:srgbClr val="006600"/>
                </a:solidFill>
              </a:rPr>
              <a:t>增加控制</a:t>
            </a:r>
            <a:r>
              <a:rPr kumimoji="1" lang="en-US" altLang="zh-CN" dirty="0">
                <a:solidFill>
                  <a:srgbClr val="006600"/>
                </a:solidFill>
              </a:rPr>
              <a:t>(</a:t>
            </a:r>
            <a:r>
              <a:rPr kumimoji="1" lang="zh-CN" altLang="en-US" dirty="0">
                <a:solidFill>
                  <a:srgbClr val="006600"/>
                </a:solidFill>
              </a:rPr>
              <a:t>多项</a:t>
            </a:r>
            <a:r>
              <a:rPr kumimoji="1" lang="en-US" altLang="zh-CN" dirty="0">
                <a:solidFill>
                  <a:srgbClr val="006600"/>
                </a:solidFill>
              </a:rPr>
              <a:t>)</a:t>
            </a:r>
            <a:endParaRPr kumimoji="1" lang="en-US" altLang="zh-CN" dirty="0">
              <a:solidFill>
                <a:srgbClr val="006600"/>
              </a:solidFill>
            </a:endParaRPr>
          </a:p>
          <a:p>
            <a:pPr algn="l">
              <a:lnSpc>
                <a:spcPct val="125000"/>
              </a:lnSpc>
            </a:pPr>
            <a:r>
              <a:rPr kumimoji="1" lang="en-US" altLang="zh-CN" sz="2000" b="1" dirty="0">
                <a:solidFill>
                  <a:srgbClr val="0000CC"/>
                </a:solidFill>
              </a:rPr>
              <a:t>inline long</a:t>
            </a:r>
            <a:r>
              <a:rPr kumimoji="1" lang="en-US" altLang="zh-CN" sz="2000" b="1" dirty="0"/>
              <a:t> </a:t>
            </a:r>
            <a:r>
              <a:rPr kumimoji="1" lang="en-US" altLang="zh-CN" sz="2000" b="1" dirty="0" err="1"/>
              <a:t>ios</a:t>
            </a:r>
            <a:r>
              <a:rPr kumimoji="1" lang="en-US" altLang="zh-CN" sz="2000" b="1" dirty="0"/>
              <a:t>::</a:t>
            </a:r>
            <a:r>
              <a:rPr kumimoji="1" lang="en-US" altLang="zh-CN" sz="2000" b="1" dirty="0" err="1"/>
              <a:t>unsetf</a:t>
            </a:r>
            <a:r>
              <a:rPr kumimoji="1" lang="en-US" altLang="zh-CN" sz="2000" b="1" dirty="0"/>
              <a:t>(</a:t>
            </a:r>
            <a:r>
              <a:rPr kumimoji="1" lang="en-US" altLang="zh-CN" sz="2000" b="1" dirty="0">
                <a:solidFill>
                  <a:srgbClr val="0000CC"/>
                </a:solidFill>
              </a:rPr>
              <a:t>long</a:t>
            </a:r>
            <a:r>
              <a:rPr kumimoji="1" lang="en-US" altLang="zh-CN" sz="2000" b="1" dirty="0"/>
              <a:t> );          </a:t>
            </a:r>
            <a:r>
              <a:rPr kumimoji="1" lang="en-US" altLang="zh-CN" dirty="0">
                <a:solidFill>
                  <a:srgbClr val="006600"/>
                </a:solidFill>
              </a:rPr>
              <a:t>//</a:t>
            </a:r>
            <a:r>
              <a:rPr kumimoji="1" lang="zh-CN" altLang="en-US" dirty="0">
                <a:solidFill>
                  <a:srgbClr val="006600"/>
                </a:solidFill>
              </a:rPr>
              <a:t>清除指定位上的控制</a:t>
            </a:r>
            <a:endParaRPr kumimoji="1" lang="zh-CN" altLang="en-US" sz="2000" dirty="0">
              <a:solidFill>
                <a:srgbClr val="0066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59010" y="5805487"/>
            <a:ext cx="94137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rgbClr val="0066FF"/>
                </a:solidFill>
              </a:rPr>
              <a:t>setf</a:t>
            </a:r>
            <a:r>
              <a:rPr lang="en-US" altLang="zh-CN" sz="2000" b="1" dirty="0">
                <a:solidFill>
                  <a:srgbClr val="0066FF"/>
                </a:solidFill>
              </a:rPr>
              <a:t>()</a:t>
            </a:r>
            <a:r>
              <a:rPr lang="zh-CN" altLang="en-US" sz="2000" b="1" dirty="0">
                <a:solidFill>
                  <a:srgbClr val="0066FF"/>
                </a:solidFill>
              </a:rPr>
              <a:t>是</a:t>
            </a:r>
            <a:r>
              <a:rPr lang="zh-CN" altLang="en-US" sz="2000" b="1" dirty="0">
                <a:solidFill>
                  <a:srgbClr val="FF0000"/>
                </a:solidFill>
              </a:rPr>
              <a:t>追加</a:t>
            </a:r>
            <a:r>
              <a:rPr lang="zh-CN" altLang="en-US" sz="2000" b="1" dirty="0">
                <a:solidFill>
                  <a:srgbClr val="0066FF"/>
                </a:solidFill>
              </a:rPr>
              <a:t>标志字的函数，</a:t>
            </a:r>
            <a:r>
              <a:rPr lang="en-US" altLang="zh-CN" sz="2000" b="1" dirty="0">
                <a:solidFill>
                  <a:srgbClr val="0066FF"/>
                </a:solidFill>
              </a:rPr>
              <a:t>flags()</a:t>
            </a:r>
            <a:r>
              <a:rPr lang="zh-CN" altLang="en-US" sz="2000" b="1" dirty="0">
                <a:solidFill>
                  <a:srgbClr val="0066FF"/>
                </a:solidFill>
              </a:rPr>
              <a:t>是</a:t>
            </a:r>
            <a:r>
              <a:rPr lang="zh-CN" altLang="en-US" sz="2000" b="1" dirty="0">
                <a:solidFill>
                  <a:srgbClr val="FF0000"/>
                </a:solidFill>
              </a:rPr>
              <a:t>设置</a:t>
            </a:r>
            <a:r>
              <a:rPr lang="zh-CN" altLang="en-US" sz="2000" b="1" dirty="0">
                <a:solidFill>
                  <a:srgbClr val="0066FF"/>
                </a:solidFill>
              </a:rPr>
              <a:t>标志字的函数</a:t>
            </a:r>
            <a:br>
              <a:rPr lang="zh-CN" altLang="en-US" sz="2000" b="1" dirty="0">
                <a:solidFill>
                  <a:srgbClr val="0066FF"/>
                </a:solidFill>
              </a:rPr>
            </a:br>
            <a:endParaRPr lang="zh-CN" altLang="en-US" sz="2000" b="1" dirty="0">
              <a:solidFill>
                <a:srgbClr val="0066FF"/>
              </a:solidFill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9" name="Rectangle 5"/>
          <p:cNvSpPr>
            <a:spLocks noChangeArrowheads="1"/>
          </p:cNvSpPr>
          <p:nvPr/>
        </p:nvSpPr>
        <p:spPr bwMode="auto">
          <a:xfrm>
            <a:off x="1687514" y="595312"/>
            <a:ext cx="8130254" cy="5231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chemeClr val="accent6">
                    <a:lumMod val="75000"/>
                  </a:schemeClr>
                </a:solidFill>
                <a:ea typeface="宋体" panose="02010600030101010101" pitchFamily="2" charset="-122"/>
              </a:rPr>
              <a:t>例：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输入输出的格式控制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---</a:t>
            </a:r>
            <a:r>
              <a:rPr kumimoji="1" lang="zh-CN" altLang="en-US" sz="2400" b="1" dirty="0">
                <a:solidFill>
                  <a:schemeClr val="accent6">
                    <a:lumMod val="75000"/>
                  </a:schemeClr>
                </a:solidFill>
                <a:ea typeface="宋体" panose="02010600030101010101" pitchFamily="2" charset="-122"/>
              </a:rPr>
              <a:t>整型数输出。</a:t>
            </a:r>
            <a:endParaRPr kumimoji="1" lang="zh-CN" altLang="en-US" sz="2400" b="1" dirty="0">
              <a:solidFill>
                <a:schemeClr val="accent6">
                  <a:lumMod val="75000"/>
                </a:schemeClr>
              </a:solidFill>
              <a:ea typeface="宋体" panose="02010600030101010101" pitchFamily="2" charset="-122"/>
            </a:endParaRPr>
          </a:p>
          <a:p>
            <a:pPr algn="l"/>
            <a:r>
              <a:rPr kumimoji="1" lang="en-US" altLang="zh-CN" sz="2400" b="1" dirty="0"/>
              <a:t>#</a:t>
            </a:r>
            <a:r>
              <a:rPr kumimoji="1" lang="en-US" altLang="zh-CN" sz="2200" b="1" dirty="0"/>
              <a:t>include&lt;iostream&gt;</a:t>
            </a:r>
            <a:endParaRPr kumimoji="1" lang="en-US" altLang="zh-CN" sz="2200" b="1" dirty="0"/>
          </a:p>
          <a:p>
            <a:pPr algn="l"/>
            <a:r>
              <a:rPr kumimoji="1" lang="en-US" altLang="zh-CN" sz="2200" b="1" dirty="0">
                <a:solidFill>
                  <a:srgbClr val="3333CC"/>
                </a:solidFill>
              </a:rPr>
              <a:t>using namespace</a:t>
            </a:r>
            <a:r>
              <a:rPr kumimoji="1" lang="en-US" altLang="zh-CN" sz="2200" b="1" dirty="0"/>
              <a:t> std;</a:t>
            </a:r>
            <a:endParaRPr kumimoji="1" lang="en-US" altLang="zh-CN" sz="2200" b="1" dirty="0"/>
          </a:p>
          <a:p>
            <a:pPr algn="l"/>
            <a:r>
              <a:rPr kumimoji="1" lang="en-US" altLang="zh-CN" sz="2200" b="1" dirty="0">
                <a:solidFill>
                  <a:srgbClr val="3333CC"/>
                </a:solidFill>
              </a:rPr>
              <a:t>int</a:t>
            </a:r>
            <a:r>
              <a:rPr kumimoji="1" lang="en-US" altLang="zh-CN" sz="2200" b="1" dirty="0"/>
              <a:t> main(</a:t>
            </a:r>
            <a:r>
              <a:rPr kumimoji="1" lang="en-US" altLang="zh-CN" sz="2400" b="1" dirty="0">
                <a:solidFill>
                  <a:srgbClr val="0000CC"/>
                </a:solidFill>
              </a:rPr>
              <a:t>void</a:t>
            </a:r>
            <a:r>
              <a:rPr kumimoji="1" lang="en-US" altLang="zh-CN" sz="2200" b="1" dirty="0"/>
              <a:t>){</a:t>
            </a:r>
            <a:endParaRPr kumimoji="1" lang="en-US" altLang="zh-CN" sz="2200" b="1" dirty="0"/>
          </a:p>
          <a:p>
            <a:pPr algn="l"/>
            <a:r>
              <a:rPr kumimoji="1" lang="en-US" altLang="zh-CN" sz="2200" b="1" dirty="0"/>
              <a:t>	int </a:t>
            </a:r>
            <a:r>
              <a:rPr kumimoji="1" lang="en-US" altLang="zh-CN" sz="2200" b="1" dirty="0" err="1"/>
              <a:t>inum</a:t>
            </a:r>
            <a:r>
              <a:rPr kumimoji="1" lang="en-US" altLang="zh-CN" sz="2200" b="1" dirty="0"/>
              <a:t>=255;</a:t>
            </a:r>
            <a:endParaRPr kumimoji="1" lang="en-US" altLang="zh-CN" sz="2200" b="1" dirty="0"/>
          </a:p>
          <a:p>
            <a:pPr algn="l"/>
            <a:r>
              <a:rPr kumimoji="1" lang="en-US" altLang="zh-CN" sz="2200" b="1" dirty="0"/>
              <a:t>	</a:t>
            </a:r>
            <a:r>
              <a:rPr kumimoji="1" lang="en-US" altLang="zh-CN" sz="2200" b="1" dirty="0" err="1"/>
              <a:t>cout</a:t>
            </a:r>
            <a:r>
              <a:rPr kumimoji="1" lang="en-US" altLang="zh-CN" sz="2200" b="1" dirty="0"/>
              <a:t>&lt;&lt;"</a:t>
            </a:r>
            <a:r>
              <a:rPr kumimoji="1" lang="zh-CN" altLang="en-US" sz="2200" b="1" dirty="0"/>
              <a:t>十进制方式</a:t>
            </a:r>
            <a:r>
              <a:rPr kumimoji="1" lang="en-US" altLang="zh-CN" sz="2200" b="1" dirty="0"/>
              <a:t>"&lt;&lt;</a:t>
            </a:r>
            <a:r>
              <a:rPr kumimoji="1" lang="en-US" altLang="zh-CN" sz="2200" b="1" dirty="0" err="1"/>
              <a:t>inum</a:t>
            </a:r>
            <a:r>
              <a:rPr kumimoji="1" lang="en-US" altLang="zh-CN" sz="2200" b="1" dirty="0"/>
              <a:t>&lt;&lt;'\t';</a:t>
            </a:r>
            <a:endParaRPr kumimoji="1" lang="en-US" altLang="zh-CN" sz="2200" b="1" dirty="0"/>
          </a:p>
          <a:p>
            <a:pPr algn="l"/>
            <a:r>
              <a:rPr kumimoji="1" lang="en-US" altLang="zh-CN" sz="2200" b="1" dirty="0"/>
              <a:t>	</a:t>
            </a:r>
            <a:r>
              <a:rPr kumimoji="1" lang="en-US" altLang="zh-CN" sz="2200" b="1" dirty="0" err="1">
                <a:solidFill>
                  <a:srgbClr val="0066FF"/>
                </a:solidFill>
              </a:rPr>
              <a:t>cout.flags</a:t>
            </a:r>
            <a:r>
              <a:rPr kumimoji="1" lang="en-US" altLang="zh-CN" sz="2200" b="1" dirty="0"/>
              <a:t>(</a:t>
            </a:r>
            <a:r>
              <a:rPr kumimoji="1" lang="en-US" altLang="zh-CN" sz="2200" b="1" dirty="0" err="1">
                <a:solidFill>
                  <a:srgbClr val="FF0000"/>
                </a:solidFill>
              </a:rPr>
              <a:t>ios</a:t>
            </a:r>
            <a:r>
              <a:rPr kumimoji="1" lang="en-US" altLang="zh-CN" sz="2200" b="1" dirty="0">
                <a:solidFill>
                  <a:srgbClr val="FF0000"/>
                </a:solidFill>
              </a:rPr>
              <a:t>::</a:t>
            </a:r>
            <a:r>
              <a:rPr kumimoji="1" lang="en-US" altLang="zh-CN" sz="2200" b="1" dirty="0" err="1">
                <a:solidFill>
                  <a:srgbClr val="FF0000"/>
                </a:solidFill>
              </a:rPr>
              <a:t>oct|ios</a:t>
            </a:r>
            <a:r>
              <a:rPr kumimoji="1" lang="en-US" altLang="zh-CN" sz="2200" b="1" dirty="0">
                <a:solidFill>
                  <a:srgbClr val="FF0000"/>
                </a:solidFill>
              </a:rPr>
              <a:t>::</a:t>
            </a:r>
            <a:r>
              <a:rPr kumimoji="1" lang="en-US" altLang="zh-CN" sz="2200" b="1" dirty="0" err="1">
                <a:solidFill>
                  <a:srgbClr val="FF0000"/>
                </a:solidFill>
              </a:rPr>
              <a:t>showbase</a:t>
            </a:r>
            <a:r>
              <a:rPr kumimoji="1" lang="en-US" altLang="zh-CN" sz="2200" b="1" dirty="0"/>
              <a:t>); </a:t>
            </a:r>
            <a:endParaRPr kumimoji="1" lang="en-US" altLang="zh-CN" sz="2200" b="1" dirty="0"/>
          </a:p>
          <a:p>
            <a:pPr algn="l"/>
            <a:r>
              <a:rPr kumimoji="1" lang="en-US" altLang="zh-CN" sz="2000" dirty="0"/>
              <a:t>             </a:t>
            </a:r>
            <a:r>
              <a:rPr kumimoji="1" lang="en-US" altLang="zh-CN" sz="2000" dirty="0">
                <a:solidFill>
                  <a:srgbClr val="006600"/>
                </a:solidFill>
              </a:rPr>
              <a:t>//</a:t>
            </a:r>
            <a:r>
              <a:rPr kumimoji="1" lang="zh-CN" altLang="en-US" sz="2000" dirty="0">
                <a:solidFill>
                  <a:srgbClr val="006600"/>
                </a:solidFill>
              </a:rPr>
              <a:t>八进制带数制基输出是前面加</a:t>
            </a:r>
            <a:r>
              <a:rPr kumimoji="1" lang="en-US" altLang="zh-CN" sz="2000" dirty="0">
                <a:solidFill>
                  <a:srgbClr val="006600"/>
                </a:solidFill>
              </a:rPr>
              <a:t>0;</a:t>
            </a:r>
            <a:r>
              <a:rPr kumimoji="1" lang="zh-CN" altLang="en-US" sz="2000" dirty="0">
                <a:solidFill>
                  <a:srgbClr val="006600"/>
                </a:solidFill>
              </a:rPr>
              <a:t>参数等效</a:t>
            </a:r>
            <a:r>
              <a:rPr kumimoji="1" lang="en-US" altLang="zh-CN" sz="2000" dirty="0">
                <a:solidFill>
                  <a:srgbClr val="006600"/>
                </a:solidFill>
              </a:rPr>
              <a:t>0x00a0</a:t>
            </a:r>
            <a:endParaRPr kumimoji="1" lang="en-US" altLang="zh-CN" sz="2000" dirty="0">
              <a:solidFill>
                <a:srgbClr val="006600"/>
              </a:solidFill>
            </a:endParaRPr>
          </a:p>
          <a:p>
            <a:pPr algn="l"/>
            <a:r>
              <a:rPr kumimoji="1" lang="en-US" altLang="zh-CN" sz="2200" b="1" dirty="0"/>
              <a:t>	</a:t>
            </a:r>
            <a:r>
              <a:rPr kumimoji="1" lang="en-US" altLang="zh-CN" sz="2200" b="1" dirty="0" err="1"/>
              <a:t>cout</a:t>
            </a:r>
            <a:r>
              <a:rPr kumimoji="1" lang="en-US" altLang="zh-CN" sz="2200" b="1" dirty="0"/>
              <a:t>&lt;&lt;"</a:t>
            </a:r>
            <a:r>
              <a:rPr kumimoji="1" lang="zh-CN" altLang="en-US" sz="2200" b="1" dirty="0"/>
              <a:t>八进制方式</a:t>
            </a:r>
            <a:r>
              <a:rPr kumimoji="1" lang="en-US" altLang="zh-CN" sz="2200" b="1" dirty="0"/>
              <a:t>"&lt;&lt;</a:t>
            </a:r>
            <a:r>
              <a:rPr kumimoji="1" lang="en-US" altLang="zh-CN" sz="2200" b="1" dirty="0" err="1"/>
              <a:t>inum</a:t>
            </a:r>
            <a:r>
              <a:rPr kumimoji="1" lang="en-US" altLang="zh-CN" sz="2200" b="1" dirty="0"/>
              <a:t>&lt;&lt;'\t';</a:t>
            </a:r>
            <a:endParaRPr kumimoji="1" lang="en-US" altLang="zh-CN" sz="2200" b="1" dirty="0"/>
          </a:p>
          <a:p>
            <a:pPr algn="l"/>
            <a:r>
              <a:rPr kumimoji="1" lang="en-US" altLang="zh-CN" sz="2200" b="1" dirty="0"/>
              <a:t>	cout.unsetf(ios::oct);   </a:t>
            </a:r>
            <a:r>
              <a:rPr kumimoji="1" lang="zh-CN" altLang="en-US" sz="2000" dirty="0">
                <a:solidFill>
                  <a:srgbClr val="006600"/>
                </a:solidFill>
              </a:rPr>
              <a:t>//取消八进制显示</a:t>
            </a:r>
            <a:endParaRPr kumimoji="1" lang="en-US" altLang="zh-CN" sz="2200" b="1" dirty="0"/>
          </a:p>
          <a:p>
            <a:pPr algn="l"/>
            <a:r>
              <a:rPr kumimoji="1" lang="en-US" altLang="zh-CN" sz="2200" b="1" dirty="0"/>
              <a:t>	</a:t>
            </a:r>
            <a:r>
              <a:rPr kumimoji="1" lang="en-US" altLang="zh-CN" sz="2200" b="1" dirty="0" err="1">
                <a:solidFill>
                  <a:srgbClr val="0066FF"/>
                </a:solidFill>
              </a:rPr>
              <a:t>cout.setf</a:t>
            </a:r>
            <a:r>
              <a:rPr kumimoji="1" lang="en-US" altLang="zh-CN" sz="2200" b="1" dirty="0"/>
              <a:t>(</a:t>
            </a:r>
            <a:r>
              <a:rPr kumimoji="1" lang="en-US" altLang="zh-CN" sz="2200" b="1" dirty="0" err="1">
                <a:solidFill>
                  <a:srgbClr val="FF0000"/>
                </a:solidFill>
              </a:rPr>
              <a:t>ios</a:t>
            </a:r>
            <a:r>
              <a:rPr kumimoji="1" lang="en-US" altLang="zh-CN" sz="2200" b="1" dirty="0">
                <a:solidFill>
                  <a:srgbClr val="FF0000"/>
                </a:solidFill>
              </a:rPr>
              <a:t>::hex</a:t>
            </a:r>
            <a:r>
              <a:rPr kumimoji="1" lang="en-US" altLang="zh-CN" sz="2200" b="1" dirty="0"/>
              <a:t>);</a:t>
            </a:r>
            <a:endParaRPr kumimoji="1" lang="en-US" altLang="zh-CN" sz="2200" b="1" dirty="0"/>
          </a:p>
          <a:p>
            <a:pPr algn="l"/>
            <a:r>
              <a:rPr kumimoji="1" lang="en-US" altLang="zh-CN" sz="2200" b="1" dirty="0"/>
              <a:t>              </a:t>
            </a:r>
            <a:r>
              <a:rPr kumimoji="1" lang="en-US" altLang="zh-CN" sz="2000" dirty="0">
                <a:solidFill>
                  <a:srgbClr val="006600"/>
                </a:solidFill>
              </a:rPr>
              <a:t>//</a:t>
            </a:r>
            <a:r>
              <a:rPr kumimoji="1" lang="zh-CN" altLang="en-US" sz="2000" dirty="0">
                <a:solidFill>
                  <a:srgbClr val="006600"/>
                </a:solidFill>
              </a:rPr>
              <a:t>等效</a:t>
            </a:r>
            <a:r>
              <a:rPr kumimoji="1" lang="en-US" altLang="zh-CN" sz="2000" dirty="0">
                <a:solidFill>
                  <a:srgbClr val="006600"/>
                </a:solidFill>
              </a:rPr>
              <a:t>0x0040,</a:t>
            </a:r>
            <a:r>
              <a:rPr kumimoji="1" lang="zh-CN" altLang="en-US" sz="2000" dirty="0">
                <a:solidFill>
                  <a:srgbClr val="006600"/>
                </a:solidFill>
              </a:rPr>
              <a:t>因是或关系</a:t>
            </a:r>
            <a:r>
              <a:rPr kumimoji="1" lang="en-US" altLang="zh-CN" sz="2000" dirty="0">
                <a:solidFill>
                  <a:srgbClr val="006600"/>
                </a:solidFill>
              </a:rPr>
              <a:t>,</a:t>
            </a:r>
            <a:r>
              <a:rPr kumimoji="1" lang="zh-CN" altLang="en-US" sz="2000" dirty="0">
                <a:solidFill>
                  <a:srgbClr val="006600"/>
                </a:solidFill>
              </a:rPr>
              <a:t>仍带基输出</a:t>
            </a:r>
            <a:r>
              <a:rPr kumimoji="1" lang="en-US" altLang="zh-CN" sz="2000" dirty="0">
                <a:solidFill>
                  <a:srgbClr val="006600"/>
                </a:solidFill>
              </a:rPr>
              <a:t>,</a:t>
            </a:r>
            <a:r>
              <a:rPr kumimoji="1" lang="zh-CN" altLang="en-US" sz="2000" dirty="0">
                <a:solidFill>
                  <a:srgbClr val="006600"/>
                </a:solidFill>
              </a:rPr>
              <a:t>格式为</a:t>
            </a:r>
            <a:r>
              <a:rPr kumimoji="1" lang="en-US" altLang="zh-CN" sz="2000" dirty="0">
                <a:solidFill>
                  <a:srgbClr val="006600"/>
                </a:solidFill>
              </a:rPr>
              <a:t>0x...</a:t>
            </a:r>
            <a:endParaRPr kumimoji="1" lang="en-US" altLang="zh-CN" sz="2200" dirty="0">
              <a:solidFill>
                <a:srgbClr val="006600"/>
              </a:solidFill>
            </a:endParaRPr>
          </a:p>
          <a:p>
            <a:pPr algn="l"/>
            <a:r>
              <a:rPr kumimoji="1" lang="en-US" altLang="zh-CN" sz="2200" b="1" dirty="0"/>
              <a:t>	</a:t>
            </a:r>
            <a:r>
              <a:rPr kumimoji="1" lang="en-US" altLang="zh-CN" sz="2200" b="1" dirty="0" err="1"/>
              <a:t>cout</a:t>
            </a:r>
            <a:r>
              <a:rPr kumimoji="1" lang="en-US" altLang="zh-CN" sz="2200" b="1" dirty="0"/>
              <a:t>&lt;&lt;"</a:t>
            </a:r>
            <a:r>
              <a:rPr kumimoji="1" lang="zh-CN" altLang="en-US" sz="2200" b="1" dirty="0"/>
              <a:t>十六进制方式</a:t>
            </a:r>
            <a:r>
              <a:rPr kumimoji="1" lang="en-US" altLang="zh-CN" sz="2200" b="1" dirty="0"/>
              <a:t>"&lt;&lt;</a:t>
            </a:r>
            <a:r>
              <a:rPr kumimoji="1" lang="en-US" altLang="zh-CN" sz="2200" b="1" dirty="0" err="1"/>
              <a:t>inum</a:t>
            </a:r>
            <a:r>
              <a:rPr kumimoji="1" lang="en-US" altLang="zh-CN" sz="2200" b="1" dirty="0"/>
              <a:t>&lt;&lt;</a:t>
            </a:r>
            <a:r>
              <a:rPr kumimoji="1" lang="en-US" altLang="zh-CN" sz="2200" b="1" dirty="0" err="1"/>
              <a:t>endl</a:t>
            </a:r>
            <a:r>
              <a:rPr kumimoji="1" lang="en-US" altLang="zh-CN" sz="2200" b="1" dirty="0"/>
              <a:t>;</a:t>
            </a:r>
            <a:endParaRPr kumimoji="1" lang="en-US" altLang="zh-CN" sz="2200" b="1" dirty="0"/>
          </a:p>
          <a:p>
            <a:pPr algn="l"/>
            <a:r>
              <a:rPr kumimoji="1" lang="en-US" altLang="zh-CN" sz="2200" b="1" dirty="0"/>
              <a:t>	</a:t>
            </a:r>
            <a:r>
              <a:rPr kumimoji="1" lang="en-US" altLang="zh-CN" sz="2200" b="1" dirty="0">
                <a:solidFill>
                  <a:srgbClr val="3333CC"/>
                </a:solidFill>
              </a:rPr>
              <a:t>return </a:t>
            </a:r>
            <a:r>
              <a:rPr kumimoji="1" lang="en-US" altLang="zh-CN" sz="2200" b="1" dirty="0"/>
              <a:t>0;</a:t>
            </a:r>
            <a:endParaRPr kumimoji="1" lang="en-US" altLang="zh-CN" sz="2200" b="1" dirty="0"/>
          </a:p>
          <a:p>
            <a:pPr algn="l"/>
            <a:r>
              <a:rPr kumimoji="1" lang="en-US" altLang="zh-CN" sz="2200" b="1" dirty="0"/>
              <a:t>}</a:t>
            </a:r>
            <a:endParaRPr kumimoji="1" lang="en-US" altLang="zh-CN" sz="2200" b="1" dirty="0"/>
          </a:p>
        </p:txBody>
      </p:sp>
      <p:sp>
        <p:nvSpPr>
          <p:cNvPr id="118793" name="Rectangle 9"/>
          <p:cNvSpPr>
            <a:spLocks noChangeArrowheads="1"/>
          </p:cNvSpPr>
          <p:nvPr/>
        </p:nvSpPr>
        <p:spPr bwMode="auto">
          <a:xfrm>
            <a:off x="1581636" y="5689985"/>
            <a:ext cx="75905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dirty="0">
                <a:solidFill>
                  <a:srgbClr val="0033CC"/>
                </a:solidFill>
              </a:rPr>
              <a:t>程序输出：</a:t>
            </a:r>
            <a:r>
              <a:rPr kumimoji="1" lang="zh-CN" altLang="en-US" sz="2000" dirty="0"/>
              <a:t>十进制方式</a:t>
            </a:r>
            <a:r>
              <a:rPr kumimoji="1" lang="en-US" altLang="zh-CN" sz="2000" dirty="0"/>
              <a:t>255   </a:t>
            </a:r>
            <a:r>
              <a:rPr kumimoji="1" lang="zh-CN" altLang="en-US" sz="2000" dirty="0"/>
              <a:t>八进制方式</a:t>
            </a:r>
            <a:r>
              <a:rPr kumimoji="1" lang="en-US" altLang="zh-CN" sz="2000" dirty="0"/>
              <a:t>0377   </a:t>
            </a:r>
            <a:r>
              <a:rPr kumimoji="1" lang="zh-CN" altLang="en-US" sz="2000" dirty="0"/>
              <a:t>十六进制方式</a:t>
            </a:r>
            <a:r>
              <a:rPr kumimoji="1" lang="en-US" altLang="zh-CN" sz="2000" dirty="0"/>
              <a:t>0xff</a:t>
            </a:r>
            <a:endParaRPr kumimoji="1" lang="en-US" altLang="zh-CN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44" name="Rectangle 8"/>
          <p:cNvSpPr>
            <a:spLocks noChangeArrowheads="1"/>
          </p:cNvSpPr>
          <p:nvPr/>
        </p:nvSpPr>
        <p:spPr bwMode="auto">
          <a:xfrm>
            <a:off x="1462756" y="458381"/>
            <a:ext cx="1017418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2800" b="1" dirty="0">
                <a:solidFill>
                  <a:srgbClr val="006600"/>
                </a:solidFill>
                <a:ea typeface="隶书" panose="02010509060101010101" pitchFamily="49" charset="-122"/>
              </a:rPr>
              <a:t>浮点数的输入输出流格式控制标志</a:t>
            </a:r>
            <a:endParaRPr kumimoji="1" lang="zh-CN" altLang="en-US" sz="2800" b="1" dirty="0">
              <a:solidFill>
                <a:srgbClr val="006600"/>
              </a:solidFill>
              <a:ea typeface="隶书" panose="020105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en-US" altLang="zh-CN" sz="2400" b="1" dirty="0" err="1">
                <a:solidFill>
                  <a:srgbClr val="660066"/>
                </a:solidFill>
                <a:ea typeface="宋体" panose="02010600030101010101" pitchFamily="2" charset="-122"/>
              </a:rPr>
              <a:t>ios</a:t>
            </a:r>
            <a:r>
              <a:rPr kumimoji="1" lang="zh-CN" altLang="en-US" sz="2400" b="1" dirty="0">
                <a:solidFill>
                  <a:srgbClr val="660066"/>
                </a:solidFill>
                <a:ea typeface="宋体" panose="02010600030101010101" pitchFamily="2" charset="-122"/>
              </a:rPr>
              <a:t>类中相关成员：</a:t>
            </a:r>
            <a:endParaRPr kumimoji="1" lang="en-US" altLang="zh-CN" sz="2400" b="1" dirty="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 algn="l"/>
            <a:r>
              <a:rPr kumimoji="1" lang="en-US" altLang="zh-CN" sz="2400" b="1" dirty="0"/>
              <a:t>protected:</a:t>
            </a:r>
            <a:endParaRPr kumimoji="1" lang="en-US" altLang="zh-CN" sz="2400" b="1" dirty="0"/>
          </a:p>
          <a:p>
            <a:pPr algn="l"/>
            <a:r>
              <a:rPr kumimoji="1" lang="en-US" altLang="zh-CN" sz="2400" b="1" dirty="0"/>
              <a:t>   int </a:t>
            </a:r>
            <a:r>
              <a:rPr kumimoji="1" lang="en-US" altLang="zh-CN" sz="2400" b="1" dirty="0" err="1">
                <a:solidFill>
                  <a:srgbClr val="FF0000"/>
                </a:solidFill>
              </a:rPr>
              <a:t>x_precision</a:t>
            </a:r>
            <a:r>
              <a:rPr kumimoji="1" lang="en-US" altLang="zh-CN" sz="2400" b="1" dirty="0"/>
              <a:t>; </a:t>
            </a:r>
            <a:r>
              <a:rPr kumimoji="1" lang="en-US" altLang="zh-CN" sz="2000" dirty="0">
                <a:solidFill>
                  <a:srgbClr val="006600"/>
                </a:solidFill>
              </a:rPr>
              <a:t>//</a:t>
            </a:r>
            <a:r>
              <a:rPr kumimoji="1" lang="zh-CN" altLang="en-US" sz="2000" dirty="0">
                <a:solidFill>
                  <a:srgbClr val="006600"/>
                </a:solidFill>
              </a:rPr>
              <a:t>标志浮点数精度</a:t>
            </a:r>
            <a:r>
              <a:rPr kumimoji="1" lang="en-US" altLang="zh-CN" sz="2000" dirty="0">
                <a:solidFill>
                  <a:srgbClr val="006600"/>
                </a:solidFill>
              </a:rPr>
              <a:t>,</a:t>
            </a:r>
            <a:r>
              <a:rPr kumimoji="1" lang="zh-CN" altLang="en-US" sz="2000" dirty="0">
                <a:solidFill>
                  <a:srgbClr val="006600"/>
                </a:solidFill>
              </a:rPr>
              <a:t>默认为</a:t>
            </a:r>
            <a:r>
              <a:rPr kumimoji="1" lang="en-US" altLang="zh-CN" sz="2000" dirty="0">
                <a:solidFill>
                  <a:srgbClr val="006600"/>
                </a:solidFill>
              </a:rPr>
              <a:t>6</a:t>
            </a:r>
            <a:r>
              <a:rPr kumimoji="1" lang="zh-CN" altLang="en-US" sz="2000" dirty="0">
                <a:solidFill>
                  <a:srgbClr val="006600"/>
                </a:solidFill>
              </a:rPr>
              <a:t>位</a:t>
            </a:r>
            <a:endParaRPr kumimoji="1" lang="zh-CN" altLang="en-US" sz="2000" dirty="0">
              <a:solidFill>
                <a:srgbClr val="006600"/>
              </a:solidFill>
            </a:endParaRPr>
          </a:p>
          <a:p>
            <a:pPr algn="l"/>
            <a:r>
              <a:rPr kumimoji="1" lang="zh-CN" altLang="en-US" sz="2400" b="1" dirty="0"/>
              <a:t>   </a:t>
            </a:r>
            <a:r>
              <a:rPr kumimoji="1" lang="en-US" altLang="zh-CN" sz="2400" b="1" dirty="0"/>
              <a:t>int </a:t>
            </a:r>
            <a:r>
              <a:rPr kumimoji="1" lang="en-US" altLang="zh-CN" sz="2400" b="1" dirty="0" err="1">
                <a:solidFill>
                  <a:srgbClr val="FF0000"/>
                </a:solidFill>
              </a:rPr>
              <a:t>x_width</a:t>
            </a:r>
            <a:r>
              <a:rPr kumimoji="1" lang="en-US" altLang="zh-CN" sz="2400" b="1" dirty="0"/>
              <a:t>; </a:t>
            </a:r>
            <a:r>
              <a:rPr kumimoji="1" lang="en-US" altLang="zh-CN" sz="2000" dirty="0">
                <a:solidFill>
                  <a:srgbClr val="006600"/>
                </a:solidFill>
              </a:rPr>
              <a:t>//</a:t>
            </a:r>
            <a:r>
              <a:rPr kumimoji="1" lang="zh-CN" altLang="en-US" sz="2000" dirty="0">
                <a:solidFill>
                  <a:srgbClr val="006600"/>
                </a:solidFill>
              </a:rPr>
              <a:t>输出域宽</a:t>
            </a:r>
            <a:r>
              <a:rPr kumimoji="1" lang="en-US" altLang="zh-CN" sz="2000" dirty="0">
                <a:solidFill>
                  <a:srgbClr val="006600"/>
                </a:solidFill>
              </a:rPr>
              <a:t>,</a:t>
            </a:r>
            <a:r>
              <a:rPr kumimoji="1" lang="zh-CN" altLang="en-US" sz="2000" dirty="0">
                <a:solidFill>
                  <a:srgbClr val="006600"/>
                </a:solidFill>
              </a:rPr>
              <a:t>默认域宽为</a:t>
            </a:r>
            <a:r>
              <a:rPr kumimoji="1" lang="en-US" altLang="zh-CN" sz="2000" dirty="0">
                <a:solidFill>
                  <a:srgbClr val="006600"/>
                </a:solidFill>
              </a:rPr>
              <a:t>0</a:t>
            </a:r>
            <a:r>
              <a:rPr kumimoji="1" lang="zh-CN" altLang="en-US" dirty="0">
                <a:solidFill>
                  <a:srgbClr val="006600"/>
                </a:solidFill>
              </a:rPr>
              <a:t>，</a:t>
            </a:r>
            <a:r>
              <a:rPr kumimoji="1" lang="zh-CN" altLang="en-US" sz="2000" dirty="0">
                <a:solidFill>
                  <a:srgbClr val="006600"/>
                </a:solidFill>
              </a:rPr>
              <a:t>重设域宽只对其后第一输出项有效</a:t>
            </a:r>
            <a:r>
              <a:rPr kumimoji="1" lang="en-US" altLang="zh-CN" sz="2000" dirty="0">
                <a:solidFill>
                  <a:srgbClr val="006600"/>
                </a:solidFill>
              </a:rPr>
              <a:t>,</a:t>
            </a:r>
            <a:r>
              <a:rPr kumimoji="1" lang="zh-CN" altLang="en-US" sz="2000" dirty="0">
                <a:solidFill>
                  <a:srgbClr val="006600"/>
                </a:solidFill>
              </a:rPr>
              <a:t>如域宽不足</a:t>
            </a:r>
            <a:r>
              <a:rPr kumimoji="1" lang="en-US" altLang="zh-CN" sz="2000" dirty="0">
                <a:solidFill>
                  <a:srgbClr val="006600"/>
                </a:solidFill>
              </a:rPr>
              <a:t>,</a:t>
            </a:r>
            <a:r>
              <a:rPr kumimoji="1" lang="zh-CN" altLang="en-US" sz="2000" dirty="0">
                <a:solidFill>
                  <a:srgbClr val="006600"/>
                </a:solidFill>
              </a:rPr>
              <a:t>则不受限制</a:t>
            </a:r>
            <a:endParaRPr kumimoji="1" lang="zh-CN" altLang="en-US" sz="2400" dirty="0">
              <a:solidFill>
                <a:srgbClr val="006600"/>
              </a:solidFill>
            </a:endParaRPr>
          </a:p>
          <a:p>
            <a:pPr algn="l"/>
            <a:r>
              <a:rPr kumimoji="1" lang="zh-CN" altLang="en-US" sz="2400" b="1" dirty="0"/>
              <a:t>   </a:t>
            </a:r>
            <a:r>
              <a:rPr kumimoji="1" lang="en-US" altLang="zh-CN" sz="2400" b="1" dirty="0"/>
              <a:t>char </a:t>
            </a:r>
            <a:r>
              <a:rPr kumimoji="1" lang="en-US" altLang="zh-CN" sz="2400" b="1" dirty="0" err="1">
                <a:solidFill>
                  <a:srgbClr val="FF0000"/>
                </a:solidFill>
              </a:rPr>
              <a:t>x_fill</a:t>
            </a:r>
            <a:r>
              <a:rPr kumimoji="1" lang="en-US" altLang="zh-CN" sz="2400" b="1" dirty="0"/>
              <a:t>; </a:t>
            </a:r>
            <a:r>
              <a:rPr kumimoji="1" lang="en-US" altLang="zh-CN" sz="2000" dirty="0">
                <a:solidFill>
                  <a:srgbClr val="006600"/>
                </a:solidFill>
              </a:rPr>
              <a:t>//</a:t>
            </a:r>
            <a:r>
              <a:rPr kumimoji="1" lang="zh-CN" altLang="en-US" sz="2000" dirty="0">
                <a:solidFill>
                  <a:srgbClr val="006600"/>
                </a:solidFill>
              </a:rPr>
              <a:t>标志域宽有富余时填入的字符</a:t>
            </a:r>
            <a:endParaRPr kumimoji="1" lang="zh-CN" altLang="en-US" sz="2400" dirty="0">
              <a:solidFill>
                <a:srgbClr val="006600"/>
              </a:solidFill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500327" y="3027041"/>
            <a:ext cx="8893175" cy="315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zh-CN" sz="2400" b="1" dirty="0" err="1">
                <a:solidFill>
                  <a:srgbClr val="660066"/>
                </a:solidFill>
                <a:ea typeface="宋体" panose="02010600030101010101" pitchFamily="2" charset="-122"/>
              </a:rPr>
              <a:t>ios</a:t>
            </a:r>
            <a:r>
              <a:rPr kumimoji="1" lang="zh-CN" altLang="en-US" sz="2400" b="1" dirty="0">
                <a:solidFill>
                  <a:srgbClr val="660066"/>
                </a:solidFill>
                <a:ea typeface="宋体" panose="02010600030101010101" pitchFamily="2" charset="-122"/>
              </a:rPr>
              <a:t>类相关接口函数：</a:t>
            </a:r>
            <a:endParaRPr kumimoji="1" lang="zh-CN" altLang="en-US" sz="2400" b="1" dirty="0">
              <a:solidFill>
                <a:srgbClr val="660066"/>
              </a:solidFill>
              <a:ea typeface="宋体" panose="02010600030101010101" pitchFamily="2" charset="-122"/>
            </a:endParaRPr>
          </a:p>
          <a:p>
            <a:pPr algn="l"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3333CC"/>
                </a:solidFill>
              </a:rPr>
              <a:t>inline int</a:t>
            </a:r>
            <a:r>
              <a:rPr kumimoji="1" lang="en-US" altLang="zh-CN" sz="2400" b="1" dirty="0"/>
              <a:t> </a:t>
            </a:r>
            <a:r>
              <a:rPr kumimoji="1" lang="en-US" altLang="zh-CN" sz="2400" b="1" dirty="0" err="1"/>
              <a:t>ios</a:t>
            </a:r>
            <a:r>
              <a:rPr kumimoji="1" lang="en-US" altLang="zh-CN" sz="2400" b="1" dirty="0"/>
              <a:t>::width() </a:t>
            </a:r>
            <a:r>
              <a:rPr kumimoji="1" lang="en-US" altLang="zh-CN" sz="2400" b="1" dirty="0">
                <a:solidFill>
                  <a:srgbClr val="3333CC"/>
                </a:solidFill>
              </a:rPr>
              <a:t>const</a:t>
            </a:r>
            <a:r>
              <a:rPr kumimoji="1" lang="en-US" altLang="zh-CN" sz="2000" b="1" dirty="0"/>
              <a:t>;           </a:t>
            </a:r>
            <a:r>
              <a:rPr kumimoji="1" lang="en-US" altLang="zh-CN" sz="2000" dirty="0">
                <a:solidFill>
                  <a:srgbClr val="006600"/>
                </a:solidFill>
              </a:rPr>
              <a:t>//</a:t>
            </a:r>
            <a:r>
              <a:rPr kumimoji="1" lang="zh-CN" altLang="en-US" sz="2000" dirty="0">
                <a:solidFill>
                  <a:srgbClr val="006600"/>
                </a:solidFill>
              </a:rPr>
              <a:t>返回当前域宽</a:t>
            </a:r>
            <a:endParaRPr kumimoji="1" lang="zh-CN" altLang="en-US" sz="2000" dirty="0">
              <a:solidFill>
                <a:srgbClr val="006600"/>
              </a:solidFill>
            </a:endParaRPr>
          </a:p>
          <a:p>
            <a:pPr algn="l"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3333CC"/>
                </a:solidFill>
              </a:rPr>
              <a:t>inline int</a:t>
            </a:r>
            <a:r>
              <a:rPr kumimoji="1" lang="en-US" altLang="zh-CN" sz="2400" b="1" dirty="0"/>
              <a:t> </a:t>
            </a:r>
            <a:r>
              <a:rPr kumimoji="1" lang="en-US" altLang="zh-CN" sz="2400" b="1" dirty="0" err="1"/>
              <a:t>ios</a:t>
            </a:r>
            <a:r>
              <a:rPr kumimoji="1" lang="en-US" altLang="zh-CN" sz="2400" b="1" dirty="0"/>
              <a:t>::width(</a:t>
            </a:r>
            <a:r>
              <a:rPr kumimoji="1" lang="en-US" altLang="zh-CN" sz="2400" b="1" dirty="0">
                <a:solidFill>
                  <a:srgbClr val="3333CC"/>
                </a:solidFill>
              </a:rPr>
              <a:t>int</a:t>
            </a:r>
            <a:r>
              <a:rPr kumimoji="1" lang="en-US" altLang="zh-CN" sz="2400" b="1" dirty="0"/>
              <a:t> );      </a:t>
            </a:r>
            <a:r>
              <a:rPr kumimoji="1" lang="en-US" altLang="zh-CN" sz="2000" dirty="0">
                <a:solidFill>
                  <a:srgbClr val="006600"/>
                </a:solidFill>
              </a:rPr>
              <a:t>//</a:t>
            </a:r>
            <a:r>
              <a:rPr kumimoji="1" lang="zh-CN" altLang="en-US" sz="2000" dirty="0">
                <a:solidFill>
                  <a:srgbClr val="006600"/>
                </a:solidFill>
              </a:rPr>
              <a:t>把参数作为新的域宽</a:t>
            </a:r>
            <a:r>
              <a:rPr kumimoji="1" lang="en-US" altLang="zh-CN" sz="2000" dirty="0">
                <a:solidFill>
                  <a:srgbClr val="006600"/>
                </a:solidFill>
              </a:rPr>
              <a:t>,</a:t>
            </a:r>
            <a:r>
              <a:rPr kumimoji="1" lang="zh-CN" altLang="en-US" sz="2000" dirty="0">
                <a:solidFill>
                  <a:srgbClr val="006600"/>
                </a:solidFill>
              </a:rPr>
              <a:t>返回原域宽</a:t>
            </a:r>
            <a:endParaRPr kumimoji="1" lang="zh-CN" altLang="en-US" sz="2000" dirty="0">
              <a:solidFill>
                <a:srgbClr val="006600"/>
              </a:solidFill>
            </a:endParaRPr>
          </a:p>
          <a:p>
            <a:pPr algn="l"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3333CC"/>
                </a:solidFill>
              </a:rPr>
              <a:t>inline char</a:t>
            </a:r>
            <a:r>
              <a:rPr kumimoji="1" lang="en-US" altLang="zh-CN" sz="2400" b="1" dirty="0"/>
              <a:t> </a:t>
            </a:r>
            <a:r>
              <a:rPr kumimoji="1" lang="en-US" altLang="zh-CN" sz="2400" b="1" dirty="0" err="1"/>
              <a:t>ios</a:t>
            </a:r>
            <a:r>
              <a:rPr kumimoji="1" lang="en-US" altLang="zh-CN" sz="2400" b="1" dirty="0"/>
              <a:t>::fill() </a:t>
            </a:r>
            <a:r>
              <a:rPr kumimoji="1" lang="en-US" altLang="zh-CN" sz="2400" b="1" dirty="0">
                <a:solidFill>
                  <a:srgbClr val="3333CC"/>
                </a:solidFill>
              </a:rPr>
              <a:t>const</a:t>
            </a:r>
            <a:r>
              <a:rPr kumimoji="1" lang="en-US" altLang="zh-CN" sz="2400" b="1" dirty="0"/>
              <a:t>;      </a:t>
            </a:r>
            <a:r>
              <a:rPr kumimoji="1" lang="en-US" altLang="zh-CN" sz="2000" dirty="0">
                <a:solidFill>
                  <a:srgbClr val="006600"/>
                </a:solidFill>
              </a:rPr>
              <a:t>//</a:t>
            </a:r>
            <a:r>
              <a:rPr kumimoji="1" lang="zh-CN" altLang="en-US" sz="2000" dirty="0">
                <a:solidFill>
                  <a:srgbClr val="006600"/>
                </a:solidFill>
              </a:rPr>
              <a:t>返回当前填充字符</a:t>
            </a:r>
            <a:endParaRPr kumimoji="1" lang="zh-CN" altLang="en-US" sz="2000" dirty="0">
              <a:solidFill>
                <a:srgbClr val="006600"/>
              </a:solidFill>
            </a:endParaRPr>
          </a:p>
          <a:p>
            <a:pPr algn="l"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3333CC"/>
                </a:solidFill>
              </a:rPr>
              <a:t>inline char</a:t>
            </a:r>
            <a:r>
              <a:rPr kumimoji="1" lang="en-US" altLang="zh-CN" sz="2400" b="1" dirty="0"/>
              <a:t> </a:t>
            </a:r>
            <a:r>
              <a:rPr kumimoji="1" lang="en-US" altLang="zh-CN" sz="2400" b="1" dirty="0" err="1"/>
              <a:t>ios</a:t>
            </a:r>
            <a:r>
              <a:rPr kumimoji="1" lang="en-US" altLang="zh-CN" sz="2400" b="1" dirty="0"/>
              <a:t>::fill(</a:t>
            </a:r>
            <a:r>
              <a:rPr kumimoji="1" lang="en-US" altLang="zh-CN" sz="2400" b="1" dirty="0">
                <a:solidFill>
                  <a:srgbClr val="3333CC"/>
                </a:solidFill>
              </a:rPr>
              <a:t>char</a:t>
            </a:r>
            <a:r>
              <a:rPr kumimoji="1" lang="en-US" altLang="zh-CN" sz="2400" b="1" dirty="0"/>
              <a:t> );         </a:t>
            </a:r>
            <a:r>
              <a:rPr kumimoji="1" lang="en-US" altLang="zh-CN" sz="2000" dirty="0">
                <a:solidFill>
                  <a:srgbClr val="006600"/>
                </a:solidFill>
              </a:rPr>
              <a:t>//</a:t>
            </a:r>
            <a:r>
              <a:rPr kumimoji="1" lang="zh-CN" altLang="en-US" sz="2000" dirty="0">
                <a:solidFill>
                  <a:srgbClr val="006600"/>
                </a:solidFill>
              </a:rPr>
              <a:t>参数为新填充字符</a:t>
            </a:r>
            <a:r>
              <a:rPr kumimoji="1" lang="en-US" altLang="zh-CN" sz="2000" dirty="0">
                <a:solidFill>
                  <a:srgbClr val="006600"/>
                </a:solidFill>
              </a:rPr>
              <a:t>,</a:t>
            </a:r>
            <a:r>
              <a:rPr kumimoji="1" lang="zh-CN" altLang="en-US" sz="2000" dirty="0">
                <a:solidFill>
                  <a:srgbClr val="006600"/>
                </a:solidFill>
              </a:rPr>
              <a:t>返回原填充字符</a:t>
            </a:r>
            <a:endParaRPr kumimoji="1" lang="zh-CN" altLang="en-US" sz="2000" dirty="0">
              <a:solidFill>
                <a:srgbClr val="006600"/>
              </a:solidFill>
            </a:endParaRPr>
          </a:p>
          <a:p>
            <a:pPr algn="l"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3333CC"/>
                </a:solidFill>
              </a:rPr>
              <a:t>inline int</a:t>
            </a:r>
            <a:r>
              <a:rPr kumimoji="1" lang="en-US" altLang="zh-CN" sz="2400" b="1" dirty="0"/>
              <a:t> </a:t>
            </a:r>
            <a:r>
              <a:rPr kumimoji="1" lang="en-US" altLang="zh-CN" sz="2400" b="1" dirty="0" err="1"/>
              <a:t>ios</a:t>
            </a:r>
            <a:r>
              <a:rPr kumimoji="1" lang="en-US" altLang="zh-CN" sz="2400" b="1" dirty="0"/>
              <a:t>::precision(</a:t>
            </a:r>
            <a:r>
              <a:rPr kumimoji="1" lang="en-US" altLang="zh-CN" sz="2400" b="1" dirty="0">
                <a:solidFill>
                  <a:srgbClr val="3333CC"/>
                </a:solidFill>
              </a:rPr>
              <a:t>int</a:t>
            </a:r>
            <a:r>
              <a:rPr kumimoji="1" lang="en-US" altLang="zh-CN" sz="2400" b="1" dirty="0"/>
              <a:t> );        </a:t>
            </a:r>
            <a:r>
              <a:rPr kumimoji="1" lang="en-US" altLang="zh-CN" sz="2000" dirty="0">
                <a:solidFill>
                  <a:srgbClr val="006600"/>
                </a:solidFill>
              </a:rPr>
              <a:t>//</a:t>
            </a:r>
            <a:r>
              <a:rPr kumimoji="1" lang="zh-CN" altLang="en-US" sz="2000" dirty="0">
                <a:solidFill>
                  <a:srgbClr val="006600"/>
                </a:solidFill>
              </a:rPr>
              <a:t>参数作为新精度</a:t>
            </a:r>
            <a:r>
              <a:rPr kumimoji="1" lang="en-US" altLang="zh-CN" sz="2000" dirty="0">
                <a:solidFill>
                  <a:srgbClr val="006600"/>
                </a:solidFill>
              </a:rPr>
              <a:t>,</a:t>
            </a:r>
            <a:r>
              <a:rPr kumimoji="1" lang="zh-CN" altLang="en-US" sz="2000" dirty="0">
                <a:solidFill>
                  <a:srgbClr val="006600"/>
                </a:solidFill>
              </a:rPr>
              <a:t>返回原精度</a:t>
            </a:r>
            <a:endParaRPr kumimoji="1" lang="zh-CN" altLang="en-US" sz="2000" dirty="0">
              <a:solidFill>
                <a:srgbClr val="006600"/>
              </a:solidFill>
            </a:endParaRPr>
          </a:p>
          <a:p>
            <a:pPr algn="l">
              <a:lnSpc>
                <a:spcPct val="120000"/>
              </a:lnSpc>
            </a:pPr>
            <a:r>
              <a:rPr kumimoji="1" lang="en-US" altLang="zh-CN" sz="2400" b="1" dirty="0">
                <a:solidFill>
                  <a:srgbClr val="3333CC"/>
                </a:solidFill>
              </a:rPr>
              <a:t>inline int</a:t>
            </a:r>
            <a:r>
              <a:rPr kumimoji="1" lang="en-US" altLang="zh-CN" sz="2400" b="1" dirty="0"/>
              <a:t> </a:t>
            </a:r>
            <a:r>
              <a:rPr kumimoji="1" lang="en-US" altLang="zh-CN" sz="2400" b="1" dirty="0" err="1"/>
              <a:t>ios</a:t>
            </a:r>
            <a:r>
              <a:rPr kumimoji="1" lang="en-US" altLang="zh-CN" sz="2400" b="1" dirty="0"/>
              <a:t>::precision() </a:t>
            </a:r>
            <a:r>
              <a:rPr kumimoji="1" lang="en-US" altLang="zh-CN" sz="2400" b="1" dirty="0">
                <a:solidFill>
                  <a:srgbClr val="3333CC"/>
                </a:solidFill>
              </a:rPr>
              <a:t>const</a:t>
            </a:r>
            <a:r>
              <a:rPr kumimoji="1" lang="en-US" altLang="zh-CN" sz="2400" b="1" dirty="0"/>
              <a:t>;        </a:t>
            </a:r>
            <a:r>
              <a:rPr kumimoji="1" lang="en-US" altLang="zh-CN" sz="2000" dirty="0">
                <a:solidFill>
                  <a:srgbClr val="006600"/>
                </a:solidFill>
              </a:rPr>
              <a:t>//</a:t>
            </a:r>
            <a:r>
              <a:rPr kumimoji="1" lang="zh-CN" altLang="en-US" sz="2000" dirty="0">
                <a:solidFill>
                  <a:srgbClr val="006600"/>
                </a:solidFill>
              </a:rPr>
              <a:t>返回当前精度</a:t>
            </a:r>
            <a:endParaRPr kumimoji="1" lang="zh-CN" altLang="en-US" sz="2400" dirty="0">
              <a:solidFill>
                <a:srgbClr val="0066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006310" y="361732"/>
            <a:ext cx="8569325" cy="5334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just"/>
            <a:r>
              <a:rPr kumimoji="1"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例：输入输出格式控制</a:t>
            </a:r>
            <a:r>
              <a:rPr kumimoji="1" lang="en-US" altLang="zh-CN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---</a:t>
            </a:r>
            <a:r>
              <a:rPr kumimoji="1" lang="zh-C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浮点数输出。</a:t>
            </a:r>
            <a:endParaRPr kumimoji="1" lang="zh-CN" altLang="en-US" sz="2400" b="1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/>
            <a:r>
              <a:rPr kumimoji="1" lang="en-US" altLang="zh-CN" sz="2000" b="1" dirty="0">
                <a:solidFill>
                  <a:srgbClr val="3333CC"/>
                </a:solidFill>
              </a:rPr>
              <a:t>int </a:t>
            </a:r>
            <a:r>
              <a:rPr kumimoji="1" lang="en-US" altLang="zh-CN" sz="2000" b="1" dirty="0"/>
              <a:t>main(){</a:t>
            </a:r>
            <a:endParaRPr kumimoji="1" lang="en-US" altLang="zh-CN" sz="2000" b="1" dirty="0"/>
          </a:p>
          <a:p>
            <a:pPr algn="l"/>
            <a:r>
              <a:rPr kumimoji="1" lang="en-US" altLang="zh-CN" sz="2000" b="1" dirty="0"/>
              <a:t>	</a:t>
            </a:r>
            <a:r>
              <a:rPr kumimoji="1" lang="en-US" altLang="zh-CN" sz="2000" b="1" dirty="0">
                <a:solidFill>
                  <a:srgbClr val="3333CC"/>
                </a:solidFill>
              </a:rPr>
              <a:t>double</a:t>
            </a:r>
            <a:r>
              <a:rPr kumimoji="1" lang="en-US" altLang="zh-CN" sz="2000" b="1" dirty="0"/>
              <a:t> </a:t>
            </a:r>
            <a:r>
              <a:rPr kumimoji="1" lang="en-US" altLang="zh-CN" sz="2000" b="1" dirty="0" err="1"/>
              <a:t>fnum</a:t>
            </a:r>
            <a:r>
              <a:rPr kumimoji="1" lang="en-US" altLang="zh-CN" sz="2000" b="1" dirty="0"/>
              <a:t>=31.415926535;</a:t>
            </a:r>
            <a:endParaRPr kumimoji="1" lang="en-US" altLang="zh-CN" sz="2000" b="1" dirty="0"/>
          </a:p>
          <a:p>
            <a:pPr algn="l"/>
            <a:r>
              <a:rPr kumimoji="1" lang="en-US" altLang="zh-CN" sz="2000" b="1" dirty="0"/>
              <a:t>	</a:t>
            </a:r>
            <a:r>
              <a:rPr kumimoji="1" lang="en-US" altLang="zh-CN" sz="2000" b="1" dirty="0" err="1"/>
              <a:t>cout</a:t>
            </a:r>
            <a:r>
              <a:rPr kumimoji="1" lang="en-US" altLang="zh-CN" sz="2000" b="1" dirty="0"/>
              <a:t>&lt;&lt;"</a:t>
            </a:r>
            <a:r>
              <a:rPr kumimoji="1" lang="zh-CN" altLang="en-US" sz="2000" b="1" dirty="0"/>
              <a:t>默认域宽为</a:t>
            </a:r>
            <a:r>
              <a:rPr kumimoji="1" lang="en-US" altLang="zh-CN" sz="2000" b="1" dirty="0"/>
              <a:t>:"&lt;&lt;</a:t>
            </a:r>
            <a:r>
              <a:rPr kumimoji="1" lang="en-US" altLang="zh-CN" sz="2000" b="1" dirty="0" err="1"/>
              <a:t>cout.</a:t>
            </a:r>
            <a:r>
              <a:rPr kumimoji="1" lang="en-US" altLang="zh-CN" sz="2000" b="1" dirty="0" err="1">
                <a:solidFill>
                  <a:srgbClr val="FF0000"/>
                </a:solidFill>
              </a:rPr>
              <a:t>width</a:t>
            </a:r>
            <a:r>
              <a:rPr kumimoji="1" lang="en-US" altLang="zh-CN" sz="2000" b="1" dirty="0"/>
              <a:t>()&lt;&lt;"</a:t>
            </a:r>
            <a:r>
              <a:rPr kumimoji="1" lang="zh-CN" altLang="en-US" sz="2000" b="1" dirty="0"/>
              <a:t>位</a:t>
            </a:r>
            <a:r>
              <a:rPr kumimoji="1" lang="en-US" altLang="zh-CN" sz="2000" b="1" dirty="0"/>
              <a:t>"&lt;&lt;'\n'; </a:t>
            </a:r>
            <a:endParaRPr kumimoji="1" lang="en-US" altLang="zh-CN" sz="2000" b="1" dirty="0"/>
          </a:p>
          <a:p>
            <a:pPr algn="l"/>
            <a:r>
              <a:rPr kumimoji="1" lang="en-US" altLang="zh-CN" sz="2000" b="1" dirty="0"/>
              <a:t>	</a:t>
            </a:r>
            <a:r>
              <a:rPr kumimoji="1" lang="en-US" altLang="zh-CN" sz="2000" b="1" dirty="0" err="1"/>
              <a:t>cout</a:t>
            </a:r>
            <a:r>
              <a:rPr kumimoji="1" lang="en-US" altLang="zh-CN" sz="2000" b="1" dirty="0"/>
              <a:t>&lt;&lt;"</a:t>
            </a:r>
            <a:r>
              <a:rPr kumimoji="1" lang="zh-CN" altLang="en-US" sz="2000" b="1" dirty="0"/>
              <a:t>默认精度为</a:t>
            </a:r>
            <a:r>
              <a:rPr kumimoji="1" lang="en-US" altLang="zh-CN" sz="2000" b="1" dirty="0"/>
              <a:t>:"&lt;&lt;</a:t>
            </a:r>
            <a:r>
              <a:rPr kumimoji="1" lang="en-US" altLang="zh-CN" sz="2000" b="1" dirty="0" err="1"/>
              <a:t>cout.</a:t>
            </a:r>
            <a:r>
              <a:rPr kumimoji="1" lang="en-US" altLang="zh-CN" sz="2000" b="1" dirty="0" err="1">
                <a:solidFill>
                  <a:srgbClr val="FF0000"/>
                </a:solidFill>
              </a:rPr>
              <a:t>precision</a:t>
            </a:r>
            <a:r>
              <a:rPr kumimoji="1" lang="en-US" altLang="zh-CN" sz="2000" b="1" dirty="0"/>
              <a:t>()&lt;&lt;"</a:t>
            </a:r>
            <a:r>
              <a:rPr kumimoji="1" lang="zh-CN" altLang="en-US" sz="2000" b="1" dirty="0"/>
              <a:t>位</a:t>
            </a:r>
            <a:r>
              <a:rPr kumimoji="1" lang="en-US" altLang="zh-CN" sz="2000" b="1" dirty="0"/>
              <a:t>"&lt;&lt;'\n';          </a:t>
            </a:r>
            <a:endParaRPr kumimoji="1" lang="en-US" altLang="zh-CN" sz="2000" b="1" dirty="0"/>
          </a:p>
          <a:p>
            <a:pPr algn="l"/>
            <a:r>
              <a:rPr kumimoji="1" lang="en-US" altLang="zh-CN" sz="2000" b="1" dirty="0"/>
              <a:t>              </a:t>
            </a:r>
            <a:r>
              <a:rPr kumimoji="1" lang="en-US" altLang="zh-CN" sz="2000" b="1" dirty="0">
                <a:solidFill>
                  <a:srgbClr val="006600"/>
                </a:solidFill>
              </a:rPr>
              <a:t>//</a:t>
            </a:r>
            <a:r>
              <a:rPr kumimoji="1" lang="en-US" altLang="zh-CN" sz="2000" b="1" dirty="0" err="1">
                <a:solidFill>
                  <a:srgbClr val="006600"/>
                </a:solidFill>
              </a:rPr>
              <a:t>floatfield</a:t>
            </a:r>
            <a:r>
              <a:rPr kumimoji="1" lang="zh-CN" altLang="en-US" sz="2000" b="1" dirty="0">
                <a:solidFill>
                  <a:srgbClr val="006600"/>
                </a:solidFill>
              </a:rPr>
              <a:t>为</a:t>
            </a:r>
            <a:r>
              <a:rPr kumimoji="1" lang="en-US" altLang="zh-CN" sz="2000" b="1" dirty="0">
                <a:solidFill>
                  <a:srgbClr val="006600"/>
                </a:solidFill>
              </a:rPr>
              <a:t>0x1800</a:t>
            </a:r>
            <a:endParaRPr kumimoji="1" lang="en-US" altLang="zh-CN" sz="2000" b="1" dirty="0">
              <a:solidFill>
                <a:srgbClr val="006600"/>
              </a:solidFill>
            </a:endParaRPr>
          </a:p>
          <a:p>
            <a:pPr algn="l"/>
            <a:r>
              <a:rPr kumimoji="1" lang="en-US" altLang="zh-CN" sz="2000" b="1" dirty="0"/>
              <a:t>	</a:t>
            </a:r>
            <a:r>
              <a:rPr kumimoji="1" lang="en-US" altLang="zh-CN" sz="2000" b="1" dirty="0" err="1"/>
              <a:t>cout</a:t>
            </a:r>
            <a:r>
              <a:rPr kumimoji="1" lang="en-US" altLang="zh-CN" sz="2000" b="1" dirty="0"/>
              <a:t>&lt;&lt;"</a:t>
            </a:r>
            <a:r>
              <a:rPr kumimoji="1" lang="zh-CN" altLang="en-US" sz="2000" b="1" dirty="0"/>
              <a:t>默认表达方式</a:t>
            </a:r>
            <a:r>
              <a:rPr kumimoji="1" lang="en-US" altLang="zh-CN" sz="2000" b="1" dirty="0"/>
              <a:t>:"&lt;&lt;</a:t>
            </a:r>
            <a:r>
              <a:rPr kumimoji="1" lang="en-US" altLang="zh-CN" sz="2000" b="1" dirty="0" err="1"/>
              <a:t>fnum</a:t>
            </a:r>
            <a:r>
              <a:rPr kumimoji="1" lang="en-US" altLang="zh-CN" sz="2000" b="1" dirty="0"/>
              <a:t>&lt;&lt;'\n';    </a:t>
            </a:r>
            <a:endParaRPr kumimoji="1" lang="en-US" altLang="zh-CN" sz="2000" b="1" dirty="0"/>
          </a:p>
          <a:p>
            <a:pPr algn="l"/>
            <a:r>
              <a:rPr kumimoji="1" lang="en-US" altLang="zh-CN" sz="2000" b="1" dirty="0"/>
              <a:t>             </a:t>
            </a:r>
            <a:r>
              <a:rPr kumimoji="1" lang="en-US" altLang="zh-CN" sz="2000" b="1" dirty="0">
                <a:solidFill>
                  <a:srgbClr val="006600"/>
                </a:solidFill>
              </a:rPr>
              <a:t>//</a:t>
            </a:r>
            <a:r>
              <a:rPr kumimoji="1" lang="zh-CN" altLang="en-US" sz="2000" b="1" dirty="0">
                <a:solidFill>
                  <a:srgbClr val="006600"/>
                </a:solidFill>
              </a:rPr>
              <a:t>按值大小</a:t>
            </a:r>
            <a:r>
              <a:rPr kumimoji="1" lang="en-US" altLang="zh-CN" sz="2000" b="1" dirty="0">
                <a:solidFill>
                  <a:srgbClr val="006600"/>
                </a:solidFill>
              </a:rPr>
              <a:t>,</a:t>
            </a:r>
            <a:r>
              <a:rPr kumimoji="1" lang="zh-CN" altLang="en-US" sz="2000" b="1" dirty="0">
                <a:solidFill>
                  <a:srgbClr val="006600"/>
                </a:solidFill>
              </a:rPr>
              <a:t>自动决定定点还是科学数方式</a:t>
            </a:r>
            <a:endParaRPr kumimoji="1" lang="zh-CN" altLang="en-US" sz="2000" b="1" dirty="0">
              <a:solidFill>
                <a:srgbClr val="006600"/>
              </a:solidFill>
            </a:endParaRPr>
          </a:p>
          <a:p>
            <a:pPr algn="l"/>
            <a:r>
              <a:rPr kumimoji="1" lang="zh-CN" altLang="en-US" sz="2000" b="1" dirty="0"/>
              <a:t>	</a:t>
            </a:r>
            <a:r>
              <a:rPr kumimoji="1" lang="en-US" altLang="zh-CN" sz="2000" b="1" dirty="0" err="1"/>
              <a:t>cout.</a:t>
            </a:r>
            <a:r>
              <a:rPr kumimoji="1" lang="en-US" altLang="zh-CN" sz="2000" b="1" dirty="0" err="1">
                <a:solidFill>
                  <a:srgbClr val="0066FF"/>
                </a:solidFill>
              </a:rPr>
              <a:t>setf</a:t>
            </a:r>
            <a:r>
              <a:rPr kumimoji="1" lang="en-US" altLang="zh-CN" sz="2000" b="1" dirty="0">
                <a:solidFill>
                  <a:srgbClr val="0066FF"/>
                </a:solidFill>
              </a:rPr>
              <a:t>(</a:t>
            </a:r>
            <a:r>
              <a:rPr kumimoji="1" lang="en-US" altLang="zh-CN" sz="2000" b="1" dirty="0" err="1">
                <a:solidFill>
                  <a:srgbClr val="FF0000"/>
                </a:solidFill>
              </a:rPr>
              <a:t>ios</a:t>
            </a:r>
            <a:r>
              <a:rPr kumimoji="1" lang="en-US" altLang="zh-CN" sz="2000" b="1" dirty="0">
                <a:solidFill>
                  <a:srgbClr val="FF0000"/>
                </a:solidFill>
              </a:rPr>
              <a:t>::</a:t>
            </a:r>
            <a:r>
              <a:rPr kumimoji="1" lang="en-US" altLang="zh-CN" sz="2000" b="1" dirty="0" err="1">
                <a:solidFill>
                  <a:srgbClr val="FF0000"/>
                </a:solidFill>
              </a:rPr>
              <a:t>scientific,ios</a:t>
            </a:r>
            <a:r>
              <a:rPr kumimoji="1" lang="en-US" altLang="zh-CN" sz="2000" b="1" dirty="0">
                <a:solidFill>
                  <a:srgbClr val="FF0000"/>
                </a:solidFill>
              </a:rPr>
              <a:t>::</a:t>
            </a:r>
            <a:r>
              <a:rPr kumimoji="1" lang="en-US" altLang="zh-CN" sz="2000" b="1" dirty="0" err="1">
                <a:solidFill>
                  <a:srgbClr val="FF0000"/>
                </a:solidFill>
              </a:rPr>
              <a:t>floatfield</a:t>
            </a:r>
            <a:r>
              <a:rPr kumimoji="1" lang="en-US" altLang="zh-CN" sz="2000" b="1" dirty="0"/>
              <a:t>); </a:t>
            </a:r>
            <a:r>
              <a:rPr kumimoji="1" lang="en-US" altLang="zh-CN" sz="2000" b="1" dirty="0">
                <a:solidFill>
                  <a:srgbClr val="006600"/>
                </a:solidFill>
              </a:rPr>
              <a:t>//</a:t>
            </a:r>
            <a:r>
              <a:rPr kumimoji="1" lang="en-US" altLang="zh-CN" sz="2000" b="1" dirty="0" err="1">
                <a:solidFill>
                  <a:srgbClr val="006600"/>
                </a:solidFill>
              </a:rPr>
              <a:t>floatfield</a:t>
            </a:r>
            <a:r>
              <a:rPr kumimoji="1" lang="zh-CN" altLang="en-US" sz="2000" b="1" dirty="0">
                <a:solidFill>
                  <a:srgbClr val="006600"/>
                </a:solidFill>
              </a:rPr>
              <a:t>为</a:t>
            </a:r>
            <a:r>
              <a:rPr kumimoji="1" lang="en-US" altLang="zh-CN" sz="2000" b="1" dirty="0">
                <a:solidFill>
                  <a:srgbClr val="006600"/>
                </a:solidFill>
              </a:rPr>
              <a:t>0x1800</a:t>
            </a:r>
            <a:endParaRPr kumimoji="1" lang="en-US" altLang="zh-CN" sz="2000" b="1" dirty="0">
              <a:solidFill>
                <a:srgbClr val="006600"/>
              </a:solidFill>
            </a:endParaRPr>
          </a:p>
          <a:p>
            <a:pPr algn="l"/>
            <a:r>
              <a:rPr kumimoji="1" lang="en-US" altLang="zh-CN" sz="2000" b="1" dirty="0"/>
              <a:t>	</a:t>
            </a:r>
            <a:r>
              <a:rPr kumimoji="1" lang="en-US" altLang="zh-CN" sz="2000" b="1" dirty="0" err="1"/>
              <a:t>cout</a:t>
            </a:r>
            <a:r>
              <a:rPr kumimoji="1" lang="en-US" altLang="zh-CN" sz="2000" b="1" dirty="0"/>
              <a:t>&lt;&lt;"</a:t>
            </a:r>
            <a:r>
              <a:rPr kumimoji="1" lang="zh-CN" altLang="en-US" sz="2000" b="1" dirty="0"/>
              <a:t>科学数表达方式</a:t>
            </a:r>
            <a:r>
              <a:rPr kumimoji="1" lang="en-US" altLang="zh-CN" sz="2000" b="1" dirty="0"/>
              <a:t>:"&lt;&lt;</a:t>
            </a:r>
            <a:r>
              <a:rPr kumimoji="1" lang="en-US" altLang="zh-CN" sz="2000" b="1" dirty="0" err="1"/>
              <a:t>fnum</a:t>
            </a:r>
            <a:r>
              <a:rPr kumimoji="1" lang="en-US" altLang="zh-CN" sz="2000" b="1" dirty="0"/>
              <a:t>&lt;&lt;'\n';</a:t>
            </a:r>
            <a:endParaRPr kumimoji="1" lang="en-US" altLang="zh-CN" sz="2000" b="1" dirty="0"/>
          </a:p>
          <a:p>
            <a:pPr algn="l"/>
            <a:r>
              <a:rPr kumimoji="1" lang="en-US" altLang="zh-CN" sz="2000" b="1" dirty="0"/>
              <a:t>	</a:t>
            </a:r>
            <a:r>
              <a:rPr kumimoji="1" lang="en-US" altLang="zh-CN" sz="2000" b="1" dirty="0" err="1"/>
              <a:t>cout.</a:t>
            </a:r>
            <a:r>
              <a:rPr kumimoji="1" lang="en-US" altLang="zh-CN" sz="2000" b="1" dirty="0" err="1">
                <a:solidFill>
                  <a:srgbClr val="0066FF"/>
                </a:solidFill>
              </a:rPr>
              <a:t>setf</a:t>
            </a:r>
            <a:r>
              <a:rPr kumimoji="1" lang="en-US" altLang="zh-CN" sz="2000" b="1" dirty="0">
                <a:solidFill>
                  <a:srgbClr val="0066FF"/>
                </a:solidFill>
              </a:rPr>
              <a:t>(</a:t>
            </a:r>
            <a:r>
              <a:rPr kumimoji="1" lang="en-US" altLang="zh-CN" sz="2000" b="1" dirty="0" err="1">
                <a:solidFill>
                  <a:srgbClr val="FF0000"/>
                </a:solidFill>
              </a:rPr>
              <a:t>ios</a:t>
            </a:r>
            <a:r>
              <a:rPr kumimoji="1" lang="en-US" altLang="zh-CN" sz="2000" b="1" dirty="0">
                <a:solidFill>
                  <a:srgbClr val="FF0000"/>
                </a:solidFill>
              </a:rPr>
              <a:t>::</a:t>
            </a:r>
            <a:r>
              <a:rPr kumimoji="1" lang="en-US" altLang="zh-CN" sz="2000" b="1" dirty="0" err="1">
                <a:solidFill>
                  <a:srgbClr val="FF0000"/>
                </a:solidFill>
              </a:rPr>
              <a:t>fixed,ios</a:t>
            </a:r>
            <a:r>
              <a:rPr kumimoji="1" lang="en-US" altLang="zh-CN" sz="2000" b="1" dirty="0">
                <a:solidFill>
                  <a:srgbClr val="FF0000"/>
                </a:solidFill>
              </a:rPr>
              <a:t>::</a:t>
            </a:r>
            <a:r>
              <a:rPr kumimoji="1" lang="en-US" altLang="zh-CN" sz="2000" b="1" dirty="0" err="1">
                <a:solidFill>
                  <a:srgbClr val="FF0000"/>
                </a:solidFill>
              </a:rPr>
              <a:t>floatfield</a:t>
            </a:r>
            <a:r>
              <a:rPr kumimoji="1" lang="en-US" altLang="zh-CN" sz="2000" b="1" dirty="0"/>
              <a:t>); </a:t>
            </a:r>
            <a:r>
              <a:rPr kumimoji="1" lang="en-US" altLang="zh-CN" sz="2000" b="1" dirty="0">
                <a:solidFill>
                  <a:srgbClr val="006600"/>
                </a:solidFill>
              </a:rPr>
              <a:t>//</a:t>
            </a:r>
            <a:r>
              <a:rPr kumimoji="1" lang="zh-CN" altLang="en-US" sz="2000" b="1" dirty="0">
                <a:solidFill>
                  <a:srgbClr val="006600"/>
                </a:solidFill>
              </a:rPr>
              <a:t>设为定点</a:t>
            </a:r>
            <a:r>
              <a:rPr kumimoji="1" lang="en-US" altLang="zh-CN" sz="2000" b="1" dirty="0">
                <a:solidFill>
                  <a:srgbClr val="006600"/>
                </a:solidFill>
              </a:rPr>
              <a:t>,</a:t>
            </a:r>
            <a:r>
              <a:rPr kumimoji="1" lang="zh-CN" altLang="en-US" sz="2000" b="1" dirty="0">
                <a:solidFill>
                  <a:srgbClr val="006600"/>
                </a:solidFill>
              </a:rPr>
              <a:t>取消科学数方式</a:t>
            </a:r>
            <a:endParaRPr kumimoji="1" lang="zh-CN" altLang="en-US" sz="2000" b="1" dirty="0">
              <a:solidFill>
                <a:srgbClr val="006600"/>
              </a:solidFill>
            </a:endParaRPr>
          </a:p>
          <a:p>
            <a:pPr algn="l"/>
            <a:r>
              <a:rPr kumimoji="1" lang="zh-CN" altLang="en-US" sz="2000" b="1" dirty="0"/>
              <a:t>	</a:t>
            </a:r>
            <a:r>
              <a:rPr kumimoji="1" lang="en-US" altLang="zh-CN" sz="2000" b="1" dirty="0" err="1"/>
              <a:t>cout</a:t>
            </a:r>
            <a:r>
              <a:rPr kumimoji="1" lang="en-US" altLang="zh-CN" sz="2000" b="1" dirty="0"/>
              <a:t>&lt;&lt;"</a:t>
            </a:r>
            <a:r>
              <a:rPr kumimoji="1" lang="zh-CN" altLang="en-US" sz="2000" b="1" dirty="0"/>
              <a:t>定点表达方式</a:t>
            </a:r>
            <a:r>
              <a:rPr kumimoji="1" lang="en-US" altLang="zh-CN" sz="2000" b="1" dirty="0"/>
              <a:t>:"&lt;&lt;</a:t>
            </a:r>
            <a:r>
              <a:rPr kumimoji="1" lang="en-US" altLang="zh-CN" sz="2000" b="1" dirty="0" err="1"/>
              <a:t>fnum</a:t>
            </a:r>
            <a:r>
              <a:rPr kumimoji="1" lang="en-US" altLang="zh-CN" sz="2000" b="1" dirty="0"/>
              <a:t>&lt;&lt;'\n';</a:t>
            </a:r>
            <a:endParaRPr kumimoji="1" lang="en-US" altLang="zh-CN" sz="2000" b="1" dirty="0"/>
          </a:p>
          <a:p>
            <a:pPr algn="l"/>
            <a:r>
              <a:rPr kumimoji="1" lang="en-US" altLang="zh-CN" sz="2000" b="1" dirty="0"/>
              <a:t>	</a:t>
            </a:r>
            <a:r>
              <a:rPr kumimoji="1" lang="en-US" altLang="zh-CN" sz="2000" b="1" dirty="0" err="1"/>
              <a:t>cout.</a:t>
            </a:r>
            <a:r>
              <a:rPr kumimoji="1" lang="en-US" altLang="zh-CN" sz="2000" b="1" dirty="0" err="1">
                <a:solidFill>
                  <a:srgbClr val="0066FF"/>
                </a:solidFill>
              </a:rPr>
              <a:t>precision</a:t>
            </a:r>
            <a:r>
              <a:rPr kumimoji="1" lang="en-US" altLang="zh-CN" sz="2000" b="1" dirty="0"/>
              <a:t>(9);                          </a:t>
            </a:r>
            <a:r>
              <a:rPr kumimoji="1" lang="en-US" altLang="zh-CN" sz="2000" b="1" dirty="0">
                <a:solidFill>
                  <a:srgbClr val="006600"/>
                </a:solidFill>
              </a:rPr>
              <a:t>//</a:t>
            </a:r>
            <a:r>
              <a:rPr kumimoji="1" lang="zh-CN" altLang="en-US" sz="2000" b="1" dirty="0">
                <a:solidFill>
                  <a:srgbClr val="006600"/>
                </a:solidFill>
              </a:rPr>
              <a:t>精度</a:t>
            </a:r>
            <a:r>
              <a:rPr kumimoji="1" lang="en-US" altLang="zh-CN" sz="2000" b="1" dirty="0">
                <a:solidFill>
                  <a:srgbClr val="006600"/>
                </a:solidFill>
              </a:rPr>
              <a:t>9</a:t>
            </a:r>
            <a:r>
              <a:rPr kumimoji="1" lang="zh-CN" altLang="en-US" sz="2000" b="1" dirty="0">
                <a:solidFill>
                  <a:srgbClr val="006600"/>
                </a:solidFill>
              </a:rPr>
              <a:t>位指小数点后</a:t>
            </a:r>
            <a:r>
              <a:rPr kumimoji="1" lang="en-US" altLang="zh-CN" sz="2000" b="1" dirty="0">
                <a:solidFill>
                  <a:srgbClr val="006600"/>
                </a:solidFill>
              </a:rPr>
              <a:t>9</a:t>
            </a:r>
            <a:r>
              <a:rPr kumimoji="1" lang="zh-CN" altLang="en-US" sz="2000" b="1" dirty="0">
                <a:solidFill>
                  <a:srgbClr val="006600"/>
                </a:solidFill>
              </a:rPr>
              <a:t>位</a:t>
            </a:r>
            <a:endParaRPr kumimoji="1" lang="zh-CN" altLang="en-US" sz="2000" b="1" dirty="0">
              <a:solidFill>
                <a:srgbClr val="006600"/>
              </a:solidFill>
            </a:endParaRPr>
          </a:p>
          <a:p>
            <a:pPr algn="l"/>
            <a:r>
              <a:rPr kumimoji="1" lang="zh-CN" altLang="en-US" sz="2000" b="1" dirty="0"/>
              <a:t>	</a:t>
            </a:r>
            <a:r>
              <a:rPr kumimoji="1" lang="en-US" altLang="zh-CN" sz="2000" b="1" dirty="0" err="1"/>
              <a:t>cout</a:t>
            </a:r>
            <a:r>
              <a:rPr kumimoji="1" lang="en-US" altLang="zh-CN" sz="2000" b="1" dirty="0" err="1">
                <a:solidFill>
                  <a:srgbClr val="0066FF"/>
                </a:solidFill>
              </a:rPr>
              <a:t>.setf</a:t>
            </a:r>
            <a:r>
              <a:rPr kumimoji="1" lang="en-US" altLang="zh-CN" sz="2000" b="1" dirty="0">
                <a:solidFill>
                  <a:srgbClr val="0066FF"/>
                </a:solidFill>
              </a:rPr>
              <a:t>(</a:t>
            </a:r>
            <a:r>
              <a:rPr kumimoji="1" lang="en-US" altLang="zh-CN" sz="2000" b="1" dirty="0" err="1">
                <a:solidFill>
                  <a:srgbClr val="FF0000"/>
                </a:solidFill>
              </a:rPr>
              <a:t>ios</a:t>
            </a:r>
            <a:r>
              <a:rPr kumimoji="1" lang="en-US" altLang="zh-CN" sz="2000" b="1" dirty="0">
                <a:solidFill>
                  <a:srgbClr val="FF0000"/>
                </a:solidFill>
              </a:rPr>
              <a:t>::</a:t>
            </a:r>
            <a:r>
              <a:rPr kumimoji="1" lang="en-US" altLang="zh-CN" sz="2000" b="1" dirty="0" err="1">
                <a:solidFill>
                  <a:srgbClr val="FF0000"/>
                </a:solidFill>
              </a:rPr>
              <a:t>scientific,ios</a:t>
            </a:r>
            <a:r>
              <a:rPr kumimoji="1" lang="en-US" altLang="zh-CN" sz="2000" b="1" dirty="0">
                <a:solidFill>
                  <a:srgbClr val="FF0000"/>
                </a:solidFill>
              </a:rPr>
              <a:t>::</a:t>
            </a:r>
            <a:r>
              <a:rPr kumimoji="1" lang="en-US" altLang="zh-CN" sz="2000" b="1" dirty="0" err="1">
                <a:solidFill>
                  <a:srgbClr val="FF0000"/>
                </a:solidFill>
              </a:rPr>
              <a:t>floatfield</a:t>
            </a:r>
            <a:r>
              <a:rPr kumimoji="1" lang="en-US" altLang="zh-CN" sz="2000" b="1" dirty="0"/>
              <a:t>); </a:t>
            </a:r>
            <a:endParaRPr kumimoji="1" lang="en-US" altLang="zh-CN" sz="2000" b="1" dirty="0"/>
          </a:p>
          <a:p>
            <a:pPr algn="l"/>
            <a:r>
              <a:rPr kumimoji="1" lang="en-US" altLang="zh-CN" sz="2000" b="1" dirty="0"/>
              <a:t>	</a:t>
            </a:r>
            <a:r>
              <a:rPr kumimoji="1" lang="en-US" altLang="zh-CN" sz="2000" b="1" dirty="0" err="1"/>
              <a:t>cout</a:t>
            </a:r>
            <a:r>
              <a:rPr kumimoji="1" lang="en-US" altLang="zh-CN" sz="2000" b="1" dirty="0"/>
              <a:t>&lt;&lt;" 9</a:t>
            </a:r>
            <a:r>
              <a:rPr kumimoji="1" lang="zh-CN" altLang="en-US" sz="2000" b="1" dirty="0"/>
              <a:t>位科学数表达方式</a:t>
            </a:r>
            <a:r>
              <a:rPr kumimoji="1" lang="en-US" altLang="zh-CN" sz="2000" b="1" dirty="0"/>
              <a:t>"&lt;&lt;</a:t>
            </a:r>
            <a:r>
              <a:rPr kumimoji="1" lang="en-US" altLang="zh-CN" sz="2000" b="1" dirty="0" err="1"/>
              <a:t>fnum</a:t>
            </a:r>
            <a:r>
              <a:rPr kumimoji="1" lang="en-US" altLang="zh-CN" sz="2000" b="1" dirty="0"/>
              <a:t>&lt;&lt;'\n';</a:t>
            </a:r>
            <a:endParaRPr kumimoji="1" lang="en-US" altLang="zh-CN" sz="2000" b="1" dirty="0"/>
          </a:p>
          <a:p>
            <a:pPr algn="l"/>
            <a:r>
              <a:rPr kumimoji="1" lang="en-US" altLang="zh-CN" sz="2000" b="1" dirty="0"/>
              <a:t>	</a:t>
            </a:r>
            <a:r>
              <a:rPr kumimoji="1" lang="en-US" altLang="zh-CN" sz="2000" b="1" dirty="0">
                <a:solidFill>
                  <a:srgbClr val="3333CC"/>
                </a:solidFill>
              </a:rPr>
              <a:t>return</a:t>
            </a:r>
            <a:r>
              <a:rPr kumimoji="1" lang="en-US" altLang="zh-CN" sz="2000" b="1" dirty="0"/>
              <a:t> 0;</a:t>
            </a:r>
            <a:endParaRPr kumimoji="1" lang="en-US" altLang="zh-CN" sz="2000" b="1" dirty="0"/>
          </a:p>
          <a:p>
            <a:pPr algn="l"/>
            <a:r>
              <a:rPr kumimoji="1" lang="en-US" altLang="zh-CN" sz="2000" b="1" dirty="0"/>
              <a:t>}</a:t>
            </a:r>
            <a:endParaRPr kumimoji="1" lang="en-US" altLang="zh-CN" sz="2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766679" y="5572938"/>
            <a:ext cx="80730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rgbClr val="0066FF"/>
                </a:solidFill>
              </a:rPr>
              <a:t>ios_base</a:t>
            </a:r>
            <a:r>
              <a:rPr lang="en-US" altLang="zh-CN" sz="2000" b="1" dirty="0">
                <a:solidFill>
                  <a:srgbClr val="0066FF"/>
                </a:solidFill>
              </a:rPr>
              <a:t>::fixed</a:t>
            </a:r>
            <a:r>
              <a:rPr lang="zh-CN" altLang="en-US" sz="2000" b="1" dirty="0">
                <a:solidFill>
                  <a:srgbClr val="0066FF"/>
                </a:solidFill>
              </a:rPr>
              <a:t>是设置</a:t>
            </a:r>
            <a:r>
              <a:rPr lang="en-US" altLang="zh-CN" sz="2000" b="1" dirty="0" err="1">
                <a:solidFill>
                  <a:srgbClr val="0066FF"/>
                </a:solidFill>
              </a:rPr>
              <a:t>cout</a:t>
            </a:r>
            <a:r>
              <a:rPr lang="zh-CN" altLang="en-US" sz="2000" b="1" dirty="0">
                <a:solidFill>
                  <a:srgbClr val="0066FF"/>
                </a:solidFill>
              </a:rPr>
              <a:t>为</a:t>
            </a:r>
            <a:r>
              <a:rPr lang="zh-CN" altLang="en-US" sz="2000" b="1" dirty="0">
                <a:solidFill>
                  <a:srgbClr val="FF0000"/>
                </a:solidFill>
              </a:rPr>
              <a:t>定点</a:t>
            </a:r>
            <a:r>
              <a:rPr lang="zh-CN" altLang="en-US" sz="2000" b="1" dirty="0">
                <a:solidFill>
                  <a:srgbClr val="0066FF"/>
                </a:solidFill>
              </a:rPr>
              <a:t>输出格式</a:t>
            </a:r>
            <a:br>
              <a:rPr lang="zh-CN" altLang="en-US" sz="2000" b="1" dirty="0">
                <a:solidFill>
                  <a:srgbClr val="0066FF"/>
                </a:solidFill>
              </a:rPr>
            </a:br>
            <a:r>
              <a:rPr lang="en-US" altLang="zh-CN" sz="2000" b="1" dirty="0" err="1">
                <a:solidFill>
                  <a:srgbClr val="0066FF"/>
                </a:solidFill>
              </a:rPr>
              <a:t>ios_base</a:t>
            </a:r>
            <a:r>
              <a:rPr lang="en-US" altLang="zh-CN" sz="2000" b="1" dirty="0">
                <a:solidFill>
                  <a:srgbClr val="0066FF"/>
                </a:solidFill>
              </a:rPr>
              <a:t>::</a:t>
            </a:r>
            <a:r>
              <a:rPr lang="en-US" altLang="zh-CN" sz="2000" b="1" dirty="0" err="1">
                <a:solidFill>
                  <a:srgbClr val="0066FF"/>
                </a:solidFill>
              </a:rPr>
              <a:t>floatfield</a:t>
            </a:r>
            <a:r>
              <a:rPr lang="zh-CN" altLang="en-US" sz="2000" b="1" dirty="0">
                <a:solidFill>
                  <a:srgbClr val="0066FF"/>
                </a:solidFill>
              </a:rPr>
              <a:t>是设置输出时按</a:t>
            </a:r>
            <a:r>
              <a:rPr lang="zh-CN" altLang="en-US" sz="2000" b="1" dirty="0">
                <a:solidFill>
                  <a:srgbClr val="FF0000"/>
                </a:solidFill>
              </a:rPr>
              <a:t>浮点</a:t>
            </a:r>
            <a:r>
              <a:rPr lang="zh-CN" altLang="en-US" sz="2000" b="1" dirty="0">
                <a:solidFill>
                  <a:srgbClr val="0066FF"/>
                </a:solidFill>
              </a:rPr>
              <a:t>格式，默认小数点后有</a:t>
            </a:r>
            <a:r>
              <a:rPr lang="en-US" altLang="zh-CN" sz="2000" b="1" dirty="0">
                <a:solidFill>
                  <a:srgbClr val="0066FF"/>
                </a:solidFill>
              </a:rPr>
              <a:t>6</a:t>
            </a:r>
            <a:r>
              <a:rPr lang="zh-CN" altLang="en-US" sz="2000" b="1" dirty="0">
                <a:solidFill>
                  <a:srgbClr val="0066FF"/>
                </a:solidFill>
              </a:rPr>
              <a:t>位数字</a:t>
            </a:r>
            <a:endParaRPr lang="zh-CN" altLang="en-US" sz="2000" b="1" dirty="0">
              <a:solidFill>
                <a:srgbClr val="0066FF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1774822" y="563410"/>
            <a:ext cx="92461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ea typeface="隶书" panose="02010509060101010101" pitchFamily="49" charset="-122"/>
              </a:rPr>
              <a:t>流操纵算子</a:t>
            </a:r>
            <a:endParaRPr kumimoji="1" lang="zh-CN" altLang="en-US" sz="3200" b="1" dirty="0">
              <a:solidFill>
                <a:srgbClr val="006600"/>
              </a:solidFill>
              <a:ea typeface="隶书" panose="020105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3929" y="1293741"/>
            <a:ext cx="7228573" cy="269531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339" y="2913126"/>
            <a:ext cx="1337913" cy="130677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9" name="Rectangle 5"/>
          <p:cNvSpPr>
            <a:spLocks noChangeArrowheads="1"/>
          </p:cNvSpPr>
          <p:nvPr/>
        </p:nvSpPr>
        <p:spPr bwMode="auto">
          <a:xfrm>
            <a:off x="1687513" y="595312"/>
            <a:ext cx="10084183" cy="3938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chemeClr val="accent6">
                    <a:lumMod val="75000"/>
                  </a:schemeClr>
                </a:solidFill>
                <a:ea typeface="宋体" panose="02010600030101010101" pitchFamily="2" charset="-122"/>
              </a:rPr>
              <a:t>例：</a:t>
            </a:r>
            <a:r>
              <a:rPr kumimoji="1" lang="zh-CN" alt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流操纵算子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---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输出整型</a:t>
            </a:r>
            <a:r>
              <a:rPr kumimoji="1" lang="zh-CN" altLang="en-US" sz="2400" b="1" dirty="0">
                <a:solidFill>
                  <a:schemeClr val="accent6">
                    <a:lumMod val="75000"/>
                  </a:schemeClr>
                </a:solidFill>
                <a:ea typeface="宋体" panose="02010600030101010101" pitchFamily="2" charset="-122"/>
              </a:rPr>
              <a:t>。</a:t>
            </a:r>
            <a:endParaRPr kumimoji="1" lang="zh-CN" altLang="en-US" sz="2400" b="1" dirty="0">
              <a:solidFill>
                <a:schemeClr val="accent6">
                  <a:lumMod val="75000"/>
                </a:schemeClr>
              </a:solidFill>
              <a:ea typeface="宋体" panose="02010600030101010101" pitchFamily="2" charset="-122"/>
            </a:endParaRPr>
          </a:p>
          <a:p>
            <a:endParaRPr lang="en-US" altLang="zh-CN" sz="2400" dirty="0">
              <a:solidFill>
                <a:srgbClr val="000000"/>
              </a:solidFill>
              <a:latin typeface="LMMono9-Regular-Identity-H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int 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i,j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cin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&gt;&gt;oct&gt;&gt;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             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输入格式为八进制；</a:t>
            </a:r>
            <a:endParaRPr lang="zh-CN" altLang="en-US" sz="2400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cin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&gt;&gt;hex&gt;&gt;j;           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输入格式为十六进制；</a:t>
            </a:r>
            <a:endParaRPr lang="zh-CN" altLang="en-US" sz="2400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输入以下数据，</a:t>
            </a:r>
            <a:r>
              <a:rPr lang="en-US" altLang="zh-CN" sz="2400" dirty="0" err="1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i,j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均为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26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；</a:t>
            </a:r>
            <a:endParaRPr lang="zh-CN" altLang="en-US" sz="2400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032 0x1a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endParaRPr kumimoji="1" lang="en-US" altLang="zh-CN" sz="2200" b="1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sp>
        <p:nvSpPr>
          <p:cNvPr id="3" name="矩形: 圆角 17"/>
          <p:cNvSpPr/>
          <p:nvPr/>
        </p:nvSpPr>
        <p:spPr>
          <a:xfrm>
            <a:off x="4340992" y="4373530"/>
            <a:ext cx="3984858" cy="1015663"/>
          </a:xfrm>
          <a:custGeom>
            <a:avLst/>
            <a:gdLst>
              <a:gd name="connsiteX0" fmla="*/ 0 w 8704052"/>
              <a:gd name="connsiteY0" fmla="*/ 149608 h 2074717"/>
              <a:gd name="connsiteX1" fmla="*/ 149608 w 8704052"/>
              <a:gd name="connsiteY1" fmla="*/ 0 h 2074717"/>
              <a:gd name="connsiteX2" fmla="*/ 8554444 w 8704052"/>
              <a:gd name="connsiteY2" fmla="*/ 0 h 2074717"/>
              <a:gd name="connsiteX3" fmla="*/ 8704052 w 8704052"/>
              <a:gd name="connsiteY3" fmla="*/ 149608 h 2074717"/>
              <a:gd name="connsiteX4" fmla="*/ 8704052 w 8704052"/>
              <a:gd name="connsiteY4" fmla="*/ 1925109 h 2074717"/>
              <a:gd name="connsiteX5" fmla="*/ 8554444 w 8704052"/>
              <a:gd name="connsiteY5" fmla="*/ 2074717 h 2074717"/>
              <a:gd name="connsiteX6" fmla="*/ 149608 w 8704052"/>
              <a:gd name="connsiteY6" fmla="*/ 2074717 h 2074717"/>
              <a:gd name="connsiteX7" fmla="*/ 0 w 8704052"/>
              <a:gd name="connsiteY7" fmla="*/ 1925109 h 2074717"/>
              <a:gd name="connsiteX8" fmla="*/ 0 w 8704052"/>
              <a:gd name="connsiteY8" fmla="*/ 149608 h 2074717"/>
              <a:gd name="connsiteX0-1" fmla="*/ 0 w 8704052"/>
              <a:gd name="connsiteY0-2" fmla="*/ 195256 h 2120365"/>
              <a:gd name="connsiteX1-3" fmla="*/ 8554444 w 8704052"/>
              <a:gd name="connsiteY1-4" fmla="*/ 45648 h 2120365"/>
              <a:gd name="connsiteX2-5" fmla="*/ 8704052 w 8704052"/>
              <a:gd name="connsiteY2-6" fmla="*/ 195256 h 2120365"/>
              <a:gd name="connsiteX3-7" fmla="*/ 8704052 w 8704052"/>
              <a:gd name="connsiteY3-8" fmla="*/ 1970757 h 2120365"/>
              <a:gd name="connsiteX4-9" fmla="*/ 8554444 w 8704052"/>
              <a:gd name="connsiteY4-10" fmla="*/ 2120365 h 2120365"/>
              <a:gd name="connsiteX5-11" fmla="*/ 149608 w 8704052"/>
              <a:gd name="connsiteY5-12" fmla="*/ 2120365 h 2120365"/>
              <a:gd name="connsiteX6-13" fmla="*/ 0 w 8704052"/>
              <a:gd name="connsiteY6-14" fmla="*/ 1970757 h 2120365"/>
              <a:gd name="connsiteX7-15" fmla="*/ 0 w 8704052"/>
              <a:gd name="connsiteY7-16" fmla="*/ 195256 h 2120365"/>
              <a:gd name="connsiteX0-17" fmla="*/ 0 w 8704052"/>
              <a:gd name="connsiteY0-18" fmla="*/ 140268 h 2224127"/>
              <a:gd name="connsiteX1-19" fmla="*/ 8554444 w 8704052"/>
              <a:gd name="connsiteY1-20" fmla="*/ 149410 h 2224127"/>
              <a:gd name="connsiteX2-21" fmla="*/ 8704052 w 8704052"/>
              <a:gd name="connsiteY2-22" fmla="*/ 299018 h 2224127"/>
              <a:gd name="connsiteX3-23" fmla="*/ 8704052 w 8704052"/>
              <a:gd name="connsiteY3-24" fmla="*/ 2074519 h 2224127"/>
              <a:gd name="connsiteX4-25" fmla="*/ 8554444 w 8704052"/>
              <a:gd name="connsiteY4-26" fmla="*/ 2224127 h 2224127"/>
              <a:gd name="connsiteX5-27" fmla="*/ 149608 w 8704052"/>
              <a:gd name="connsiteY5-28" fmla="*/ 2224127 h 2224127"/>
              <a:gd name="connsiteX6-29" fmla="*/ 0 w 8704052"/>
              <a:gd name="connsiteY6-30" fmla="*/ 2074519 h 2224127"/>
              <a:gd name="connsiteX7-31" fmla="*/ 0 w 8704052"/>
              <a:gd name="connsiteY7-32" fmla="*/ 140268 h 2224127"/>
              <a:gd name="connsiteX0-33" fmla="*/ 0 w 8704052"/>
              <a:gd name="connsiteY0-34" fmla="*/ 0 h 2083859"/>
              <a:gd name="connsiteX1-35" fmla="*/ 8554444 w 8704052"/>
              <a:gd name="connsiteY1-36" fmla="*/ 9142 h 2083859"/>
              <a:gd name="connsiteX2-37" fmla="*/ 8704052 w 8704052"/>
              <a:gd name="connsiteY2-38" fmla="*/ 158750 h 2083859"/>
              <a:gd name="connsiteX3-39" fmla="*/ 8704052 w 8704052"/>
              <a:gd name="connsiteY3-40" fmla="*/ 1934251 h 2083859"/>
              <a:gd name="connsiteX4-41" fmla="*/ 8554444 w 8704052"/>
              <a:gd name="connsiteY4-42" fmla="*/ 2083859 h 2083859"/>
              <a:gd name="connsiteX5-43" fmla="*/ 149608 w 8704052"/>
              <a:gd name="connsiteY5-44" fmla="*/ 2083859 h 2083859"/>
              <a:gd name="connsiteX6-45" fmla="*/ 0 w 8704052"/>
              <a:gd name="connsiteY6-46" fmla="*/ 1934251 h 2083859"/>
              <a:gd name="connsiteX7-47" fmla="*/ 0 w 8704052"/>
              <a:gd name="connsiteY7-48" fmla="*/ 0 h 2083859"/>
              <a:gd name="connsiteX0-49" fmla="*/ 0 w 8704052"/>
              <a:gd name="connsiteY0-50" fmla="*/ 0 h 2083859"/>
              <a:gd name="connsiteX1-51" fmla="*/ 8704052 w 8704052"/>
              <a:gd name="connsiteY1-52" fmla="*/ 158750 h 2083859"/>
              <a:gd name="connsiteX2-53" fmla="*/ 8704052 w 8704052"/>
              <a:gd name="connsiteY2-54" fmla="*/ 1934251 h 2083859"/>
              <a:gd name="connsiteX3-55" fmla="*/ 8554444 w 8704052"/>
              <a:gd name="connsiteY3-56" fmla="*/ 2083859 h 2083859"/>
              <a:gd name="connsiteX4-57" fmla="*/ 149608 w 8704052"/>
              <a:gd name="connsiteY4-58" fmla="*/ 2083859 h 2083859"/>
              <a:gd name="connsiteX5-59" fmla="*/ 0 w 8704052"/>
              <a:gd name="connsiteY5-60" fmla="*/ 1934251 h 2083859"/>
              <a:gd name="connsiteX6-61" fmla="*/ 0 w 8704052"/>
              <a:gd name="connsiteY6-62" fmla="*/ 0 h 2083859"/>
              <a:gd name="connsiteX0-63" fmla="*/ 0 w 8704052"/>
              <a:gd name="connsiteY0-64" fmla="*/ 0 h 2083859"/>
              <a:gd name="connsiteX1-65" fmla="*/ 8704052 w 8704052"/>
              <a:gd name="connsiteY1-66" fmla="*/ 19050 h 2083859"/>
              <a:gd name="connsiteX2-67" fmla="*/ 8704052 w 8704052"/>
              <a:gd name="connsiteY2-68" fmla="*/ 1934251 h 2083859"/>
              <a:gd name="connsiteX3-69" fmla="*/ 8554444 w 8704052"/>
              <a:gd name="connsiteY3-70" fmla="*/ 2083859 h 2083859"/>
              <a:gd name="connsiteX4-71" fmla="*/ 149608 w 8704052"/>
              <a:gd name="connsiteY4-72" fmla="*/ 2083859 h 2083859"/>
              <a:gd name="connsiteX5-73" fmla="*/ 0 w 8704052"/>
              <a:gd name="connsiteY5-74" fmla="*/ 1934251 h 2083859"/>
              <a:gd name="connsiteX6-75" fmla="*/ 0 w 8704052"/>
              <a:gd name="connsiteY6-76" fmla="*/ 0 h 2083859"/>
              <a:gd name="connsiteX0-77" fmla="*/ 0 w 8704052"/>
              <a:gd name="connsiteY0-78" fmla="*/ 0 h 2083859"/>
              <a:gd name="connsiteX1-79" fmla="*/ 8699290 w 8704052"/>
              <a:gd name="connsiteY1-80" fmla="*/ 4763 h 2083859"/>
              <a:gd name="connsiteX2-81" fmla="*/ 8704052 w 8704052"/>
              <a:gd name="connsiteY2-82" fmla="*/ 1934251 h 2083859"/>
              <a:gd name="connsiteX3-83" fmla="*/ 8554444 w 8704052"/>
              <a:gd name="connsiteY3-84" fmla="*/ 2083859 h 2083859"/>
              <a:gd name="connsiteX4-85" fmla="*/ 149608 w 8704052"/>
              <a:gd name="connsiteY4-86" fmla="*/ 2083859 h 2083859"/>
              <a:gd name="connsiteX5-87" fmla="*/ 0 w 8704052"/>
              <a:gd name="connsiteY5-88" fmla="*/ 1934251 h 2083859"/>
              <a:gd name="connsiteX6-89" fmla="*/ 0 w 8704052"/>
              <a:gd name="connsiteY6-90" fmla="*/ 0 h 20838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8704052" h="2083859">
                <a:moveTo>
                  <a:pt x="0" y="0"/>
                </a:moveTo>
                <a:lnTo>
                  <a:pt x="8699290" y="4763"/>
                </a:lnTo>
                <a:cubicBezTo>
                  <a:pt x="8700877" y="647926"/>
                  <a:pt x="8702465" y="1291088"/>
                  <a:pt x="8704052" y="1934251"/>
                </a:cubicBezTo>
                <a:cubicBezTo>
                  <a:pt x="8704052" y="2016877"/>
                  <a:pt x="8637070" y="2083859"/>
                  <a:pt x="8554444" y="2083859"/>
                </a:cubicBezTo>
                <a:lnTo>
                  <a:pt x="149608" y="2083859"/>
                </a:lnTo>
                <a:cubicBezTo>
                  <a:pt x="66982" y="2083859"/>
                  <a:pt x="0" y="2016877"/>
                  <a:pt x="0" y="1934251"/>
                </a:cubicBezTo>
                <a:lnTo>
                  <a:pt x="0" y="0"/>
                </a:lnTo>
                <a:close/>
              </a:path>
            </a:pathLst>
          </a:custGeom>
          <a:solidFill>
            <a:srgbClr val="E9E9F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LMMono9-Regular-Identity-H"/>
              </a:rPr>
              <a:t>上述最后一条语句执行之后，后续的输入数据均为十六进制，可以用</a:t>
            </a:r>
            <a:r>
              <a:rPr lang="en-US" altLang="zh-CN" sz="2000" dirty="0" err="1">
                <a:solidFill>
                  <a:srgbClr val="000000"/>
                </a:solidFill>
                <a:latin typeface="LMMono9-Regular-Identity-H"/>
              </a:rPr>
              <a:t>dec</a:t>
            </a:r>
            <a:r>
              <a:rPr lang="en-US" altLang="zh-CN" sz="2000" dirty="0">
                <a:solidFill>
                  <a:srgbClr val="000000"/>
                </a:solidFill>
                <a:latin typeface="LMMono9-Regular-Identity-H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LMMono9-Regular-Identity-H"/>
              </a:rPr>
              <a:t>将进制恢复十进制。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矩形: 圆顶角 27"/>
          <p:cNvSpPr/>
          <p:nvPr/>
        </p:nvSpPr>
        <p:spPr>
          <a:xfrm>
            <a:off x="4340991" y="3971962"/>
            <a:ext cx="4004111" cy="417159"/>
          </a:xfrm>
          <a:prstGeom prst="round2SameRect">
            <a:avLst>
              <a:gd name="adj1" fmla="val 20076"/>
              <a:gd name="adj2" fmla="val 0"/>
            </a:avLst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/>
              <a:t>注意：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9" name="Rectangle 5"/>
          <p:cNvSpPr>
            <a:spLocks noChangeArrowheads="1"/>
          </p:cNvSpPr>
          <p:nvPr/>
        </p:nvSpPr>
        <p:spPr bwMode="auto">
          <a:xfrm>
            <a:off x="1687513" y="595312"/>
            <a:ext cx="10084183" cy="5631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chemeClr val="accent6">
                    <a:lumMod val="75000"/>
                  </a:schemeClr>
                </a:solidFill>
                <a:ea typeface="宋体" panose="02010600030101010101" pitchFamily="2" charset="-122"/>
              </a:rPr>
              <a:t>例：</a:t>
            </a:r>
            <a:r>
              <a:rPr kumimoji="1" lang="zh-CN" alt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流操纵算子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---</a:t>
            </a:r>
            <a:r>
              <a:rPr kumimoji="1" lang="zh-CN" altLang="en-US" sz="2400" b="1" dirty="0">
                <a:solidFill>
                  <a:schemeClr val="accent6">
                    <a:lumMod val="75000"/>
                  </a:schemeClr>
                </a:solidFill>
                <a:ea typeface="宋体" panose="02010600030101010101" pitchFamily="2" charset="-122"/>
              </a:rPr>
              <a:t>整型数输出。</a:t>
            </a:r>
            <a:endParaRPr kumimoji="1" lang="zh-CN" altLang="en-US" sz="2400" b="1" dirty="0">
              <a:solidFill>
                <a:schemeClr val="accent6">
                  <a:lumMod val="75000"/>
                </a:schemeClr>
              </a:solidFill>
              <a:ea typeface="宋体" panose="02010600030101010101" pitchFamily="2" charset="-122"/>
            </a:endParaRPr>
          </a:p>
          <a:p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showbase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&lt;&lt;uppercase;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显示进制信息，十六进制数以大写形式输出</a:t>
            </a:r>
            <a:endParaRPr lang="zh-CN" altLang="en-US" sz="2400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"default:"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&lt;&lt;26&lt;&lt;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endl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"octal:"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&lt;&lt;oct&lt;&lt;26&lt;&lt;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endl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fr-FR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cout&lt;&lt;</a:t>
            </a:r>
            <a:r>
              <a:rPr lang="fr-FR" altLang="zh-CN" sz="2400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"decimal:"</a:t>
            </a:r>
            <a:r>
              <a:rPr lang="fr-FR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&lt;&lt;dec&lt;&lt;26&lt;&lt;endl;</a:t>
            </a:r>
            <a:endParaRPr lang="fr-FR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fr-FR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cout&lt;&lt;</a:t>
            </a:r>
            <a:r>
              <a:rPr lang="fr-FR" altLang="zh-CN" sz="2400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"hex:"</a:t>
            </a:r>
            <a:r>
              <a:rPr lang="fr-FR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&lt;&lt;hex&lt;&lt;26&lt;&lt;endl;</a:t>
            </a:r>
            <a:endParaRPr lang="fr-FR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noshowbase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nouppercase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&lt;&lt;dec;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zh-CN" altLang="en-US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输出结果：</a:t>
            </a:r>
            <a:endParaRPr lang="zh-CN" altLang="en-US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default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:26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octal:032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decimal:26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hex:0X1A</a:t>
            </a:r>
            <a:endParaRPr kumimoji="1" lang="en-US" altLang="zh-CN" sz="2200" b="1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1774822" y="563410"/>
            <a:ext cx="92461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ea typeface="隶书" panose="02010509060101010101" pitchFamily="49" charset="-122"/>
              </a:rPr>
              <a:t>流操纵算子</a:t>
            </a:r>
            <a:r>
              <a:rPr kumimoji="1" lang="en-US" altLang="zh-CN" sz="3200" b="1" dirty="0">
                <a:solidFill>
                  <a:srgbClr val="006600"/>
                </a:solidFill>
                <a:ea typeface="隶书" panose="02010509060101010101" pitchFamily="49" charset="-122"/>
              </a:rPr>
              <a:t>—</a:t>
            </a:r>
            <a:r>
              <a:rPr kumimoji="1" lang="zh-CN" altLang="en-US" sz="3200" b="1" dirty="0">
                <a:solidFill>
                  <a:srgbClr val="006600"/>
                </a:solidFill>
                <a:ea typeface="隶书" panose="02010509060101010101" pitchFamily="49" charset="-122"/>
              </a:rPr>
              <a:t>控制浮点数输出精度</a:t>
            </a:r>
            <a:endParaRPr kumimoji="1" lang="zh-CN" altLang="en-US" sz="3200" b="1" dirty="0">
              <a:solidFill>
                <a:srgbClr val="006600"/>
              </a:solidFill>
              <a:ea typeface="隶书" panose="020105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9339" y="2913126"/>
            <a:ext cx="1337913" cy="130677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746" y="1271566"/>
            <a:ext cx="6532487" cy="390890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312" y="1148185"/>
            <a:ext cx="1229925" cy="232148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463" y="3715352"/>
            <a:ext cx="508026" cy="21234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1774822" y="563410"/>
            <a:ext cx="92461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ea typeface="隶书" panose="02010509060101010101" pitchFamily="49" charset="-122"/>
              </a:rPr>
              <a:t>流操纵算子</a:t>
            </a:r>
            <a:r>
              <a:rPr kumimoji="1" lang="en-US" altLang="zh-CN" sz="3200" b="1" dirty="0">
                <a:solidFill>
                  <a:srgbClr val="006600"/>
                </a:solidFill>
                <a:ea typeface="隶书" panose="02010509060101010101" pitchFamily="49" charset="-122"/>
              </a:rPr>
              <a:t>—</a:t>
            </a:r>
            <a:r>
              <a:rPr kumimoji="1" lang="zh-CN" altLang="en-US" sz="3200" b="1" dirty="0">
                <a:solidFill>
                  <a:srgbClr val="006600"/>
                </a:solidFill>
                <a:ea typeface="隶书" panose="02010509060101010101" pitchFamily="49" charset="-122"/>
              </a:rPr>
              <a:t>控制浮点数输出精度</a:t>
            </a:r>
            <a:endParaRPr kumimoji="1" lang="zh-CN" altLang="en-US" sz="3200" b="1" dirty="0">
              <a:solidFill>
                <a:srgbClr val="006600"/>
              </a:solidFill>
              <a:ea typeface="隶书" panose="020105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1312" y="1148185"/>
            <a:ext cx="1229925" cy="232148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1463" y="3715352"/>
            <a:ext cx="508026" cy="2123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372" y="1148185"/>
            <a:ext cx="1337913" cy="130677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514" y="1296534"/>
            <a:ext cx="7427266" cy="478214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438" y="1296534"/>
            <a:ext cx="1322467" cy="98212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824584" y="5270193"/>
            <a:ext cx="2977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整数不受该算子影响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1774822" y="563410"/>
            <a:ext cx="92461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ea typeface="隶书" panose="02010509060101010101" pitchFamily="49" charset="-122"/>
              </a:rPr>
              <a:t>流操纵算子</a:t>
            </a:r>
            <a:r>
              <a:rPr kumimoji="1" lang="en-US" altLang="zh-CN" sz="3200" b="1" dirty="0">
                <a:solidFill>
                  <a:srgbClr val="006600"/>
                </a:solidFill>
                <a:ea typeface="隶书" panose="02010509060101010101" pitchFamily="49" charset="-122"/>
              </a:rPr>
              <a:t>—</a:t>
            </a:r>
            <a:r>
              <a:rPr kumimoji="1" lang="zh-CN" altLang="en-US" sz="3200" b="1" dirty="0">
                <a:solidFill>
                  <a:srgbClr val="006600"/>
                </a:solidFill>
                <a:ea typeface="隶书" panose="02010509060101010101" pitchFamily="49" charset="-122"/>
              </a:rPr>
              <a:t>控制浮点数输出精度</a:t>
            </a:r>
            <a:endParaRPr kumimoji="1" lang="zh-CN" altLang="en-US" sz="3200" b="1" dirty="0">
              <a:solidFill>
                <a:srgbClr val="006600"/>
              </a:solidFill>
              <a:ea typeface="隶书" panose="020105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1312" y="1148185"/>
            <a:ext cx="1229925" cy="232148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1463" y="3715352"/>
            <a:ext cx="508026" cy="21234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t="10781"/>
          <a:stretch>
            <a:fillRect/>
          </a:stretch>
        </p:blipFill>
        <p:spPr>
          <a:xfrm>
            <a:off x="1952878" y="1148185"/>
            <a:ext cx="7402995" cy="473962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372" y="1148185"/>
            <a:ext cx="1337913" cy="130677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0875" y="1117251"/>
            <a:ext cx="904998" cy="1328613"/>
          </a:xfrm>
          <a:prstGeom prst="rect">
            <a:avLst/>
          </a:prstGeom>
        </p:spPr>
      </p:pic>
      <p:sp>
        <p:nvSpPr>
          <p:cNvPr id="8" name="箭头: 右 7"/>
          <p:cNvSpPr/>
          <p:nvPr/>
        </p:nvSpPr>
        <p:spPr>
          <a:xfrm>
            <a:off x="2698596" y="4516244"/>
            <a:ext cx="769434" cy="1572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360449" y="4393580"/>
            <a:ext cx="1338147" cy="70788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小数点后保留</a:t>
            </a:r>
            <a:r>
              <a:rPr lang="en-US" altLang="zh-CN" sz="2000" dirty="0"/>
              <a:t>6</a:t>
            </a:r>
            <a:r>
              <a:rPr lang="zh-CN" altLang="en-US" sz="2000" dirty="0"/>
              <a:t>位</a:t>
            </a:r>
            <a:endParaRPr lang="zh-CN" altLang="en-US" sz="2000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006310" y="361732"/>
            <a:ext cx="8569325" cy="8925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just"/>
            <a:r>
              <a:rPr kumimoji="1" lang="zh-CN" altLang="en-US" sz="2800" b="1" dirty="0">
                <a:solidFill>
                  <a:srgbClr val="006600"/>
                </a:solidFill>
                <a:ea typeface="隶书" panose="02010509060101010101" pitchFamily="49" charset="-122"/>
              </a:rPr>
              <a:t>例：流操纵算子，控制浮点数输出精度。</a:t>
            </a:r>
            <a:endParaRPr kumimoji="1" lang="zh-CN" altLang="en-US" sz="2800" b="1" dirty="0">
              <a:solidFill>
                <a:srgbClr val="006600"/>
              </a:solidFill>
              <a:ea typeface="隶书" panose="02010509060101010101" pitchFamily="49" charset="-122"/>
            </a:endParaRPr>
          </a:p>
          <a:p>
            <a:pPr algn="l"/>
            <a:endParaRPr kumimoji="1" lang="en-US" altLang="zh-CN" sz="2400" b="1" dirty="0"/>
          </a:p>
        </p:txBody>
      </p:sp>
      <p:grpSp>
        <p:nvGrpSpPr>
          <p:cNvPr id="8" name="组合 7"/>
          <p:cNvGrpSpPr/>
          <p:nvPr/>
        </p:nvGrpSpPr>
        <p:grpSpPr>
          <a:xfrm>
            <a:off x="5171275" y="4847032"/>
            <a:ext cx="6371856" cy="1361306"/>
            <a:chOff x="219974" y="2343597"/>
            <a:chExt cx="8704052" cy="763047"/>
          </a:xfrm>
        </p:grpSpPr>
        <p:sp>
          <p:nvSpPr>
            <p:cNvPr id="9" name="矩形: 圆顶角 27"/>
            <p:cNvSpPr/>
            <p:nvPr/>
          </p:nvSpPr>
          <p:spPr>
            <a:xfrm>
              <a:off x="219974" y="2343597"/>
              <a:ext cx="8704052" cy="278377"/>
            </a:xfrm>
            <a:prstGeom prst="round2SameRect">
              <a:avLst>
                <a:gd name="adj1" fmla="val 20076"/>
                <a:gd name="adj2" fmla="val 0"/>
              </a:avLst>
            </a:prstGeom>
            <a:solidFill>
              <a:srgbClr val="FF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/>
                <a:t>注意：</a:t>
              </a:r>
              <a:endParaRPr lang="zh-CN" altLang="en-US" sz="2000" dirty="0"/>
            </a:p>
          </p:txBody>
        </p:sp>
        <p:sp>
          <p:nvSpPr>
            <p:cNvPr id="10" name="矩形: 圆角 17"/>
            <p:cNvSpPr/>
            <p:nvPr/>
          </p:nvSpPr>
          <p:spPr>
            <a:xfrm>
              <a:off x="219974" y="2589094"/>
              <a:ext cx="8704052" cy="517550"/>
            </a:xfrm>
            <a:custGeom>
              <a:avLst/>
              <a:gdLst>
                <a:gd name="connsiteX0" fmla="*/ 0 w 8704052"/>
                <a:gd name="connsiteY0" fmla="*/ 149608 h 2074717"/>
                <a:gd name="connsiteX1" fmla="*/ 149608 w 8704052"/>
                <a:gd name="connsiteY1" fmla="*/ 0 h 2074717"/>
                <a:gd name="connsiteX2" fmla="*/ 8554444 w 8704052"/>
                <a:gd name="connsiteY2" fmla="*/ 0 h 2074717"/>
                <a:gd name="connsiteX3" fmla="*/ 8704052 w 8704052"/>
                <a:gd name="connsiteY3" fmla="*/ 149608 h 2074717"/>
                <a:gd name="connsiteX4" fmla="*/ 8704052 w 8704052"/>
                <a:gd name="connsiteY4" fmla="*/ 1925109 h 2074717"/>
                <a:gd name="connsiteX5" fmla="*/ 8554444 w 8704052"/>
                <a:gd name="connsiteY5" fmla="*/ 2074717 h 2074717"/>
                <a:gd name="connsiteX6" fmla="*/ 149608 w 8704052"/>
                <a:gd name="connsiteY6" fmla="*/ 2074717 h 2074717"/>
                <a:gd name="connsiteX7" fmla="*/ 0 w 8704052"/>
                <a:gd name="connsiteY7" fmla="*/ 1925109 h 2074717"/>
                <a:gd name="connsiteX8" fmla="*/ 0 w 8704052"/>
                <a:gd name="connsiteY8" fmla="*/ 149608 h 2074717"/>
                <a:gd name="connsiteX0-1" fmla="*/ 0 w 8704052"/>
                <a:gd name="connsiteY0-2" fmla="*/ 195256 h 2120365"/>
                <a:gd name="connsiteX1-3" fmla="*/ 8554444 w 8704052"/>
                <a:gd name="connsiteY1-4" fmla="*/ 45648 h 2120365"/>
                <a:gd name="connsiteX2-5" fmla="*/ 8704052 w 8704052"/>
                <a:gd name="connsiteY2-6" fmla="*/ 195256 h 2120365"/>
                <a:gd name="connsiteX3-7" fmla="*/ 8704052 w 8704052"/>
                <a:gd name="connsiteY3-8" fmla="*/ 1970757 h 2120365"/>
                <a:gd name="connsiteX4-9" fmla="*/ 8554444 w 8704052"/>
                <a:gd name="connsiteY4-10" fmla="*/ 2120365 h 2120365"/>
                <a:gd name="connsiteX5-11" fmla="*/ 149608 w 8704052"/>
                <a:gd name="connsiteY5-12" fmla="*/ 2120365 h 2120365"/>
                <a:gd name="connsiteX6-13" fmla="*/ 0 w 8704052"/>
                <a:gd name="connsiteY6-14" fmla="*/ 1970757 h 2120365"/>
                <a:gd name="connsiteX7-15" fmla="*/ 0 w 8704052"/>
                <a:gd name="connsiteY7-16" fmla="*/ 195256 h 2120365"/>
                <a:gd name="connsiteX0-17" fmla="*/ 0 w 8704052"/>
                <a:gd name="connsiteY0-18" fmla="*/ 140268 h 2224127"/>
                <a:gd name="connsiteX1-19" fmla="*/ 8554444 w 8704052"/>
                <a:gd name="connsiteY1-20" fmla="*/ 149410 h 2224127"/>
                <a:gd name="connsiteX2-21" fmla="*/ 8704052 w 8704052"/>
                <a:gd name="connsiteY2-22" fmla="*/ 299018 h 2224127"/>
                <a:gd name="connsiteX3-23" fmla="*/ 8704052 w 8704052"/>
                <a:gd name="connsiteY3-24" fmla="*/ 2074519 h 2224127"/>
                <a:gd name="connsiteX4-25" fmla="*/ 8554444 w 8704052"/>
                <a:gd name="connsiteY4-26" fmla="*/ 2224127 h 2224127"/>
                <a:gd name="connsiteX5-27" fmla="*/ 149608 w 8704052"/>
                <a:gd name="connsiteY5-28" fmla="*/ 2224127 h 2224127"/>
                <a:gd name="connsiteX6-29" fmla="*/ 0 w 8704052"/>
                <a:gd name="connsiteY6-30" fmla="*/ 2074519 h 2224127"/>
                <a:gd name="connsiteX7-31" fmla="*/ 0 w 8704052"/>
                <a:gd name="connsiteY7-32" fmla="*/ 140268 h 2224127"/>
                <a:gd name="connsiteX0-33" fmla="*/ 0 w 8704052"/>
                <a:gd name="connsiteY0-34" fmla="*/ 0 h 2083859"/>
                <a:gd name="connsiteX1-35" fmla="*/ 8554444 w 8704052"/>
                <a:gd name="connsiteY1-36" fmla="*/ 9142 h 2083859"/>
                <a:gd name="connsiteX2-37" fmla="*/ 8704052 w 8704052"/>
                <a:gd name="connsiteY2-38" fmla="*/ 158750 h 2083859"/>
                <a:gd name="connsiteX3-39" fmla="*/ 8704052 w 8704052"/>
                <a:gd name="connsiteY3-40" fmla="*/ 1934251 h 2083859"/>
                <a:gd name="connsiteX4-41" fmla="*/ 8554444 w 8704052"/>
                <a:gd name="connsiteY4-42" fmla="*/ 2083859 h 2083859"/>
                <a:gd name="connsiteX5-43" fmla="*/ 149608 w 8704052"/>
                <a:gd name="connsiteY5-44" fmla="*/ 2083859 h 2083859"/>
                <a:gd name="connsiteX6-45" fmla="*/ 0 w 8704052"/>
                <a:gd name="connsiteY6-46" fmla="*/ 1934251 h 2083859"/>
                <a:gd name="connsiteX7-47" fmla="*/ 0 w 8704052"/>
                <a:gd name="connsiteY7-48" fmla="*/ 0 h 2083859"/>
                <a:gd name="connsiteX0-49" fmla="*/ 0 w 8704052"/>
                <a:gd name="connsiteY0-50" fmla="*/ 0 h 2083859"/>
                <a:gd name="connsiteX1-51" fmla="*/ 8704052 w 8704052"/>
                <a:gd name="connsiteY1-52" fmla="*/ 158750 h 2083859"/>
                <a:gd name="connsiteX2-53" fmla="*/ 8704052 w 8704052"/>
                <a:gd name="connsiteY2-54" fmla="*/ 1934251 h 2083859"/>
                <a:gd name="connsiteX3-55" fmla="*/ 8554444 w 8704052"/>
                <a:gd name="connsiteY3-56" fmla="*/ 2083859 h 2083859"/>
                <a:gd name="connsiteX4-57" fmla="*/ 149608 w 8704052"/>
                <a:gd name="connsiteY4-58" fmla="*/ 2083859 h 2083859"/>
                <a:gd name="connsiteX5-59" fmla="*/ 0 w 8704052"/>
                <a:gd name="connsiteY5-60" fmla="*/ 1934251 h 2083859"/>
                <a:gd name="connsiteX6-61" fmla="*/ 0 w 8704052"/>
                <a:gd name="connsiteY6-62" fmla="*/ 0 h 2083859"/>
                <a:gd name="connsiteX0-63" fmla="*/ 0 w 8704052"/>
                <a:gd name="connsiteY0-64" fmla="*/ 0 h 2083859"/>
                <a:gd name="connsiteX1-65" fmla="*/ 8704052 w 8704052"/>
                <a:gd name="connsiteY1-66" fmla="*/ 19050 h 2083859"/>
                <a:gd name="connsiteX2-67" fmla="*/ 8704052 w 8704052"/>
                <a:gd name="connsiteY2-68" fmla="*/ 1934251 h 2083859"/>
                <a:gd name="connsiteX3-69" fmla="*/ 8554444 w 8704052"/>
                <a:gd name="connsiteY3-70" fmla="*/ 2083859 h 2083859"/>
                <a:gd name="connsiteX4-71" fmla="*/ 149608 w 8704052"/>
                <a:gd name="connsiteY4-72" fmla="*/ 2083859 h 2083859"/>
                <a:gd name="connsiteX5-73" fmla="*/ 0 w 8704052"/>
                <a:gd name="connsiteY5-74" fmla="*/ 1934251 h 2083859"/>
                <a:gd name="connsiteX6-75" fmla="*/ 0 w 8704052"/>
                <a:gd name="connsiteY6-76" fmla="*/ 0 h 2083859"/>
                <a:gd name="connsiteX0-77" fmla="*/ 0 w 8704052"/>
                <a:gd name="connsiteY0-78" fmla="*/ 0 h 2083859"/>
                <a:gd name="connsiteX1-79" fmla="*/ 8699290 w 8704052"/>
                <a:gd name="connsiteY1-80" fmla="*/ 4763 h 2083859"/>
                <a:gd name="connsiteX2-81" fmla="*/ 8704052 w 8704052"/>
                <a:gd name="connsiteY2-82" fmla="*/ 1934251 h 2083859"/>
                <a:gd name="connsiteX3-83" fmla="*/ 8554444 w 8704052"/>
                <a:gd name="connsiteY3-84" fmla="*/ 2083859 h 2083859"/>
                <a:gd name="connsiteX4-85" fmla="*/ 149608 w 8704052"/>
                <a:gd name="connsiteY4-86" fmla="*/ 2083859 h 2083859"/>
                <a:gd name="connsiteX5-87" fmla="*/ 0 w 8704052"/>
                <a:gd name="connsiteY5-88" fmla="*/ 1934251 h 2083859"/>
                <a:gd name="connsiteX6-89" fmla="*/ 0 w 8704052"/>
                <a:gd name="connsiteY6-90" fmla="*/ 0 h 208385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8704052" h="2083859">
                  <a:moveTo>
                    <a:pt x="0" y="0"/>
                  </a:moveTo>
                  <a:lnTo>
                    <a:pt x="8699290" y="4763"/>
                  </a:lnTo>
                  <a:cubicBezTo>
                    <a:pt x="8700877" y="647926"/>
                    <a:pt x="8702465" y="1291088"/>
                    <a:pt x="8704052" y="1934251"/>
                  </a:cubicBezTo>
                  <a:cubicBezTo>
                    <a:pt x="8704052" y="2016877"/>
                    <a:pt x="8637070" y="2083859"/>
                    <a:pt x="8554444" y="2083859"/>
                  </a:cubicBezTo>
                  <a:lnTo>
                    <a:pt x="149608" y="2083859"/>
                  </a:lnTo>
                  <a:cubicBezTo>
                    <a:pt x="66982" y="2083859"/>
                    <a:pt x="0" y="2016877"/>
                    <a:pt x="0" y="193425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9E9F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LMMono9-Regular-Identity-H"/>
                </a:rPr>
                <a:t>在执行</a:t>
              </a:r>
              <a:r>
                <a:rPr lang="en-US" altLang="zh-CN" dirty="0">
                  <a:solidFill>
                    <a:srgbClr val="000000"/>
                  </a:solidFill>
                  <a:latin typeface="LMMono9-Regular-Identity-H"/>
                </a:rPr>
                <a:t>scientific</a:t>
              </a:r>
              <a:r>
                <a:rPr lang="zh-CN" altLang="en-US" dirty="0">
                  <a:solidFill>
                    <a:srgbClr val="000000"/>
                  </a:solidFill>
                  <a:latin typeface="LMMono9-Regular-Identity-H"/>
                </a:rPr>
                <a:t>或</a:t>
              </a:r>
              <a:r>
                <a:rPr lang="en-US" altLang="zh-CN" dirty="0">
                  <a:solidFill>
                    <a:srgbClr val="000000"/>
                  </a:solidFill>
                  <a:latin typeface="LMMono9-Regular-Identity-H"/>
                </a:rPr>
                <a:t>fixed</a:t>
              </a:r>
              <a:r>
                <a:rPr lang="zh-CN" altLang="en-US" dirty="0">
                  <a:solidFill>
                    <a:srgbClr val="000000"/>
                  </a:solidFill>
                  <a:latin typeface="LMMono9-Regular-Identity-H"/>
                </a:rPr>
                <a:t>操纵符后，精度控制的是小数点后面的数值位数，而不是默认的数值总位数。</a:t>
              </a:r>
              <a:r>
                <a:rPr lang="en-US" altLang="zh-CN" dirty="0" err="1">
                  <a:solidFill>
                    <a:srgbClr val="000000"/>
                  </a:solidFill>
                  <a:latin typeface="LMMono9-Regular-Identity-H"/>
                </a:rPr>
                <a:t>defaultfloat</a:t>
              </a:r>
              <a:r>
                <a:rPr lang="zh-CN" altLang="en-US" dirty="0">
                  <a:solidFill>
                    <a:srgbClr val="000000"/>
                  </a:solidFill>
                  <a:latin typeface="LMMono9-Regular-Identity-H"/>
                </a:rPr>
                <a:t>为</a:t>
              </a:r>
              <a:r>
                <a:rPr lang="en-US" altLang="zh-CN" dirty="0">
                  <a:solidFill>
                    <a:srgbClr val="000000"/>
                  </a:solidFill>
                  <a:latin typeface="LMMono9-Regular-Identity-H"/>
                </a:rPr>
                <a:t>C++11</a:t>
              </a:r>
              <a:r>
                <a:rPr lang="zh-CN" altLang="en-US" dirty="0">
                  <a:solidFill>
                    <a:srgbClr val="000000"/>
                  </a:solidFill>
                  <a:latin typeface="LMMono9-Regular-Identity-H"/>
                </a:rPr>
                <a:t>新特性，它将流恢复默认。</a:t>
              </a:r>
              <a:endParaRPr lang="zh-CN" altLang="en-US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431757" y="904555"/>
            <a:ext cx="9897177" cy="600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double 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x=1.2152;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cout.precision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(3);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使用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precision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成员函数指定打印精度；</a:t>
            </a:r>
            <a:endParaRPr lang="zh-CN" altLang="en-US" sz="2400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"precision:"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cout.precision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()&lt;&lt;</a:t>
            </a:r>
            <a:r>
              <a:rPr lang="en-US" altLang="zh-CN" sz="2400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",x="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&lt;&lt;x&lt;&lt;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endl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setprecision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(4);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使用</a:t>
            </a:r>
            <a:r>
              <a:rPr lang="en-US" altLang="zh-CN" sz="2400" dirty="0" err="1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setprecision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函数指定打印精度；</a:t>
            </a:r>
            <a:endParaRPr lang="zh-CN" altLang="en-US" sz="2400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"precision:"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cout.precision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()&lt;&lt;</a:t>
            </a:r>
            <a:r>
              <a:rPr lang="en-US" altLang="zh-CN" sz="2400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",x="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&lt;&lt;x&lt;&lt;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endl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fr-FR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cout&lt;&lt;</a:t>
            </a:r>
            <a:r>
              <a:rPr lang="fr-FR" altLang="zh-CN" sz="2400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"scientific:"</a:t>
            </a:r>
            <a:r>
              <a:rPr lang="fr-FR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&lt;&lt;scientific&lt;&lt;10*exp(1.0)&lt;&lt;endl;</a:t>
            </a:r>
            <a:endParaRPr lang="fr-FR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用科学计数法控制输出格式；</a:t>
            </a:r>
            <a:endParaRPr lang="zh-CN" altLang="en-US" sz="2400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"fixed decimal:"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&lt;&lt;fixed&lt;&lt;10*exp(1.0)&lt;&lt;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endl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</a:t>
            </a:r>
            <a:r>
              <a:rPr lang="en-US" altLang="zh-CN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定点十进制默认格式；</a:t>
            </a:r>
            <a:endParaRPr lang="zh-CN" altLang="en-US" sz="2400" dirty="0">
              <a:solidFill>
                <a:srgbClr val="008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"default float:"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defaultfloat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&lt;&lt;10*exp(1.0)&lt;&lt;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endl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zh-CN" altLang="en-US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输出结果：</a:t>
            </a:r>
            <a:endParaRPr lang="zh-CN" altLang="en-US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precision:3,x=1.22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precision:4,x=1.215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scientific:2.718282e+01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fixed decimal:27.182818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default float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:27.1828</a:t>
            </a:r>
            <a:endParaRPr lang="zh-CN" altLang="en-US" sz="24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1187681" y="221933"/>
            <a:ext cx="92461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ea typeface="隶书" panose="02010509060101010101" pitchFamily="49" charset="-122"/>
              </a:rPr>
              <a:t>流操纵算子</a:t>
            </a:r>
            <a:r>
              <a:rPr kumimoji="1" lang="en-US" altLang="zh-CN" sz="3200" b="1" dirty="0">
                <a:solidFill>
                  <a:srgbClr val="006600"/>
                </a:solidFill>
                <a:ea typeface="隶书" panose="02010509060101010101" pitchFamily="49" charset="-122"/>
              </a:rPr>
              <a:t>—</a:t>
            </a:r>
            <a:r>
              <a:rPr kumimoji="1" lang="zh-CN" altLang="en-US" sz="3200" b="1" dirty="0">
                <a:solidFill>
                  <a:srgbClr val="006600"/>
                </a:solidFill>
                <a:ea typeface="隶书" panose="02010509060101010101" pitchFamily="49" charset="-122"/>
              </a:rPr>
              <a:t>设置域宽</a:t>
            </a:r>
            <a:endParaRPr kumimoji="1" lang="zh-CN" altLang="en-US" sz="3200" b="1" dirty="0">
              <a:solidFill>
                <a:srgbClr val="006600"/>
              </a:solidFill>
              <a:ea typeface="隶书" panose="020105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1463" y="3715352"/>
            <a:ext cx="508026" cy="2123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372" y="1148185"/>
            <a:ext cx="1337913" cy="130677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0985" y="1050005"/>
            <a:ext cx="1229925" cy="232148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986" y="677296"/>
            <a:ext cx="5554505" cy="219103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359" y="5090606"/>
            <a:ext cx="5687074" cy="718106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349986" y="3000396"/>
            <a:ext cx="6094140" cy="2953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dirty="0">
                <a:solidFill>
                  <a:srgbClr val="0066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例：</a:t>
            </a:r>
            <a:endParaRPr kumimoji="1" lang="en-US" altLang="zh-CN" sz="2800" dirty="0">
              <a:solidFill>
                <a:srgbClr val="0066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int 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=-10;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double 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x=1.2152;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"i:"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&lt;setw(10)&lt;&lt;i&lt;&lt;endl;</a:t>
            </a:r>
            <a:endParaRPr lang="en-US" altLang="zh-CN" sz="2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>
                <a:solidFill>
                  <a:srgbClr val="C0804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"x:"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&lt;&lt;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setw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(10)&lt;&lt;x&lt;&lt;</a:t>
            </a:r>
            <a:r>
              <a:rPr lang="en-US" altLang="zh-CN" sz="24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endl</a:t>
            </a:r>
            <a:r>
              <a:rPr lang="en-US" altLang="zh-CN" sz="2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;</a:t>
            </a:r>
            <a:endParaRPr lang="zh-CN" altLang="en-US" sz="24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425333" y="3344840"/>
            <a:ext cx="609414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输出：</a:t>
            </a:r>
            <a:endParaRPr lang="en-US" altLang="zh-CN" sz="240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 err="1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: ⊔⊔⊔⊔⊔⊔⊔-10       </a:t>
            </a:r>
            <a:r>
              <a:rPr lang="en-US" altLang="zh-CN" sz="20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//⊔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表示空格</a:t>
            </a:r>
            <a:endParaRPr lang="en-US" altLang="zh-CN" sz="240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r>
              <a:rPr lang="en-US" altLang="zh-CN" sz="2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x : ⊔⊔⊔⊔1.2152        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//</a:t>
            </a:r>
            <a:r>
              <a:rPr lang="zh-CN" altLang="en-US" sz="2000" dirty="0">
                <a:solidFill>
                  <a:schemeClr val="accent6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域宽包括小数点和符号</a:t>
            </a:r>
            <a:endParaRPr lang="zh-CN" altLang="en-US" sz="2400" dirty="0">
              <a:solidFill>
                <a:schemeClr val="accent6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006310" y="361732"/>
            <a:ext cx="8569325" cy="8925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just"/>
            <a:r>
              <a:rPr kumimoji="1" lang="zh-CN" altLang="en-US" sz="2800" b="1" dirty="0">
                <a:solidFill>
                  <a:srgbClr val="006600"/>
                </a:solidFill>
                <a:ea typeface="隶书" panose="02010509060101010101" pitchFamily="49" charset="-122"/>
              </a:rPr>
              <a:t>例：流操纵算子。</a:t>
            </a:r>
            <a:endParaRPr kumimoji="1" lang="zh-CN" altLang="en-US" sz="2800" b="1" dirty="0">
              <a:solidFill>
                <a:srgbClr val="006600"/>
              </a:solidFill>
              <a:ea typeface="隶书" panose="02010509060101010101" pitchFamily="49" charset="-122"/>
            </a:endParaRPr>
          </a:p>
          <a:p>
            <a:pPr algn="l"/>
            <a:endParaRPr kumimoji="1" lang="en-US" altLang="zh-CN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532" y="808008"/>
            <a:ext cx="11500441" cy="569624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720" y="808008"/>
            <a:ext cx="2355253" cy="71758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27" y="4957011"/>
            <a:ext cx="6762713" cy="177104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6104" y="6196260"/>
            <a:ext cx="393227" cy="61598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027" y="4957011"/>
            <a:ext cx="6762713" cy="177104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6104" y="6196260"/>
            <a:ext cx="393227" cy="61598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47" y="850767"/>
            <a:ext cx="10801905" cy="51564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78" y="4445838"/>
            <a:ext cx="4444708" cy="199346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758" y="2395656"/>
            <a:ext cx="1424539" cy="118116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574" y="1480739"/>
            <a:ext cx="1638384" cy="18443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032" y="4424712"/>
            <a:ext cx="2406774" cy="190509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1187681" y="221933"/>
            <a:ext cx="92461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ea typeface="隶书" panose="02010509060101010101" pitchFamily="49" charset="-122"/>
              </a:rPr>
              <a:t>用户自定义流操纵算子（了解）</a:t>
            </a:r>
            <a:endParaRPr kumimoji="1" lang="zh-CN" altLang="en-US" sz="3200" b="1" dirty="0">
              <a:solidFill>
                <a:srgbClr val="006600"/>
              </a:solidFill>
              <a:ea typeface="隶书" panose="020105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1463" y="3715352"/>
            <a:ext cx="508026" cy="2123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372" y="1148185"/>
            <a:ext cx="1337913" cy="130677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0985" y="1050005"/>
            <a:ext cx="1229925" cy="232148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233" y="1259077"/>
            <a:ext cx="6030095" cy="307471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1187681" y="221933"/>
            <a:ext cx="92461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ea typeface="隶书" panose="02010509060101010101" pitchFamily="49" charset="-122"/>
              </a:rPr>
              <a:t>用户自定义流操纵算子（了解）</a:t>
            </a:r>
            <a:endParaRPr kumimoji="1" lang="zh-CN" altLang="en-US" sz="3200" b="1" dirty="0">
              <a:solidFill>
                <a:srgbClr val="006600"/>
              </a:solidFill>
              <a:ea typeface="隶书" panose="020105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1463" y="4123956"/>
            <a:ext cx="508026" cy="2123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372" y="1556789"/>
            <a:ext cx="1337913" cy="130677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t="11857"/>
          <a:stretch>
            <a:fillRect/>
          </a:stretch>
        </p:blipFill>
        <p:spPr>
          <a:xfrm>
            <a:off x="1279004" y="1556789"/>
            <a:ext cx="5593509" cy="244362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0940" y="755997"/>
            <a:ext cx="1229925" cy="6044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961" y="3361075"/>
            <a:ext cx="6673091" cy="421181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87450" y="4196715"/>
            <a:ext cx="4891405" cy="5346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59840" y="5055870"/>
            <a:ext cx="5612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FF0000"/>
                </a:solidFill>
              </a:rPr>
              <a:t>(cout.operator&lt;&lt;(“aa”)).operator&lt;&lt;(tab)</a:t>
            </a:r>
            <a:endParaRPr lang="en-US" altLang="zh-CN" sz="2000" b="1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63420" y="2743200"/>
            <a:ext cx="2280920" cy="4578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>
            <a:off x="2780665" y="4675505"/>
            <a:ext cx="4445" cy="4699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1349375" y="4166235"/>
            <a:ext cx="2442210" cy="5022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1187681" y="221933"/>
            <a:ext cx="92461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ea typeface="隶书" panose="02010509060101010101" pitchFamily="49" charset="-122"/>
              </a:rPr>
              <a:t>流操纵算子的本质是函数</a:t>
            </a:r>
            <a:endParaRPr kumimoji="1" lang="zh-CN" altLang="en-US" sz="3200" b="1" dirty="0">
              <a:solidFill>
                <a:srgbClr val="006600"/>
              </a:solidFill>
              <a:ea typeface="隶书" panose="020105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1463" y="3715352"/>
            <a:ext cx="508026" cy="2123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372" y="1148185"/>
            <a:ext cx="1337913" cy="130677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0985" y="1050005"/>
            <a:ext cx="1229925" cy="232148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449" y="1588268"/>
            <a:ext cx="6066263" cy="279449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09" y="1575697"/>
            <a:ext cx="5015250" cy="276804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18490" y="4846955"/>
            <a:ext cx="10612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但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使用</a:t>
            </a:r>
            <a:r>
              <a:rPr lang="zh-CN" altLang="en-US">
                <a:solidFill>
                  <a:srgbClr val="FF0000"/>
                </a:solidFill>
              </a:rPr>
              <a:t>流算子函数的方式不是调用该函数，而是作为提取（</a:t>
            </a:r>
            <a:r>
              <a:rPr lang="en-US" altLang="zh-CN">
                <a:solidFill>
                  <a:srgbClr val="FF0000"/>
                </a:solidFill>
              </a:rPr>
              <a:t>&gt;&gt;</a:t>
            </a:r>
            <a:r>
              <a:rPr lang="zh-CN" altLang="en-US">
                <a:solidFill>
                  <a:srgbClr val="FF0000"/>
                </a:solidFill>
              </a:rPr>
              <a:t>）、插入（</a:t>
            </a:r>
            <a:r>
              <a:rPr lang="en-US" altLang="zh-CN">
                <a:solidFill>
                  <a:srgbClr val="FF0000"/>
                </a:solidFill>
              </a:rPr>
              <a:t>&lt;&lt;</a:t>
            </a:r>
            <a:r>
              <a:rPr lang="zh-CN" altLang="en-US">
                <a:solidFill>
                  <a:srgbClr val="FF0000"/>
                </a:solidFill>
              </a:rPr>
              <a:t>）运算符重载</a:t>
            </a:r>
            <a:r>
              <a:rPr lang="en-US" altLang="zh-CN">
                <a:solidFill>
                  <a:srgbClr val="FF0000"/>
                </a:solidFill>
              </a:rPr>
              <a:t>h</a:t>
            </a:r>
            <a:r>
              <a:rPr lang="zh-CN" altLang="en-US">
                <a:solidFill>
                  <a:srgbClr val="FF0000"/>
                </a:solidFill>
              </a:rPr>
              <a:t>函数的参数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Rot="1" noChangeArrowheads="1"/>
          </p:cNvSpPr>
          <p:nvPr/>
        </p:nvSpPr>
        <p:spPr>
          <a:xfrm>
            <a:off x="1495700" y="92369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10.4 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输入</a:t>
            </a:r>
            <a:r>
              <a:rPr lang="en-US" altLang="zh-CN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/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输出重定向</a:t>
            </a:r>
            <a:endParaRPr lang="zh-CN" altLang="en-US" sz="4000" b="1" dirty="0"/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495700" y="1183290"/>
            <a:ext cx="992364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28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重定向</a:t>
            </a:r>
            <a:endParaRPr kumimoji="1" lang="zh-CN" altLang="en-US" sz="2800" b="1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latin typeface="幼圆" panose="02010509060101010101" pitchFamily="49" charset="-122"/>
              </a:rPr>
              <a:t>将</a:t>
            </a:r>
            <a:r>
              <a:rPr kumimoji="1" lang="zh-CN" altLang="en-US" sz="2400" b="1" dirty="0">
                <a:ea typeface="宋体" panose="02010600030101010101" pitchFamily="2" charset="-122"/>
              </a:rPr>
              <a:t>标准输入流对应的标准设备修改为键盘以外其他数据源，称为</a:t>
            </a:r>
            <a:r>
              <a:rPr kumimoji="1" lang="zh-CN" altLang="en-US" sz="2400" b="1" dirty="0">
                <a:solidFill>
                  <a:srgbClr val="0066FF"/>
                </a:solidFill>
                <a:ea typeface="宋体" panose="02010600030101010101" pitchFamily="2" charset="-122"/>
              </a:rPr>
              <a:t>输入重定向</a:t>
            </a:r>
            <a:r>
              <a:rPr kumimoji="1" lang="zh-CN" altLang="en-US" sz="2400" b="1" dirty="0">
                <a:ea typeface="宋体" panose="02010600030101010101" pitchFamily="2" charset="-122"/>
              </a:rPr>
              <a:t>。</a:t>
            </a:r>
            <a:endParaRPr kumimoji="1" lang="zh-CN" altLang="en-US" sz="2400" b="1" dirty="0"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ea typeface="宋体" panose="02010600030101010101" pitchFamily="2" charset="-122"/>
              </a:rPr>
              <a:t>将标准输出流对应的标准设备修改为显示器以外的其他目标，称为</a:t>
            </a:r>
            <a:r>
              <a:rPr kumimoji="1" lang="zh-CN" altLang="en-US" sz="2400" b="1" dirty="0">
                <a:solidFill>
                  <a:srgbClr val="0066FF"/>
                </a:solidFill>
                <a:ea typeface="宋体" panose="02010600030101010101" pitchFamily="2" charset="-122"/>
              </a:rPr>
              <a:t>输出重定向</a:t>
            </a:r>
            <a:r>
              <a:rPr kumimoji="1" lang="zh-CN" altLang="en-US" sz="2400" b="1" dirty="0">
                <a:ea typeface="宋体" panose="02010600030101010101" pitchFamily="2" charset="-122"/>
              </a:rPr>
              <a:t>。</a:t>
            </a:r>
            <a:endParaRPr kumimoji="1" lang="zh-CN" altLang="en-US" sz="2400" b="1" dirty="0">
              <a:ea typeface="宋体" panose="02010600030101010101" pitchFamily="2" charset="-122"/>
            </a:endParaRPr>
          </a:p>
          <a:p>
            <a:endParaRPr kumimoji="1" lang="en-US" altLang="zh-CN" sz="2400" b="1" dirty="0"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ea typeface="宋体" panose="02010600030101010101" pitchFamily="2" charset="-122"/>
              </a:rPr>
              <a:t>标准输入</a:t>
            </a:r>
            <a:r>
              <a:rPr kumimoji="1" lang="en-US" altLang="zh-CN" sz="2400" b="1" dirty="0">
                <a:ea typeface="宋体" panose="02010600030101010101" pitchFamily="2" charset="-122"/>
              </a:rPr>
              <a:t>/</a:t>
            </a:r>
            <a:r>
              <a:rPr kumimoji="1" lang="zh-CN" altLang="en-US" sz="2400" b="1" dirty="0">
                <a:ea typeface="宋体" panose="02010600030101010101" pitchFamily="2" charset="-122"/>
              </a:rPr>
              <a:t>输出通常</a:t>
            </a:r>
            <a:r>
              <a:rPr kumimoji="1"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重定向</a:t>
            </a:r>
            <a:r>
              <a:rPr kumimoji="1" lang="zh-CN" altLang="en-US" sz="2400" b="1" dirty="0">
                <a:ea typeface="宋体" panose="02010600030101010101" pitchFamily="2" charset="-122"/>
              </a:rPr>
              <a:t>到</a:t>
            </a:r>
            <a:r>
              <a:rPr kumimoji="1"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文件</a:t>
            </a:r>
            <a:r>
              <a:rPr kumimoji="1" lang="zh-CN" altLang="en-US" sz="2400" b="1" dirty="0">
                <a:ea typeface="宋体" panose="02010600030101010101" pitchFamily="2" charset="-122"/>
              </a:rPr>
              <a:t>。</a:t>
            </a:r>
            <a:endParaRPr kumimoji="1" lang="en-US" altLang="zh-CN" sz="2400" b="1" dirty="0">
              <a:ea typeface="宋体" panose="02010600030101010101" pitchFamily="2" charset="-122"/>
            </a:endParaRPr>
          </a:p>
          <a:p>
            <a:endParaRPr kumimoji="1" lang="zh-CN" altLang="en-US" sz="2400" b="1" dirty="0">
              <a:ea typeface="宋体" panose="02010600030101010101" pitchFamily="2" charset="-122"/>
            </a:endParaRPr>
          </a:p>
          <a:p>
            <a:pPr algn="l"/>
            <a:r>
              <a:rPr kumimoji="1" lang="zh-CN" altLang="en-US" sz="2400" b="1" dirty="0">
                <a:ea typeface="宋体" panose="02010600030101010101" pitchFamily="2" charset="-122"/>
              </a:rPr>
              <a:t>       </a:t>
            </a:r>
            <a:endParaRPr kumimoji="1" lang="zh-CN" altLang="en-US" sz="2400" b="1" dirty="0">
              <a:latin typeface="幼圆" panose="02010509060101010101" pitchFamily="49" charset="-122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572702" y="240631"/>
            <a:ext cx="9923647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28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例：输出重定向</a:t>
            </a:r>
            <a:endParaRPr kumimoji="1" lang="zh-CN" altLang="en-US" sz="2800" b="1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kumimoji="1" lang="zh-CN" altLang="en-US" sz="2400" b="1" dirty="0">
              <a:ea typeface="宋体" panose="02010600030101010101" pitchFamily="2" charset="-122"/>
            </a:endParaRPr>
          </a:p>
          <a:p>
            <a:pPr algn="l"/>
            <a:r>
              <a:rPr kumimoji="1" lang="zh-CN" altLang="en-US" sz="2400" b="1" dirty="0">
                <a:ea typeface="宋体" panose="02010600030101010101" pitchFamily="2" charset="-122"/>
              </a:rPr>
              <a:t>       </a:t>
            </a:r>
            <a:endParaRPr kumimoji="1" lang="zh-CN" altLang="en-US" sz="2400" b="1" dirty="0">
              <a:latin typeface="幼圆" panose="020105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4934" y="994498"/>
            <a:ext cx="7242909" cy="486900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6083" y="994498"/>
            <a:ext cx="965250" cy="85094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741930" y="3145155"/>
            <a:ext cx="1054735" cy="27876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5487035" y="3145155"/>
            <a:ext cx="786765" cy="27876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572702" y="240631"/>
            <a:ext cx="9923647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28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例：输入重定向</a:t>
            </a:r>
            <a:endParaRPr kumimoji="1" lang="zh-CN" altLang="en-US" sz="2800" b="1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kumimoji="1" lang="zh-CN" altLang="en-US" sz="2400" b="1" dirty="0">
              <a:ea typeface="宋体" panose="02010600030101010101" pitchFamily="2" charset="-122"/>
            </a:endParaRPr>
          </a:p>
          <a:p>
            <a:pPr algn="l"/>
            <a:r>
              <a:rPr kumimoji="1" lang="zh-CN" altLang="en-US" sz="2400" b="1" dirty="0">
                <a:ea typeface="宋体" panose="02010600030101010101" pitchFamily="2" charset="-122"/>
              </a:rPr>
              <a:t>       </a:t>
            </a:r>
            <a:endParaRPr kumimoji="1" lang="zh-CN" altLang="en-US" sz="2400" b="1" dirty="0">
              <a:latin typeface="幼圆" panose="020105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6083" y="994498"/>
            <a:ext cx="965250" cy="85094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282" y="871572"/>
            <a:ext cx="8009420" cy="367774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377" y="3664977"/>
            <a:ext cx="869995" cy="33656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572702" y="240631"/>
            <a:ext cx="9923647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28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判断输入流的结束</a:t>
            </a:r>
            <a:endParaRPr kumimoji="1" lang="zh-CN" altLang="en-US" sz="2800" b="1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kumimoji="1" lang="zh-CN" altLang="en-US" sz="2400" b="1" dirty="0">
              <a:ea typeface="宋体" panose="02010600030101010101" pitchFamily="2" charset="-122"/>
            </a:endParaRPr>
          </a:p>
          <a:p>
            <a:pPr algn="l"/>
            <a:r>
              <a:rPr kumimoji="1" lang="zh-CN" altLang="en-US" sz="2400" b="1" dirty="0">
                <a:ea typeface="宋体" panose="02010600030101010101" pitchFamily="2" charset="-122"/>
              </a:rPr>
              <a:t>       </a:t>
            </a:r>
            <a:endParaRPr kumimoji="1" lang="zh-CN" altLang="en-US" sz="2400" b="1" dirty="0">
              <a:latin typeface="幼圆" panose="020105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6083" y="994498"/>
            <a:ext cx="965250" cy="85094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377" y="3664977"/>
            <a:ext cx="869995" cy="33656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73" y="994498"/>
            <a:ext cx="6743585" cy="372257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5881" y="994498"/>
            <a:ext cx="4595402" cy="3722574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8626083" y="2315817"/>
            <a:ext cx="42846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8368298" y="3839816"/>
            <a:ext cx="101029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7324058" y="5279016"/>
            <a:ext cx="45135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solidFill>
                  <a:srgbClr val="FF0000"/>
                </a:solidFill>
              </a:rPr>
              <a:t>istream</a:t>
            </a:r>
            <a:r>
              <a:rPr lang="zh-CN" altLang="en-US" sz="2000" b="1" dirty="0">
                <a:solidFill>
                  <a:srgbClr val="FF0000"/>
                </a:solidFill>
              </a:rPr>
              <a:t>中对强制类型转换运算符重载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572702" y="240631"/>
            <a:ext cx="9923647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28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强制类型转换运算符重载</a:t>
            </a:r>
            <a:endParaRPr kumimoji="1" lang="zh-CN" altLang="en-US" sz="2800" b="1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l"/>
            <a:endParaRPr kumimoji="1" lang="zh-CN" altLang="en-US" sz="2800" b="1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kumimoji="1" lang="zh-CN" altLang="en-US" sz="2400" b="1" dirty="0">
              <a:ea typeface="宋体" panose="02010600030101010101" pitchFamily="2" charset="-122"/>
            </a:endParaRPr>
          </a:p>
          <a:p>
            <a:pPr algn="l"/>
            <a:r>
              <a:rPr kumimoji="1" lang="zh-CN" altLang="en-US" sz="2400" b="1" dirty="0">
                <a:ea typeface="宋体" panose="02010600030101010101" pitchFamily="2" charset="-122"/>
              </a:rPr>
              <a:t>       </a:t>
            </a:r>
            <a:endParaRPr kumimoji="1" lang="zh-CN" altLang="en-US" sz="2400" b="1" dirty="0">
              <a:latin typeface="幼圆" panose="020105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6083" y="994498"/>
            <a:ext cx="965250" cy="85094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06" y="994496"/>
            <a:ext cx="7110077" cy="549450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683" y="994497"/>
            <a:ext cx="889046" cy="1604811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4272" y="84407"/>
            <a:ext cx="5072928" cy="305636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Rot="1" noChangeArrowheads="1"/>
          </p:cNvSpPr>
          <p:nvPr/>
        </p:nvSpPr>
        <p:spPr>
          <a:xfrm>
            <a:off x="1495700" y="92369"/>
            <a:ext cx="8280400" cy="982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10.5  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文件操作</a:t>
            </a:r>
            <a:endParaRPr lang="zh-CN" altLang="en-US" sz="4000" b="1" dirty="0"/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495700" y="1183290"/>
            <a:ext cx="9923647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28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文件相关基本概念</a:t>
            </a:r>
            <a:endParaRPr kumimoji="1" lang="zh-CN" altLang="en-US" sz="2800" b="1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kumimoji="1" lang="zh-CN" altLang="en-US" sz="2400" b="1" dirty="0">
              <a:ea typeface="宋体" panose="02010600030101010101" pitchFamily="2" charset="-122"/>
            </a:endParaRPr>
          </a:p>
          <a:p>
            <a:pPr algn="l"/>
            <a:r>
              <a:rPr kumimoji="1" lang="zh-CN" altLang="en-US" sz="2400" b="1" dirty="0">
                <a:ea typeface="宋体" panose="02010600030101010101" pitchFamily="2" charset="-122"/>
              </a:rPr>
              <a:t>       </a:t>
            </a:r>
            <a:endParaRPr kumimoji="1" lang="zh-CN" altLang="en-US" sz="2400" b="1" dirty="0">
              <a:latin typeface="幼圆" panose="020105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934" y="2230327"/>
            <a:ext cx="6388634" cy="336734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102" y="1676425"/>
            <a:ext cx="422481" cy="174443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1102" y="1875205"/>
            <a:ext cx="422481" cy="1744439"/>
          </a:xfrm>
          <a:prstGeom prst="rect">
            <a:avLst/>
          </a:prstGeom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091027" y="916355"/>
            <a:ext cx="950408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ea typeface="宋体" panose="02010600030101010101" pitchFamily="2" charset="-122"/>
              </a:rPr>
              <a:t> </a:t>
            </a:r>
            <a:r>
              <a:rPr kumimoji="1" lang="zh-CN" altLang="en-US" sz="2400" dirty="0">
                <a:ea typeface="宋体" panose="02010600030101010101" pitchFamily="2" charset="-122"/>
              </a:rPr>
              <a:t>本节中文件指的是</a:t>
            </a:r>
            <a:r>
              <a:rPr kumimoji="1" lang="zh-CN" altLang="en-US" sz="2400" dirty="0">
                <a:solidFill>
                  <a:srgbClr val="0066FF"/>
                </a:solidFill>
                <a:ea typeface="宋体" panose="02010600030101010101" pitchFamily="2" charset="-122"/>
              </a:rPr>
              <a:t>磁盘文件</a:t>
            </a:r>
            <a:r>
              <a:rPr kumimoji="1" lang="zh-CN" altLang="en-US" sz="2400" dirty="0">
                <a:ea typeface="宋体" panose="02010600030101010101" pitchFamily="2" charset="-122"/>
              </a:rPr>
              <a:t>。</a:t>
            </a:r>
            <a:r>
              <a:rPr kumimoji="1" lang="en-US" altLang="zh-CN" sz="2400" dirty="0">
                <a:ea typeface="宋体" panose="02010600030101010101" pitchFamily="2" charset="-122"/>
              </a:rPr>
              <a:t>C++</a:t>
            </a:r>
            <a:r>
              <a:rPr kumimoji="1" lang="zh-CN" altLang="en-US" sz="2400" dirty="0">
                <a:ea typeface="宋体" panose="02010600030101010101" pitchFamily="2" charset="-122"/>
              </a:rPr>
              <a:t>根据文件（</a:t>
            </a:r>
            <a:r>
              <a:rPr kumimoji="1" lang="en-US" altLang="zh-CN" sz="2400" dirty="0">
                <a:ea typeface="宋体" panose="02010600030101010101" pitchFamily="2" charset="-122"/>
              </a:rPr>
              <a:t>file</a:t>
            </a:r>
            <a:r>
              <a:rPr kumimoji="1" lang="zh-CN" altLang="en-US" sz="2400" dirty="0">
                <a:ea typeface="宋体" panose="02010600030101010101" pitchFamily="2" charset="-122"/>
              </a:rPr>
              <a:t>）内容的数据格式，可分为两类：</a:t>
            </a:r>
            <a:r>
              <a:rPr kumimoji="1" lang="zh-CN" altLang="en-US" sz="2400" dirty="0">
                <a:solidFill>
                  <a:srgbClr val="0066FF"/>
                </a:solidFill>
                <a:ea typeface="宋体" panose="02010600030101010101" pitchFamily="2" charset="-122"/>
              </a:rPr>
              <a:t>二进制文件</a:t>
            </a:r>
            <a:r>
              <a:rPr kumimoji="1" lang="zh-CN" altLang="en-US" sz="2400" dirty="0">
                <a:ea typeface="宋体" panose="02010600030101010101" pitchFamily="2" charset="-122"/>
              </a:rPr>
              <a:t>和</a:t>
            </a:r>
            <a:r>
              <a:rPr kumimoji="1" lang="zh-CN" altLang="en-US" sz="2400" dirty="0">
                <a:solidFill>
                  <a:srgbClr val="0066FF"/>
                </a:solidFill>
                <a:ea typeface="宋体" panose="02010600030101010101" pitchFamily="2" charset="-122"/>
              </a:rPr>
              <a:t>文本文件</a:t>
            </a:r>
            <a:r>
              <a:rPr kumimoji="1" lang="zh-CN" altLang="en-US" sz="2400" dirty="0">
                <a:ea typeface="宋体" panose="02010600030101010101" pitchFamily="2" charset="-122"/>
              </a:rPr>
              <a:t>。</a:t>
            </a:r>
            <a:endParaRPr kumimoji="1" lang="en-US" altLang="zh-CN" sz="2400" dirty="0">
              <a:ea typeface="宋体" panose="02010600030101010101" pitchFamily="2" charset="-122"/>
            </a:endParaRPr>
          </a:p>
          <a:p>
            <a:pPr marL="342900" indent="-342900" algn="just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ea typeface="宋体" panose="02010600030101010101" pitchFamily="2" charset="-122"/>
              </a:rPr>
              <a:t>文本文件由字符序列组成，也称</a:t>
            </a:r>
            <a:r>
              <a:rPr kumimoji="1" lang="en-US" altLang="zh-CN" sz="2400" dirty="0">
                <a:solidFill>
                  <a:srgbClr val="0000CC"/>
                </a:solidFill>
                <a:ea typeface="宋体" panose="02010600030101010101" pitchFamily="2" charset="-122"/>
              </a:rPr>
              <a:t>ASCII</a:t>
            </a:r>
            <a:r>
              <a:rPr kumimoji="1" lang="zh-CN" altLang="en-US" sz="2400" dirty="0">
                <a:solidFill>
                  <a:srgbClr val="0000CC"/>
                </a:solidFill>
                <a:ea typeface="宋体" panose="02010600030101010101" pitchFamily="2" charset="-122"/>
              </a:rPr>
              <a:t>码文件，</a:t>
            </a:r>
            <a:r>
              <a:rPr kumimoji="1" lang="zh-CN" altLang="en-US" sz="2400" dirty="0">
                <a:ea typeface="宋体" panose="02010600030101010101" pitchFamily="2" charset="-122"/>
              </a:rPr>
              <a:t>文本文件中存取的最小信息单位为</a:t>
            </a:r>
            <a:r>
              <a:rPr kumimoji="1" lang="zh-CN" altLang="en-US" sz="2400" dirty="0">
                <a:solidFill>
                  <a:srgbClr val="0000CC"/>
                </a:solidFill>
                <a:ea typeface="宋体" panose="02010600030101010101" pitchFamily="2" charset="-122"/>
              </a:rPr>
              <a:t>字符（</a:t>
            </a:r>
            <a:r>
              <a:rPr kumimoji="1" lang="en-US" altLang="zh-CN" sz="2400" dirty="0">
                <a:solidFill>
                  <a:srgbClr val="0000CC"/>
                </a:solidFill>
                <a:ea typeface="宋体" panose="02010600030101010101" pitchFamily="2" charset="-122"/>
              </a:rPr>
              <a:t>character</a:t>
            </a:r>
            <a:r>
              <a:rPr kumimoji="1" lang="zh-CN" altLang="en-US" sz="2400" dirty="0">
                <a:solidFill>
                  <a:srgbClr val="0000CC"/>
                </a:solidFill>
                <a:ea typeface="宋体" panose="02010600030101010101" pitchFamily="2" charset="-122"/>
              </a:rPr>
              <a:t>），</a:t>
            </a:r>
            <a:r>
              <a:rPr kumimoji="1" lang="zh-CN" altLang="en-US" sz="2400" dirty="0">
                <a:ea typeface="宋体" panose="02010600030101010101" pitchFamily="2" charset="-122"/>
              </a:rPr>
              <a:t>二进制文件中存取的最小信息单位为</a:t>
            </a:r>
            <a:r>
              <a:rPr kumimoji="1" lang="zh-CN" altLang="en-US" sz="2400" dirty="0">
                <a:solidFill>
                  <a:srgbClr val="0000CC"/>
                </a:solidFill>
                <a:ea typeface="宋体" panose="02010600030101010101" pitchFamily="2" charset="-122"/>
              </a:rPr>
              <a:t>字节（</a:t>
            </a:r>
            <a:r>
              <a:rPr kumimoji="1" lang="en-US" altLang="zh-CN" sz="2400" dirty="0">
                <a:solidFill>
                  <a:srgbClr val="0000CC"/>
                </a:solidFill>
                <a:ea typeface="宋体" panose="02010600030101010101" pitchFamily="2" charset="-122"/>
              </a:rPr>
              <a:t>Byte</a:t>
            </a:r>
            <a:r>
              <a:rPr kumimoji="1" lang="zh-CN" altLang="en-US" sz="2400" dirty="0">
                <a:solidFill>
                  <a:srgbClr val="0000CC"/>
                </a:solidFill>
                <a:ea typeface="宋体" panose="02010600030101010101" pitchFamily="2" charset="-122"/>
              </a:rPr>
              <a:t>）。</a:t>
            </a:r>
            <a:endParaRPr kumimoji="1" lang="zh-CN" altLang="en-US" sz="2400" dirty="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059345" y="3074853"/>
            <a:ext cx="964509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l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kumimoji="1" lang="en-US" altLang="zh-CN" sz="2400" dirty="0"/>
              <a:t>C++</a:t>
            </a:r>
            <a:r>
              <a:rPr kumimoji="1" lang="zh-CN" altLang="en-US" sz="2400" dirty="0"/>
              <a:t>把每一个文件都看成一个有序的字节流，每一个文件或者以</a:t>
            </a:r>
            <a:r>
              <a:rPr kumimoji="1" lang="zh-CN" altLang="en-US" sz="2400" dirty="0">
                <a:solidFill>
                  <a:srgbClr val="FF0000"/>
                </a:solidFill>
              </a:rPr>
              <a:t>文件结束符</a:t>
            </a:r>
            <a:r>
              <a:rPr kumimoji="1" lang="zh-CN" altLang="en-US" sz="2400" dirty="0"/>
              <a:t>（</a:t>
            </a:r>
            <a:r>
              <a:rPr kumimoji="1" lang="en-US" altLang="zh-CN" sz="2400" dirty="0"/>
              <a:t>end of file marker</a:t>
            </a:r>
            <a:r>
              <a:rPr kumimoji="1" lang="zh-CN" altLang="en-US" sz="2400" dirty="0"/>
              <a:t>）结束，或者在特定的字节号处结束。 </a:t>
            </a:r>
            <a:endParaRPr kumimoji="1" lang="zh-CN" altLang="en-US" sz="2400" dirty="0"/>
          </a:p>
        </p:txBody>
      </p:sp>
      <p:grpSp>
        <p:nvGrpSpPr>
          <p:cNvPr id="10" name="Group 9"/>
          <p:cNvGrpSpPr/>
          <p:nvPr/>
        </p:nvGrpSpPr>
        <p:grpSpPr bwMode="auto">
          <a:xfrm>
            <a:off x="2337870" y="4556421"/>
            <a:ext cx="7010400" cy="905040"/>
            <a:chOff x="2520" y="7992"/>
            <a:chExt cx="7380" cy="936"/>
          </a:xfrm>
        </p:grpSpPr>
        <p:grpSp>
          <p:nvGrpSpPr>
            <p:cNvPr id="12" name="Group 10"/>
            <p:cNvGrpSpPr/>
            <p:nvPr/>
          </p:nvGrpSpPr>
          <p:grpSpPr bwMode="auto">
            <a:xfrm>
              <a:off x="2520" y="7992"/>
              <a:ext cx="6120" cy="468"/>
              <a:chOff x="2520" y="7992"/>
              <a:chExt cx="6120" cy="468"/>
            </a:xfrm>
          </p:grpSpPr>
          <p:sp>
            <p:nvSpPr>
              <p:cNvPr id="27" name="Rectangle 11"/>
              <p:cNvSpPr>
                <a:spLocks noChangeArrowheads="1"/>
              </p:cNvSpPr>
              <p:nvPr/>
            </p:nvSpPr>
            <p:spPr bwMode="auto">
              <a:xfrm>
                <a:off x="2520" y="7992"/>
                <a:ext cx="54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Rectangle 12"/>
              <p:cNvSpPr>
                <a:spLocks noChangeArrowheads="1"/>
              </p:cNvSpPr>
              <p:nvPr/>
            </p:nvSpPr>
            <p:spPr bwMode="auto">
              <a:xfrm>
                <a:off x="3060" y="7992"/>
                <a:ext cx="54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Rectangle 13"/>
              <p:cNvSpPr>
                <a:spLocks noChangeArrowheads="1"/>
              </p:cNvSpPr>
              <p:nvPr/>
            </p:nvSpPr>
            <p:spPr bwMode="auto">
              <a:xfrm>
                <a:off x="3600" y="7992"/>
                <a:ext cx="54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Rectangle 14"/>
              <p:cNvSpPr>
                <a:spLocks noChangeArrowheads="1"/>
              </p:cNvSpPr>
              <p:nvPr/>
            </p:nvSpPr>
            <p:spPr bwMode="auto">
              <a:xfrm>
                <a:off x="4680" y="7992"/>
                <a:ext cx="54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endPara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Rectangle 15"/>
              <p:cNvSpPr>
                <a:spLocks noChangeArrowheads="1"/>
              </p:cNvSpPr>
              <p:nvPr/>
            </p:nvSpPr>
            <p:spPr bwMode="auto">
              <a:xfrm>
                <a:off x="4140" y="7992"/>
                <a:ext cx="54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Rectangle 16"/>
              <p:cNvSpPr>
                <a:spLocks noChangeArrowheads="1"/>
              </p:cNvSpPr>
              <p:nvPr/>
            </p:nvSpPr>
            <p:spPr bwMode="auto">
              <a:xfrm>
                <a:off x="5760" y="7992"/>
                <a:ext cx="54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  <a:endPara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Rectangle 17"/>
              <p:cNvSpPr>
                <a:spLocks noChangeArrowheads="1"/>
              </p:cNvSpPr>
              <p:nvPr/>
            </p:nvSpPr>
            <p:spPr bwMode="auto">
              <a:xfrm>
                <a:off x="5220" y="7992"/>
                <a:ext cx="54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  <a:endPara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Rectangle 18"/>
              <p:cNvSpPr>
                <a:spLocks noChangeArrowheads="1"/>
              </p:cNvSpPr>
              <p:nvPr/>
            </p:nvSpPr>
            <p:spPr bwMode="auto">
              <a:xfrm>
                <a:off x="6300" y="7992"/>
                <a:ext cx="54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7</a:t>
                </a:r>
                <a:endPara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Rectangle 19"/>
              <p:cNvSpPr>
                <a:spLocks noChangeArrowheads="1"/>
              </p:cNvSpPr>
              <p:nvPr/>
            </p:nvSpPr>
            <p:spPr bwMode="auto">
              <a:xfrm>
                <a:off x="6840" y="7992"/>
                <a:ext cx="54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8</a:t>
                </a:r>
                <a:endPara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Rectangle 20"/>
              <p:cNvSpPr>
                <a:spLocks noChangeArrowheads="1"/>
              </p:cNvSpPr>
              <p:nvPr/>
            </p:nvSpPr>
            <p:spPr bwMode="auto">
              <a:xfrm>
                <a:off x="7380" y="7992"/>
                <a:ext cx="54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…</a:t>
                </a:r>
                <a:endPara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7920" y="7992"/>
                <a:ext cx="72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lang="en-US" altLang="zh-CN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n-1</a:t>
                </a:r>
                <a:endPara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" name="Group 22"/>
            <p:cNvGrpSpPr/>
            <p:nvPr/>
          </p:nvGrpSpPr>
          <p:grpSpPr bwMode="auto">
            <a:xfrm>
              <a:off x="2520" y="8460"/>
              <a:ext cx="7380" cy="468"/>
              <a:chOff x="2520" y="8460"/>
              <a:chExt cx="7380" cy="468"/>
            </a:xfrm>
          </p:grpSpPr>
          <p:sp>
            <p:nvSpPr>
              <p:cNvPr id="15" name="Rectangle 23"/>
              <p:cNvSpPr>
                <a:spLocks noChangeArrowheads="1"/>
              </p:cNvSpPr>
              <p:nvPr/>
            </p:nvSpPr>
            <p:spPr bwMode="auto">
              <a:xfrm>
                <a:off x="2520" y="8460"/>
                <a:ext cx="540" cy="4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Rectangle 24"/>
              <p:cNvSpPr>
                <a:spLocks noChangeArrowheads="1"/>
              </p:cNvSpPr>
              <p:nvPr/>
            </p:nvSpPr>
            <p:spPr bwMode="auto">
              <a:xfrm>
                <a:off x="3060" y="8460"/>
                <a:ext cx="540" cy="4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Rectangle 25"/>
              <p:cNvSpPr>
                <a:spLocks noChangeArrowheads="1"/>
              </p:cNvSpPr>
              <p:nvPr/>
            </p:nvSpPr>
            <p:spPr bwMode="auto">
              <a:xfrm>
                <a:off x="4140" y="8460"/>
                <a:ext cx="540" cy="4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Rectangle 26"/>
              <p:cNvSpPr>
                <a:spLocks noChangeArrowheads="1"/>
              </p:cNvSpPr>
              <p:nvPr/>
            </p:nvSpPr>
            <p:spPr bwMode="auto">
              <a:xfrm>
                <a:off x="3600" y="8460"/>
                <a:ext cx="540" cy="4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Rectangle 27"/>
              <p:cNvSpPr>
                <a:spLocks noChangeArrowheads="1"/>
              </p:cNvSpPr>
              <p:nvPr/>
            </p:nvSpPr>
            <p:spPr bwMode="auto">
              <a:xfrm>
                <a:off x="4680" y="8460"/>
                <a:ext cx="540" cy="4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Rectangle 28"/>
              <p:cNvSpPr>
                <a:spLocks noChangeArrowheads="1"/>
              </p:cNvSpPr>
              <p:nvPr/>
            </p:nvSpPr>
            <p:spPr bwMode="auto">
              <a:xfrm>
                <a:off x="5220" y="8460"/>
                <a:ext cx="540" cy="4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Rectangle 29"/>
              <p:cNvSpPr>
                <a:spLocks noChangeArrowheads="1"/>
              </p:cNvSpPr>
              <p:nvPr/>
            </p:nvSpPr>
            <p:spPr bwMode="auto">
              <a:xfrm>
                <a:off x="5760" y="8460"/>
                <a:ext cx="540" cy="4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Rectangle 30"/>
              <p:cNvSpPr>
                <a:spLocks noChangeArrowheads="1"/>
              </p:cNvSpPr>
              <p:nvPr/>
            </p:nvSpPr>
            <p:spPr bwMode="auto">
              <a:xfrm>
                <a:off x="6300" y="8460"/>
                <a:ext cx="540" cy="4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Rectangle 31"/>
              <p:cNvSpPr>
                <a:spLocks noChangeArrowheads="1"/>
              </p:cNvSpPr>
              <p:nvPr/>
            </p:nvSpPr>
            <p:spPr bwMode="auto">
              <a:xfrm>
                <a:off x="6840" y="8460"/>
                <a:ext cx="540" cy="4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Rectangle 32"/>
              <p:cNvSpPr>
                <a:spLocks noChangeArrowheads="1"/>
              </p:cNvSpPr>
              <p:nvPr/>
            </p:nvSpPr>
            <p:spPr bwMode="auto">
              <a:xfrm>
                <a:off x="7380" y="8460"/>
                <a:ext cx="540" cy="4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pPr algn="just" eaLnBrk="0" hangingPunct="0"/>
                <a:r>
                  <a:rPr lang="en-US" altLang="zh-CN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…</a:t>
                </a:r>
                <a:endPara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Rectangle 33"/>
              <p:cNvSpPr>
                <a:spLocks noChangeArrowheads="1"/>
              </p:cNvSpPr>
              <p:nvPr/>
            </p:nvSpPr>
            <p:spPr bwMode="auto">
              <a:xfrm>
                <a:off x="7920" y="8460"/>
                <a:ext cx="540" cy="4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Rectangle 34"/>
              <p:cNvSpPr>
                <a:spLocks noChangeArrowheads="1"/>
              </p:cNvSpPr>
              <p:nvPr/>
            </p:nvSpPr>
            <p:spPr bwMode="auto">
              <a:xfrm>
                <a:off x="8460" y="8460"/>
                <a:ext cx="1440" cy="4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pPr algn="just" eaLnBrk="0" hangingPunct="0"/>
                <a:r>
                  <a:rPr lang="zh-CN" altLang="en-US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文件结束符</a:t>
                </a:r>
                <a:endParaRPr lang="zh-CN" altLang="en-US" b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8" name="Text Box 36"/>
          <p:cNvSpPr txBox="1">
            <a:spLocks noChangeArrowheads="1"/>
          </p:cNvSpPr>
          <p:nvPr/>
        </p:nvSpPr>
        <p:spPr bwMode="auto">
          <a:xfrm>
            <a:off x="1091027" y="285775"/>
            <a:ext cx="27093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006600"/>
                </a:solidFill>
                <a:ea typeface="隶书" panose="02010509060101010101" pitchFamily="49" charset="-122"/>
              </a:rPr>
              <a:t>文件的基本概念</a:t>
            </a:r>
            <a:endParaRPr kumimoji="1" lang="zh-CN" altLang="en-US" sz="2800" b="1" dirty="0">
              <a:solidFill>
                <a:srgbClr val="006600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707456" y="373149"/>
            <a:ext cx="9923647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文件和流</a:t>
            </a:r>
            <a:endParaRPr kumimoji="1" lang="zh-CN" altLang="en-US" sz="3200" b="1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kumimoji="1" lang="zh-CN" altLang="en-US" sz="2800" b="1" dirty="0">
              <a:ea typeface="宋体" panose="02010600030101010101" pitchFamily="2" charset="-122"/>
            </a:endParaRPr>
          </a:p>
          <a:p>
            <a:pPr algn="l"/>
            <a:r>
              <a:rPr kumimoji="1" lang="zh-CN" altLang="en-US" sz="2800" b="1" dirty="0">
                <a:ea typeface="宋体" panose="02010600030101010101" pitchFamily="2" charset="-122"/>
              </a:rPr>
              <a:t>       </a:t>
            </a:r>
            <a:endParaRPr kumimoji="1" lang="zh-CN" altLang="en-US" sz="2800" b="1" dirty="0">
              <a:latin typeface="幼圆" panose="020105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b="82341"/>
          <a:stretch>
            <a:fillRect/>
          </a:stretch>
        </p:blipFill>
        <p:spPr>
          <a:xfrm>
            <a:off x="6669279" y="3859623"/>
            <a:ext cx="4988291" cy="6557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/>
          <a:srcRect t="28203"/>
          <a:stretch>
            <a:fillRect/>
          </a:stretch>
        </p:blipFill>
        <p:spPr>
          <a:xfrm>
            <a:off x="710108" y="3637919"/>
            <a:ext cx="5823249" cy="2576020"/>
          </a:xfrm>
          <a:prstGeom prst="rect">
            <a:avLst/>
          </a:prstGeom>
        </p:spPr>
      </p:pic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451113" y="1096424"/>
            <a:ext cx="976022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zh-CN" altLang="en-US" sz="2200" b="1" dirty="0"/>
              <a:t>当打开一个文件时，该文件就和某个流关联起来。对文件进行读写通过一个</a:t>
            </a:r>
            <a:r>
              <a:rPr kumimoji="1" lang="zh-CN" altLang="en-US" sz="2200" b="1" dirty="0">
                <a:solidFill>
                  <a:srgbClr val="FF0000"/>
                </a:solidFill>
              </a:rPr>
              <a:t>文件定位指针（</a:t>
            </a:r>
            <a:r>
              <a:rPr kumimoji="1" lang="en-US" altLang="zh-CN" sz="2200" b="1" dirty="0">
                <a:solidFill>
                  <a:srgbClr val="FF0000"/>
                </a:solidFill>
              </a:rPr>
              <a:t>file position pointer</a:t>
            </a:r>
            <a:r>
              <a:rPr kumimoji="1" lang="zh-CN" altLang="en-US" sz="2200" b="1" dirty="0">
                <a:solidFill>
                  <a:srgbClr val="FF0000"/>
                </a:solidFill>
              </a:rPr>
              <a:t>）</a:t>
            </a:r>
            <a:r>
              <a:rPr kumimoji="1" lang="zh-CN" altLang="en-US" sz="2200" b="1" dirty="0"/>
              <a:t>控制。</a:t>
            </a:r>
            <a:endParaRPr kumimoji="1" lang="zh-CN" altLang="en-US" sz="22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zh-CN" altLang="en-US" sz="2200" b="1" dirty="0"/>
              <a:t> 输入流的指针也称为</a:t>
            </a:r>
            <a:r>
              <a:rPr kumimoji="1" lang="zh-CN" altLang="en-US" sz="2200" b="1" dirty="0">
                <a:solidFill>
                  <a:srgbClr val="FF0000"/>
                </a:solidFill>
              </a:rPr>
              <a:t>读指针</a:t>
            </a:r>
            <a:r>
              <a:rPr kumimoji="1" lang="zh-CN" altLang="en-US" sz="2200" b="1" dirty="0"/>
              <a:t>，每一次提取操作将从读指针当前所指位置开始，每次提取操作自动将读指针向文件尾移动。</a:t>
            </a:r>
            <a:endParaRPr kumimoji="1" lang="zh-CN" altLang="en-US" sz="22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kumimoji="1" lang="zh-CN" altLang="en-US" sz="2200" b="1" dirty="0"/>
              <a:t>输出流指针也称</a:t>
            </a:r>
            <a:r>
              <a:rPr kumimoji="1" lang="zh-CN" altLang="en-US" sz="2200" b="1" dirty="0">
                <a:solidFill>
                  <a:srgbClr val="FF0000"/>
                </a:solidFill>
              </a:rPr>
              <a:t>写指针</a:t>
            </a:r>
            <a:r>
              <a:rPr kumimoji="1" lang="zh-CN" altLang="en-US" sz="2200" b="1" dirty="0"/>
              <a:t>，每一次插入操作将从写指针当前位置开始，每次插入操作自动将写指针向文件尾移动。</a:t>
            </a:r>
            <a:endParaRPr kumimoji="1" lang="zh-CN" altLang="en-US" sz="22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707456" y="373149"/>
            <a:ext cx="9923647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文件的打开和关闭</a:t>
            </a:r>
            <a:endParaRPr kumimoji="1" lang="zh-CN" altLang="en-US" sz="3200" b="1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kumimoji="1" lang="zh-CN" altLang="en-US" sz="2800" b="1" dirty="0">
              <a:ea typeface="宋体" panose="02010600030101010101" pitchFamily="2" charset="-122"/>
            </a:endParaRPr>
          </a:p>
          <a:p>
            <a:pPr algn="l"/>
            <a:r>
              <a:rPr kumimoji="1" lang="zh-CN" altLang="en-US" sz="2800" b="1" dirty="0">
                <a:ea typeface="宋体" panose="02010600030101010101" pitchFamily="2" charset="-122"/>
              </a:rPr>
              <a:t>       </a:t>
            </a:r>
            <a:endParaRPr kumimoji="1" lang="zh-CN" altLang="en-US" sz="2800" b="1" dirty="0">
              <a:latin typeface="幼圆" panose="020105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18201" y="2473619"/>
            <a:ext cx="9923647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latin typeface="Tahoma" panose="020B0604030504040204" pitchFamily="34" charset="0"/>
                <a:ea typeface="宋体" panose="02010600030101010101" pitchFamily="2" charset="-122"/>
              </a:rPr>
              <a:t>使用文件流对象的成员函数打开一个磁盘文件，在文件流对象和磁盘文件名之间建立联系。文件流中说明了三个打开文件的成员函数。</a:t>
            </a:r>
            <a:endParaRPr kumimoji="1" lang="zh-CN" altLang="en-US" sz="20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l"/>
            <a:r>
              <a:rPr kumimoji="1" lang="en-US" altLang="zh-CN" sz="2000" b="1" dirty="0">
                <a:solidFill>
                  <a:srgbClr val="3333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void </a:t>
            </a:r>
            <a:r>
              <a:rPr kumimoji="1" lang="en-US" altLang="zh-CN" sz="2000" b="1" dirty="0" err="1">
                <a:latin typeface="Tahoma" panose="020B0604030504040204" pitchFamily="34" charset="0"/>
                <a:ea typeface="宋体" panose="02010600030101010101" pitchFamily="2" charset="-122"/>
              </a:rPr>
              <a:t>ifstream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::open(</a:t>
            </a:r>
            <a:r>
              <a:rPr kumimoji="1" lang="en-US" altLang="zh-CN" sz="2000" b="1" dirty="0">
                <a:solidFill>
                  <a:srgbClr val="3333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const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sz="2000" b="1" dirty="0">
                <a:solidFill>
                  <a:srgbClr val="3333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char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*,</a:t>
            </a:r>
            <a:r>
              <a:rPr kumimoji="1" lang="en-US" altLang="zh-CN" sz="2000" b="1" dirty="0">
                <a:solidFill>
                  <a:srgbClr val="3333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 =</a:t>
            </a:r>
            <a:r>
              <a:rPr kumimoji="1" lang="en-US" altLang="zh-CN" sz="2000" b="1" dirty="0" err="1">
                <a:latin typeface="Tahoma" panose="020B0604030504040204" pitchFamily="34" charset="0"/>
                <a:ea typeface="宋体" panose="02010600030101010101" pitchFamily="2" charset="-122"/>
              </a:rPr>
              <a:t>ios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::in,</a:t>
            </a:r>
            <a:endParaRPr kumimoji="1" lang="en-US" altLang="zh-CN" sz="20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l"/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            </a:t>
            </a:r>
            <a:r>
              <a:rPr kumimoji="1" lang="en-US" altLang="zh-CN" sz="2000" b="1" dirty="0">
                <a:solidFill>
                  <a:srgbClr val="3333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1" lang="en-US" altLang="zh-CN" sz="2000" b="1" dirty="0" err="1">
                <a:latin typeface="Tahoma" panose="020B0604030504040204" pitchFamily="34" charset="0"/>
                <a:ea typeface="宋体" panose="02010600030101010101" pitchFamily="2" charset="-122"/>
              </a:rPr>
              <a:t>filebuf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::</a:t>
            </a:r>
            <a:r>
              <a:rPr kumimoji="1" lang="en-US" altLang="zh-CN" sz="2000" b="1" dirty="0" err="1">
                <a:latin typeface="Tahoma" panose="020B0604030504040204" pitchFamily="34" charset="0"/>
                <a:ea typeface="宋体" panose="02010600030101010101" pitchFamily="2" charset="-122"/>
              </a:rPr>
              <a:t>openprot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);</a:t>
            </a:r>
            <a:endParaRPr kumimoji="1" lang="en-US" altLang="zh-CN" sz="20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l"/>
            <a:r>
              <a:rPr kumimoji="1" lang="en-US" altLang="zh-CN" sz="2000" b="1" dirty="0">
                <a:solidFill>
                  <a:srgbClr val="3333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void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sz="2000" b="1" dirty="0" err="1">
                <a:latin typeface="Tahoma" panose="020B0604030504040204" pitchFamily="34" charset="0"/>
                <a:ea typeface="宋体" panose="02010600030101010101" pitchFamily="2" charset="-122"/>
              </a:rPr>
              <a:t>ofstream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::open(</a:t>
            </a:r>
            <a:r>
              <a:rPr kumimoji="1" lang="en-US" altLang="zh-CN" sz="2000" b="1" dirty="0">
                <a:solidFill>
                  <a:srgbClr val="3333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const char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 *,</a:t>
            </a:r>
            <a:r>
              <a:rPr kumimoji="1" lang="en-US" altLang="zh-CN" sz="2000" b="1" dirty="0">
                <a:solidFill>
                  <a:srgbClr val="3333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1" lang="en-US" altLang="zh-CN" sz="2000" b="1" dirty="0" err="1">
                <a:latin typeface="Tahoma" panose="020B0604030504040204" pitchFamily="34" charset="0"/>
                <a:ea typeface="宋体" panose="02010600030101010101" pitchFamily="2" charset="-122"/>
              </a:rPr>
              <a:t>ios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::out,</a:t>
            </a:r>
            <a:endParaRPr kumimoji="1" lang="en-US" altLang="zh-CN" sz="20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l"/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          </a:t>
            </a:r>
            <a:r>
              <a:rPr kumimoji="1" lang="en-US" altLang="zh-CN" sz="2000" b="1" dirty="0">
                <a:solidFill>
                  <a:srgbClr val="3333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int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1" lang="en-US" altLang="zh-CN" sz="2000" b="1" dirty="0" err="1">
                <a:latin typeface="Tahoma" panose="020B0604030504040204" pitchFamily="34" charset="0"/>
                <a:ea typeface="宋体" panose="02010600030101010101" pitchFamily="2" charset="-122"/>
              </a:rPr>
              <a:t>filebuf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::</a:t>
            </a:r>
            <a:r>
              <a:rPr kumimoji="1" lang="en-US" altLang="zh-CN" sz="2000" b="1" dirty="0" err="1">
                <a:latin typeface="Tahoma" panose="020B0604030504040204" pitchFamily="34" charset="0"/>
                <a:ea typeface="宋体" panose="02010600030101010101" pitchFamily="2" charset="-122"/>
              </a:rPr>
              <a:t>opernprot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);</a:t>
            </a:r>
            <a:endParaRPr kumimoji="1" lang="en-US" altLang="zh-CN" sz="20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l"/>
            <a:r>
              <a:rPr kumimoji="1" lang="en-US" altLang="zh-CN" sz="2000" b="1" dirty="0">
                <a:solidFill>
                  <a:srgbClr val="3333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void </a:t>
            </a:r>
            <a:r>
              <a:rPr kumimoji="1" lang="en-US" altLang="zh-CN" sz="2000" b="1" dirty="0" err="1">
                <a:latin typeface="Tahoma" panose="020B0604030504040204" pitchFamily="34" charset="0"/>
                <a:ea typeface="宋体" panose="02010600030101010101" pitchFamily="2" charset="-122"/>
              </a:rPr>
              <a:t>fstream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::open(</a:t>
            </a:r>
            <a:r>
              <a:rPr kumimoji="1" lang="en-US" altLang="zh-CN" sz="2000" b="1" dirty="0">
                <a:solidFill>
                  <a:srgbClr val="3333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const char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*,</a:t>
            </a:r>
            <a:r>
              <a:rPr kumimoji="1" lang="en-US" altLang="zh-CN" sz="2000" b="1" dirty="0">
                <a:solidFill>
                  <a:srgbClr val="3333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,</a:t>
            </a:r>
            <a:endParaRPr kumimoji="1" lang="en-US" altLang="zh-CN" sz="20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l"/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           </a:t>
            </a:r>
            <a:r>
              <a:rPr kumimoji="1" lang="en-US" altLang="zh-CN" sz="2000" b="1" dirty="0">
                <a:solidFill>
                  <a:srgbClr val="3333C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kumimoji="1" lang="en-US" altLang="zh-CN" sz="2000" b="1" dirty="0" err="1">
                <a:latin typeface="Tahoma" panose="020B0604030504040204" pitchFamily="34" charset="0"/>
                <a:ea typeface="宋体" panose="02010600030101010101" pitchFamily="2" charset="-122"/>
              </a:rPr>
              <a:t>filebuf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::</a:t>
            </a:r>
            <a:r>
              <a:rPr kumimoji="1" lang="en-US" altLang="zh-CN" sz="2000" b="1" dirty="0" err="1">
                <a:latin typeface="Tahoma" panose="020B0604030504040204" pitchFamily="34" charset="0"/>
                <a:ea typeface="宋体" panose="02010600030101010101" pitchFamily="2" charset="-122"/>
              </a:rPr>
              <a:t>openprot</a:t>
            </a:r>
            <a:r>
              <a:rPr kumimoji="1" lang="en-US" altLang="zh-CN" sz="2000" b="1" dirty="0">
                <a:latin typeface="Tahoma" panose="020B0604030504040204" pitchFamily="34" charset="0"/>
                <a:ea typeface="宋体" panose="02010600030101010101" pitchFamily="2" charset="-122"/>
              </a:rPr>
              <a:t>); </a:t>
            </a:r>
            <a:endParaRPr kumimoji="1" lang="en-US" altLang="zh-CN" sz="20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l"/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第一个参数为要打开的磁盘文件名。第二个参数为打开方式，有输入（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</a:t>
            </a:r>
            <a:r>
              <a:rPr kumimoji="1" lang="zh-CN" altLang="en-US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），输出（</a:t>
            </a:r>
            <a:r>
              <a:rPr kumimoji="1" lang="en-US" altLang="zh-CN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out</a:t>
            </a:r>
            <a:r>
              <a:rPr kumimoji="1" lang="zh-CN" altLang="en-US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）等，打开方式在</a:t>
            </a:r>
            <a:r>
              <a:rPr kumimoji="1" lang="en-US" altLang="zh-CN" b="1" dirty="0" err="1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ios</a:t>
            </a:r>
            <a:r>
              <a:rPr kumimoji="1" lang="zh-CN" altLang="en-US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基类中定义为枚举类型。第三个参数为指定打开文件的保护方式，一般取默认。</a:t>
            </a:r>
            <a:r>
              <a:rPr kumimoji="1" lang="zh-CN" altLang="en-US" sz="2000" b="1" dirty="0">
                <a:latin typeface="Tahoma" panose="020B0604030504040204" pitchFamily="34" charset="0"/>
                <a:ea typeface="宋体" panose="02010600030101010101" pitchFamily="2" charset="-122"/>
              </a:rPr>
              <a:t>也可以如下方式打开文件：</a:t>
            </a:r>
            <a:endParaRPr kumimoji="1" lang="zh-CN" altLang="en-US" sz="20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l"/>
            <a:r>
              <a:rPr kumimoji="1" lang="en-US" altLang="zh-CN" sz="2400" b="1" dirty="0" err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iofile.open</a:t>
            </a:r>
            <a:r>
              <a:rPr kumimoji="1" lang="en-US" altLang="zh-CN" sz="24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(“myfile.txt”,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ios</a:t>
            </a:r>
            <a:r>
              <a:rPr kumimoji="1" lang="en-US" altLang="zh-CN" sz="24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::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in|ios</a:t>
            </a:r>
            <a:r>
              <a:rPr kumimoji="1" lang="en-US" altLang="zh-CN" sz="24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::out);</a:t>
            </a:r>
            <a:endParaRPr lang="zh-CN" altLang="en-US" sz="2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1518202" y="1027069"/>
            <a:ext cx="60976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latin typeface="Tahoma" panose="020B0604030504040204" pitchFamily="34" charset="0"/>
                <a:ea typeface="宋体" panose="02010600030101010101" pitchFamily="2" charset="-122"/>
              </a:rPr>
              <a:t>创建一个文件流对象：</a:t>
            </a:r>
            <a:endParaRPr kumimoji="1" lang="zh-CN" altLang="en-US" sz="20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en-US" altLang="zh-CN" sz="2000" b="1" dirty="0" err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ifstream</a:t>
            </a:r>
            <a:r>
              <a:rPr kumimoji="1" lang="en-US" altLang="zh-CN" sz="20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sz="2000" b="1" dirty="0" err="1">
                <a:latin typeface="Tahoma" panose="020B0604030504040204" pitchFamily="34" charset="0"/>
                <a:ea typeface="宋体" panose="02010600030101010101" pitchFamily="2" charset="-122"/>
              </a:rPr>
              <a:t>ifile</a:t>
            </a:r>
            <a:r>
              <a:rPr kumimoji="1" lang="zh-CN" altLang="en-US" sz="2000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kumimoji="1" lang="en-US" altLang="zh-CN" sz="2000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sz="2000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只输入用</a:t>
            </a:r>
            <a:endParaRPr kumimoji="1" lang="zh-CN" altLang="en-US" sz="2000" b="1" dirty="0">
              <a:solidFill>
                <a:srgbClr val="00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en-US" altLang="zh-CN" sz="2000" b="1" dirty="0" err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ofstream</a:t>
            </a:r>
            <a:r>
              <a:rPr kumimoji="1" lang="en-US" altLang="zh-CN" sz="20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sz="2000" b="1" dirty="0" err="1">
                <a:latin typeface="Tahoma" panose="020B0604030504040204" pitchFamily="34" charset="0"/>
                <a:ea typeface="宋体" panose="02010600030101010101" pitchFamily="2" charset="-122"/>
              </a:rPr>
              <a:t>ofile</a:t>
            </a:r>
            <a:r>
              <a:rPr kumimoji="1" lang="zh-CN" altLang="en-US" sz="2000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kumimoji="1" lang="en-US" altLang="zh-CN" sz="2000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sz="2000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只输出用</a:t>
            </a:r>
            <a:endParaRPr kumimoji="1" lang="zh-CN" altLang="en-US" sz="2000" b="1" dirty="0">
              <a:solidFill>
                <a:srgbClr val="0066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kumimoji="1" lang="en-US" altLang="zh-CN" sz="2000" b="1" dirty="0" err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fstream</a:t>
            </a:r>
            <a:r>
              <a:rPr kumimoji="1" lang="en-US" altLang="zh-CN" sz="20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kumimoji="1" lang="en-US" altLang="zh-CN" sz="2000" b="1" dirty="0" err="1">
                <a:latin typeface="Tahoma" panose="020B0604030504040204" pitchFamily="34" charset="0"/>
                <a:ea typeface="宋体" panose="02010600030101010101" pitchFamily="2" charset="-122"/>
              </a:rPr>
              <a:t>iofile</a:t>
            </a:r>
            <a:r>
              <a:rPr kumimoji="1" lang="zh-CN" altLang="en-US" sz="2000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kumimoji="1" lang="en-US" altLang="zh-CN" sz="2000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kumimoji="1" lang="zh-CN" altLang="en-US" sz="2000" b="1" dirty="0">
                <a:solidFill>
                  <a:srgbClr val="0066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既输入又输出用</a:t>
            </a:r>
            <a:r>
              <a:rPr kumimoji="1" lang="zh-CN" altLang="en-US" sz="2000" b="1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707456" y="373149"/>
            <a:ext cx="9923647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文件的打开方式</a:t>
            </a:r>
            <a:endParaRPr kumimoji="1" lang="zh-CN" altLang="en-US" sz="3200" b="1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kumimoji="1" lang="zh-CN" altLang="en-US" sz="2800" b="1" dirty="0">
              <a:ea typeface="宋体" panose="02010600030101010101" pitchFamily="2" charset="-122"/>
            </a:endParaRPr>
          </a:p>
          <a:p>
            <a:pPr algn="l"/>
            <a:r>
              <a:rPr kumimoji="1" lang="zh-CN" altLang="en-US" sz="2800" b="1" dirty="0">
                <a:ea typeface="宋体" panose="02010600030101010101" pitchFamily="2" charset="-122"/>
              </a:rPr>
              <a:t>       </a:t>
            </a:r>
            <a:endParaRPr kumimoji="1" lang="zh-CN" altLang="en-US" sz="2800" b="1" dirty="0">
              <a:latin typeface="幼圆" panose="02010509060101010101" pitchFamily="49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558491" y="1096424"/>
            <a:ext cx="842486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zh-CN" altLang="en-US" sz="2400" b="1" dirty="0"/>
              <a:t>文件打开方式由在</a:t>
            </a:r>
            <a:r>
              <a:rPr kumimoji="1" lang="en-US" altLang="zh-CN" sz="2400" b="1" dirty="0" err="1"/>
              <a:t>ios</a:t>
            </a:r>
            <a:r>
              <a:rPr kumimoji="1" lang="zh-CN" altLang="en-US" sz="2400" b="1" dirty="0"/>
              <a:t>类中定义的公有枚举成员决定：</a:t>
            </a:r>
            <a:endParaRPr kumimoji="1" lang="zh-CN" altLang="en-US" sz="2400" b="1" dirty="0"/>
          </a:p>
          <a:p>
            <a:pPr algn="l"/>
            <a:r>
              <a:rPr kumimoji="1" lang="en-US" altLang="zh-CN" sz="2400" b="1" dirty="0" err="1">
                <a:solidFill>
                  <a:srgbClr val="3333CC"/>
                </a:solidFill>
              </a:rPr>
              <a:t>enum</a:t>
            </a:r>
            <a:r>
              <a:rPr kumimoji="1" lang="en-US" altLang="zh-CN" sz="2400" b="1" dirty="0"/>
              <a:t> </a:t>
            </a:r>
            <a:r>
              <a:rPr kumimoji="1" lang="en-US" altLang="zh-CN" sz="2400" b="1" dirty="0" err="1"/>
              <a:t>open_mode</a:t>
            </a:r>
            <a:r>
              <a:rPr kumimoji="1" lang="en-US" altLang="zh-CN" sz="2400" b="1" dirty="0"/>
              <a:t>{	    </a:t>
            </a:r>
            <a:endParaRPr kumimoji="1" lang="en-US" altLang="zh-CN" sz="2400" b="1" dirty="0"/>
          </a:p>
          <a:p>
            <a:pPr algn="l"/>
            <a:r>
              <a:rPr kumimoji="1" lang="en-US" altLang="zh-CN" sz="2400" b="1" dirty="0"/>
              <a:t>	in=0x01,</a:t>
            </a:r>
            <a:endParaRPr kumimoji="1" lang="en-US" altLang="zh-CN" sz="2400" b="1" dirty="0"/>
          </a:p>
          <a:p>
            <a:pPr algn="l"/>
            <a:r>
              <a:rPr kumimoji="1" lang="en-US" altLang="zh-CN" sz="2400" b="1" dirty="0"/>
              <a:t>	out=0x02,</a:t>
            </a:r>
            <a:endParaRPr kumimoji="1" lang="en-US" altLang="zh-CN" sz="2400" b="1" dirty="0"/>
          </a:p>
          <a:p>
            <a:pPr algn="l"/>
            <a:r>
              <a:rPr kumimoji="1" lang="en-US" altLang="zh-CN" sz="2400" b="1" dirty="0"/>
              <a:t>	ate=0x04,</a:t>
            </a:r>
            <a:endParaRPr kumimoji="1" lang="en-US" altLang="zh-CN" sz="2400" b="1" dirty="0"/>
          </a:p>
          <a:p>
            <a:pPr algn="l"/>
            <a:r>
              <a:rPr kumimoji="1" lang="en-US" altLang="zh-CN" sz="2400" b="1" dirty="0"/>
              <a:t>	app=0x08,</a:t>
            </a:r>
            <a:endParaRPr kumimoji="1" lang="en-US" altLang="zh-CN" sz="2400" b="1" dirty="0"/>
          </a:p>
          <a:p>
            <a:pPr algn="l"/>
            <a:r>
              <a:rPr kumimoji="1" lang="en-US" altLang="zh-CN" sz="2400" b="1" dirty="0"/>
              <a:t>	</a:t>
            </a:r>
            <a:r>
              <a:rPr kumimoji="1" lang="en-US" altLang="zh-CN" sz="2400" b="1" dirty="0" err="1"/>
              <a:t>trunc</a:t>
            </a:r>
            <a:r>
              <a:rPr kumimoji="1" lang="en-US" altLang="zh-CN" sz="2400" b="1" dirty="0"/>
              <a:t>=0x10,</a:t>
            </a:r>
            <a:endParaRPr kumimoji="1" lang="en-US" altLang="zh-CN" sz="2400" b="1" dirty="0"/>
          </a:p>
          <a:p>
            <a:pPr algn="l"/>
            <a:r>
              <a:rPr kumimoji="1" lang="en-US" altLang="zh-CN" sz="2400" b="1" dirty="0"/>
              <a:t>	binary=0x80</a:t>
            </a:r>
            <a:endParaRPr kumimoji="1" lang="en-US" altLang="zh-CN" sz="2400" b="1" dirty="0"/>
          </a:p>
          <a:p>
            <a:pPr algn="l"/>
            <a:r>
              <a:rPr kumimoji="1" lang="en-US" altLang="zh-CN" sz="2400" b="1" dirty="0"/>
              <a:t>};</a:t>
            </a:r>
            <a:endParaRPr kumimoji="1" lang="en-US" altLang="zh-CN" sz="2400" b="1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5367616" y="1673475"/>
            <a:ext cx="613195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en-US" altLang="zh-CN" sz="2200" b="1" dirty="0">
                <a:latin typeface="幼圆" panose="02010509060101010101" pitchFamily="49" charset="-122"/>
              </a:rPr>
              <a:t>    </a:t>
            </a:r>
            <a:r>
              <a:rPr kumimoji="1" lang="en-US" altLang="zh-CN" sz="2200" b="1" dirty="0">
                <a:solidFill>
                  <a:srgbClr val="0066FF"/>
                </a:solidFill>
                <a:latin typeface="幼圆" panose="02010509060101010101" pitchFamily="49" charset="-122"/>
              </a:rPr>
              <a:t>in</a:t>
            </a:r>
            <a:r>
              <a:rPr kumimoji="1" lang="zh-CN" altLang="en-US" sz="2200" b="1" dirty="0">
                <a:solidFill>
                  <a:srgbClr val="0066FF"/>
                </a:solidFill>
                <a:latin typeface="幼圆" panose="02010509060101010101" pitchFamily="49" charset="-122"/>
              </a:rPr>
              <a:t>：</a:t>
            </a:r>
            <a:r>
              <a:rPr kumimoji="1" lang="zh-CN" altLang="en-US" sz="2200" b="1" dirty="0">
                <a:latin typeface="幼圆" panose="02010509060101010101" pitchFamily="49" charset="-122"/>
              </a:rPr>
              <a:t>打开文件用于输入操作</a:t>
            </a:r>
            <a:r>
              <a:rPr kumimoji="1" lang="en-US" altLang="zh-CN" sz="2200" b="1" dirty="0">
                <a:latin typeface="幼圆" panose="02010509060101010101" pitchFamily="49" charset="-122"/>
              </a:rPr>
              <a:t>(</a:t>
            </a:r>
            <a:r>
              <a:rPr kumimoji="1" lang="zh-CN" altLang="en-US" sz="2200" b="1" dirty="0">
                <a:latin typeface="幼圆" panose="02010509060101010101" pitchFamily="49" charset="-122"/>
              </a:rPr>
              <a:t>从文件读取</a:t>
            </a:r>
            <a:r>
              <a:rPr kumimoji="1" lang="en-US" altLang="zh-CN" sz="2200" b="1" dirty="0">
                <a:latin typeface="幼圆" panose="02010509060101010101" pitchFamily="49" charset="-122"/>
              </a:rPr>
              <a:t>)</a:t>
            </a:r>
            <a:r>
              <a:rPr kumimoji="1" lang="zh-CN" altLang="en-US" sz="2200" b="1" dirty="0">
                <a:latin typeface="幼圆" panose="02010509060101010101" pitchFamily="49" charset="-122"/>
              </a:rPr>
              <a:t>。如文件不存在则返回失败。可与</a:t>
            </a:r>
            <a:r>
              <a:rPr kumimoji="1" lang="en-US" altLang="zh-CN" sz="2200" b="1" dirty="0">
                <a:latin typeface="幼圆" panose="02010509060101010101" pitchFamily="49" charset="-122"/>
              </a:rPr>
              <a:t>out</a:t>
            </a:r>
            <a:r>
              <a:rPr kumimoji="1" lang="zh-CN" altLang="en-US" sz="2200" b="1" dirty="0">
                <a:latin typeface="幼圆" panose="02010509060101010101" pitchFamily="49" charset="-122"/>
              </a:rPr>
              <a:t>同时使用。</a:t>
            </a:r>
            <a:endParaRPr kumimoji="1" lang="zh-CN" altLang="en-US" sz="2200" b="1" dirty="0">
              <a:latin typeface="幼圆" panose="02010509060101010101" pitchFamily="49" charset="-122"/>
            </a:endParaRPr>
          </a:p>
          <a:p>
            <a:pPr algn="l"/>
            <a:r>
              <a:rPr kumimoji="1" lang="zh-CN" altLang="en-US" sz="2200" b="1" dirty="0">
                <a:latin typeface="幼圆" panose="02010509060101010101" pitchFamily="49" charset="-122"/>
              </a:rPr>
              <a:t>    </a:t>
            </a:r>
            <a:r>
              <a:rPr kumimoji="1" lang="en-US" altLang="zh-CN" sz="2200" b="1" dirty="0">
                <a:solidFill>
                  <a:srgbClr val="0066FF"/>
                </a:solidFill>
                <a:latin typeface="幼圆" panose="02010509060101010101" pitchFamily="49" charset="-122"/>
              </a:rPr>
              <a:t>out</a:t>
            </a:r>
            <a:r>
              <a:rPr kumimoji="1" lang="zh-CN" altLang="en-US" sz="2200" b="1" dirty="0">
                <a:solidFill>
                  <a:srgbClr val="0066FF"/>
                </a:solidFill>
                <a:latin typeface="幼圆" panose="02010509060101010101" pitchFamily="49" charset="-122"/>
              </a:rPr>
              <a:t>：</a:t>
            </a:r>
            <a:r>
              <a:rPr kumimoji="1" lang="zh-CN" altLang="en-US" sz="2200" b="1" dirty="0">
                <a:latin typeface="幼圆" panose="02010509060101010101" pitchFamily="49" charset="-122"/>
              </a:rPr>
              <a:t>打开文件用于输出操作</a:t>
            </a:r>
            <a:r>
              <a:rPr kumimoji="1" lang="en-US" altLang="zh-CN" sz="2200" b="1" dirty="0">
                <a:latin typeface="幼圆" panose="02010509060101010101" pitchFamily="49" charset="-122"/>
              </a:rPr>
              <a:t>(</a:t>
            </a:r>
            <a:r>
              <a:rPr kumimoji="1" lang="zh-CN" altLang="en-US" sz="2200" b="1" dirty="0">
                <a:latin typeface="幼圆" panose="02010509060101010101" pitchFamily="49" charset="-122"/>
              </a:rPr>
              <a:t>写入文件</a:t>
            </a:r>
            <a:r>
              <a:rPr kumimoji="1" lang="en-US" altLang="zh-CN" sz="2200" b="1" dirty="0">
                <a:latin typeface="幼圆" panose="02010509060101010101" pitchFamily="49" charset="-122"/>
              </a:rPr>
              <a:t>)</a:t>
            </a:r>
            <a:r>
              <a:rPr kumimoji="1" lang="zh-CN" altLang="en-US" sz="2200" b="1" dirty="0">
                <a:latin typeface="幼圆" panose="02010509060101010101" pitchFamily="49" charset="-122"/>
              </a:rPr>
              <a:t>。如文件不存在，则建立新文件，如文件存在，且未同时设</a:t>
            </a:r>
            <a:r>
              <a:rPr kumimoji="1" lang="en-US" altLang="zh-CN" sz="2200" b="1" dirty="0">
                <a:latin typeface="幼圆" panose="02010509060101010101" pitchFamily="49" charset="-122"/>
              </a:rPr>
              <a:t>app</a:t>
            </a:r>
            <a:r>
              <a:rPr kumimoji="1" lang="zh-CN" altLang="en-US" sz="2200" b="1" dirty="0">
                <a:latin typeface="幼圆" panose="02010509060101010101" pitchFamily="49" charset="-122"/>
              </a:rPr>
              <a:t>方式</a:t>
            </a:r>
            <a:r>
              <a:rPr kumimoji="1" lang="en-US" altLang="zh-CN" sz="2200" b="1" dirty="0">
                <a:latin typeface="幼圆" panose="02010509060101010101" pitchFamily="49" charset="-122"/>
              </a:rPr>
              <a:t>, </a:t>
            </a:r>
            <a:r>
              <a:rPr kumimoji="1" lang="zh-CN" altLang="en-US" sz="2200" b="1" dirty="0">
                <a:latin typeface="幼圆" panose="02010509060101010101" pitchFamily="49" charset="-122"/>
              </a:rPr>
              <a:t>则文件清空。</a:t>
            </a:r>
            <a:endParaRPr kumimoji="1" lang="zh-CN" altLang="en-US" sz="2200" b="1" dirty="0">
              <a:latin typeface="幼圆" panose="02010509060101010101" pitchFamily="49" charset="-122"/>
            </a:endParaRPr>
          </a:p>
          <a:p>
            <a:pPr algn="l"/>
            <a:r>
              <a:rPr kumimoji="1" lang="zh-CN" altLang="en-US" sz="2200" b="1" dirty="0">
                <a:latin typeface="幼圆" panose="02010509060101010101" pitchFamily="49" charset="-122"/>
              </a:rPr>
              <a:t>    </a:t>
            </a:r>
            <a:r>
              <a:rPr kumimoji="1" lang="en-US" altLang="zh-CN" sz="2200" b="1" dirty="0" err="1">
                <a:solidFill>
                  <a:srgbClr val="0066FF"/>
                </a:solidFill>
                <a:latin typeface="幼圆" panose="02010509060101010101" pitchFamily="49" charset="-122"/>
              </a:rPr>
              <a:t>trunc</a:t>
            </a:r>
            <a:r>
              <a:rPr kumimoji="1" lang="zh-CN" altLang="en-US" sz="2200" b="1" dirty="0">
                <a:solidFill>
                  <a:srgbClr val="0066FF"/>
                </a:solidFill>
                <a:latin typeface="幼圆" panose="02010509060101010101" pitchFamily="49" charset="-122"/>
              </a:rPr>
              <a:t>：</a:t>
            </a:r>
            <a:r>
              <a:rPr kumimoji="1" lang="zh-CN" altLang="en-US" sz="2200" b="1" dirty="0">
                <a:latin typeface="幼圆" panose="02010509060101010101" pitchFamily="49" charset="-122"/>
              </a:rPr>
              <a:t>打开文件并清空（文件长度截为</a:t>
            </a:r>
            <a:r>
              <a:rPr kumimoji="1" lang="en-US" altLang="zh-CN" sz="2200" b="1" dirty="0">
                <a:latin typeface="幼圆" panose="02010509060101010101" pitchFamily="49" charset="-122"/>
              </a:rPr>
              <a:t>0</a:t>
            </a:r>
            <a:r>
              <a:rPr kumimoji="1" lang="zh-CN" altLang="en-US" sz="2200" b="1" dirty="0">
                <a:latin typeface="幼圆" panose="02010509060101010101" pitchFamily="49" charset="-122"/>
              </a:rPr>
              <a:t>）。文件不存在则建立新文件，与</a:t>
            </a:r>
            <a:r>
              <a:rPr kumimoji="1" lang="en-US" altLang="zh-CN" sz="2200" b="1" dirty="0">
                <a:latin typeface="幼圆" panose="02010509060101010101" pitchFamily="49" charset="-122"/>
              </a:rPr>
              <a:t>out</a:t>
            </a:r>
            <a:r>
              <a:rPr kumimoji="1" lang="zh-CN" altLang="en-US" sz="2200" b="1" dirty="0">
                <a:latin typeface="幼圆" panose="02010509060101010101" pitchFamily="49" charset="-122"/>
              </a:rPr>
              <a:t>默认操作相同。但与</a:t>
            </a:r>
            <a:r>
              <a:rPr kumimoji="1" lang="en-US" altLang="zh-CN" sz="2200" b="1" dirty="0">
                <a:latin typeface="幼圆" panose="02010509060101010101" pitchFamily="49" charset="-122"/>
              </a:rPr>
              <a:t>in</a:t>
            </a:r>
            <a:r>
              <a:rPr kumimoji="1" lang="zh-CN" altLang="en-US" sz="2200" b="1" dirty="0">
                <a:latin typeface="幼圆" panose="02010509060101010101" pitchFamily="49" charset="-122"/>
              </a:rPr>
              <a:t>同时使用时，文件不存在则返回失败。</a:t>
            </a:r>
            <a:endParaRPr kumimoji="1" lang="zh-CN" altLang="en-US" sz="2200" b="1" dirty="0">
              <a:latin typeface="幼圆" panose="02010509060101010101" pitchFamily="49" charset="-122"/>
            </a:endParaRPr>
          </a:p>
          <a:p>
            <a:pPr algn="l"/>
            <a:r>
              <a:rPr kumimoji="1" lang="zh-CN" altLang="en-US" sz="2200" b="1" dirty="0">
                <a:latin typeface="幼圆" panose="02010509060101010101" pitchFamily="49" charset="-122"/>
              </a:rPr>
              <a:t>    </a:t>
            </a:r>
            <a:r>
              <a:rPr kumimoji="1" lang="en-US" altLang="zh-CN" sz="2200" b="1" dirty="0">
                <a:solidFill>
                  <a:srgbClr val="0066FF"/>
                </a:solidFill>
                <a:latin typeface="幼圆" panose="02010509060101010101" pitchFamily="49" charset="-122"/>
              </a:rPr>
              <a:t>app</a:t>
            </a:r>
            <a:r>
              <a:rPr kumimoji="1" lang="zh-CN" altLang="en-US" sz="2200" b="1" dirty="0">
                <a:solidFill>
                  <a:srgbClr val="0066FF"/>
                </a:solidFill>
                <a:latin typeface="幼圆" panose="02010509060101010101" pitchFamily="49" charset="-122"/>
              </a:rPr>
              <a:t>：</a:t>
            </a:r>
            <a:r>
              <a:rPr kumimoji="1" lang="zh-CN" altLang="en-US" sz="2200" b="1" dirty="0">
                <a:latin typeface="幼圆" panose="02010509060101010101" pitchFamily="49" charset="-122"/>
              </a:rPr>
              <a:t>打开文件用于输出，原文件内容保留，新数据从尾部开始存放。</a:t>
            </a:r>
            <a:endParaRPr kumimoji="1" lang="zh-CN" altLang="en-US" sz="2200" b="1" dirty="0">
              <a:latin typeface="幼圆" panose="02010509060101010101" pitchFamily="49" charset="-122"/>
            </a:endParaRPr>
          </a:p>
          <a:p>
            <a:pPr algn="l"/>
            <a:r>
              <a:rPr kumimoji="1" lang="zh-CN" altLang="en-US" sz="2200" b="1" dirty="0">
                <a:latin typeface="幼圆" panose="02010509060101010101" pitchFamily="49" charset="-122"/>
              </a:rPr>
              <a:t>    </a:t>
            </a:r>
            <a:r>
              <a:rPr kumimoji="1" lang="en-US" altLang="zh-CN" sz="2200" b="1" dirty="0">
                <a:solidFill>
                  <a:srgbClr val="0066FF"/>
                </a:solidFill>
                <a:latin typeface="幼圆" panose="02010509060101010101" pitchFamily="49" charset="-122"/>
              </a:rPr>
              <a:t>ate</a:t>
            </a:r>
            <a:r>
              <a:rPr kumimoji="1" lang="zh-CN" altLang="en-US" sz="2200" b="1" dirty="0">
                <a:solidFill>
                  <a:srgbClr val="0066FF"/>
                </a:solidFill>
                <a:latin typeface="幼圆" panose="02010509060101010101" pitchFamily="49" charset="-122"/>
              </a:rPr>
              <a:t>：</a:t>
            </a:r>
            <a:r>
              <a:rPr kumimoji="1" lang="zh-CN" altLang="en-US" sz="2200" b="1" dirty="0">
                <a:latin typeface="幼圆" panose="02010509060101010101" pitchFamily="49" charset="-122"/>
              </a:rPr>
              <a:t>打开文件，文件指针在文件尾。</a:t>
            </a:r>
            <a:endParaRPr kumimoji="1" lang="zh-CN" altLang="en-US" sz="2200" b="1" dirty="0">
              <a:latin typeface="幼圆" panose="02010509060101010101" pitchFamily="49" charset="-122"/>
            </a:endParaRPr>
          </a:p>
          <a:p>
            <a:pPr algn="l"/>
            <a:r>
              <a:rPr kumimoji="1" lang="zh-CN" altLang="en-US" sz="2200" b="1" dirty="0">
                <a:latin typeface="幼圆" panose="02010509060101010101" pitchFamily="49" charset="-122"/>
              </a:rPr>
              <a:t>    </a:t>
            </a:r>
            <a:r>
              <a:rPr kumimoji="1" lang="en-US" altLang="zh-CN" sz="2200" b="1" dirty="0">
                <a:solidFill>
                  <a:srgbClr val="0066FF"/>
                </a:solidFill>
                <a:latin typeface="幼圆" panose="02010509060101010101" pitchFamily="49" charset="-122"/>
              </a:rPr>
              <a:t>binary</a:t>
            </a:r>
            <a:r>
              <a:rPr kumimoji="1" lang="zh-CN" altLang="en-US" sz="2200" b="1" dirty="0">
                <a:solidFill>
                  <a:srgbClr val="0066FF"/>
                </a:solidFill>
                <a:latin typeface="幼圆" panose="02010509060101010101" pitchFamily="49" charset="-122"/>
              </a:rPr>
              <a:t>：</a:t>
            </a:r>
            <a:r>
              <a:rPr kumimoji="1" lang="zh-CN" altLang="en-US" sz="2200" b="1" dirty="0">
                <a:latin typeface="幼圆" panose="02010509060101010101" pitchFamily="49" charset="-122"/>
              </a:rPr>
              <a:t>以二进制方式打开文件。</a:t>
            </a:r>
            <a:endParaRPr kumimoji="1" lang="zh-CN" altLang="en-US" sz="2200" b="1" dirty="0">
              <a:latin typeface="幼圆" panose="02010509060101010101" pitchFamily="49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707456" y="373149"/>
            <a:ext cx="9923647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用打开文件的方式创建文件</a:t>
            </a:r>
            <a:endParaRPr kumimoji="1" lang="zh-CN" altLang="en-US" sz="3200" b="1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kumimoji="1" lang="zh-CN" altLang="en-US" sz="2800" b="1" dirty="0">
              <a:ea typeface="宋体" panose="02010600030101010101" pitchFamily="2" charset="-122"/>
            </a:endParaRPr>
          </a:p>
          <a:p>
            <a:pPr algn="l"/>
            <a:r>
              <a:rPr kumimoji="1" lang="zh-CN" altLang="en-US" sz="2800" b="1" dirty="0">
                <a:ea typeface="宋体" panose="02010600030101010101" pitchFamily="2" charset="-122"/>
              </a:rPr>
              <a:t>       </a:t>
            </a:r>
            <a:endParaRPr kumimoji="1" lang="zh-CN" altLang="en-US" sz="2800" b="1" dirty="0">
              <a:latin typeface="幼圆" panose="02010509060101010101" pitchFamily="49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753" y="1260909"/>
            <a:ext cx="8773816" cy="354209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707456" y="373149"/>
            <a:ext cx="99236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创建文件</a:t>
            </a:r>
            <a:r>
              <a:rPr kumimoji="1" lang="zh-CN" altLang="en-US" sz="2800" b="1" dirty="0">
                <a:ea typeface="宋体" panose="02010600030101010101" pitchFamily="2" charset="-122"/>
              </a:rPr>
              <a:t>     </a:t>
            </a:r>
            <a:endParaRPr kumimoji="1" lang="zh-CN" altLang="en-US" sz="2800" b="1" dirty="0">
              <a:latin typeface="幼圆" panose="020105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159" y="1135784"/>
            <a:ext cx="546822" cy="61692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925" y="1359196"/>
            <a:ext cx="9022246" cy="41109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439" y="5197163"/>
            <a:ext cx="393720" cy="60328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707456" y="373149"/>
            <a:ext cx="99236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创建文件</a:t>
            </a:r>
            <a:r>
              <a:rPr kumimoji="1" lang="zh-CN" altLang="en-US" sz="2800" b="1" dirty="0">
                <a:ea typeface="宋体" panose="02010600030101010101" pitchFamily="2" charset="-122"/>
              </a:rPr>
              <a:t>     </a:t>
            </a:r>
            <a:endParaRPr kumimoji="1" lang="zh-CN" altLang="en-US" sz="2800" b="1" dirty="0">
              <a:latin typeface="幼圆" panose="020105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159" y="1135784"/>
            <a:ext cx="546822" cy="61692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439" y="5197163"/>
            <a:ext cx="393720" cy="60328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459" y="1135784"/>
            <a:ext cx="8885403" cy="43926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944" y="1827814"/>
            <a:ext cx="2160375" cy="43029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707456" y="373149"/>
            <a:ext cx="9923647" cy="230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文件关闭</a:t>
            </a:r>
            <a:endParaRPr kumimoji="1" lang="zh-CN" altLang="en-US" sz="3200" b="1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kumimoji="1" lang="zh-CN" altLang="en-US" sz="2800" b="1" dirty="0">
              <a:ea typeface="宋体" panose="02010600030101010101" pitchFamily="2" charset="-122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文件使用完后必须关闭；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关闭文件的意义是释放所关联的文件流和文件指针；</a:t>
            </a:r>
            <a:endParaRPr lang="en-US" altLang="zh-CN" sz="2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调用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close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（）函数关闭文件；</a:t>
            </a:r>
            <a:r>
              <a:rPr kumimoji="1" lang="zh-CN" altLang="en-US" sz="2800" dirty="0">
                <a:latin typeface="等线" panose="02010600030101010101" pitchFamily="2" charset="-122"/>
                <a:ea typeface="等线" panose="02010600030101010101" pitchFamily="2" charset="-122"/>
                <a:cs typeface="等线" panose="02010600030101010101" pitchFamily="2" charset="-122"/>
              </a:rPr>
              <a:t>   </a:t>
            </a:r>
            <a:endParaRPr kumimoji="1" lang="zh-CN" altLang="en-US" sz="2800" dirty="0">
              <a:latin typeface="等线" panose="02010600030101010101" pitchFamily="2" charset="-122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07456" y="2920028"/>
            <a:ext cx="609414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</a:t>
            </a:r>
            <a:endParaRPr kumimoji="1" lang="en-US" altLang="zh-CN" sz="3200" b="1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	</a:t>
            </a:r>
            <a:r>
              <a:rPr lang="en-US" altLang="zh-CN" sz="28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fout.</a:t>
            </a:r>
            <a:r>
              <a:rPr lang="en-US" altLang="zh-CN" sz="28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close</a:t>
            </a:r>
            <a:r>
              <a:rPr lang="en-US" altLang="zh-CN" sz="28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()</a:t>
            </a:r>
            <a:r>
              <a:rPr lang="en-US" altLang="zh-CN" sz="2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;</a:t>
            </a:r>
            <a:endParaRPr lang="zh-CN" altLang="en-US" sz="28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159" y="1135784"/>
            <a:ext cx="546822" cy="61692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439" y="5197163"/>
            <a:ext cx="393720" cy="6032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944" y="1827814"/>
            <a:ext cx="2160375" cy="43029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/>
          <a:srcRect t="8147"/>
          <a:stretch>
            <a:fillRect/>
          </a:stretch>
        </p:blipFill>
        <p:spPr>
          <a:xfrm>
            <a:off x="1974006" y="1899871"/>
            <a:ext cx="7096975" cy="3900573"/>
          </a:xfrm>
          <a:prstGeom prst="rect">
            <a:avLst/>
          </a:prstGeom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707456" y="373149"/>
            <a:ext cx="9923647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文本文件的顺序读写</a:t>
            </a:r>
            <a:endParaRPr kumimoji="1" lang="zh-CN" altLang="en-US" sz="3200" b="1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endParaRPr kumimoji="1" lang="zh-CN" altLang="en-US" sz="2800" b="1" dirty="0">
              <a:ea typeface="宋体" panose="02010600030101010101" pitchFamily="2" charset="-122"/>
            </a:endParaRPr>
          </a:p>
          <a:p>
            <a:pPr algn="l"/>
            <a:r>
              <a:rPr kumimoji="1" lang="zh-CN" altLang="en-US" sz="2800" b="1" dirty="0">
                <a:ea typeface="宋体" panose="02010600030101010101" pitchFamily="2" charset="-122"/>
              </a:rPr>
              <a:t>       </a:t>
            </a:r>
            <a:endParaRPr kumimoji="1" lang="zh-CN" altLang="en-US" sz="2800" b="1" dirty="0">
              <a:latin typeface="幼圆" panose="020105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74127" y="1096424"/>
            <a:ext cx="87871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ct val="25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文本文件可直接用</a:t>
            </a:r>
            <a:r>
              <a:rPr kumimoji="1" lang="en-US" altLang="zh-CN" sz="2400" b="1" dirty="0">
                <a:latin typeface="Tahoma" panose="020B0604030504040204" pitchFamily="34" charset="0"/>
                <a:ea typeface="宋体" panose="02010600030101010101" pitchFamily="2" charset="-122"/>
              </a:rPr>
              <a:t>C++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的提取运算符（</a:t>
            </a:r>
            <a:r>
              <a:rPr kumimoji="1" lang="en-US" altLang="zh-CN" sz="2400" b="1" dirty="0">
                <a:solidFill>
                  <a:srgbClr val="0066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&gt;&gt;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）和插入运算符（</a:t>
            </a:r>
            <a:r>
              <a:rPr kumimoji="1" lang="en-US" altLang="zh-CN" sz="2400" b="1" dirty="0">
                <a:solidFill>
                  <a:srgbClr val="0066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&lt;&lt;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）进行。</a:t>
            </a:r>
            <a:endParaRPr kumimoji="1"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399447" y="234191"/>
            <a:ext cx="99236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文本（字符）文件读写</a:t>
            </a:r>
            <a:r>
              <a:rPr kumimoji="1" lang="zh-CN" altLang="en-US" sz="2800" b="1" dirty="0">
                <a:ea typeface="宋体" panose="02010600030101010101" pitchFamily="2" charset="-122"/>
              </a:rPr>
              <a:t>     </a:t>
            </a:r>
            <a:endParaRPr kumimoji="1" lang="zh-CN" altLang="en-US" sz="2800" b="1" dirty="0">
              <a:latin typeface="幼圆" panose="020105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159" y="1135784"/>
            <a:ext cx="546822" cy="61692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439" y="5197163"/>
            <a:ext cx="393720" cy="6032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944" y="1827814"/>
            <a:ext cx="2160375" cy="43029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/>
          <a:srcRect t="7454"/>
          <a:stretch>
            <a:fillRect/>
          </a:stretch>
        </p:blipFill>
        <p:spPr>
          <a:xfrm>
            <a:off x="1728027" y="937002"/>
            <a:ext cx="5308877" cy="573202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399447" y="234191"/>
            <a:ext cx="99236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二进制文件读写</a:t>
            </a:r>
            <a:r>
              <a:rPr kumimoji="1" lang="zh-CN" altLang="en-US" sz="2800" b="1" dirty="0">
                <a:ea typeface="宋体" panose="02010600030101010101" pitchFamily="2" charset="-122"/>
              </a:rPr>
              <a:t>     </a:t>
            </a:r>
            <a:endParaRPr kumimoji="1" lang="zh-CN" altLang="en-US" sz="2800" b="1" dirty="0">
              <a:latin typeface="幼圆" panose="020105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159" y="1135784"/>
            <a:ext cx="546822" cy="61692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439" y="5197163"/>
            <a:ext cx="393720" cy="6032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944" y="1917022"/>
            <a:ext cx="2160375" cy="430298"/>
          </a:xfrm>
          <a:prstGeom prst="rect">
            <a:avLst/>
          </a:prstGeom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188072" y="1057556"/>
            <a:ext cx="9148624" cy="5446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2800" b="1" dirty="0">
                <a:ea typeface="隶书" panose="02010509060101010101" pitchFamily="49" charset="-122"/>
              </a:rPr>
              <a:t>对二进制文件进行读写的函数：</a:t>
            </a:r>
            <a:endParaRPr kumimoji="1" lang="zh-CN" altLang="en-US" sz="2800" b="1" dirty="0">
              <a:ea typeface="隶书" panose="02010509060101010101" pitchFamily="49" charset="-122"/>
            </a:endParaRPr>
          </a:p>
          <a:p>
            <a:r>
              <a:rPr kumimoji="1" lang="en-US" altLang="zh-CN" sz="2000" b="1" dirty="0">
                <a:solidFill>
                  <a:srgbClr val="006600"/>
                </a:solidFill>
              </a:rPr>
              <a:t>//</a:t>
            </a:r>
            <a:r>
              <a:rPr kumimoji="1" lang="zh-CN" altLang="en-US" sz="2000" b="1" dirty="0">
                <a:solidFill>
                  <a:srgbClr val="006600"/>
                </a:solidFill>
              </a:rPr>
              <a:t>读文件</a:t>
            </a:r>
            <a:endParaRPr kumimoji="1" lang="en-US" altLang="zh-CN" sz="2000" b="1" dirty="0">
              <a:solidFill>
                <a:srgbClr val="006600"/>
              </a:solidFill>
            </a:endParaRPr>
          </a:p>
          <a:p>
            <a:pPr algn="l"/>
            <a:endParaRPr kumimoji="1" lang="en-US" altLang="zh-CN" sz="2000" b="1" dirty="0">
              <a:solidFill>
                <a:srgbClr val="006600"/>
              </a:solidFill>
            </a:endParaRPr>
          </a:p>
          <a:p>
            <a:pPr algn="l"/>
            <a:endParaRPr kumimoji="1" lang="en-US" altLang="zh-CN" sz="2000" b="1" dirty="0">
              <a:solidFill>
                <a:srgbClr val="006600"/>
              </a:solidFill>
            </a:endParaRPr>
          </a:p>
          <a:p>
            <a:pPr algn="l"/>
            <a:endParaRPr kumimoji="1" lang="en-US" altLang="zh-CN" sz="2000" b="1" dirty="0">
              <a:solidFill>
                <a:srgbClr val="006600"/>
              </a:solidFill>
            </a:endParaRPr>
          </a:p>
          <a:p>
            <a:pPr algn="l"/>
            <a:endParaRPr kumimoji="1" lang="en-US" altLang="zh-CN" sz="2000" b="1" dirty="0">
              <a:solidFill>
                <a:srgbClr val="006600"/>
              </a:solidFill>
            </a:endParaRPr>
          </a:p>
          <a:p>
            <a:pPr algn="l"/>
            <a:endParaRPr kumimoji="1" lang="en-US" altLang="zh-CN" sz="2000" b="1" dirty="0">
              <a:solidFill>
                <a:srgbClr val="006600"/>
              </a:solidFill>
            </a:endParaRPr>
          </a:p>
          <a:p>
            <a:r>
              <a:rPr kumimoji="1" lang="en-US" altLang="zh-CN" sz="2000" b="1" dirty="0">
                <a:solidFill>
                  <a:srgbClr val="006600"/>
                </a:solidFill>
              </a:rPr>
              <a:t>//</a:t>
            </a:r>
            <a:r>
              <a:rPr kumimoji="1" lang="zh-CN" altLang="en-US" sz="2000" b="1" dirty="0">
                <a:solidFill>
                  <a:srgbClr val="006600"/>
                </a:solidFill>
              </a:rPr>
              <a:t>写文件</a:t>
            </a:r>
            <a:endParaRPr kumimoji="1" lang="zh-CN" altLang="en-US" sz="2000" b="1" dirty="0">
              <a:solidFill>
                <a:srgbClr val="006600"/>
              </a:solidFill>
            </a:endParaRPr>
          </a:p>
          <a:p>
            <a:pPr algn="l"/>
            <a:endParaRPr kumimoji="1" lang="en-US" altLang="zh-CN" sz="2000" b="1" dirty="0">
              <a:solidFill>
                <a:srgbClr val="006600"/>
              </a:solidFill>
            </a:endParaRPr>
          </a:p>
          <a:p>
            <a:pPr algn="l"/>
            <a:endParaRPr kumimoji="1" lang="en-US" altLang="zh-CN" sz="2000" b="1" dirty="0">
              <a:solidFill>
                <a:srgbClr val="006600"/>
              </a:solidFill>
            </a:endParaRPr>
          </a:p>
          <a:p>
            <a:pPr algn="l"/>
            <a:endParaRPr kumimoji="1" lang="en-US" altLang="zh-CN" sz="2000" b="1" dirty="0">
              <a:solidFill>
                <a:srgbClr val="006600"/>
              </a:solidFill>
            </a:endParaRPr>
          </a:p>
          <a:p>
            <a:pPr algn="l"/>
            <a:endParaRPr kumimoji="1" lang="en-US" altLang="zh-CN" sz="2000" b="1" dirty="0">
              <a:solidFill>
                <a:srgbClr val="006600"/>
              </a:solidFill>
            </a:endParaRPr>
          </a:p>
          <a:p>
            <a:pPr algn="l"/>
            <a:endParaRPr kumimoji="1" lang="en-US" altLang="zh-CN" sz="2000" b="1" dirty="0">
              <a:solidFill>
                <a:srgbClr val="006600"/>
              </a:solidFill>
            </a:endParaRPr>
          </a:p>
          <a:p>
            <a:pPr algn="l"/>
            <a:endParaRPr kumimoji="1" lang="en-US" altLang="zh-CN" sz="2000" b="1" dirty="0">
              <a:solidFill>
                <a:srgbClr val="006600"/>
              </a:solidFill>
            </a:endParaRPr>
          </a:p>
          <a:p>
            <a:pPr algn="l"/>
            <a:endParaRPr kumimoji="1" lang="en-US" altLang="zh-CN" sz="2000" b="1" dirty="0">
              <a:solidFill>
                <a:srgbClr val="006600"/>
              </a:solidFill>
            </a:endParaRPr>
          </a:p>
          <a:p>
            <a:endParaRPr kumimoji="1" lang="en-US" altLang="zh-CN" sz="2000" b="1" dirty="0">
              <a:solidFill>
                <a:srgbClr val="006600"/>
              </a:solidFill>
            </a:endParaRPr>
          </a:p>
          <a:p>
            <a:pPr algn="l"/>
            <a:endParaRPr kumimoji="1" lang="en-US" altLang="zh-CN" sz="2000" b="1" dirty="0">
              <a:solidFill>
                <a:srgbClr val="0066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711" y="1870843"/>
            <a:ext cx="6171834" cy="38823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0711" y="2297114"/>
            <a:ext cx="8019090" cy="96928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0711" y="3960463"/>
            <a:ext cx="6955796" cy="31761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9492" y="4496186"/>
            <a:ext cx="7800309" cy="123114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159" y="1135784"/>
            <a:ext cx="546822" cy="61692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439" y="5197163"/>
            <a:ext cx="393720" cy="6032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944" y="1827814"/>
            <a:ext cx="2160375" cy="43029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2323" y="779646"/>
            <a:ext cx="6059242" cy="252663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2323" y="3306280"/>
            <a:ext cx="7257633" cy="865148"/>
          </a:xfrm>
          <a:prstGeom prst="rect">
            <a:avLst/>
          </a:prstGeom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399447" y="234191"/>
            <a:ext cx="99236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24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例：二进制文件读写</a:t>
            </a:r>
            <a:r>
              <a:rPr kumimoji="1" lang="zh-CN" altLang="en-US" sz="2000" b="1" dirty="0">
                <a:ea typeface="宋体" panose="02010600030101010101" pitchFamily="2" charset="-122"/>
              </a:rPr>
              <a:t>     </a:t>
            </a:r>
            <a:endParaRPr kumimoji="1" lang="zh-CN" altLang="en-US" sz="2000" b="1" dirty="0">
              <a:latin typeface="幼圆" panose="02010509060101010101" pitchFamily="49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159" y="1135784"/>
            <a:ext cx="546822" cy="61692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439" y="5197163"/>
            <a:ext cx="393720" cy="6032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944" y="1827814"/>
            <a:ext cx="2160375" cy="430298"/>
          </a:xfrm>
          <a:prstGeom prst="rect">
            <a:avLst/>
          </a:prstGeom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399447" y="234191"/>
            <a:ext cx="99236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二进制文件读写</a:t>
            </a:r>
            <a:r>
              <a:rPr kumimoji="1" lang="zh-CN" altLang="en-US" sz="2800" b="1" dirty="0">
                <a:ea typeface="宋体" panose="02010600030101010101" pitchFamily="2" charset="-122"/>
              </a:rPr>
              <a:t>     </a:t>
            </a:r>
            <a:endParaRPr kumimoji="1" lang="zh-CN" altLang="en-US" sz="2800" b="1" dirty="0">
              <a:latin typeface="幼圆" panose="020105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282" y="814175"/>
            <a:ext cx="3102273" cy="304715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2697" y="360126"/>
            <a:ext cx="863644" cy="203656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/>
          <a:srcRect r="77939" b="14166"/>
          <a:stretch>
            <a:fillRect/>
          </a:stretch>
        </p:blipFill>
        <p:spPr>
          <a:xfrm>
            <a:off x="1174282" y="4572236"/>
            <a:ext cx="1246439" cy="173661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7"/>
          <a:srcRect t="1" r="17309" b="10411"/>
          <a:stretch>
            <a:fillRect/>
          </a:stretch>
        </p:blipFill>
        <p:spPr>
          <a:xfrm>
            <a:off x="1174264" y="6414637"/>
            <a:ext cx="4610519" cy="256013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53" y="6118172"/>
            <a:ext cx="5861351" cy="55247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738370" y="779780"/>
            <a:ext cx="736981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int main()</a:t>
            </a:r>
            <a:endParaRPr lang="en-US" altLang="zh-CN" sz="2000" b="1"/>
          </a:p>
          <a:p>
            <a:r>
              <a:rPr lang="en-US" altLang="zh-CN" sz="2000" b="1"/>
              <a:t>{</a:t>
            </a:r>
            <a:endParaRPr lang="en-US" altLang="zh-CN" sz="2000" b="1"/>
          </a:p>
          <a:p>
            <a:endParaRPr lang="en-US" altLang="zh-CN" sz="2000" b="1"/>
          </a:p>
          <a:p>
            <a:r>
              <a:rPr lang="en-US" altLang="zh-CN" sz="2000" b="1"/>
              <a:t>CStudent s;</a:t>
            </a:r>
            <a:endParaRPr lang="en-US" altLang="zh-CN" sz="2000" b="1"/>
          </a:p>
          <a:p>
            <a:r>
              <a:rPr lang="en-US" altLang="zh-CN" sz="2000" b="1"/>
              <a:t>ofstream OutFile(“c:\\tmp\\students.dat”,ios::out|ios::binary);</a:t>
            </a:r>
            <a:endParaRPr lang="en-US" altLang="zh-CN" sz="2000" b="1"/>
          </a:p>
          <a:p>
            <a:r>
              <a:rPr lang="en-US" altLang="zh-CN" sz="2000" b="1"/>
              <a:t>while(cin&gt;&gt;s.szName&gt;&gt;s.nScore)</a:t>
            </a:r>
            <a:endParaRPr lang="en-US" altLang="zh-CN" sz="2000" b="1"/>
          </a:p>
          <a:p>
            <a:r>
              <a:rPr lang="en-US" altLang="zh-CN" sz="2000" b="1"/>
              <a:t>{</a:t>
            </a:r>
            <a:endParaRPr lang="en-US" altLang="zh-CN" sz="2000" b="1"/>
          </a:p>
          <a:p>
            <a:r>
              <a:rPr lang="en-US" altLang="zh-CN" sz="2000" b="1"/>
              <a:t>      if(strcmp(s.szName,”exit”==0)  </a:t>
            </a:r>
            <a:r>
              <a:rPr lang="en-US" altLang="zh-CN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</a:t>
            </a:r>
            <a:r>
              <a:rPr lang="zh-CN" altLang="en-US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名字为</a:t>
            </a:r>
            <a:r>
              <a:rPr lang="en-US" altLang="zh-CN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exit</a:t>
            </a:r>
            <a:r>
              <a:rPr lang="zh-CN" altLang="en-US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结束输入</a:t>
            </a:r>
            <a:endParaRPr lang="en-US" altLang="zh-CN" b="1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 b="1"/>
              <a:t>              break;</a:t>
            </a:r>
            <a:endParaRPr lang="en-US" altLang="zh-CN" sz="2000" b="1"/>
          </a:p>
          <a:p>
            <a:r>
              <a:rPr lang="en-US" altLang="zh-CN" sz="2000" b="1"/>
              <a:t>      OutFile.write((const char*)&amp;s,sizeof(s));</a:t>
            </a:r>
            <a:endParaRPr lang="en-US" altLang="zh-CN" sz="2000" b="1"/>
          </a:p>
          <a:p>
            <a:r>
              <a:rPr lang="en-US" altLang="zh-CN" sz="2000" b="1"/>
              <a:t>}</a:t>
            </a:r>
            <a:endParaRPr lang="en-US" altLang="zh-CN" sz="2000" b="1"/>
          </a:p>
          <a:p>
            <a:r>
              <a:rPr lang="en-US" altLang="zh-CN" sz="2000" b="1"/>
              <a:t>OutFile.close();</a:t>
            </a:r>
            <a:endParaRPr lang="en-US" altLang="zh-CN" sz="2000" b="1"/>
          </a:p>
          <a:p>
            <a:r>
              <a:rPr lang="en-US" altLang="zh-CN" sz="2000" b="1"/>
              <a:t>return 0;</a:t>
            </a:r>
            <a:endParaRPr lang="en-US" altLang="zh-CN" sz="2000" b="1"/>
          </a:p>
          <a:p>
            <a:r>
              <a:rPr lang="en-US" altLang="zh-CN" sz="2000" b="1"/>
              <a:t>}</a:t>
            </a:r>
            <a:endParaRPr lang="en-US" altLang="zh-CN" sz="2000" b="1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159" y="1135784"/>
            <a:ext cx="546822" cy="61692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439" y="5197163"/>
            <a:ext cx="393720" cy="6032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944" y="1827814"/>
            <a:ext cx="2160375" cy="430298"/>
          </a:xfrm>
          <a:prstGeom prst="rect">
            <a:avLst/>
          </a:prstGeom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399447" y="234191"/>
            <a:ext cx="99236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二进制文件读写</a:t>
            </a:r>
            <a:r>
              <a:rPr kumimoji="1" lang="zh-CN" altLang="en-US" sz="2800" b="1" dirty="0">
                <a:ea typeface="宋体" panose="02010600030101010101" pitchFamily="2" charset="-122"/>
              </a:rPr>
              <a:t>     </a:t>
            </a:r>
            <a:endParaRPr kumimoji="1" lang="zh-CN" altLang="en-US" sz="2800" b="1" dirty="0">
              <a:latin typeface="幼圆" panose="02010509060101010101" pitchFamily="49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2697" y="360126"/>
            <a:ext cx="863644" cy="20365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5"/>
          <a:srcRect t="11147"/>
          <a:stretch>
            <a:fillRect/>
          </a:stretch>
        </p:blipFill>
        <p:spPr>
          <a:xfrm>
            <a:off x="626379" y="818966"/>
            <a:ext cx="6102310" cy="385491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7783" y="1578531"/>
            <a:ext cx="6740041" cy="511065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5146" y="1475371"/>
            <a:ext cx="1299410" cy="92132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3386" y="2348210"/>
            <a:ext cx="1047804" cy="70488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159" y="1135784"/>
            <a:ext cx="546822" cy="61692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439" y="5197163"/>
            <a:ext cx="393720" cy="6032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944" y="1827814"/>
            <a:ext cx="2160375" cy="430298"/>
          </a:xfrm>
          <a:prstGeom prst="rect">
            <a:avLst/>
          </a:prstGeom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399447" y="234191"/>
            <a:ext cx="99236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二进制文件读写</a:t>
            </a:r>
            <a:r>
              <a:rPr kumimoji="1" lang="zh-CN" altLang="en-US" sz="2800" b="1" dirty="0">
                <a:ea typeface="宋体" panose="02010600030101010101" pitchFamily="2" charset="-122"/>
              </a:rPr>
              <a:t>     </a:t>
            </a:r>
            <a:endParaRPr kumimoji="1" lang="zh-CN" altLang="en-US" sz="2800" b="1" dirty="0">
              <a:latin typeface="幼圆" panose="02010509060101010101" pitchFamily="49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2697" y="360126"/>
            <a:ext cx="863644" cy="20365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5146" y="1475371"/>
            <a:ext cx="1299410" cy="92132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386" y="2348210"/>
            <a:ext cx="1047804" cy="70488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641" y="718598"/>
            <a:ext cx="6710380" cy="39641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5373" y="1424514"/>
            <a:ext cx="7195245" cy="526877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6058" y="1232245"/>
            <a:ext cx="873371" cy="115194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11373" y="1330216"/>
            <a:ext cx="1121905" cy="147975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399447" y="234191"/>
            <a:ext cx="99236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文件读写指针</a:t>
            </a:r>
            <a:r>
              <a:rPr kumimoji="1" lang="zh-CN" altLang="en-US" sz="2800" b="1" dirty="0">
                <a:ea typeface="宋体" panose="02010600030101010101" pitchFamily="2" charset="-122"/>
              </a:rPr>
              <a:t>     </a:t>
            </a:r>
            <a:endParaRPr kumimoji="1" lang="zh-CN" altLang="en-US" sz="2800" b="1" dirty="0">
              <a:latin typeface="幼圆" panose="020105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159" y="1135784"/>
            <a:ext cx="546822" cy="61692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439" y="5197163"/>
            <a:ext cx="393720" cy="6032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944" y="1827814"/>
            <a:ext cx="2160375" cy="43029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553" y="867125"/>
            <a:ext cx="5253465" cy="163507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846" y="2746288"/>
            <a:ext cx="5912154" cy="332122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2131" y="2809360"/>
            <a:ext cx="5810549" cy="3359323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159" y="1135784"/>
            <a:ext cx="546822" cy="61692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439" y="5197163"/>
            <a:ext cx="393720" cy="6032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944" y="1827814"/>
            <a:ext cx="2160375" cy="430298"/>
          </a:xfrm>
          <a:prstGeom prst="rect">
            <a:avLst/>
          </a:prstGeom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399447" y="234191"/>
            <a:ext cx="99236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例：文件操作</a:t>
            </a:r>
            <a:r>
              <a:rPr kumimoji="1" lang="zh-CN" altLang="en-US" sz="2800" b="1" dirty="0">
                <a:ea typeface="宋体" panose="02010600030101010101" pitchFamily="2" charset="-122"/>
              </a:rPr>
              <a:t>     </a:t>
            </a:r>
            <a:endParaRPr kumimoji="1" lang="zh-CN" altLang="en-US" sz="2800" b="1" dirty="0">
              <a:latin typeface="幼圆" panose="02010509060101010101" pitchFamily="49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2697" y="360126"/>
            <a:ext cx="863644" cy="20365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5146" y="1475371"/>
            <a:ext cx="1299410" cy="92132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386" y="2348210"/>
            <a:ext cx="1047804" cy="70488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6058" y="1232245"/>
            <a:ext cx="873371" cy="115194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1373" y="1330216"/>
            <a:ext cx="1121905" cy="147975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648" y="1135784"/>
            <a:ext cx="5512064" cy="496242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5450" y="759788"/>
            <a:ext cx="6526550" cy="568807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159" y="1135784"/>
            <a:ext cx="546822" cy="61692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439" y="5197163"/>
            <a:ext cx="393720" cy="6032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944" y="1827814"/>
            <a:ext cx="2160375" cy="430298"/>
          </a:xfrm>
          <a:prstGeom prst="rect">
            <a:avLst/>
          </a:prstGeom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157543" y="233520"/>
            <a:ext cx="99236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文件中汉字的读写</a:t>
            </a:r>
            <a:r>
              <a:rPr kumimoji="1" lang="zh-CN" altLang="en-US" sz="2800" b="1" dirty="0">
                <a:ea typeface="宋体" panose="02010600030101010101" pitchFamily="2" charset="-122"/>
              </a:rPr>
              <a:t>    </a:t>
            </a:r>
            <a:endParaRPr kumimoji="1" lang="zh-CN" altLang="en-US" sz="2800" b="1" dirty="0">
              <a:latin typeface="幼圆" panose="02010509060101010101" pitchFamily="49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2697" y="360126"/>
            <a:ext cx="863644" cy="20365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5146" y="1475371"/>
            <a:ext cx="1299410" cy="92132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386" y="2348210"/>
            <a:ext cx="1047804" cy="70488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6058" y="1232245"/>
            <a:ext cx="873371" cy="115194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1373" y="1330216"/>
            <a:ext cx="1121905" cy="1479754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65386" y="1546167"/>
            <a:ext cx="609765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例程1：</a:t>
            </a:r>
            <a:endParaRPr lang="zh-CN" altLang="en-US" b="1" dirty="0"/>
          </a:p>
          <a:p>
            <a:endParaRPr lang="zh-CN" altLang="en-US" b="1" dirty="0"/>
          </a:p>
          <a:p>
            <a:r>
              <a:rPr lang="zh-CN" altLang="en-US" b="1" dirty="0"/>
              <a:t>#include &lt;iostream&gt;</a:t>
            </a:r>
            <a:endParaRPr lang="zh-CN" altLang="en-US" b="1" dirty="0"/>
          </a:p>
          <a:p>
            <a:r>
              <a:rPr lang="zh-CN" altLang="en-US" b="1" dirty="0"/>
              <a:t>#include &lt;fstream&gt;</a:t>
            </a:r>
            <a:endParaRPr lang="zh-CN" altLang="en-US" b="1" dirty="0"/>
          </a:p>
          <a:p>
            <a:r>
              <a:rPr lang="zh-CN" altLang="en-US" b="1" dirty="0"/>
              <a:t>using namespace std;</a:t>
            </a:r>
            <a:endParaRPr lang="zh-CN" altLang="en-US" b="1" dirty="0"/>
          </a:p>
          <a:p>
            <a:endParaRPr lang="zh-CN" altLang="en-US" b="1" dirty="0"/>
          </a:p>
          <a:p>
            <a:endParaRPr lang="zh-CN" altLang="en-US" b="1" dirty="0"/>
          </a:p>
          <a:p>
            <a:r>
              <a:rPr lang="zh-CN" altLang="en-US" b="1" dirty="0"/>
              <a:t>int main()</a:t>
            </a:r>
            <a:endParaRPr lang="zh-CN" altLang="en-US" b="1" dirty="0"/>
          </a:p>
          <a:p>
            <a:r>
              <a:rPr lang="zh-CN" altLang="en-US" b="1" dirty="0"/>
              <a:t>{</a:t>
            </a:r>
            <a:endParaRPr lang="zh-CN" altLang="en-US" b="1" dirty="0"/>
          </a:p>
          <a:p>
            <a:r>
              <a:rPr lang="zh-CN" altLang="en-US" b="1" dirty="0"/>
              <a:t>unsigned char tmp[] = "我"; </a:t>
            </a:r>
            <a:endParaRPr lang="zh-CN" altLang="en-US" b="1" dirty="0"/>
          </a:p>
          <a:p>
            <a:endParaRPr lang="zh-CN" altLang="en-US" b="1" dirty="0"/>
          </a:p>
          <a:p>
            <a:r>
              <a:rPr lang="zh-CN" altLang="en-US" b="1" dirty="0"/>
              <a:t>printf("tmp占用的字节数:%d\n",sizeof(tmp));</a:t>
            </a:r>
            <a:endParaRPr lang="zh-CN" altLang="en-US" b="1" dirty="0"/>
          </a:p>
          <a:p>
            <a:r>
              <a:rPr lang="zh-CN" altLang="en-US" b="1" dirty="0"/>
              <a:t>printf("%s",tmp);</a:t>
            </a:r>
            <a:endParaRPr lang="zh-CN" altLang="en-US" b="1" dirty="0"/>
          </a:p>
          <a:p>
            <a:endParaRPr lang="zh-CN" altLang="en-US" b="1" dirty="0"/>
          </a:p>
          <a:p>
            <a:r>
              <a:rPr lang="zh-CN" altLang="en-US" b="1" dirty="0"/>
              <a:t>return 0;</a:t>
            </a:r>
            <a:endParaRPr lang="zh-CN" altLang="en-US" b="1" dirty="0"/>
          </a:p>
          <a:p>
            <a:r>
              <a:rPr lang="zh-CN" altLang="en-US" b="1" dirty="0"/>
              <a:t>}</a:t>
            </a:r>
            <a:endParaRPr lang="zh-CN" altLang="en-US" b="1" dirty="0"/>
          </a:p>
          <a:p>
            <a:endParaRPr lang="zh-CN" altLang="en-US" b="1" dirty="0"/>
          </a:p>
          <a:p>
            <a:endParaRPr lang="zh-CN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052131" y="233520"/>
            <a:ext cx="609765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例程2：</a:t>
            </a:r>
            <a:endParaRPr lang="zh-CN" altLang="en-US" b="1" dirty="0"/>
          </a:p>
          <a:p>
            <a:r>
              <a:rPr lang="zh-CN" altLang="en-US" b="1" dirty="0"/>
              <a:t>#include&lt;iostream&gt;</a:t>
            </a:r>
            <a:endParaRPr lang="zh-CN" altLang="en-US" b="1" dirty="0"/>
          </a:p>
          <a:p>
            <a:r>
              <a:rPr lang="zh-CN" altLang="en-US" b="1" dirty="0"/>
              <a:t>#include&lt;fstream&gt;</a:t>
            </a:r>
            <a:endParaRPr lang="zh-CN" altLang="en-US" b="1" dirty="0"/>
          </a:p>
          <a:p>
            <a:r>
              <a:rPr lang="zh-CN" altLang="en-US" b="1" dirty="0"/>
              <a:t>#include&lt;string&gt;</a:t>
            </a:r>
            <a:endParaRPr lang="zh-CN" altLang="en-US" b="1" dirty="0"/>
          </a:p>
          <a:p>
            <a:r>
              <a:rPr lang="zh-CN" altLang="en-US" b="1" dirty="0"/>
              <a:t>using namespace std;</a:t>
            </a:r>
            <a:endParaRPr lang="zh-CN" altLang="en-US" b="1" dirty="0"/>
          </a:p>
          <a:p>
            <a:r>
              <a:rPr lang="zh-CN" altLang="en-US" b="1" dirty="0"/>
              <a:t>int main()</a:t>
            </a:r>
            <a:endParaRPr lang="zh-CN" altLang="en-US" b="1" dirty="0"/>
          </a:p>
          <a:p>
            <a:r>
              <a:rPr lang="zh-CN" altLang="en-US" b="1" dirty="0"/>
              <a:t>{</a:t>
            </a:r>
            <a:endParaRPr lang="zh-CN" altLang="en-US" b="1" dirty="0"/>
          </a:p>
          <a:p>
            <a:r>
              <a:rPr lang="zh-CN" altLang="en-US" b="1" dirty="0"/>
              <a:t>	string s;</a:t>
            </a:r>
            <a:endParaRPr lang="zh-CN" altLang="en-US" b="1" dirty="0"/>
          </a:p>
          <a:p>
            <a:r>
              <a:rPr lang="zh-CN" altLang="en-US" b="1" dirty="0"/>
              <a:t>	ifstream fin;</a:t>
            </a:r>
            <a:endParaRPr lang="zh-CN" altLang="en-US" b="1" dirty="0"/>
          </a:p>
          <a:p>
            <a:r>
              <a:rPr lang="zh-CN" altLang="en-US" b="1" dirty="0"/>
              <a:t>	ofstream fout;</a:t>
            </a:r>
            <a:endParaRPr lang="zh-CN" altLang="en-US" b="1" dirty="0"/>
          </a:p>
          <a:p>
            <a:r>
              <a:rPr lang="zh-CN" altLang="en-US" b="1" dirty="0"/>
              <a:t>	fin.open("in.txt");</a:t>
            </a:r>
            <a:endParaRPr lang="zh-CN" altLang="en-US" b="1" dirty="0"/>
          </a:p>
          <a:p>
            <a:r>
              <a:rPr lang="zh-CN" altLang="en-US" b="1" dirty="0"/>
              <a:t>	fout.open("out.txt");</a:t>
            </a:r>
            <a:endParaRPr lang="zh-CN" altLang="en-US" b="1" dirty="0"/>
          </a:p>
          <a:p>
            <a:r>
              <a:rPr lang="zh-CN" altLang="en-US" b="1" dirty="0"/>
              <a:t>	while (!fin.eof())</a:t>
            </a:r>
            <a:endParaRPr lang="zh-CN" altLang="en-US" b="1" dirty="0"/>
          </a:p>
          <a:p>
            <a:r>
              <a:rPr lang="zh-CN" altLang="en-US" b="1" dirty="0"/>
              <a:t>	{</a:t>
            </a:r>
            <a:endParaRPr lang="zh-CN" altLang="en-US" b="1" dirty="0"/>
          </a:p>
          <a:p>
            <a:r>
              <a:rPr lang="zh-CN" altLang="en-US" b="1" dirty="0"/>
              <a:t>		getline(fin, s); </a:t>
            </a:r>
            <a:endParaRPr lang="zh-CN" altLang="en-US" b="1" dirty="0"/>
          </a:p>
          <a:p>
            <a:r>
              <a:rPr lang="zh-CN" altLang="en-US" b="1" dirty="0"/>
              <a:t>		cout &lt;&lt; s &lt;&lt; endl;</a:t>
            </a:r>
            <a:endParaRPr lang="zh-CN" altLang="en-US" b="1" dirty="0"/>
          </a:p>
          <a:p>
            <a:r>
              <a:rPr lang="zh-CN" altLang="en-US" b="1" dirty="0"/>
              <a:t>		fout &lt;&lt; s &lt;&lt; '\n'; </a:t>
            </a:r>
            <a:endParaRPr lang="zh-CN" altLang="en-US" b="1" dirty="0"/>
          </a:p>
          <a:p>
            <a:r>
              <a:rPr lang="zh-CN" altLang="en-US" b="1" dirty="0"/>
              <a:t>	}</a:t>
            </a:r>
            <a:endParaRPr lang="zh-CN" altLang="en-US" b="1" dirty="0"/>
          </a:p>
          <a:p>
            <a:r>
              <a:rPr lang="zh-CN" altLang="en-US" b="1" dirty="0"/>
              <a:t>	fin.close();</a:t>
            </a:r>
            <a:endParaRPr lang="zh-CN" altLang="en-US" b="1" dirty="0"/>
          </a:p>
          <a:p>
            <a:r>
              <a:rPr lang="zh-CN" altLang="en-US" b="1" dirty="0"/>
              <a:t>	fout.close();</a:t>
            </a:r>
            <a:endParaRPr lang="zh-CN" altLang="en-US" b="1" dirty="0"/>
          </a:p>
          <a:p>
            <a:r>
              <a:rPr lang="zh-CN" altLang="en-US" b="1" dirty="0"/>
              <a:t>	system("pause");</a:t>
            </a:r>
            <a:endParaRPr lang="zh-CN" altLang="en-US" b="1" dirty="0"/>
          </a:p>
          <a:p>
            <a:r>
              <a:rPr lang="zh-CN" altLang="en-US" b="1" dirty="0"/>
              <a:t>	return 0;</a:t>
            </a:r>
            <a:endParaRPr lang="zh-CN" altLang="en-US" b="1" dirty="0"/>
          </a:p>
          <a:p>
            <a:r>
              <a:rPr lang="zh-CN" altLang="en-US" b="1" dirty="0"/>
              <a:t>}</a:t>
            </a:r>
            <a:endParaRPr lang="zh-CN" altLang="en-US" b="1" dirty="0"/>
          </a:p>
          <a:p>
            <a:endParaRPr lang="zh-CN" altLang="en-US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834887" y="818295"/>
            <a:ext cx="4035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一个汉字占两个字节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汉字编码影响汉字是否能正常显示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159" y="1135784"/>
            <a:ext cx="546822" cy="61692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439" y="5197163"/>
            <a:ext cx="393720" cy="6032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944" y="1827814"/>
            <a:ext cx="2160375" cy="430298"/>
          </a:xfrm>
          <a:prstGeom prst="rect">
            <a:avLst/>
          </a:prstGeom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157543" y="233520"/>
            <a:ext cx="99236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文件中汉字的读写</a:t>
            </a:r>
            <a:r>
              <a:rPr kumimoji="1" lang="zh-CN" altLang="en-US" sz="2800" b="1" dirty="0">
                <a:ea typeface="宋体" panose="02010600030101010101" pitchFamily="2" charset="-122"/>
              </a:rPr>
              <a:t>    </a:t>
            </a:r>
            <a:endParaRPr kumimoji="1" lang="zh-CN" altLang="en-US" sz="2800" b="1" dirty="0">
              <a:latin typeface="幼圆" panose="02010509060101010101" pitchFamily="49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2697" y="360126"/>
            <a:ext cx="863644" cy="20365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5146" y="1475371"/>
            <a:ext cx="1299410" cy="92132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386" y="2348210"/>
            <a:ext cx="1047804" cy="70488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6058" y="1232245"/>
            <a:ext cx="873371" cy="115194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1373" y="1330216"/>
            <a:ext cx="1121905" cy="1479754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598000" y="973149"/>
            <a:ext cx="60976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b="1" dirty="0"/>
          </a:p>
          <a:p>
            <a:r>
              <a:rPr lang="zh-CN" altLang="en-US" b="1" dirty="0"/>
              <a:t>例程3：</a:t>
            </a:r>
            <a:endParaRPr lang="zh-CN" altLang="en-US" b="1" dirty="0"/>
          </a:p>
          <a:p>
            <a:endParaRPr lang="zh-CN" altLang="en-US" b="1" dirty="0"/>
          </a:p>
          <a:p>
            <a:endParaRPr lang="zh-CN" altLang="en-US" b="1" dirty="0"/>
          </a:p>
          <a:p>
            <a:r>
              <a:rPr lang="zh-CN" altLang="en-US" b="1" dirty="0"/>
              <a:t>#include &lt;iostream&gt;</a:t>
            </a:r>
            <a:endParaRPr lang="zh-CN" altLang="en-US" b="1" dirty="0"/>
          </a:p>
          <a:p>
            <a:endParaRPr lang="zh-CN" altLang="en-US" b="1" dirty="0"/>
          </a:p>
          <a:p>
            <a:r>
              <a:rPr lang="zh-CN" altLang="en-US" b="1" dirty="0"/>
              <a:t>using namespace std;</a:t>
            </a:r>
            <a:endParaRPr lang="zh-CN" altLang="en-US" b="1" dirty="0"/>
          </a:p>
          <a:p>
            <a:endParaRPr lang="zh-CN" altLang="en-US" b="1" dirty="0"/>
          </a:p>
          <a:p>
            <a:r>
              <a:rPr lang="zh-CN" altLang="en-US" b="1" dirty="0"/>
              <a:t>int main(int argc, char* argv[])</a:t>
            </a:r>
            <a:endParaRPr lang="zh-CN" altLang="en-US" b="1" dirty="0"/>
          </a:p>
          <a:p>
            <a:r>
              <a:rPr lang="zh-CN" altLang="en-US" b="1" dirty="0"/>
              <a:t>{</a:t>
            </a:r>
            <a:endParaRPr lang="zh-CN" altLang="en-US" b="1" dirty="0"/>
          </a:p>
          <a:p>
            <a:r>
              <a:rPr lang="zh-CN" altLang="en-US" b="1" dirty="0"/>
              <a:t>    wchar_t s[] = { '上','海','自','来','水','来','自','海','上','我',0 };</a:t>
            </a:r>
            <a:endParaRPr lang="zh-CN" altLang="en-US" b="1" dirty="0"/>
          </a:p>
          <a:p>
            <a:r>
              <a:rPr lang="zh-CN" altLang="en-US" b="1" dirty="0"/>
              <a:t>    char* p = (char*)s;</a:t>
            </a:r>
            <a:endParaRPr lang="zh-CN" altLang="en-US" b="1" dirty="0"/>
          </a:p>
          <a:p>
            <a:r>
              <a:rPr lang="zh-CN" altLang="en-US" b="1" dirty="0"/>
              <a:t>    int i;</a:t>
            </a:r>
            <a:endParaRPr lang="zh-CN" altLang="en-US" b="1" dirty="0"/>
          </a:p>
          <a:p>
            <a:r>
              <a:rPr lang="zh-CN" altLang="en-US" b="1" dirty="0"/>
              <a:t>    cout &lt;&lt; s &lt;&lt; endl;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//这样不能显示原文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b="1" dirty="0"/>
              <a:t>    puts(p); 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//这样不能显示原文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984558" y="1332169"/>
            <a:ext cx="609765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 cout &lt;&lt; endl &lt;&lt; endl;</a:t>
            </a:r>
            <a:endParaRPr lang="zh-CN" altLang="en-US" b="1" dirty="0"/>
          </a:p>
          <a:p>
            <a:r>
              <a:rPr lang="zh-CN" altLang="en-US" b="1" dirty="0"/>
              <a:t>    cout &lt;&lt; "正确显示结果；" &lt;&lt; endl;</a:t>
            </a:r>
            <a:endParaRPr lang="zh-CN" altLang="en-US" b="1" dirty="0"/>
          </a:p>
          <a:p>
            <a:r>
              <a:rPr lang="zh-CN" altLang="en-US" b="1" dirty="0"/>
              <a:t>    for (i = 0;s[i];i++, p++, p++)</a:t>
            </a:r>
            <a:endParaRPr lang="zh-CN" altLang="en-US" b="1" dirty="0"/>
          </a:p>
          <a:p>
            <a:r>
              <a:rPr lang="zh-CN" altLang="en-US" b="1" dirty="0"/>
              <a:t>        printf("%c%c", *(p + 1), *p);</a:t>
            </a:r>
            <a:endParaRPr lang="zh-CN" altLang="en-US" b="1" dirty="0"/>
          </a:p>
          <a:p>
            <a:r>
              <a:rPr lang="zh-CN" altLang="en-US" b="1" dirty="0"/>
              <a:t>    printf("\n"); 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//这样才显示原文</a:t>
            </a:r>
            <a:endParaRPr lang="zh-CN" alt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b="1" dirty="0"/>
              <a:t>    </a:t>
            </a:r>
            <a:endParaRPr lang="zh-CN" altLang="en-US" b="1" dirty="0"/>
          </a:p>
          <a:p>
            <a:r>
              <a:rPr lang="zh-CN" altLang="en-US" b="1" dirty="0"/>
              <a:t>    system("PAUSE");</a:t>
            </a:r>
            <a:endParaRPr lang="zh-CN" altLang="en-US" b="1" dirty="0"/>
          </a:p>
          <a:p>
            <a:r>
              <a:rPr lang="zh-CN" altLang="en-US" b="1" dirty="0"/>
              <a:t>    return EXIT_SUCCESS;</a:t>
            </a:r>
            <a:endParaRPr lang="zh-CN" altLang="en-US" b="1" dirty="0"/>
          </a:p>
          <a:p>
            <a:r>
              <a:rPr lang="zh-CN" altLang="en-US" b="1" dirty="0"/>
              <a:t>}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159" y="1135784"/>
            <a:ext cx="546822" cy="61692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0439" y="5197163"/>
            <a:ext cx="393720" cy="6032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944" y="1827814"/>
            <a:ext cx="2160375" cy="430298"/>
          </a:xfrm>
          <a:prstGeom prst="rect">
            <a:avLst/>
          </a:prstGeom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157543" y="233520"/>
            <a:ext cx="992364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kumimoji="1" lang="zh-CN" altLang="en-US" sz="3200" b="1" dirty="0">
                <a:solidFill>
                  <a:srgbClr val="0066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常见的汉字字符集编码</a:t>
            </a:r>
            <a:endParaRPr kumimoji="1" lang="zh-CN" altLang="en-US" sz="3200" b="1" dirty="0">
              <a:solidFill>
                <a:srgbClr val="0066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l"/>
            <a:r>
              <a:rPr kumimoji="1" lang="zh-CN" altLang="en-US" sz="2800" b="1" dirty="0">
                <a:ea typeface="宋体" panose="02010600030101010101" pitchFamily="2" charset="-122"/>
              </a:rPr>
              <a:t>    </a:t>
            </a:r>
            <a:endParaRPr kumimoji="1" lang="zh-CN" altLang="en-US" sz="2800" b="1" dirty="0">
              <a:latin typeface="幼圆" panose="02010509060101010101" pitchFamily="49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2697" y="360126"/>
            <a:ext cx="863644" cy="20365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5146" y="1475371"/>
            <a:ext cx="1299410" cy="92132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386" y="2348210"/>
            <a:ext cx="1047804" cy="70488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6058" y="1232245"/>
            <a:ext cx="873371" cy="115194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1373" y="1330216"/>
            <a:ext cx="1121905" cy="1479754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962570" y="889844"/>
            <a:ext cx="9290122" cy="465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GB2312</a:t>
            </a:r>
            <a:r>
              <a:rPr lang="zh-CN" altLang="en-US" sz="2000" b="1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1981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日发布的简体中文汉字编码国家标准。</a:t>
            </a:r>
            <a:endParaRPr lang="zh-CN" altLang="en-US" sz="2000" b="0" i="0" dirty="0">
              <a:solidFill>
                <a:srgbClr val="11111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BIG5</a:t>
            </a:r>
            <a:r>
              <a:rPr lang="zh-CN" altLang="en-US" sz="2000" b="1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：台湾地区繁体中文标准字符集，采用双字节编码，共收录</a:t>
            </a:r>
            <a:r>
              <a:rPr lang="en-US" altLang="zh-CN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13053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个中文字，</a:t>
            </a:r>
            <a:r>
              <a:rPr lang="en-US" altLang="zh-CN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1984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年实施。</a:t>
            </a:r>
            <a:endParaRPr lang="zh-CN" altLang="en-US" sz="2000" b="0" i="0" dirty="0">
              <a:solidFill>
                <a:srgbClr val="11111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GBK</a:t>
            </a:r>
            <a:r>
              <a:rPr lang="zh-CN" altLang="en-US" sz="2000" b="1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1995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月发布的汉字编码国家标准，是对</a:t>
            </a:r>
            <a:r>
              <a:rPr lang="en-US" altLang="zh-CN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GB2312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编码的扩充，对汉字采用双字节编码。</a:t>
            </a:r>
            <a:endParaRPr lang="en-US" altLang="zh-CN" sz="2000" b="0" i="0" dirty="0">
              <a:solidFill>
                <a:srgbClr val="11111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GB18030</a:t>
            </a:r>
            <a:r>
              <a:rPr lang="zh-CN" altLang="en-US" sz="2000" b="1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日发布的汉字编码国家标准，是对</a:t>
            </a:r>
            <a:r>
              <a:rPr lang="en-US" altLang="zh-CN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GBK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编码的扩充，采用单字节、双字节和四字节三种方式对字符编码。兼容</a:t>
            </a:r>
            <a:r>
              <a:rPr lang="en-US" altLang="zh-CN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GBK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GB2312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字符集。</a:t>
            </a:r>
            <a:endParaRPr lang="zh-CN" altLang="en-US" sz="2000" b="0" i="0" dirty="0">
              <a:solidFill>
                <a:srgbClr val="11111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Unicode</a:t>
            </a:r>
            <a:r>
              <a:rPr lang="zh-CN" altLang="en-US" sz="2000" b="1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：国际标准字符集，它将世界各种语言的每个字符定义一个唯一的编码，以满足跨语言、跨平台的文本信息转换。</a:t>
            </a:r>
            <a:endParaRPr lang="zh-CN" altLang="en-US" sz="2000" b="0" i="0" dirty="0">
              <a:solidFill>
                <a:srgbClr val="11111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389630" y="2845435"/>
            <a:ext cx="57029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 b="1"/>
              <a:t>本章结束，谢谢！</a:t>
            </a:r>
            <a:endParaRPr lang="zh-CN" altLang="en-US" sz="32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COMMONDATA" val="eyJoZGlkIjoiNDI0NGE4MmNiOWM4MDZkMDdkNTIyYjlkODg4OWU4ODcifQ=="/>
  <p:tag name="KSO_WPP_MARK_KEY" val="a814aaa9-d1ea-4d5c-880f-347764f2ec6f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8874</Words>
  <Application>WPS 演示</Application>
  <PresentationFormat>宽屏</PresentationFormat>
  <Paragraphs>555</Paragraphs>
  <Slides>56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76" baseType="lpstr">
      <vt:lpstr>Arial</vt:lpstr>
      <vt:lpstr>宋体</vt:lpstr>
      <vt:lpstr>Wingdings</vt:lpstr>
      <vt:lpstr>等线</vt:lpstr>
      <vt:lpstr>微软雅黑</vt:lpstr>
      <vt:lpstr>隶书</vt:lpstr>
      <vt:lpstr>Times New Roman</vt:lpstr>
      <vt:lpstr>Tahoma</vt:lpstr>
      <vt:lpstr>Consolas</vt:lpstr>
      <vt:lpstr>幼圆</vt:lpstr>
      <vt:lpstr>MicrosoftYaHei</vt:lpstr>
      <vt:lpstr>Segoe Print</vt:lpstr>
      <vt:lpstr>LMSans10-Regular-Identity-H</vt:lpstr>
      <vt:lpstr>LMMono9-Regular-Identity-H</vt:lpstr>
      <vt:lpstr>等线 Light</vt:lpstr>
      <vt:lpstr>Arial Unicode MS</vt:lpstr>
      <vt:lpstr>华文行楷</vt:lpstr>
      <vt:lpstr>-apple-system</vt:lpstr>
      <vt:lpstr>Calibri</vt:lpstr>
      <vt:lpstr>Office 主题​​</vt:lpstr>
      <vt:lpstr>面向对象程序设计（C++）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27315950@qq.com</dc:creator>
  <cp:lastModifiedBy>朱静</cp:lastModifiedBy>
  <cp:revision>133</cp:revision>
  <dcterms:created xsi:type="dcterms:W3CDTF">2020-02-16T03:33:00Z</dcterms:created>
  <dcterms:modified xsi:type="dcterms:W3CDTF">2024-04-02T02:11:31Z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C65D57E0C079461E9ED36D3FFE4FC354</vt:lpwstr>
  </property>
  <property fmtid="{D5CDD505-2E9C-101B-9397-08002B2CF9AE}" pid="3" name="KSOProductBuildVer">
    <vt:lpwstr>2052-12.1.0.16417</vt:lpwstr>
  </property>
</Properties>
</file>