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464" r:id="rId6"/>
    <p:sldId id="465" r:id="rId7"/>
    <p:sldId id="466" r:id="rId8"/>
    <p:sldId id="467" r:id="rId10"/>
    <p:sldId id="468" r:id="rId11"/>
    <p:sldId id="491" r:id="rId12"/>
    <p:sldId id="470" r:id="rId13"/>
    <p:sldId id="471" r:id="rId14"/>
    <p:sldId id="472" r:id="rId15"/>
    <p:sldId id="473" r:id="rId16"/>
    <p:sldId id="474" r:id="rId17"/>
    <p:sldId id="475" r:id="rId18"/>
    <p:sldId id="481" r:id="rId19"/>
    <p:sldId id="477" r:id="rId20"/>
    <p:sldId id="478" r:id="rId21"/>
    <p:sldId id="479" r:id="rId22"/>
    <p:sldId id="480" r:id="rId23"/>
    <p:sldId id="482" r:id="rId24"/>
    <p:sldId id="485" r:id="rId25"/>
    <p:sldId id="483" r:id="rId26"/>
    <p:sldId id="484" r:id="rId27"/>
    <p:sldId id="495" r:id="rId28"/>
    <p:sldId id="486" r:id="rId29"/>
    <p:sldId id="492" r:id="rId30"/>
    <p:sldId id="487" r:id="rId31"/>
    <p:sldId id="498" r:id="rId32"/>
    <p:sldId id="488" r:id="rId33"/>
    <p:sldId id="489" r:id="rId34"/>
    <p:sldId id="490" r:id="rId35"/>
    <p:sldId id="493" r:id="rId36"/>
    <p:sldId id="496" r:id="rId37"/>
    <p:sldId id="501" r:id="rId38"/>
    <p:sldId id="502" r:id="rId39"/>
    <p:sldId id="500" r:id="rId40"/>
    <p:sldId id="499" r:id="rId41"/>
    <p:sldId id="497" r:id="rId42"/>
    <p:sldId id="503" r:id="rId43"/>
    <p:sldId id="504" r:id="rId44"/>
    <p:sldId id="494" r:id="rId45"/>
    <p:sldId id="505" r:id="rId46"/>
    <p:sldId id="526" r:id="rId47"/>
  </p:sldIdLst>
  <p:sldSz cx="12192000" cy="6858000"/>
  <p:notesSz cx="6858000" cy="9144000"/>
  <p:custDataLst>
    <p:tags r:id="rId5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j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08000"/>
    <a:srgbClr val="0066FF"/>
    <a:srgbClr val="FEFC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1" autoAdjust="0"/>
    <p:restoredTop sz="89262" autoAdjust="0"/>
  </p:normalViewPr>
  <p:slideViewPr>
    <p:cSldViewPr snapToGrid="0">
      <p:cViewPr varScale="1">
        <p:scale>
          <a:sx n="57" d="100"/>
          <a:sy n="57" d="100"/>
        </p:scale>
        <p:origin x="3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2" Type="http://schemas.openxmlformats.org/officeDocument/2006/relationships/tags" Target="tags/tag4.xml"/><Relationship Id="rId51" Type="http://schemas.openxmlformats.org/officeDocument/2006/relationships/commentAuthors" Target="commentAuthors.xml"/><Relationship Id="rId50" Type="http://schemas.openxmlformats.org/officeDocument/2006/relationships/tableStyles" Target="tableStyles.xml"/><Relationship Id="rId5" Type="http://schemas.openxmlformats.org/officeDocument/2006/relationships/slide" Target="slides/slide3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2C351E-E8B3-40E5-8ABA-EACDFC006A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5EF55-385A-4678-89F8-1FBA14B0704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静态成员函数是所有同一类对象共有，编译时即可确定，不受限于某个对象，不能作为虚函数。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/>
              <a:t>内联函数因为每个对象有独立的一份函数代码，</a:t>
            </a:r>
            <a:r>
              <a:rPr kumimoji="1" lang="zh-CN" altLang="en-US" sz="1200" dirty="0">
                <a:solidFill>
                  <a:srgbClr val="0000CC"/>
                </a:solidFill>
              </a:rPr>
              <a:t>无映射关系，不能作为虚函数。内联函数跟类里定义的函数不一样。同类对象共享函数代码，但内联函数不能共享，每个对象都有各自一份独立函数代码。</a:t>
            </a:r>
            <a:endParaRPr kumimoji="1" lang="zh-CN" altLang="en-US" sz="1200" dirty="0">
              <a:solidFill>
                <a:srgbClr val="0000CC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000000"/>
                </a:solidFill>
                <a:latin typeface="MicrosoftYaHei"/>
              </a:rPr>
              <a:t>内联成员、静态成员和模板成员均不能声明为虚函数，因为这些成员的行为必须在编译时确定，不能实现动态联编。</a:t>
            </a:r>
            <a:endParaRPr lang="en-US" altLang="zh-CN" dirty="0">
              <a:solidFill>
                <a:srgbClr val="000000"/>
              </a:solidFill>
              <a:latin typeface="MicrosoftYaHe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dirty="0">
              <a:solidFill>
                <a:srgbClr val="0000CC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5EF55-385A-4678-89F8-1FBA14B070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tx1"/>
                </a:solidFill>
              </a:rPr>
              <a:t>析构函数可定义为虚函数，构造函数不能定义成虚函数</a:t>
            </a:r>
            <a:r>
              <a:rPr lang="zh-CN" altLang="en-US" dirty="0"/>
              <a:t>，因为在调用构造函数时对象还没有完成实例化。在基类中及其派生类中都动态分配的内存空间时，必须把析构函数定义为虚函数，实现撤消对象时的多态性。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5EF55-385A-4678-89F8-1FBA14B070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tx1"/>
                </a:solidFill>
              </a:rPr>
              <a:t>析构函数可定义为虚函数，构造函数不能定义成虚函数</a:t>
            </a:r>
            <a:r>
              <a:rPr lang="zh-CN" altLang="en-US" dirty="0"/>
              <a:t>，因为在调用构造函数时对象还没有完成实例化。在基类中及其派生类中都动态分配的内存空间时，必须把析构函数定义为虚函数，实现撤消对象时的多态性。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5EF55-385A-4678-89F8-1FBA14B070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5EF55-385A-4678-89F8-1FBA14B070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5EF55-385A-4678-89F8-1FBA14B070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5EF55-385A-4678-89F8-1FBA14B070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1</a:t>
            </a:r>
            <a:r>
              <a:rPr lang="zh-CN" altLang="en-US" dirty="0" err="1"/>
              <a:t>，</a:t>
            </a:r>
            <a:r>
              <a:rPr lang="en-US" altLang="zh-CN" dirty="0" err="1"/>
              <a:t>qsort</a:t>
            </a:r>
            <a:r>
              <a:rPr lang="zh-CN" altLang="en-US" dirty="0"/>
              <a:t>是一个标准库函数，用于对数组快速进行排序。</a:t>
            </a:r>
            <a:r>
              <a:rPr lang="en-US" altLang="zh-CN" dirty="0"/>
              <a:t>#include &lt;</a:t>
            </a:r>
            <a:r>
              <a:rPr lang="en-US" altLang="zh-CN" dirty="0" err="1"/>
              <a:t>stdlib.h</a:t>
            </a:r>
            <a:r>
              <a:rPr lang="en-US" altLang="zh-CN" dirty="0"/>
              <a:t>&gt;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pShapes[i]-&gt;PrintInfo();  //</a:t>
            </a:r>
            <a:r>
              <a:rPr lang="zh-CN" altLang="en-US" dirty="0"/>
              <a:t>也是多态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5EF55-385A-4678-89F8-1FBA14B070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5EF55-385A-4678-89F8-1FBA14B070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dirty="0">
                <a:solidFill>
                  <a:schemeClr val="tx1"/>
                </a:solidFill>
              </a:rPr>
              <a:t>析构函数可定义为虚函数，构造函数不能定义成虚函数</a:t>
            </a:r>
            <a:r>
              <a:rPr lang="zh-CN" altLang="en-US" dirty="0"/>
              <a:t>，因为在调用构造函数时对象还没有完成实例化。在基类中及其派生类中都动态分配的内存空间时，必须把析构函数定义为虚函数，实现撤消对象时的多态性。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5EF55-385A-4678-89F8-1FBA14B070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只要涉及虚函数，就是</a:t>
            </a:r>
            <a:r>
              <a:rPr lang="zh-CN" altLang="en-US">
                <a:sym typeface="+mn-ea"/>
              </a:rPr>
              <a:t>动态联编，具体调用哪个函数，由对象类型确定，而不是由指针（或引用）的类型决定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包含虚函数的类对象</a:t>
            </a:r>
            <a:r>
              <a:rPr lang="zh-CN" altLang="en-US">
                <a:sym typeface="+mn-ea"/>
              </a:rPr>
              <a:t>一旦创建，</a:t>
            </a:r>
            <a:r>
              <a:rPr lang="zh-CN" altLang="en-US"/>
              <a:t>都会有一个虚函数表，每个对象就包含有一个指针指向这个虚函数表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当执行</a:t>
            </a:r>
            <a:r>
              <a:rPr lang="en-US" altLang="zh-CN"/>
              <a:t>pBase-&gt;print()</a:t>
            </a:r>
            <a:r>
              <a:rPr lang="zh-CN" altLang="en-US"/>
              <a:t>语句时，只要调用的是虚函数，就在</a:t>
            </a:r>
            <a:r>
              <a:rPr lang="en-US" altLang="zh-CN"/>
              <a:t>pBase</a:t>
            </a:r>
            <a:r>
              <a:rPr lang="zh-CN" altLang="en-US"/>
              <a:t>指针所指向的对象中，从虚函数表入口进入虚函数表去找到这个函数的地址并调用它。这就是多态的动态联编本质。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 long long* p1 = (long long*)&amp;a;</a:t>
            </a:r>
            <a:endParaRPr lang="zh-CN" altLang="en-US" dirty="0"/>
          </a:p>
          <a:p>
            <a:r>
              <a:rPr lang="en-US" altLang="zh-CN" dirty="0"/>
              <a:t>      long long* p2 = (long long*)pa;</a:t>
            </a:r>
            <a:endParaRPr lang="en-US" altLang="zh-CN" dirty="0"/>
          </a:p>
          <a:p>
            <a:r>
              <a:rPr lang="en-US" altLang="zh-CN" dirty="0"/>
              <a:t>      </a:t>
            </a:r>
            <a:r>
              <a:rPr lang="zh-CN" altLang="en-US" dirty="0"/>
              <a:t>将派生类对象地址的前</a:t>
            </a:r>
            <a:r>
              <a:rPr lang="en-US" altLang="zh-CN" dirty="0"/>
              <a:t>8</a:t>
            </a:r>
            <a:r>
              <a:rPr lang="zh-CN" altLang="en-US" dirty="0"/>
              <a:t>个字节赋值给基类指针变量</a:t>
            </a:r>
            <a:r>
              <a:rPr lang="en-US" altLang="zh-CN" dirty="0"/>
              <a:t>pa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，兼容</a:t>
            </a:r>
            <a:r>
              <a:rPr lang="en-US" altLang="zh-CN" dirty="0"/>
              <a:t>32</a:t>
            </a:r>
            <a:r>
              <a:rPr lang="zh-CN" altLang="en-US" dirty="0"/>
              <a:t>位的</a:t>
            </a:r>
            <a:r>
              <a:rPr lang="en-US" altLang="zh-CN" dirty="0"/>
              <a:t>64</a:t>
            </a:r>
            <a:r>
              <a:rPr lang="zh-CN" altLang="en-US" dirty="0"/>
              <a:t>位系统用</a:t>
            </a:r>
            <a:r>
              <a:rPr lang="en-US" altLang="zh-CN" dirty="0"/>
              <a:t>long </a:t>
            </a:r>
            <a:r>
              <a:rPr lang="zh-CN" altLang="en-US" dirty="0"/>
              <a:t>*实现也可以。（</a:t>
            </a:r>
            <a:r>
              <a:rPr lang="en-US" altLang="zh-CN" dirty="0"/>
              <a:t>long *</a:t>
            </a:r>
            <a:r>
              <a:rPr lang="zh-CN" altLang="en-US" dirty="0"/>
              <a:t>和</a:t>
            </a:r>
            <a:r>
              <a:rPr lang="en-US" altLang="zh-CN" dirty="0"/>
              <a:t>long long *</a:t>
            </a:r>
            <a:r>
              <a:rPr lang="zh-CN" altLang="en-US" dirty="0"/>
              <a:t>均已测试通过）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5EF55-385A-4678-89F8-1FBA14B070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构造函数不能定义为</a:t>
            </a:r>
            <a:r>
              <a:rPr lang="zh-CN" altLang="en-US"/>
              <a:t>虚函数，多态的基本规则</a:t>
            </a:r>
            <a:r>
              <a:rPr lang="en-US" altLang="zh-CN"/>
              <a:t>--</a:t>
            </a:r>
            <a:r>
              <a:rPr lang="zh-CN" altLang="en-US"/>
              <a:t>基类指针（引用）指向派生类对象时，调用的虚函数由对象类型决定。但派生类对象创建时，先调用基类构造函数，当基类指针要调用派生类构造函数时，派生类对象还没创建出来，还没有虚函数表，找不到函数入口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已测试。</a:t>
            </a:r>
            <a:endParaRPr lang="zh-CN" altLang="en-US"/>
          </a:p>
          <a:p>
            <a:r>
              <a:rPr lang="zh-CN" altLang="en-US"/>
              <a:t>如果基类</a:t>
            </a:r>
            <a:r>
              <a:rPr lang="en-US" altLang="zh-CN"/>
              <a:t>Shape</a:t>
            </a:r>
            <a:r>
              <a:rPr lang="zh-CN" altLang="en-US"/>
              <a:t>的析构函数未定义为virtual，则输出结果：</a:t>
            </a:r>
            <a:r>
              <a:rPr lang="en-US" altLang="zh-CN"/>
              <a:t>Destr of Shape</a:t>
            </a:r>
            <a:r>
              <a:rPr lang="zh-CN" altLang="en-US"/>
              <a:t>，派生类对象未销毁。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已测试。没有执行</a:t>
            </a:r>
            <a:r>
              <a:rPr lang="en-US" altLang="zh-CN"/>
              <a:t>~grandson( )</a:t>
            </a:r>
            <a:r>
              <a:rPr lang="zh-CN" altLang="en-US"/>
              <a:t>。会导致内存中出现碎片。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已测试。</a:t>
            </a:r>
            <a:r>
              <a:rPr lang="en-US" altLang="zh-CN"/>
              <a:t>1</a:t>
            </a:r>
            <a:r>
              <a:rPr lang="zh-CN" altLang="en-US"/>
              <a:t>，析构函数 不能有返回类型，</a:t>
            </a:r>
            <a:r>
              <a:rPr lang="en-US" altLang="zh-CN"/>
              <a:t>void</a:t>
            </a:r>
            <a:r>
              <a:rPr lang="zh-CN" altLang="en-US"/>
              <a:t>也不行</a:t>
            </a:r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627" y="287000"/>
            <a:ext cx="835224" cy="7742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49D5C-8927-4036-B92A-D9F195A44A7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mailto:328492647@qq.com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2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8.png"/><Relationship Id="rId2" Type="http://schemas.openxmlformats.org/officeDocument/2006/relationships/image" Target="../media/image46.png"/><Relationship Id="rId1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.xml"/><Relationship Id="rId1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1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2.xml"/><Relationship Id="rId2" Type="http://schemas.microsoft.com/office/2007/relationships/hdphoto" Target="../media/image53.wdp"/><Relationship Id="rId1" Type="http://schemas.openxmlformats.org/officeDocument/2006/relationships/image" Target="../media/image5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97130" y="421717"/>
            <a:ext cx="9144000" cy="2387600"/>
          </a:xfrm>
        </p:spPr>
        <p:txBody>
          <a:bodyPr/>
          <a:lstStyle/>
          <a:p>
            <a:r>
              <a:rPr lang="zh-CN" altLang="en-US" b="1" dirty="0"/>
              <a:t>面向对象程序设计（</a:t>
            </a:r>
            <a:r>
              <a:rPr lang="en-US" altLang="zh-CN" b="1" dirty="0"/>
              <a:t>C++</a:t>
            </a:r>
            <a:r>
              <a:rPr lang="zh-CN" altLang="en-US" b="1" dirty="0"/>
              <a:t>）</a:t>
            </a:r>
            <a:endParaRPr lang="zh-CN" altLang="en-US" b="1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2453244" y="3972296"/>
            <a:ext cx="7543800" cy="2245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中国地质大学（武汉）计算机学院信息安全系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朱    静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1"/>
              </a:rPr>
              <a:t>328492647@qq.com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 txBox="1">
            <a:spLocks noRot="1" noChangeArrowheads="1"/>
          </p:cNvSpPr>
          <p:nvPr/>
        </p:nvSpPr>
        <p:spPr>
          <a:xfrm>
            <a:off x="3167490" y="553434"/>
            <a:ext cx="8280400" cy="9826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08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   虚函数与多态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2"/>
          <p:cNvSpPr txBox="1">
            <a:spLocks noChangeArrowheads="1"/>
          </p:cNvSpPr>
          <p:nvPr/>
        </p:nvSpPr>
        <p:spPr bwMode="auto">
          <a:xfrm>
            <a:off x="3464626" y="1997034"/>
            <a:ext cx="5943600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本章主要内容：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多态性概述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虚函数与多态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多态与动态联编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多态中的构造函数与析构函数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多态的实现原理</a:t>
            </a: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—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虚函数表</a:t>
            </a:r>
            <a:endParaRPr kumimoji="1"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纯虚函数与抽象类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1888177" y="874389"/>
            <a:ext cx="934588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多态机制</a:t>
            </a:r>
            <a:endParaRPr kumimoji="1" lang="en-US" altLang="zh-CN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利用多态性技术，可以调用同一个函数名的函数，实现完全不同的功能。</a:t>
            </a:r>
            <a:endParaRPr kumimoji="1"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多态可以理解为“一种形式，多种实现”</a:t>
            </a:r>
            <a:endParaRPr kumimoji="1"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多态性有两种类型：</a:t>
            </a:r>
            <a:r>
              <a:rPr kumimoji="1"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编译时多态性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运行时多态性</a:t>
            </a:r>
            <a:endParaRPr kumimoji="1" lang="en-US" altLang="zh-CN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1893880" y="3080534"/>
            <a:ext cx="914344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编译时多态性</a:t>
            </a:r>
            <a:endParaRPr kumimoji="1" lang="en-US" altLang="zh-CN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编译时确定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调用哪个函数。</a:t>
            </a:r>
            <a:endParaRPr kumimoji="1"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kumimoji="1"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Rectangle 2"/>
          <p:cNvSpPr txBox="1">
            <a:spLocks noRot="1" noChangeArrowheads="1"/>
          </p:cNvSpPr>
          <p:nvPr/>
        </p:nvSpPr>
        <p:spPr>
          <a:xfrm>
            <a:off x="2135189" y="69851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8.1 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多态性概述</a:t>
            </a:r>
            <a:endParaRPr lang="zh-CN" altLang="en-US" sz="4000" b="1" dirty="0"/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1893880" y="4400706"/>
            <a:ext cx="934588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运行时多态性</a:t>
            </a:r>
            <a:endParaRPr kumimoji="1" lang="en-US" altLang="zh-CN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运行时确定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调用哪个函数。</a:t>
            </a:r>
            <a:endParaRPr kumimoji="1"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/>
      <p:bldP spid="7182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12108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1576705" y="1808480"/>
            <a:ext cx="148304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C++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中两种多态性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AutoShape 16"/>
          <p:cNvSpPr/>
          <p:nvPr/>
        </p:nvSpPr>
        <p:spPr bwMode="auto">
          <a:xfrm>
            <a:off x="3066415" y="1026160"/>
            <a:ext cx="292100" cy="2232025"/>
          </a:xfrm>
          <a:prstGeom prst="leftBrace">
            <a:avLst>
              <a:gd name="adj1" fmla="val 63678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3282315" y="953135"/>
            <a:ext cx="21082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编译时多态性</a:t>
            </a:r>
            <a:r>
              <a:rPr kumimoji="1"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3282315" y="2969260"/>
            <a:ext cx="21082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运行时多态性</a:t>
            </a:r>
            <a:r>
              <a:rPr kumimoji="1"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AutoShape 19"/>
          <p:cNvSpPr>
            <a:spLocks noChangeArrowheads="1"/>
          </p:cNvSpPr>
          <p:nvPr/>
        </p:nvSpPr>
        <p:spPr bwMode="auto">
          <a:xfrm rot="5400000">
            <a:off x="5622132" y="3013551"/>
            <a:ext cx="304800" cy="465138"/>
          </a:xfrm>
          <a:prstGeom prst="upArrow">
            <a:avLst>
              <a:gd name="adj1" fmla="val 50000"/>
              <a:gd name="adj2" fmla="val 381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3" name="Text Box 20"/>
          <p:cNvSpPr txBox="1">
            <a:spLocks noChangeArrowheads="1"/>
          </p:cNvSpPr>
          <p:nvPr/>
        </p:nvSpPr>
        <p:spPr bwMode="auto">
          <a:xfrm>
            <a:off x="6019165" y="2664460"/>
            <a:ext cx="45656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dirty="0"/>
              <a:t>通过类继承关系和虚函数实现。（运行时才创建对象，从而确定被调用函数）</a:t>
            </a:r>
            <a:endParaRPr kumimoji="1"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Text Box 21"/>
          <p:cNvSpPr txBox="1">
            <a:spLocks noChangeArrowheads="1"/>
          </p:cNvSpPr>
          <p:nvPr/>
        </p:nvSpPr>
        <p:spPr bwMode="auto">
          <a:xfrm>
            <a:off x="6019165" y="881698"/>
            <a:ext cx="45656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dirty="0"/>
              <a:t>通过函数重载、运算符重载、模板实例化实现。</a:t>
            </a:r>
            <a:endParaRPr kumimoji="1" lang="zh-CN" altLang="en-US" sz="2400" dirty="0"/>
          </a:p>
        </p:txBody>
      </p:sp>
      <p:sp>
        <p:nvSpPr>
          <p:cNvPr id="15" name="AutoShape 22"/>
          <p:cNvSpPr>
            <a:spLocks noChangeArrowheads="1"/>
          </p:cNvSpPr>
          <p:nvPr/>
        </p:nvSpPr>
        <p:spPr bwMode="auto">
          <a:xfrm rot="5400000">
            <a:off x="5667534" y="945991"/>
            <a:ext cx="304800" cy="465138"/>
          </a:xfrm>
          <a:prstGeom prst="upArrow">
            <a:avLst>
              <a:gd name="adj1" fmla="val 50000"/>
              <a:gd name="adj2" fmla="val 381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1503362" y="4013388"/>
            <a:ext cx="94694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 多态性是面向对象程序设计的关键技术之一。若程序设计语言</a:t>
            </a:r>
            <a:r>
              <a:rPr kumimoji="1" lang="zh-CN" altLang="en-US" sz="2400" dirty="0">
                <a:solidFill>
                  <a:srgbClr val="FF0000"/>
                </a:solidFill>
              </a:rPr>
              <a:t>不支持多态性，不能称为面向对象的语言</a:t>
            </a:r>
            <a:r>
              <a:rPr kumimoji="1" lang="zh-CN" altLang="en-US" sz="2400" dirty="0"/>
              <a:t>。</a:t>
            </a:r>
            <a:endParaRPr kumimoji="1" lang="zh-CN" altLang="en-US" sz="2400" dirty="0"/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1549082" y="5343684"/>
            <a:ext cx="94694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b="1" dirty="0"/>
              <a:t>面向对象程序设计多态性目的是提高程序通用性和可扩充性，大大降低代码修改升级成本。 </a:t>
            </a:r>
            <a:endParaRPr kumimoji="1" lang="zh-CN" altLang="en-US" sz="2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12108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1424305" y="541655"/>
            <a:ext cx="874395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运行时多态实现的基础：继承与派生，虚函数</a:t>
            </a:r>
            <a:endParaRPr kumimoji="1" lang="zh-CN" altLang="en-US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1640522" y="1410140"/>
            <a:ext cx="94694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 </a:t>
            </a:r>
            <a:r>
              <a:rPr kumimoji="1" lang="zh-CN" altLang="en-US" sz="2400" dirty="0">
                <a:solidFill>
                  <a:srgbClr val="FF0000"/>
                </a:solidFill>
              </a:rPr>
              <a:t>派生类对象的地址可以赋值给基类指针</a:t>
            </a:r>
            <a:endParaRPr kumimoji="1"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1640522" y="2155661"/>
            <a:ext cx="94694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通过基类指针调用基类和派生类中的</a:t>
            </a:r>
            <a:r>
              <a:rPr kumimoji="1" lang="zh-CN" altLang="en-US" sz="2400" dirty="0">
                <a:solidFill>
                  <a:srgbClr val="FF0000"/>
                </a:solidFill>
              </a:rPr>
              <a:t>同名虚函数</a:t>
            </a:r>
            <a:r>
              <a:rPr kumimoji="1" lang="zh-CN" altLang="en-US" sz="2400" dirty="0"/>
              <a:t>时：</a:t>
            </a:r>
            <a:endParaRPr kumimoji="1" lang="en-US" altLang="zh-CN" sz="2400" dirty="0"/>
          </a:p>
          <a:p>
            <a:r>
              <a:rPr kumimoji="1" lang="en-US" altLang="zh-CN" sz="2400" dirty="0"/>
              <a:t>	</a:t>
            </a:r>
            <a:endParaRPr kumimoji="1" lang="zh-CN" altLang="en-US" sz="2400" dirty="0"/>
          </a:p>
        </p:txBody>
      </p:sp>
      <p:sp>
        <p:nvSpPr>
          <p:cNvPr id="18" name="Text Box 12"/>
          <p:cNvSpPr txBox="1">
            <a:spLocks noChangeArrowheads="1"/>
          </p:cNvSpPr>
          <p:nvPr/>
        </p:nvSpPr>
        <p:spPr bwMode="auto">
          <a:xfrm>
            <a:off x="1686242" y="4008803"/>
            <a:ext cx="94694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rgbClr val="FF0000"/>
                </a:solidFill>
              </a:rPr>
              <a:t> 派生类对象的地址可以赋值给基类引用 </a:t>
            </a:r>
            <a:endParaRPr kumimoji="1"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9" name="Text Box 12"/>
          <p:cNvSpPr txBox="1">
            <a:spLocks noChangeArrowheads="1"/>
          </p:cNvSpPr>
          <p:nvPr/>
        </p:nvSpPr>
        <p:spPr bwMode="auto">
          <a:xfrm>
            <a:off x="1686242" y="4708157"/>
            <a:ext cx="94694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通过基类引用调用基类和派生类中的</a:t>
            </a:r>
            <a:r>
              <a:rPr kumimoji="1" lang="zh-CN" altLang="en-US" sz="2400" dirty="0">
                <a:solidFill>
                  <a:srgbClr val="FF0000"/>
                </a:solidFill>
              </a:rPr>
              <a:t>同名虚函数</a:t>
            </a:r>
            <a:r>
              <a:rPr kumimoji="1" lang="zh-CN" altLang="en-US" sz="2400" dirty="0"/>
              <a:t>时：</a:t>
            </a:r>
            <a:endParaRPr kumimoji="1" lang="en-US" altLang="zh-CN" sz="2400" dirty="0"/>
          </a:p>
          <a:p>
            <a:r>
              <a:rPr kumimoji="1" lang="en-US" altLang="zh-CN" sz="2400" dirty="0"/>
              <a:t>	</a:t>
            </a:r>
            <a:endParaRPr kumimoji="1"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1772285" y="2557780"/>
            <a:ext cx="7764145" cy="1276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（</a:t>
            </a:r>
            <a:r>
              <a:rPr lang="en-US" altLang="zh-CN" sz="2000"/>
              <a:t>1</a:t>
            </a:r>
            <a:r>
              <a:rPr lang="zh-CN" altLang="en-US" sz="2000"/>
              <a:t>）如果该指针指向的是一个基类对象，那么被调用的是基类的虚函数；</a:t>
            </a:r>
            <a:endParaRPr lang="zh-CN" altLang="en-US" sz="2000"/>
          </a:p>
          <a:p>
            <a:r>
              <a:rPr lang="zh-CN" altLang="en-US" sz="2000"/>
              <a:t>（</a:t>
            </a:r>
            <a:r>
              <a:rPr lang="en-US" altLang="zh-CN" sz="2000"/>
              <a:t>2</a:t>
            </a:r>
            <a:r>
              <a:rPr lang="zh-CN" altLang="en-US" sz="2000"/>
              <a:t>）如果该指针指向的是一个派生类对象，那么被调用的是派生类的虚函数；</a:t>
            </a:r>
            <a:endParaRPr lang="zh-CN" altLang="en-US" sz="200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685925" y="5266690"/>
            <a:ext cx="7764145" cy="1276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（</a:t>
            </a:r>
            <a:r>
              <a:rPr lang="en-US" altLang="zh-CN" sz="2000"/>
              <a:t>1</a:t>
            </a:r>
            <a:r>
              <a:rPr lang="zh-CN" altLang="en-US" sz="2000"/>
              <a:t>）如果该引用指向的是一个基类对象，那么被调用的是基类的虚函数；</a:t>
            </a:r>
            <a:endParaRPr lang="zh-CN" altLang="en-US" sz="2000"/>
          </a:p>
          <a:p>
            <a:r>
              <a:rPr lang="zh-CN" altLang="en-US" sz="2000"/>
              <a:t>（</a:t>
            </a:r>
            <a:r>
              <a:rPr lang="en-US" altLang="zh-CN" sz="2000"/>
              <a:t>2</a:t>
            </a:r>
            <a:r>
              <a:rPr lang="zh-CN" altLang="en-US" sz="2000"/>
              <a:t>）如果该引用指向的是一个派生类对象，那么被调用的是派生类的虚函数；</a:t>
            </a:r>
            <a:endParaRPr lang="zh-CN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Rot="1" noChangeArrowheads="1"/>
          </p:cNvSpPr>
          <p:nvPr/>
        </p:nvSpPr>
        <p:spPr>
          <a:xfrm>
            <a:off x="2135189" y="69851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8.2  </a:t>
            </a:r>
            <a:r>
              <a:rPr lang="zh-CN" alt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虚函数与多态</a:t>
            </a:r>
            <a:endParaRPr lang="zh-CN" altLang="en-US" sz="4000" b="1" dirty="0"/>
          </a:p>
        </p:txBody>
      </p:sp>
      <p:sp>
        <p:nvSpPr>
          <p:cNvPr id="7" name="Rectangle 21"/>
          <p:cNvSpPr>
            <a:spLocks noChangeArrowheads="1"/>
          </p:cNvSpPr>
          <p:nvPr/>
        </p:nvSpPr>
        <p:spPr bwMode="auto">
          <a:xfrm>
            <a:off x="1142048" y="860116"/>
            <a:ext cx="10272712" cy="25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3600" dirty="0">
                <a:solidFill>
                  <a:srgbClr val="006600"/>
                </a:solidFill>
                <a:ea typeface="隶书" panose="02010509060101010101" pitchFamily="49" charset="-122"/>
              </a:rPr>
              <a:t>虚函数的概念：</a:t>
            </a:r>
            <a:endParaRPr lang="zh-CN" altLang="en-US" sz="3600" dirty="0">
              <a:solidFill>
                <a:srgbClr val="006600"/>
              </a:solidFill>
              <a:ea typeface="隶书" panose="020105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虚函数是一种类成员函数，定义格式如下：</a:t>
            </a:r>
            <a:endParaRPr lang="zh-CN" altLang="en-US" sz="2400" dirty="0"/>
          </a:p>
          <a:p>
            <a:pPr>
              <a:spcBef>
                <a:spcPct val="25000"/>
              </a:spcBef>
            </a:pPr>
            <a:r>
              <a:rPr lang="en-US" altLang="zh-CN" sz="3600" dirty="0">
                <a:solidFill>
                  <a:srgbClr val="FF0000"/>
                </a:solidFill>
              </a:rPr>
              <a:t>virtual  </a:t>
            </a:r>
            <a:r>
              <a:rPr lang="zh-CN" altLang="en-US" sz="3600" dirty="0"/>
              <a:t>返回类型  函数名（参数表）</a:t>
            </a:r>
            <a:r>
              <a:rPr lang="en-US" altLang="zh-CN" sz="3600" dirty="0"/>
              <a:t>{</a:t>
            </a:r>
            <a:r>
              <a:rPr lang="en-US" altLang="zh-CN" sz="3600" dirty="0">
                <a:cs typeface="Arial" panose="020B0604020202020204" pitchFamily="34" charset="0"/>
              </a:rPr>
              <a:t>…</a:t>
            </a:r>
            <a:r>
              <a:rPr lang="en-US" altLang="zh-CN" sz="3600" dirty="0"/>
              <a:t>}</a:t>
            </a:r>
            <a:r>
              <a:rPr lang="zh-CN" altLang="en-US" sz="3600" dirty="0"/>
              <a:t>；</a:t>
            </a:r>
            <a:endParaRPr lang="zh-CN" altLang="en-US" sz="3600" dirty="0"/>
          </a:p>
          <a:p>
            <a:pPr>
              <a:spcBef>
                <a:spcPct val="25000"/>
              </a:spcBef>
            </a:pPr>
            <a:r>
              <a:rPr lang="zh-CN" altLang="en-US" sz="2400" dirty="0"/>
              <a:t>关键字</a:t>
            </a:r>
            <a:r>
              <a:rPr lang="en-US" altLang="zh-CN" sz="2400" dirty="0">
                <a:solidFill>
                  <a:srgbClr val="0000CC"/>
                </a:solidFill>
              </a:rPr>
              <a:t>virtual</a:t>
            </a:r>
            <a:r>
              <a:rPr lang="zh-CN" altLang="en-US" sz="2400" dirty="0"/>
              <a:t>指明该成员函数为虚函数。</a:t>
            </a:r>
            <a:r>
              <a:rPr lang="en-US" altLang="zh-CN" sz="2400" dirty="0">
                <a:solidFill>
                  <a:srgbClr val="0000CC"/>
                </a:solidFill>
              </a:rPr>
              <a:t>virtual</a:t>
            </a:r>
            <a:r>
              <a:rPr lang="zh-CN" altLang="en-US" sz="2400" dirty="0"/>
              <a:t>仅用于类定义中，如虚函数在类外定义，不可再加</a:t>
            </a:r>
            <a:r>
              <a:rPr lang="en-US" altLang="zh-CN" sz="2400" dirty="0">
                <a:solidFill>
                  <a:srgbClr val="0000CC"/>
                </a:solidFill>
              </a:rPr>
              <a:t>virtual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b="5335"/>
          <a:stretch>
            <a:fillRect/>
          </a:stretch>
        </p:blipFill>
        <p:spPr>
          <a:xfrm>
            <a:off x="3067080" y="3398940"/>
            <a:ext cx="2855565" cy="1551232"/>
          </a:xfrm>
          <a:prstGeom prst="rect">
            <a:avLst/>
          </a:prstGeom>
        </p:spPr>
      </p:pic>
      <p:sp>
        <p:nvSpPr>
          <p:cNvPr id="10" name="Rectangle 25"/>
          <p:cNvSpPr>
            <a:spLocks noChangeArrowheads="1"/>
          </p:cNvSpPr>
          <p:nvPr/>
        </p:nvSpPr>
        <p:spPr bwMode="auto">
          <a:xfrm>
            <a:off x="1142048" y="5060207"/>
            <a:ext cx="1088231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当一个类的某个成员函数被定义为虚函数，则由该类的</a:t>
            </a:r>
            <a:r>
              <a:rPr lang="zh-CN" altLang="en-US" sz="2400" dirty="0">
                <a:solidFill>
                  <a:srgbClr val="FF0000"/>
                </a:solidFill>
              </a:rPr>
              <a:t>所有派生类中该函数</a:t>
            </a:r>
            <a:r>
              <a:rPr lang="zh-CN" altLang="en-US" sz="2400" dirty="0"/>
              <a:t>始终</a:t>
            </a:r>
            <a:r>
              <a:rPr lang="zh-CN" altLang="en-US" sz="2400" dirty="0">
                <a:solidFill>
                  <a:srgbClr val="FF0000"/>
                </a:solidFill>
              </a:rPr>
              <a:t>保持虚函数的特征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静态成员函数和内联函数不能是虚函数。（</a:t>
            </a:r>
            <a:r>
              <a:rPr lang="zh-CN" altLang="en-US" sz="2400" dirty="0">
                <a:solidFill>
                  <a:srgbClr val="0066FF"/>
                </a:solidFill>
              </a:rPr>
              <a:t>为什么？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包含虚函数的类称为“</a:t>
            </a:r>
            <a:r>
              <a:rPr lang="zh-CN" altLang="en-US" sz="2400" b="1" dirty="0">
                <a:solidFill>
                  <a:srgbClr val="0066FF"/>
                </a:solidFill>
              </a:rPr>
              <a:t>多态类</a:t>
            </a:r>
            <a:r>
              <a:rPr lang="zh-CN" altLang="en-US" sz="2400" dirty="0"/>
              <a:t>”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12108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1424305" y="541509"/>
            <a:ext cx="74148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例：多态实现</a:t>
            </a:r>
            <a:endParaRPr kumimoji="1" lang="zh-CN" altLang="en-US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724400" y="701040"/>
            <a:ext cx="1898540" cy="114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"/>
          <a:srcRect r="1095"/>
          <a:stretch>
            <a:fillRect/>
          </a:stretch>
        </p:blipFill>
        <p:spPr>
          <a:xfrm>
            <a:off x="782781" y="1272540"/>
            <a:ext cx="10510059" cy="485762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3" name="矩形 12"/>
          <p:cNvSpPr/>
          <p:nvPr/>
        </p:nvSpPr>
        <p:spPr>
          <a:xfrm>
            <a:off x="10521350" y="5724341"/>
            <a:ext cx="771490" cy="365125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6780631" y="1524070"/>
            <a:ext cx="4512209" cy="1645850"/>
            <a:chOff x="154072" y="1903647"/>
            <a:chExt cx="8704052" cy="1065943"/>
          </a:xfrm>
        </p:grpSpPr>
        <p:sp>
          <p:nvSpPr>
            <p:cNvPr id="22" name="矩形: 圆顶角 27"/>
            <p:cNvSpPr/>
            <p:nvPr/>
          </p:nvSpPr>
          <p:spPr>
            <a:xfrm>
              <a:off x="154072" y="1903647"/>
              <a:ext cx="8704052" cy="380058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/>
                <a:t>注意</a:t>
              </a:r>
              <a:endParaRPr lang="zh-CN" altLang="en-US" sz="2000" dirty="0"/>
            </a:p>
          </p:txBody>
        </p:sp>
        <p:sp>
          <p:nvSpPr>
            <p:cNvPr id="23" name="矩形: 圆角 17"/>
            <p:cNvSpPr/>
            <p:nvPr/>
          </p:nvSpPr>
          <p:spPr>
            <a:xfrm>
              <a:off x="154072" y="2283705"/>
              <a:ext cx="8704052" cy="685885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9E9F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</a:rPr>
                <a:t>派生类定义与基类同名虚函数时，参数表和返回类型必须全部与基类中的虚函数一致。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12108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1424305" y="541509"/>
            <a:ext cx="74148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例：多态实现</a:t>
            </a:r>
            <a:endParaRPr kumimoji="1" lang="zh-CN" altLang="en-US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252" y="1444523"/>
            <a:ext cx="5740695" cy="396895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940" y="1310460"/>
            <a:ext cx="5386180" cy="3995682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724400" y="701040"/>
            <a:ext cx="1898540" cy="114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6892539" y="5126977"/>
            <a:ext cx="4512209" cy="1233151"/>
            <a:chOff x="154072" y="1903647"/>
            <a:chExt cx="8704052" cy="798656"/>
          </a:xfrm>
        </p:grpSpPr>
        <p:sp>
          <p:nvSpPr>
            <p:cNvPr id="12" name="矩形: 圆顶角 27"/>
            <p:cNvSpPr/>
            <p:nvPr/>
          </p:nvSpPr>
          <p:spPr>
            <a:xfrm>
              <a:off x="154072" y="1903647"/>
              <a:ext cx="8704052" cy="380058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/>
                <a:t>注意</a:t>
              </a:r>
              <a:endParaRPr lang="zh-CN" altLang="en-US" sz="2000" dirty="0"/>
            </a:p>
          </p:txBody>
        </p:sp>
        <p:sp>
          <p:nvSpPr>
            <p:cNvPr id="13" name="矩形: 圆角 17"/>
            <p:cNvSpPr/>
            <p:nvPr/>
          </p:nvSpPr>
          <p:spPr>
            <a:xfrm>
              <a:off x="154072" y="2283704"/>
              <a:ext cx="8704052" cy="418599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9E9F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r>
                <a:rPr kumimoji="1" lang="zh-CN" altLang="en-US" sz="1800" dirty="0">
                  <a:solidFill>
                    <a:schemeClr val="tx1"/>
                  </a:solidFill>
                </a:rPr>
                <a:t>析构函数可定义为虚函数，</a:t>
              </a:r>
              <a:r>
                <a:rPr kumimoji="1" lang="zh-CN" altLang="en-US" sz="1800" dirty="0">
                  <a:solidFill>
                    <a:srgbClr val="FF0000"/>
                  </a:solidFill>
                </a:rPr>
                <a:t>构造函数不能定义成虚函数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12108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787252" y="673705"/>
            <a:ext cx="74148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虚函数的访问权限</a:t>
            </a:r>
            <a:endParaRPr kumimoji="1" lang="zh-CN" altLang="en-US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724400" y="701040"/>
            <a:ext cx="1898540" cy="114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6870" y="1392412"/>
            <a:ext cx="6515277" cy="333507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684" y="4916928"/>
            <a:ext cx="7900640" cy="1550685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6830147" y="519229"/>
            <a:ext cx="5112353" cy="1125914"/>
            <a:chOff x="219974" y="2295724"/>
            <a:chExt cx="8704052" cy="658316"/>
          </a:xfrm>
        </p:grpSpPr>
        <p:sp>
          <p:nvSpPr>
            <p:cNvPr id="15" name="矩形: 圆顶角 9"/>
            <p:cNvSpPr/>
            <p:nvPr/>
          </p:nvSpPr>
          <p:spPr>
            <a:xfrm>
              <a:off x="219974" y="2295724"/>
              <a:ext cx="8704052" cy="326251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E0AB5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>
                  <a:solidFill>
                    <a:srgbClr val="FFFFFF"/>
                  </a:solidFill>
                  <a:latin typeface="MicrosoftYaHei"/>
                </a:rPr>
                <a:t>提示：该例说明了多态的动态联编特点</a:t>
              </a:r>
              <a:endParaRPr lang="zh-CN" altLang="en-US" sz="2000" dirty="0"/>
            </a:p>
          </p:txBody>
        </p:sp>
        <p:sp>
          <p:nvSpPr>
            <p:cNvPr id="16" name="矩形: 圆角 17"/>
            <p:cNvSpPr/>
            <p:nvPr/>
          </p:nvSpPr>
          <p:spPr>
            <a:xfrm>
              <a:off x="219974" y="2612833"/>
              <a:ext cx="8704052" cy="341207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F6E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>
                <a:buClr>
                  <a:srgbClr val="151DC1"/>
                </a:buClr>
              </a:pPr>
              <a:r>
                <a:rPr lang="zh-CN" altLang="en-US" sz="1600" dirty="0">
                  <a:solidFill>
                    <a:srgbClr val="000000"/>
                  </a:solidFill>
                  <a:latin typeface="MicrosoftYaHei"/>
                </a:rPr>
                <a:t>多态的实现在程序运行阶段，因此该例中编译阶段的语法检查与最终运行结果无关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7119620" y="6132195"/>
            <a:ext cx="31254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违反了语法规则依然能执行，为什么</a:t>
            </a:r>
            <a:r>
              <a:rPr lang="en-US" altLang="zh-CN">
                <a:solidFill>
                  <a:schemeClr val="accent1"/>
                </a:solidFill>
              </a:rPr>
              <a:t>?  </a:t>
            </a:r>
            <a:r>
              <a:rPr lang="zh-CN" altLang="en-US">
                <a:solidFill>
                  <a:srgbClr val="FF0000"/>
                </a:solidFill>
              </a:rPr>
              <a:t>运行时多态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1424305" y="541509"/>
            <a:ext cx="1037145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例：多态可以做什么</a:t>
            </a:r>
            <a:r>
              <a:rPr kumimoji="1" lang="en-US" altLang="zh-CN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---</a:t>
            </a:r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游戏角色控制   </a:t>
            </a:r>
            <a:r>
              <a:rPr kumimoji="1" lang="zh-CN" altLang="en-US" sz="20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郭炜 </a:t>
            </a:r>
            <a:r>
              <a:rPr kumimoji="1" lang="en-US" altLang="zh-CN" sz="20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6.2.1</a:t>
            </a:r>
            <a:r>
              <a:rPr kumimoji="1" lang="zh-CN" altLang="en-US" sz="20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</a:t>
            </a:r>
            <a:endParaRPr kumimoji="1" lang="zh-CN" altLang="en-US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b="2128"/>
          <a:stretch>
            <a:fillRect/>
          </a:stretch>
        </p:blipFill>
        <p:spPr>
          <a:xfrm>
            <a:off x="2331720" y="1255452"/>
            <a:ext cx="7750420" cy="5236788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9540240" y="1255453"/>
            <a:ext cx="541900" cy="1640148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697" y="1434997"/>
            <a:ext cx="10814606" cy="398800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593080" y="1453573"/>
            <a:ext cx="541900" cy="1640148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593080" y="1453573"/>
            <a:ext cx="541900" cy="1640148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255" y="971423"/>
            <a:ext cx="9525490" cy="4915153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9464039" y="971423"/>
            <a:ext cx="1394705" cy="1640148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4326255" y="4523740"/>
            <a:ext cx="246380" cy="2184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767" y="507913"/>
            <a:ext cx="10014465" cy="1701887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114167" y="509160"/>
            <a:ext cx="1608065" cy="1012344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722232" y="497451"/>
            <a:ext cx="762001" cy="1454225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96" y="1617253"/>
            <a:ext cx="10865408" cy="356253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671445" y="4533265"/>
            <a:ext cx="369570" cy="161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872" y="615805"/>
            <a:ext cx="10808255" cy="5626389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9326879" y="615936"/>
            <a:ext cx="2173247" cy="1502423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371" y="4836155"/>
            <a:ext cx="292115" cy="2032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9326879" y="615936"/>
            <a:ext cx="2173247" cy="1502423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622" y="880335"/>
            <a:ext cx="5535257" cy="54290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r="40213" b="11704"/>
          <a:stretch>
            <a:fillRect/>
          </a:stretch>
        </p:blipFill>
        <p:spPr>
          <a:xfrm>
            <a:off x="5897879" y="1904637"/>
            <a:ext cx="6159041" cy="441996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897879" y="766982"/>
            <a:ext cx="61590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/>
              <a:t>游戏里设置有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种怪物，</a:t>
            </a:r>
            <a:r>
              <a:rPr lang="en-US" altLang="zh-CN" sz="2400" b="1" dirty="0" err="1"/>
              <a:t>CDragon</a:t>
            </a:r>
            <a:r>
              <a:rPr lang="zh-CN" altLang="en-US" sz="2400" b="1" dirty="0"/>
              <a:t>类中就需要定义</a:t>
            </a:r>
            <a:r>
              <a:rPr lang="en-US" altLang="zh-CN" sz="2400" b="1" dirty="0"/>
              <a:t>n-1</a:t>
            </a:r>
            <a:r>
              <a:rPr lang="zh-CN" altLang="en-US" sz="2400" b="1" dirty="0"/>
              <a:t>个</a:t>
            </a:r>
            <a:r>
              <a:rPr lang="en-US" altLang="zh-CN" sz="2400" b="1" dirty="0"/>
              <a:t>Attack</a:t>
            </a:r>
            <a:r>
              <a:rPr lang="zh-CN" altLang="en-US" sz="2400" b="1" dirty="0"/>
              <a:t>函数和</a:t>
            </a:r>
            <a:r>
              <a:rPr lang="en-US" altLang="zh-CN" sz="2400" b="1" dirty="0"/>
              <a:t>n-1</a:t>
            </a:r>
            <a:r>
              <a:rPr lang="zh-CN" altLang="en-US" sz="2400" b="1" dirty="0"/>
              <a:t>个</a:t>
            </a:r>
            <a:r>
              <a:rPr lang="en-US" altLang="zh-CN" sz="2400" b="1" dirty="0" err="1"/>
              <a:t>FightBack</a:t>
            </a:r>
            <a:r>
              <a:rPr lang="zh-CN" altLang="en-US" sz="2400" b="1" dirty="0"/>
              <a:t>函数。其他怪物类的定义也如此。</a:t>
            </a:r>
            <a:endParaRPr lang="zh-CN" altLang="en-US" sz="2400" b="1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5510" y="5574656"/>
            <a:ext cx="590580" cy="349268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5619750" y="4751705"/>
            <a:ext cx="218440" cy="483870"/>
          </a:xfrm>
          <a:prstGeom prst="roundRect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9326879" y="615936"/>
            <a:ext cx="2173247" cy="1502423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8803" y="993650"/>
            <a:ext cx="9614394" cy="4870700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sp>
        <p:nvSpPr>
          <p:cNvPr id="8" name="矩形 7"/>
          <p:cNvSpPr/>
          <p:nvPr/>
        </p:nvSpPr>
        <p:spPr>
          <a:xfrm>
            <a:off x="9982200" y="912096"/>
            <a:ext cx="938153" cy="1935574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1843" y="951893"/>
            <a:ext cx="958510" cy="617827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093554" y="3113926"/>
            <a:ext cx="361799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如果游戏中原来有</a:t>
            </a:r>
            <a:r>
              <a:rPr lang="en-US" altLang="zh-CN" sz="2400" b="1" dirty="0"/>
              <a:t>100</a:t>
            </a:r>
            <a:r>
              <a:rPr lang="zh-CN" altLang="en-US" sz="2400" b="1" dirty="0"/>
              <a:t>个怪物角色，则需要新增加</a:t>
            </a:r>
            <a:r>
              <a:rPr lang="en-US" altLang="zh-CN" sz="2400" b="1" dirty="0"/>
              <a:t>200</a:t>
            </a:r>
            <a:r>
              <a:rPr lang="zh-CN" altLang="en-US" sz="2400" b="1" dirty="0"/>
              <a:t>个左右函数</a:t>
            </a:r>
            <a:endParaRPr lang="zh-CN" altLang="en-US" sz="2400" b="1" dirty="0"/>
          </a:p>
        </p:txBody>
      </p:sp>
      <p:sp>
        <p:nvSpPr>
          <p:cNvPr id="16" name="箭头: 右 15"/>
          <p:cNvSpPr/>
          <p:nvPr/>
        </p:nvSpPr>
        <p:spPr>
          <a:xfrm>
            <a:off x="6518366" y="3918857"/>
            <a:ext cx="558032" cy="3953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322" y="399894"/>
            <a:ext cx="10217675" cy="60582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933" y="320137"/>
            <a:ext cx="1976533" cy="181182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b="15623"/>
          <a:stretch>
            <a:fillRect/>
          </a:stretch>
        </p:blipFill>
        <p:spPr>
          <a:xfrm>
            <a:off x="444131" y="969916"/>
            <a:ext cx="6583910" cy="258644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675" y="968378"/>
            <a:ext cx="2042575" cy="13794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b="1722"/>
          <a:stretch>
            <a:fillRect/>
          </a:stretch>
        </p:blipFill>
        <p:spPr>
          <a:xfrm>
            <a:off x="7049189" y="832844"/>
            <a:ext cx="4561669" cy="393183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4"/>
          <a:srcRect t="50000" b="7987"/>
          <a:stretch>
            <a:fillRect/>
          </a:stretch>
        </p:blipFill>
        <p:spPr>
          <a:xfrm>
            <a:off x="5551769" y="4844639"/>
            <a:ext cx="6640231" cy="155010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4"/>
          <a:srcRect r="12977" b="58582"/>
          <a:stretch>
            <a:fillRect/>
          </a:stretch>
        </p:blipFill>
        <p:spPr>
          <a:xfrm>
            <a:off x="36724" y="5114534"/>
            <a:ext cx="5719642" cy="1512567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3744037" y="2788920"/>
            <a:ext cx="1367361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4189807" y="3509010"/>
            <a:ext cx="1367361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9950527" y="3920490"/>
            <a:ext cx="1367361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9550477" y="1165860"/>
            <a:ext cx="1367361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09391" y="3764856"/>
            <a:ext cx="61590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/>
              <a:t>游戏里设置有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种怪物，</a:t>
            </a:r>
            <a:r>
              <a:rPr lang="en-US" altLang="zh-CN" sz="2400" b="1" dirty="0" err="1"/>
              <a:t>CDragon</a:t>
            </a:r>
            <a:r>
              <a:rPr lang="zh-CN" altLang="en-US" sz="2400" b="1" dirty="0"/>
              <a:t>类中需定义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个</a:t>
            </a:r>
            <a:r>
              <a:rPr lang="en-US" altLang="zh-CN" sz="2400" b="1" dirty="0"/>
              <a:t>Attack</a:t>
            </a:r>
            <a:r>
              <a:rPr lang="zh-CN" altLang="en-US" sz="2400" b="1" dirty="0"/>
              <a:t>函数，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个</a:t>
            </a:r>
            <a:r>
              <a:rPr lang="en-US" altLang="zh-CN" sz="2400" b="1" dirty="0" err="1"/>
              <a:t>FightBack</a:t>
            </a:r>
            <a:r>
              <a:rPr lang="zh-CN" altLang="en-US" sz="2400" b="1" dirty="0"/>
              <a:t>函数。其他怪物类的定义也如此。</a:t>
            </a:r>
            <a:endParaRPr lang="zh-CN" altLang="en-US" sz="2400" b="1" dirty="0"/>
          </a:p>
        </p:txBody>
      </p:sp>
      <p:cxnSp>
        <p:nvCxnSpPr>
          <p:cNvPr id="2" name="直接连接符 1"/>
          <p:cNvCxnSpPr/>
          <p:nvPr>
            <p:custDataLst>
              <p:tags r:id="rId5"/>
            </p:custDataLst>
          </p:nvPr>
        </p:nvCxnSpPr>
        <p:spPr>
          <a:xfrm>
            <a:off x="9450782" y="2079625"/>
            <a:ext cx="487680" cy="127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1049000" y="1797685"/>
            <a:ext cx="927100" cy="119888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p>
            <a:r>
              <a:rPr lang="zh-CN" altLang="en-US"/>
              <a:t>被攻击的怪物反击本怪物</a:t>
            </a:r>
            <a:endParaRPr lang="zh-CN" altLang="en-US"/>
          </a:p>
        </p:txBody>
      </p:sp>
      <p:cxnSp>
        <p:nvCxnSpPr>
          <p:cNvPr id="8" name="直接箭头连接符 7"/>
          <p:cNvCxnSpPr>
            <a:stCxn id="6" idx="1"/>
          </p:cNvCxnSpPr>
          <p:nvPr/>
        </p:nvCxnSpPr>
        <p:spPr>
          <a:xfrm flipH="1" flipV="1">
            <a:off x="9747885" y="2149475"/>
            <a:ext cx="1301115" cy="24765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15115"/>
          <a:stretch>
            <a:fillRect/>
          </a:stretch>
        </p:blipFill>
        <p:spPr>
          <a:xfrm>
            <a:off x="853158" y="1280160"/>
            <a:ext cx="10973364" cy="522874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3235" y="457200"/>
            <a:ext cx="5154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</a:rPr>
              <a:t>多态实现过程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060" y="1911330"/>
            <a:ext cx="2624480" cy="205092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3746" y="6273159"/>
            <a:ext cx="323867" cy="209561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521065" y="3710305"/>
            <a:ext cx="2668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008000"/>
                </a:solidFill>
              </a:rPr>
              <a:t>例：</a:t>
            </a:r>
            <a:r>
              <a:rPr lang="en-US" altLang="zh-CN" b="1">
                <a:solidFill>
                  <a:srgbClr val="008000"/>
                </a:solidFill>
              </a:rPr>
              <a:t>virtualFunc1.sln</a:t>
            </a:r>
            <a:endParaRPr lang="zh-CN" altLang="en-US" b="1">
              <a:solidFill>
                <a:srgbClr val="008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9875" y="5046980"/>
            <a:ext cx="5864225" cy="15881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en-US" altLang="zh-CN" sz="2000" b="1"/>
              <a:t>CWolf::Hurted(),CWolf::FightBack()</a:t>
            </a:r>
            <a:endParaRPr lang="en-US" altLang="zh-CN" sz="2000" b="1"/>
          </a:p>
          <a:p>
            <a:r>
              <a:rPr lang="en-US" altLang="zh-CN" sz="2000" b="1">
                <a:sym typeface="+mn-ea"/>
              </a:rPr>
              <a:t>CGhost::Hurted(),C</a:t>
            </a:r>
            <a:r>
              <a:rPr lang="en-US" altLang="zh-CN" sz="2000" b="1">
                <a:sym typeface="+mn-ea"/>
              </a:rPr>
              <a:t>Ghost</a:t>
            </a:r>
            <a:r>
              <a:rPr lang="en-US" altLang="zh-CN" sz="2000" b="1">
                <a:sym typeface="+mn-ea"/>
              </a:rPr>
              <a:t>::FightBack()</a:t>
            </a:r>
            <a:endParaRPr lang="en-US" altLang="zh-CN" sz="2000" b="1"/>
          </a:p>
          <a:p>
            <a:r>
              <a:rPr lang="en-US" altLang="zh-CN" sz="2000" b="1">
                <a:sym typeface="+mn-ea"/>
              </a:rPr>
              <a:t>CThunderBird::Hurted(),C</a:t>
            </a:r>
            <a:r>
              <a:rPr lang="en-US" altLang="zh-CN" sz="2000" b="1">
                <a:sym typeface="+mn-ea"/>
              </a:rPr>
              <a:t>ThunderBird</a:t>
            </a:r>
            <a:r>
              <a:rPr lang="en-US" altLang="zh-CN" sz="2000" b="1">
                <a:sym typeface="+mn-ea"/>
              </a:rPr>
              <a:t>::FightBack()</a:t>
            </a:r>
            <a:endParaRPr lang="en-US" altLang="zh-CN" sz="2000" b="1"/>
          </a:p>
          <a:p>
            <a:endParaRPr lang="en-US" altLang="zh-CN" sz="2000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1424305" y="541509"/>
            <a:ext cx="1037145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例：多态可以做什么</a:t>
            </a:r>
            <a:r>
              <a:rPr kumimoji="1" lang="en-US" altLang="zh-CN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---</a:t>
            </a:r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任意几何图形求面积并排序</a:t>
            </a:r>
            <a:endParaRPr kumimoji="1" lang="zh-CN" altLang="en-US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5365" y="1172004"/>
            <a:ext cx="3464002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编写一个几何形体处理程序。要求：输入几何形体的个数以及每个几何形体的形状和参数，按面积从小到大输出每个几何形体的种类及面积。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8488" y="1234440"/>
            <a:ext cx="7299026" cy="368573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252" y="4789171"/>
            <a:ext cx="7445383" cy="19773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185" y="3897630"/>
            <a:ext cx="1420802" cy="2909986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006840" y="1049774"/>
            <a:ext cx="224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8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郭炜 </a:t>
            </a:r>
            <a:r>
              <a:rPr kumimoji="1" lang="en-US" altLang="zh-CN" sz="18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6.2.2</a:t>
            </a:r>
            <a:r>
              <a:rPr kumimoji="1" lang="zh-CN" altLang="en-US" sz="18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b="779"/>
          <a:stretch>
            <a:fillRect/>
          </a:stretch>
        </p:blipFill>
        <p:spPr>
          <a:xfrm>
            <a:off x="873128" y="363031"/>
            <a:ext cx="4124174" cy="589792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581372" y="2801679"/>
            <a:ext cx="1514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8000"/>
                </a:solidFill>
              </a:rPr>
              <a:t>//</a:t>
            </a:r>
            <a:r>
              <a:rPr lang="zh-CN" altLang="en-US" b="1" dirty="0">
                <a:solidFill>
                  <a:srgbClr val="008000"/>
                </a:solidFill>
              </a:rPr>
              <a:t>纯虚函数</a:t>
            </a:r>
            <a:endParaRPr lang="zh-CN" altLang="en-US" b="1" dirty="0">
              <a:solidFill>
                <a:srgbClr val="008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786" y="363031"/>
            <a:ext cx="3977946" cy="461300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4345" y="353562"/>
            <a:ext cx="5482856" cy="601024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321" y="706447"/>
            <a:ext cx="5366912" cy="540216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06447"/>
            <a:ext cx="5544489" cy="459919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434316" y="706447"/>
            <a:ext cx="2402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8000"/>
                </a:solidFill>
              </a:rPr>
              <a:t>//</a:t>
            </a:r>
            <a:r>
              <a:rPr lang="zh-CN" altLang="en-US" b="1" dirty="0">
                <a:solidFill>
                  <a:srgbClr val="008000"/>
                </a:solidFill>
              </a:rPr>
              <a:t>全局基类指针数组</a:t>
            </a:r>
            <a:endParaRPr lang="zh-CN" altLang="en-US" b="1" dirty="0">
              <a:solidFill>
                <a:srgbClr val="008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34316" y="2636714"/>
            <a:ext cx="2402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8000"/>
                </a:solidFill>
              </a:rPr>
              <a:t>//</a:t>
            </a:r>
            <a:r>
              <a:rPr lang="zh-CN" altLang="en-US" b="1" dirty="0">
                <a:solidFill>
                  <a:srgbClr val="008000"/>
                </a:solidFill>
              </a:rPr>
              <a:t>强制类型转换</a:t>
            </a:r>
            <a:endParaRPr lang="zh-CN" altLang="en-US" b="1" dirty="0">
              <a:solidFill>
                <a:srgbClr val="008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845982" y="1406551"/>
            <a:ext cx="310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8000"/>
                </a:solidFill>
              </a:rPr>
              <a:t>//void </a:t>
            </a:r>
            <a:r>
              <a:rPr lang="zh-CN" altLang="en-US" b="1" dirty="0">
                <a:solidFill>
                  <a:srgbClr val="008000"/>
                </a:solidFill>
              </a:rPr>
              <a:t>指针可指向任意类型</a:t>
            </a:r>
            <a:endParaRPr lang="zh-CN" altLang="en-US" b="1" dirty="0">
              <a:solidFill>
                <a:srgbClr val="008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041218" y="4607281"/>
            <a:ext cx="2994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8000"/>
                </a:solidFill>
              </a:rPr>
              <a:t>//</a:t>
            </a:r>
            <a:r>
              <a:rPr lang="zh-CN" altLang="en-US" b="1" dirty="0">
                <a:solidFill>
                  <a:srgbClr val="008000"/>
                </a:solidFill>
              </a:rPr>
              <a:t>基类指针指向派生类对象</a:t>
            </a:r>
            <a:endParaRPr lang="zh-CN" altLang="en-US" b="1" dirty="0">
              <a:solidFill>
                <a:srgbClr val="008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10020" y="3276233"/>
            <a:ext cx="2402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8000"/>
                </a:solidFill>
              </a:rPr>
              <a:t>//</a:t>
            </a:r>
            <a:r>
              <a:rPr lang="zh-CN" altLang="en-US" b="1" dirty="0">
                <a:solidFill>
                  <a:srgbClr val="008000"/>
                </a:solidFill>
              </a:rPr>
              <a:t>多态</a:t>
            </a:r>
            <a:endParaRPr lang="zh-CN" altLang="en-US" b="1" dirty="0">
              <a:solidFill>
                <a:srgbClr val="008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10020" y="3587548"/>
            <a:ext cx="2402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8000"/>
                </a:solidFill>
              </a:rPr>
              <a:t>//</a:t>
            </a:r>
            <a:r>
              <a:rPr lang="zh-CN" altLang="en-US" b="1" dirty="0">
                <a:solidFill>
                  <a:srgbClr val="008000"/>
                </a:solidFill>
              </a:rPr>
              <a:t>多态</a:t>
            </a:r>
            <a:endParaRPr lang="zh-CN" altLang="en-US" b="1" dirty="0">
              <a:solidFill>
                <a:srgbClr val="008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789042" y="3956880"/>
            <a:ext cx="2402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8000"/>
                </a:solidFill>
              </a:rPr>
              <a:t>//</a:t>
            </a:r>
            <a:r>
              <a:rPr lang="zh-CN" altLang="en-US" b="1" dirty="0">
                <a:solidFill>
                  <a:srgbClr val="008000"/>
                </a:solidFill>
              </a:rPr>
              <a:t>创建派生类对象</a:t>
            </a:r>
            <a:endParaRPr lang="zh-CN" altLang="en-US" b="1" dirty="0">
              <a:solidFill>
                <a:srgbClr val="008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437" y="340242"/>
            <a:ext cx="5855217" cy="567778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431915" y="4027170"/>
            <a:ext cx="5461635" cy="16433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zh-CN" altLang="en-US" b="1" dirty="0" err="1">
                <a:sym typeface="+mn-ea"/>
              </a:rPr>
              <a:t>说明：</a:t>
            </a:r>
            <a:endParaRPr lang="zh-CN" altLang="en-US" b="1" dirty="0" err="1">
              <a:sym typeface="+mn-ea"/>
            </a:endParaRPr>
          </a:p>
          <a:p>
            <a:r>
              <a:rPr lang="en-US" altLang="zh-CN" b="1" dirty="0" err="1">
                <a:sym typeface="+mn-ea"/>
              </a:rPr>
              <a:t>1</a:t>
            </a:r>
            <a:r>
              <a:rPr lang="zh-CN" altLang="en-US" b="1" dirty="0" err="1">
                <a:sym typeface="+mn-ea"/>
              </a:rPr>
              <a:t>，</a:t>
            </a:r>
            <a:r>
              <a:rPr lang="en-US" altLang="zh-CN" b="1" dirty="0" err="1">
                <a:solidFill>
                  <a:schemeClr val="accent1"/>
                </a:solidFill>
                <a:sym typeface="+mn-ea"/>
              </a:rPr>
              <a:t>qsort</a:t>
            </a:r>
            <a:r>
              <a:rPr lang="zh-CN" altLang="en-US" b="1" dirty="0">
                <a:sym typeface="+mn-ea"/>
              </a:rPr>
              <a:t>是一个标准库函数，用于对数组快速进行排序。</a:t>
            </a:r>
            <a:endParaRPr lang="zh-CN" altLang="en-US" b="1" dirty="0">
              <a:sym typeface="+mn-ea"/>
            </a:endParaRPr>
          </a:p>
          <a:p>
            <a:pPr indent="457200"/>
            <a:r>
              <a:rPr lang="zh-CN" altLang="en-US" b="1" dirty="0">
                <a:sym typeface="+mn-ea"/>
              </a:rPr>
              <a:t>该函数定义原型参见</a:t>
            </a:r>
            <a:r>
              <a:rPr lang="en-US" altLang="zh-CN" b="1" dirty="0">
                <a:sym typeface="+mn-ea"/>
              </a:rPr>
              <a:t>#include &lt;</a:t>
            </a:r>
            <a:r>
              <a:rPr lang="en-US" altLang="zh-CN" b="1" dirty="0" err="1">
                <a:solidFill>
                  <a:schemeClr val="accent1"/>
                </a:solidFill>
                <a:sym typeface="+mn-ea"/>
              </a:rPr>
              <a:t>stdlib.h</a:t>
            </a:r>
            <a:r>
              <a:rPr lang="en-US" altLang="zh-CN" b="1" dirty="0">
                <a:sym typeface="+mn-ea"/>
              </a:rPr>
              <a:t>&gt;</a:t>
            </a:r>
            <a:endParaRPr lang="en-US" altLang="zh-CN" b="1" dirty="0"/>
          </a:p>
          <a:p>
            <a:r>
              <a:rPr lang="en-US" altLang="zh-CN" b="1" dirty="0">
                <a:sym typeface="+mn-ea"/>
              </a:rPr>
              <a:t>2</a:t>
            </a:r>
            <a:r>
              <a:rPr lang="zh-CN" altLang="en-US" b="1" dirty="0">
                <a:sym typeface="+mn-ea"/>
              </a:rPr>
              <a:t>，</a:t>
            </a:r>
            <a:r>
              <a:rPr lang="en-US" altLang="zh-CN" b="1" dirty="0">
                <a:sym typeface="+mn-ea"/>
              </a:rPr>
              <a:t>pShapes[i]-&gt;PrintInfo(); </a:t>
            </a:r>
            <a:r>
              <a:rPr lang="en-US" altLang="zh-CN" b="1" dirty="0">
                <a:solidFill>
                  <a:srgbClr val="008000"/>
                </a:solidFill>
                <a:sym typeface="+mn-ea"/>
              </a:rPr>
              <a:t> //</a:t>
            </a:r>
            <a:r>
              <a:rPr lang="zh-CN" altLang="en-US" b="1" dirty="0">
                <a:solidFill>
                  <a:srgbClr val="008000"/>
                </a:solidFill>
                <a:sym typeface="+mn-ea"/>
              </a:rPr>
              <a:t>也是多态</a:t>
            </a:r>
            <a:endParaRPr lang="zh-CN" altLang="en-US" b="1" dirty="0">
              <a:solidFill>
                <a:srgbClr val="008000"/>
              </a:solidFill>
            </a:endParaRPr>
          </a:p>
          <a:p>
            <a:endParaRPr lang="zh-CN" altLang="en-US" b="1" dirty="0">
              <a:solidFill>
                <a:srgbClr val="008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12108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1633186" y="961397"/>
            <a:ext cx="74148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联编</a:t>
            </a:r>
            <a:endParaRPr kumimoji="1" lang="zh-CN" altLang="en-US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1785586" y="3651025"/>
            <a:ext cx="94694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000000"/>
                </a:solidFill>
                <a:effectLst/>
                <a:latin typeface="PingFang SC"/>
              </a:rPr>
              <a:t>在</a:t>
            </a:r>
            <a:r>
              <a:rPr lang="zh-CN" altLang="en-US" sz="2400" b="0" i="0" dirty="0">
                <a:solidFill>
                  <a:srgbClr val="FF0000"/>
                </a:solidFill>
                <a:effectLst/>
                <a:latin typeface="PingFang SC"/>
              </a:rPr>
              <a:t>编译阶段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PingFang SC"/>
              </a:rPr>
              <a:t>就将</a:t>
            </a:r>
            <a:r>
              <a:rPr lang="zh-CN" altLang="en-US" sz="2400" b="0" i="0" dirty="0">
                <a:solidFill>
                  <a:srgbClr val="0066FF"/>
                </a:solidFill>
                <a:effectLst/>
                <a:latin typeface="PingFang SC"/>
              </a:rPr>
              <a:t>函数实现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PingFang SC"/>
              </a:rPr>
              <a:t>和</a:t>
            </a:r>
            <a:r>
              <a:rPr lang="zh-CN" altLang="en-US" sz="2400" b="0" i="0" dirty="0">
                <a:solidFill>
                  <a:srgbClr val="0066FF"/>
                </a:solidFill>
                <a:effectLst/>
                <a:latin typeface="PingFang SC"/>
              </a:rPr>
              <a:t>函数调用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PingFang SC"/>
              </a:rPr>
              <a:t>关联起来，也叫</a:t>
            </a:r>
            <a:r>
              <a:rPr lang="zh-CN" altLang="en-US" sz="2400" b="0" i="0" dirty="0">
                <a:solidFill>
                  <a:srgbClr val="0066FF"/>
                </a:solidFill>
                <a:effectLst/>
                <a:latin typeface="PingFang SC"/>
              </a:rPr>
              <a:t>早绑定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  <a:r>
              <a:rPr lang="zh-CN" altLang="en-US" sz="2400" b="0" i="0" dirty="0">
                <a:solidFill>
                  <a:srgbClr val="0066FF"/>
                </a:solidFill>
                <a:effectLst/>
                <a:latin typeface="PingFang SC"/>
              </a:rPr>
              <a:t>对函数的选择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PingFang SC"/>
              </a:rPr>
              <a:t>是</a:t>
            </a:r>
            <a:r>
              <a:rPr lang="zh-CN" altLang="en-US" sz="2400" b="0" i="0" dirty="0">
                <a:solidFill>
                  <a:srgbClr val="0066FF"/>
                </a:solidFill>
                <a:effectLst/>
                <a:latin typeface="PingFang SC"/>
              </a:rPr>
              <a:t>基于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PingFang SC"/>
              </a:rPr>
              <a:t>指向对象的</a:t>
            </a:r>
            <a:r>
              <a:rPr lang="zh-CN" altLang="en-US" sz="2400" b="0" i="0" dirty="0">
                <a:solidFill>
                  <a:srgbClr val="0066FF"/>
                </a:solidFill>
                <a:effectLst/>
                <a:latin typeface="PingFang SC"/>
              </a:rPr>
              <a:t>指针（或者引用）的类型</a:t>
            </a:r>
            <a:endParaRPr kumimoji="1" lang="zh-CN" altLang="en-US" sz="2400" dirty="0">
              <a:solidFill>
                <a:srgbClr val="0066FF"/>
              </a:solidFill>
            </a:endParaRPr>
          </a:p>
        </p:txBody>
      </p:sp>
      <p:sp>
        <p:nvSpPr>
          <p:cNvPr id="12" name="Rectangle 2"/>
          <p:cNvSpPr txBox="1">
            <a:spLocks noRot="1" noChangeArrowheads="1"/>
          </p:cNvSpPr>
          <p:nvPr/>
        </p:nvSpPr>
        <p:spPr>
          <a:xfrm>
            <a:off x="2135189" y="69851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8.3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多态与动态联编</a:t>
            </a:r>
            <a:endParaRPr lang="zh-CN" altLang="en-US" sz="4000" b="1" dirty="0"/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1633185" y="3082426"/>
            <a:ext cx="74148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静态联编</a:t>
            </a:r>
            <a:endParaRPr kumimoji="1" lang="zh-CN" altLang="en-US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1785585" y="1666654"/>
            <a:ext cx="9772005" cy="1938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PingFang SC"/>
              </a:rPr>
              <a:t>联编是将计算机程序中各个模块（函数）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PingFang SC"/>
              </a:rPr>
              <a:t>合并在一起生成可执行代码的过程。联编时对每个模块或者函数调用分配内存地址，并且对外部访问也分配正确的内存地址。</a:t>
            </a:r>
            <a:endParaRPr lang="en-US" altLang="zh-CN" sz="2400" b="0" i="0" dirty="0">
              <a:solidFill>
                <a:srgbClr val="000000"/>
              </a:solidFill>
              <a:effectLst/>
              <a:latin typeface="PingFang SC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PingFang SC"/>
              </a:rPr>
              <a:t>按照进行联编的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PingFang SC"/>
              </a:rPr>
              <a:t>阶段不同可分为两种联编方法：</a:t>
            </a:r>
            <a:r>
              <a:rPr lang="zh-CN" altLang="en-US" sz="2400" b="1" i="0" dirty="0">
                <a:solidFill>
                  <a:srgbClr val="FF0000"/>
                </a:solidFill>
                <a:effectLst/>
                <a:latin typeface="PingFang SC"/>
              </a:rPr>
              <a:t>静态联编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PingFang SC"/>
              </a:rPr>
              <a:t>和</a:t>
            </a:r>
            <a:r>
              <a:rPr lang="zh-CN" altLang="en-US" sz="2400" b="1" i="0" dirty="0">
                <a:solidFill>
                  <a:srgbClr val="FF0000"/>
                </a:solidFill>
                <a:effectLst/>
                <a:latin typeface="PingFang SC"/>
              </a:rPr>
              <a:t>动态联编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PingFang SC"/>
              </a:rPr>
              <a:t>。</a:t>
            </a:r>
            <a:endParaRPr lang="zh-CN" altLang="en-US" sz="2400" b="0" i="0" dirty="0">
              <a:solidFill>
                <a:srgbClr val="000000"/>
              </a:solidFill>
              <a:effectLst/>
              <a:latin typeface="PingFang SC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zh-CN" altLang="en-US" sz="2400" dirty="0"/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1633185" y="4313532"/>
            <a:ext cx="74148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动态联编</a:t>
            </a:r>
            <a:endParaRPr kumimoji="1" lang="zh-CN" altLang="en-US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1785620" y="4836160"/>
            <a:ext cx="9896475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000000"/>
                </a:solidFill>
                <a:effectLst/>
                <a:latin typeface="PingFang SC"/>
              </a:rPr>
              <a:t>在</a:t>
            </a:r>
            <a:r>
              <a:rPr lang="zh-CN" altLang="en-US" sz="2400" b="0" i="0" dirty="0">
                <a:solidFill>
                  <a:srgbClr val="FF0000"/>
                </a:solidFill>
                <a:effectLst/>
                <a:latin typeface="PingFang SC"/>
              </a:rPr>
              <a:t>程序执行</a:t>
            </a:r>
            <a:r>
              <a:rPr lang="zh-CN" altLang="en-US" sz="2400" b="0" i="0" dirty="0">
                <a:solidFill>
                  <a:srgbClr val="0066FF"/>
                </a:solidFill>
                <a:effectLst/>
                <a:latin typeface="PingFang SC"/>
              </a:rPr>
              <a:t>时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PingFang SC"/>
              </a:rPr>
              <a:t>才将函数实现和函数调用相关联，因此也叫</a:t>
            </a:r>
            <a:r>
              <a:rPr lang="zh-CN" altLang="en-US" sz="2400" b="0" i="0" dirty="0">
                <a:solidFill>
                  <a:srgbClr val="0066FF"/>
                </a:solidFill>
                <a:effectLst/>
                <a:latin typeface="PingFang SC"/>
              </a:rPr>
              <a:t>运行时</a:t>
            </a:r>
            <a:r>
              <a:rPr lang="zh-CN" altLang="en-US" sz="2400" dirty="0">
                <a:solidFill>
                  <a:srgbClr val="0066FF"/>
                </a:solidFill>
                <a:latin typeface="PingFang SC"/>
              </a:rPr>
              <a:t>绑定（晚绑定）</a:t>
            </a:r>
            <a:endParaRPr lang="en-US" altLang="zh-CN" sz="2400" dirty="0">
              <a:solidFill>
                <a:srgbClr val="000000"/>
              </a:solidFill>
              <a:latin typeface="PingFang SC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FF0000"/>
                </a:solidFill>
                <a:effectLst/>
                <a:latin typeface="PingFang SC"/>
              </a:rPr>
              <a:t>动态联编对函数的选择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PingFang SC"/>
                <a:sym typeface="+mn-ea"/>
              </a:rPr>
              <a:t>是基于对象类型，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PingFang SC"/>
              </a:rPr>
              <a:t>不是基于指针或者引用。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PingFang SC"/>
              </a:rPr>
              <a:t>C++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PingFang SC"/>
              </a:rPr>
              <a:t>中一般情况下是静态联编，涉及到多态和虚拟函数就是动态联编。</a:t>
            </a:r>
            <a:endParaRPr kumimoji="1" lang="zh-CN" alt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301348" y="6440978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1328386" y="331709"/>
            <a:ext cx="74148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静态类型</a:t>
            </a:r>
            <a:endParaRPr kumimoji="1" lang="zh-CN" altLang="en-US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1538533" y="3791351"/>
            <a:ext cx="9469438" cy="230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MicrosoftYaHei"/>
              </a:rPr>
              <a:t>动态类型</a:t>
            </a:r>
            <a:r>
              <a:rPr lang="zh-CN" altLang="en-US" sz="2400" dirty="0">
                <a:solidFill>
                  <a:srgbClr val="000000"/>
                </a:solidFill>
                <a:latin typeface="MicrosoftYaHei"/>
              </a:rPr>
              <a:t>指指针或引用所绑定的对象的类型，仅在运行时可知，例如：</a:t>
            </a:r>
            <a:endParaRPr lang="zh-CN" altLang="en-US" sz="2400" dirty="0">
              <a:solidFill>
                <a:srgbClr val="000000"/>
              </a:solidFill>
              <a:latin typeface="MicrosoftYaHei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class 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Derived : </a:t>
            </a:r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public 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Base { };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Derived d;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Base *p = &amp;d; </a:t>
            </a:r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指针</a:t>
            </a:r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</a:t>
            </a:r>
            <a:r>
              <a:rPr lang="zh-CN" altLang="en-US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的动态类型为</a:t>
            </a:r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Derived</a:t>
            </a:r>
            <a:endParaRPr lang="zh-CN" altLang="en-US" sz="24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1289882" y="3251627"/>
            <a:ext cx="74148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动态类型</a:t>
            </a:r>
            <a:endParaRPr kumimoji="1" lang="zh-CN" altLang="en-US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1509661" y="1010946"/>
            <a:ext cx="9772005" cy="2861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MicrosoftYaHei"/>
              </a:rPr>
              <a:t>静态类型</a:t>
            </a:r>
            <a:r>
              <a:rPr lang="zh-CN" altLang="en-US" sz="2400" dirty="0">
                <a:solidFill>
                  <a:srgbClr val="000000"/>
                </a:solidFill>
                <a:latin typeface="MicrosoftYaHei"/>
              </a:rPr>
              <a:t>指对象声明时的类型或表达式生成时的类型，在编译时就已经确定，例如：</a:t>
            </a:r>
            <a:endParaRPr lang="zh-CN" altLang="en-US" sz="2400" dirty="0">
              <a:solidFill>
                <a:srgbClr val="000000"/>
              </a:solidFill>
              <a:latin typeface="MicrosoftYaHei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class 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Base { }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Base *p; </a:t>
            </a:r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指针</a:t>
            </a:r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</a:t>
            </a:r>
            <a:r>
              <a:rPr lang="zh-CN" altLang="en-US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的静态类型为</a:t>
            </a:r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Base</a:t>
            </a:r>
            <a:endParaRPr lang="en-US" altLang="zh-CN" sz="2400" dirty="0">
              <a:solidFill>
                <a:srgbClr val="008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008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12108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1411256" y="618199"/>
            <a:ext cx="74148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例：验证多态实现中的动态联编</a:t>
            </a:r>
            <a:endParaRPr kumimoji="1" lang="zh-CN" altLang="en-US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6870" y="1392412"/>
            <a:ext cx="6515277" cy="333507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684" y="4916928"/>
            <a:ext cx="7900640" cy="1550685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7943005" y="492403"/>
            <a:ext cx="3722300" cy="3974480"/>
            <a:chOff x="-18924" y="1270352"/>
            <a:chExt cx="8743251" cy="1819603"/>
          </a:xfrm>
        </p:grpSpPr>
        <p:sp>
          <p:nvSpPr>
            <p:cNvPr id="10" name="矩形: 圆顶角 27"/>
            <p:cNvSpPr/>
            <p:nvPr/>
          </p:nvSpPr>
          <p:spPr>
            <a:xfrm>
              <a:off x="-18924" y="1270352"/>
              <a:ext cx="8743249" cy="325315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400" dirty="0"/>
                <a:t>注意</a:t>
              </a:r>
              <a:endParaRPr lang="zh-CN" altLang="en-US" sz="2400" dirty="0"/>
            </a:p>
          </p:txBody>
        </p:sp>
        <p:sp>
          <p:nvSpPr>
            <p:cNvPr id="11" name="矩形: 圆角 17"/>
            <p:cNvSpPr/>
            <p:nvPr/>
          </p:nvSpPr>
          <p:spPr>
            <a:xfrm>
              <a:off x="20276" y="1595667"/>
              <a:ext cx="8704051" cy="1494288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 marL="342900" indent="-342900" algn="just">
                <a:buClr>
                  <a:srgbClr val="0000FF"/>
                </a:buClr>
                <a:buFont typeface="Wingdings" panose="05000000000000000000" pitchFamily="2" charset="2"/>
                <a:buChar char="l"/>
              </a:pPr>
              <a:r>
                <a:rPr lang="zh-CN" altLang="en-US" dirty="0">
                  <a:solidFill>
                    <a:srgbClr val="000000"/>
                  </a:solidFill>
                  <a:latin typeface="MicrosoftYaHei"/>
                </a:rPr>
                <a:t>内联成员、静态成员和模板成员均不能声明为虚函数，因为这些成员的行为必须在编译时确定，不能实现动态联编。</a:t>
              </a:r>
              <a:endParaRPr lang="en-US" altLang="zh-CN" dirty="0">
                <a:solidFill>
                  <a:srgbClr val="000000"/>
                </a:solidFill>
                <a:latin typeface="MicrosoftYaHei"/>
              </a:endParaRPr>
            </a:p>
            <a:p>
              <a:pPr marL="342900" indent="-342900" algn="just">
                <a:buClr>
                  <a:srgbClr val="0000FF"/>
                </a:buClr>
                <a:buFont typeface="Wingdings" panose="05000000000000000000" pitchFamily="2" charset="2"/>
                <a:buChar char="l"/>
              </a:pPr>
              <a:r>
                <a:rPr lang="zh-CN" altLang="en-US" dirty="0">
                  <a:solidFill>
                    <a:srgbClr val="000000"/>
                  </a:solidFill>
                  <a:latin typeface="MicrosoftYaHei"/>
                </a:rPr>
                <a:t>动态绑定的实现是有</a:t>
              </a:r>
              <a:r>
                <a:rPr lang="zh-CN" altLang="en-US" dirty="0">
                  <a:solidFill>
                    <a:srgbClr val="FF0000"/>
                  </a:solidFill>
                  <a:latin typeface="MicrosoftYaHei"/>
                </a:rPr>
                <a:t>代价</a:t>
              </a:r>
              <a:r>
                <a:rPr lang="zh-CN" altLang="en-US" dirty="0">
                  <a:solidFill>
                    <a:srgbClr val="000000"/>
                  </a:solidFill>
                  <a:latin typeface="MicrosoftYaHei"/>
                </a:rPr>
                <a:t>的。每个派生类需要额外的空间保存虚函数的入口地址，函数的调用机制也是间接实现的，动态绑定的实现是以时间和空间为代价的，因此大量的虚函数会导致程序性能的下降。</a:t>
              </a:r>
              <a:endParaRPr lang="en-US" altLang="zh-CN" sz="200" dirty="0">
                <a:solidFill>
                  <a:srgbClr val="000000"/>
                </a:solidFill>
                <a:latin typeface="LMMono8-Regular-Identity-H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448" y="1102484"/>
            <a:ext cx="6634419" cy="4373283"/>
          </a:xfrm>
          <a:prstGeom prst="rect">
            <a:avLst/>
          </a:prstGeom>
        </p:spPr>
      </p:pic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410441" y="517709"/>
            <a:ext cx="74148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例：隐含的动态联编</a:t>
            </a:r>
            <a:endParaRPr kumimoji="1" lang="zh-CN" altLang="en-US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424" y="1997633"/>
            <a:ext cx="5082659" cy="2650306"/>
          </a:xfrm>
          <a:prstGeom prst="rect">
            <a:avLst/>
          </a:prstGeom>
          <a:solidFill>
            <a:srgbClr val="FFC000"/>
          </a:solidFill>
        </p:spPr>
      </p:pic>
      <p:sp>
        <p:nvSpPr>
          <p:cNvPr id="10" name="矩形 9"/>
          <p:cNvSpPr/>
          <p:nvPr/>
        </p:nvSpPr>
        <p:spPr>
          <a:xfrm>
            <a:off x="6464595" y="817419"/>
            <a:ext cx="446275" cy="11802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302" y="5088020"/>
            <a:ext cx="7931430" cy="133499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260840" y="3069590"/>
            <a:ext cx="2493645" cy="1578610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t">
            <a:noAutofit/>
          </a:bodyPr>
          <a:p>
            <a:r>
              <a:rPr lang="zh-CN" altLang="en-US" sz="2000" b="1">
                <a:solidFill>
                  <a:schemeClr val="accent1"/>
                </a:solidFill>
                <a:sym typeface="+mn-ea"/>
              </a:rPr>
              <a:t>注意：动态联编具体调用哪个函数，由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对象类型</a:t>
            </a:r>
            <a:r>
              <a:rPr lang="zh-CN" altLang="en-US" sz="2000" b="1">
                <a:solidFill>
                  <a:schemeClr val="accent1"/>
                </a:solidFill>
                <a:sym typeface="+mn-ea"/>
              </a:rPr>
              <a:t>确定，而不是由指针（或引用）的类型决定</a:t>
            </a:r>
            <a:endParaRPr lang="zh-CN" altLang="en-US" sz="2000" b="1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40940" y="1668780"/>
            <a:ext cx="701675" cy="30353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863600" y="109900"/>
            <a:ext cx="741489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32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final</a:t>
            </a:r>
            <a:r>
              <a:rPr kumimoji="1" lang="zh-CN" altLang="en-US" sz="32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和</a:t>
            </a:r>
            <a:r>
              <a:rPr kumimoji="1" lang="en-US" altLang="zh-CN" sz="32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override</a:t>
            </a:r>
            <a:r>
              <a:rPr kumimoji="1" lang="zh-CN" altLang="en-US" sz="32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关键字</a:t>
            </a:r>
            <a:endParaRPr kumimoji="1" lang="zh-CN" altLang="en-US" sz="3200" b="1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endParaRPr kumimoji="1" lang="zh-CN" altLang="en-US" sz="3200" b="1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451895" y="550719"/>
            <a:ext cx="446275" cy="11802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63600" y="1004109"/>
            <a:ext cx="9982200" cy="532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C++11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YaHei"/>
                <a:ea typeface="微软雅黑" panose="020B0503020204020204" pitchFamily="34" charset="-122"/>
                <a:cs typeface="+mn-cs"/>
              </a:rPr>
              <a:t>引入了关键字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override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YaHei"/>
                <a:ea typeface="微软雅黑" panose="020B0503020204020204" pitchFamily="34" charset="-122"/>
                <a:cs typeface="+mn-cs"/>
              </a:rPr>
              <a:t>来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YaHei"/>
                <a:ea typeface="微软雅黑" panose="020B0503020204020204" pitchFamily="34" charset="-122"/>
                <a:cs typeface="+mn-cs"/>
              </a:rPr>
              <a:t>显式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YaHei"/>
                <a:ea typeface="微软雅黑" panose="020B0503020204020204" pitchFamily="34" charset="-122"/>
                <a:cs typeface="+mn-cs"/>
              </a:rPr>
              <a:t>说明派生类的函数要覆盖基类的虚函数。类似的，可以使用关键字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final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YaHei"/>
                <a:ea typeface="微软雅黑" panose="020B0503020204020204" pitchFamily="34" charset="-122"/>
                <a:cs typeface="+mn-cs"/>
              </a:rPr>
              <a:t>阻止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YaHei"/>
                <a:ea typeface="微软雅黑" panose="020B0503020204020204" pitchFamily="34" charset="-122"/>
                <a:cs typeface="+mn-cs"/>
              </a:rPr>
              <a:t>派生类覆盖基类版本的虚函数。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YaHei"/>
              <a:ea typeface="微软雅黑" panose="020B0503020204020204" pitchFamily="34" charset="-122"/>
              <a:cs typeface="+mn-cs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struct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B {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virtual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void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fun1(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int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) { }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virtual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void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fun2() { }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void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fun3() { }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};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struct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D1 :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public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B {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void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fun1()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override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{ }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错误：基类没有不带参数的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fun1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函数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void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fun2()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final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{ }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//D1::fun2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为最终版本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void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fun3()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override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{ }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错误：基类没有可覆盖的函数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};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struct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D2 :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public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D1 {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void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fun2() { }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错误：不允许覆盖基类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中的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fun2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函数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};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5374" b="15711"/>
          <a:stretch>
            <a:fillRect/>
          </a:stretch>
        </p:blipFill>
        <p:spPr>
          <a:xfrm>
            <a:off x="88060" y="1862567"/>
            <a:ext cx="5406547" cy="1241664"/>
          </a:xfrm>
          <a:prstGeom prst="rect">
            <a:avLst/>
          </a:prstGeom>
        </p:spPr>
      </p:pic>
      <p:sp>
        <p:nvSpPr>
          <p:cNvPr id="5" name="Rectangle 2"/>
          <p:cNvSpPr txBox="1">
            <a:spLocks noRot="1" noChangeArrowheads="1"/>
          </p:cNvSpPr>
          <p:nvPr/>
        </p:nvSpPr>
        <p:spPr>
          <a:xfrm>
            <a:off x="2135189" y="69851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8.4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多态的实现原理</a:t>
            </a:r>
            <a:r>
              <a:rPr lang="en-US" altLang="zh-CN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—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虚函数表</a:t>
            </a:r>
            <a:endParaRPr lang="zh-CN" altLang="en-US" sz="4000" b="1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409" y="2040845"/>
            <a:ext cx="5920079" cy="4530075"/>
          </a:xfrm>
          <a:prstGeom prst="rect">
            <a:avLst/>
          </a:prstGeom>
        </p:spPr>
      </p:pic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5887765" y="1480737"/>
            <a:ext cx="741489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</a:t>
            </a:r>
            <a:endParaRPr kumimoji="1" lang="zh-CN" altLang="en-US" sz="28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61" y="4909733"/>
            <a:ext cx="5202246" cy="1232903"/>
          </a:xfrm>
          <a:prstGeom prst="rect">
            <a:avLst/>
          </a:prstGeom>
        </p:spPr>
      </p:pic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303512" y="1219127"/>
            <a:ext cx="741489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多态的动态联编具体如何实现？</a:t>
            </a:r>
            <a:endParaRPr kumimoji="1" lang="zh-CN" altLang="en-US" sz="28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3" name="箭头: 左 12"/>
          <p:cNvSpPr/>
          <p:nvPr/>
        </p:nvSpPr>
        <p:spPr>
          <a:xfrm>
            <a:off x="5196468" y="6219525"/>
            <a:ext cx="771941" cy="3513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41605" y="4452620"/>
            <a:ext cx="770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思考：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825111" y="387918"/>
            <a:ext cx="741489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多态的实现：虚函数表</a:t>
            </a:r>
            <a:endParaRPr kumimoji="1" lang="zh-CN" altLang="en-US" sz="28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01" y="1315844"/>
            <a:ext cx="7092338" cy="136044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028" y="3211550"/>
            <a:ext cx="5511760" cy="334077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894" y="3211550"/>
            <a:ext cx="5084956" cy="32175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3306" y="1428769"/>
            <a:ext cx="2670279" cy="76816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82" y="1324661"/>
            <a:ext cx="5476451" cy="3465272"/>
          </a:xfrm>
          <a:prstGeom prst="rect">
            <a:avLst/>
          </a:prstGeom>
        </p:spPr>
      </p:pic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825111" y="387918"/>
            <a:ext cx="741489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多态的实现：虚函数表</a:t>
            </a:r>
            <a:endParaRPr kumimoji="1" lang="zh-CN" altLang="en-US" sz="28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901" y="2632282"/>
            <a:ext cx="5486675" cy="1593435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6368901" y="4437390"/>
            <a:ext cx="4965406" cy="1510152"/>
            <a:chOff x="154072" y="1903647"/>
            <a:chExt cx="8704052" cy="978058"/>
          </a:xfrm>
        </p:grpSpPr>
        <p:sp>
          <p:nvSpPr>
            <p:cNvPr id="9" name="矩形: 圆顶角 27"/>
            <p:cNvSpPr/>
            <p:nvPr/>
          </p:nvSpPr>
          <p:spPr>
            <a:xfrm>
              <a:off x="154072" y="1903647"/>
              <a:ext cx="8704052" cy="380058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/>
                <a:t>注意</a:t>
              </a:r>
              <a:endParaRPr lang="zh-CN" altLang="en-US" sz="2000" dirty="0"/>
            </a:p>
          </p:txBody>
        </p:sp>
        <p:sp>
          <p:nvSpPr>
            <p:cNvPr id="10" name="矩形: 圆角 17"/>
            <p:cNvSpPr/>
            <p:nvPr/>
          </p:nvSpPr>
          <p:spPr>
            <a:xfrm>
              <a:off x="154072" y="2283705"/>
              <a:ext cx="8704052" cy="598000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9E9F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r>
                <a:rPr lang="zh-CN" altLang="en-US" sz="1800" dirty="0">
                  <a:solidFill>
                    <a:schemeClr val="tx1"/>
                  </a:solidFill>
                </a:rPr>
                <a:t>多态虽然能提升代码扩充的效率，但必须付出时间（运行效率）和空间（内存）上的额外开销。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8982" y="435935"/>
            <a:ext cx="6328144" cy="565596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0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#include&lt;iostream&gt;</a:t>
            </a:r>
            <a:endParaRPr lang="zh-CN" altLang="zh-CN" sz="20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using namespace std;</a:t>
            </a:r>
            <a:endParaRPr lang="zh-CN" altLang="zh-CN" sz="20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class A{</a:t>
            </a:r>
            <a:endParaRPr lang="zh-CN" altLang="zh-CN" sz="20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public: </a:t>
            </a:r>
            <a:endParaRPr lang="en-US" altLang="zh-CN" sz="20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0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virtual</a:t>
            </a:r>
            <a:r>
              <a:rPr lang="en-US" altLang="zh-CN" sz="20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void </a:t>
            </a:r>
            <a:r>
              <a:rPr lang="en-US" altLang="zh-CN" sz="200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Func</a:t>
            </a:r>
            <a:r>
              <a:rPr lang="en-US" altLang="zh-CN" sz="20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(){ </a:t>
            </a:r>
            <a:r>
              <a:rPr lang="en-US" altLang="zh-CN" sz="200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cout</a:t>
            </a:r>
            <a:r>
              <a:rPr lang="en-US" altLang="zh-CN" sz="20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&lt;&lt;”A::</a:t>
            </a:r>
            <a:r>
              <a:rPr lang="en-US" altLang="zh-CN" sz="200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Func</a:t>
            </a:r>
            <a:r>
              <a:rPr lang="en-US" altLang="zh-CN" sz="20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”&lt;&lt;</a:t>
            </a:r>
            <a:r>
              <a:rPr lang="en-US" altLang="zh-CN" sz="200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endl</a:t>
            </a:r>
            <a:r>
              <a:rPr lang="en-US" altLang="zh-CN" sz="20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;}</a:t>
            </a:r>
            <a:endParaRPr lang="zh-CN" altLang="zh-CN" sz="20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};</a:t>
            </a:r>
            <a:endParaRPr lang="zh-CN" altLang="zh-CN" sz="20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Class B: public A{</a:t>
            </a:r>
            <a:endParaRPr lang="zh-CN" altLang="zh-CN" sz="20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 public: </a:t>
            </a:r>
            <a:endParaRPr lang="en-US" altLang="zh-CN" sz="20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0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virtual</a:t>
            </a:r>
            <a:r>
              <a:rPr lang="en-US" altLang="zh-CN" sz="20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void </a:t>
            </a:r>
            <a:r>
              <a:rPr lang="en-US" altLang="zh-CN" sz="200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Func</a:t>
            </a:r>
            <a:r>
              <a:rPr lang="en-US" altLang="zh-CN" sz="20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(){ </a:t>
            </a:r>
            <a:r>
              <a:rPr lang="en-US" altLang="zh-CN" sz="200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cout</a:t>
            </a:r>
            <a:r>
              <a:rPr lang="en-US" altLang="zh-CN" sz="20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&lt;&lt;”B::</a:t>
            </a:r>
            <a:r>
              <a:rPr lang="en-US" altLang="zh-CN" sz="200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Func</a:t>
            </a:r>
            <a:r>
              <a:rPr lang="en-US" altLang="zh-CN" sz="20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”&lt;&lt;</a:t>
            </a:r>
            <a:r>
              <a:rPr lang="en-US" altLang="zh-CN" sz="200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endl</a:t>
            </a:r>
            <a:r>
              <a:rPr lang="en-US" altLang="zh-CN" sz="20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;}</a:t>
            </a:r>
            <a:endParaRPr lang="zh-CN" altLang="zh-CN" sz="20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0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};</a:t>
            </a:r>
            <a:endParaRPr lang="zh-CN" altLang="zh-CN" sz="20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sz="1100" b="1" dirty="0"/>
          </a:p>
        </p:txBody>
      </p:sp>
      <p:sp>
        <p:nvSpPr>
          <p:cNvPr id="3" name="内容占位符 1"/>
          <p:cNvSpPr txBox="1"/>
          <p:nvPr/>
        </p:nvSpPr>
        <p:spPr>
          <a:xfrm>
            <a:off x="6422066" y="435935"/>
            <a:ext cx="6328144" cy="5655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 main()</a:t>
            </a:r>
            <a:endParaRPr lang="zh-CN" altLang="zh-CN" sz="20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endParaRPr lang="zh-CN" altLang="zh-CN" sz="20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A </a:t>
            </a:r>
            <a:r>
              <a:rPr lang="en-US" altLang="zh-CN" sz="2000" b="1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0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A *pa= new B();</a:t>
            </a:r>
            <a:endParaRPr lang="zh-CN" altLang="zh-CN" sz="20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000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pa-&gt;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Func</a:t>
            </a:r>
            <a:r>
              <a:rPr lang="en-US" altLang="zh-CN" sz="2000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();   </a:t>
            </a:r>
            <a:r>
              <a:rPr lang="en-US" altLang="zh-CN" sz="2000" b="1" kern="1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2000" b="1" kern="1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多态。输出</a:t>
            </a:r>
            <a:r>
              <a:rPr lang="en-US" altLang="zh-CN" sz="2000" b="1" kern="1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B::Func</a:t>
            </a:r>
            <a:endParaRPr lang="zh-CN" altLang="zh-CN" sz="2000" b="1" kern="100" dirty="0">
              <a:solidFill>
                <a:srgbClr val="008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000" b="1" kern="1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//64</a:t>
            </a:r>
            <a:r>
              <a:rPr lang="zh-CN" altLang="zh-CN" sz="2000" b="1" kern="1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位系统为</a:t>
            </a:r>
            <a:r>
              <a:rPr lang="en-US" altLang="zh-CN" sz="2000" b="1" kern="1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sz="2000" b="1" kern="1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字节</a:t>
            </a:r>
            <a:endParaRPr lang="zh-CN" altLang="zh-CN" sz="2000" b="1" kern="100" dirty="0">
              <a:solidFill>
                <a:srgbClr val="008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000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long 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long</a:t>
            </a:r>
            <a:r>
              <a:rPr lang="en-US" altLang="zh-CN" sz="2000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*</a:t>
            </a: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p1=(</a:t>
            </a:r>
            <a:r>
              <a:rPr lang="en-US" altLang="zh-CN" sz="2000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long 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long</a:t>
            </a:r>
            <a:r>
              <a:rPr lang="en-US" altLang="zh-CN" sz="2000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*</a:t>
            </a: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)&amp;a;</a:t>
            </a:r>
            <a:endParaRPr lang="zh-CN" altLang="zh-CN" sz="20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long </a:t>
            </a:r>
            <a:r>
              <a:rPr lang="en-US" altLang="zh-CN" sz="2000" b="1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long</a:t>
            </a: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*p2=(long </a:t>
            </a:r>
            <a:r>
              <a:rPr lang="en-US" altLang="zh-CN" sz="2000" b="1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long</a:t>
            </a: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*)pa;</a:t>
            </a:r>
            <a:endParaRPr lang="zh-CN" altLang="zh-CN" sz="20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000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*p2=*p1</a:t>
            </a: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0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pa-&gt;</a:t>
            </a:r>
            <a:r>
              <a:rPr lang="en-US" altLang="zh-CN" sz="2000" b="1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Func</a:t>
            </a: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();   </a:t>
            </a:r>
            <a:r>
              <a:rPr lang="en-US" altLang="zh-CN" sz="2000" b="1" kern="1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2000" b="1" kern="1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输出</a:t>
            </a:r>
            <a:r>
              <a:rPr lang="en-US" altLang="zh-CN" sz="2000" b="1" kern="1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A::Func  </a:t>
            </a:r>
            <a:r>
              <a:rPr lang="zh-CN" altLang="zh-CN" sz="2000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为什么？</a:t>
            </a:r>
            <a:endParaRPr lang="zh-CN" altLang="zh-CN" sz="2000" b="1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return 0;</a:t>
            </a:r>
            <a:endParaRPr lang="zh-CN" altLang="zh-CN" sz="20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 sz="20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20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1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136015" y="5243830"/>
            <a:ext cx="10043795" cy="1322070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dirty="0">
                <a:sym typeface="+mn-ea"/>
              </a:rPr>
              <a:t> long long* p1 = (long long*)&amp;a;</a:t>
            </a:r>
            <a:endParaRPr lang="zh-CN" altLang="en-US" sz="2000" b="1" dirty="0"/>
          </a:p>
          <a:p>
            <a:r>
              <a:rPr lang="en-US" altLang="zh-CN" sz="2000" b="1" dirty="0">
                <a:sym typeface="+mn-ea"/>
              </a:rPr>
              <a:t>     long long* p2 = (long long*)pa;</a:t>
            </a:r>
            <a:endParaRPr lang="en-US" altLang="zh-CN" sz="2000" b="1" dirty="0"/>
          </a:p>
          <a:p>
            <a:r>
              <a:rPr lang="en-US" altLang="zh-CN" sz="2000" b="1" dirty="0">
                <a:sym typeface="+mn-ea"/>
              </a:rPr>
              <a:t>      </a:t>
            </a:r>
            <a:r>
              <a:rPr lang="zh-CN" altLang="en-US" sz="2000" b="1" dirty="0">
                <a:sym typeface="+mn-ea"/>
              </a:rPr>
              <a:t>将派生类对象地址的前</a:t>
            </a:r>
            <a:r>
              <a:rPr lang="en-US" altLang="zh-CN" sz="2000" b="1" dirty="0">
                <a:sym typeface="+mn-ea"/>
              </a:rPr>
              <a:t>8</a:t>
            </a:r>
            <a:r>
              <a:rPr lang="zh-CN" altLang="en-US" sz="2000" b="1" dirty="0">
                <a:sym typeface="+mn-ea"/>
              </a:rPr>
              <a:t>个字节（</a:t>
            </a:r>
            <a:r>
              <a:rPr lang="en-US" altLang="zh-CN" sz="2000" b="1" dirty="0">
                <a:sym typeface="+mn-ea"/>
              </a:rPr>
              <a:t>32</a:t>
            </a:r>
            <a:r>
              <a:rPr lang="zh-CN" altLang="en-US" sz="2000" b="1" dirty="0">
                <a:sym typeface="+mn-ea"/>
              </a:rPr>
              <a:t>位系统</a:t>
            </a:r>
            <a:r>
              <a:rPr lang="en-US" altLang="zh-CN" sz="2000" b="1" dirty="0">
                <a:sym typeface="+mn-ea"/>
              </a:rPr>
              <a:t>4</a:t>
            </a:r>
            <a:r>
              <a:rPr lang="zh-CN" altLang="en-US" sz="2000" b="1" dirty="0">
                <a:sym typeface="+mn-ea"/>
              </a:rPr>
              <a:t>个字节）赋值给基类指针变量</a:t>
            </a:r>
            <a:r>
              <a:rPr lang="en-US" altLang="zh-CN" sz="2000" b="1" dirty="0">
                <a:sym typeface="+mn-ea"/>
              </a:rPr>
              <a:t>pa</a:t>
            </a:r>
            <a:endParaRPr lang="en-US" altLang="zh-C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dirty="0">
                <a:sym typeface="+mn-ea"/>
              </a:rPr>
              <a:t>兼容</a:t>
            </a:r>
            <a:r>
              <a:rPr lang="en-US" altLang="zh-CN" sz="2000" b="1" dirty="0">
                <a:sym typeface="+mn-ea"/>
              </a:rPr>
              <a:t>32</a:t>
            </a:r>
            <a:r>
              <a:rPr lang="zh-CN" altLang="en-US" sz="2000" b="1" dirty="0">
                <a:sym typeface="+mn-ea"/>
              </a:rPr>
              <a:t>位的</a:t>
            </a:r>
            <a:r>
              <a:rPr lang="en-US" altLang="zh-CN" sz="2000" b="1" dirty="0">
                <a:sym typeface="+mn-ea"/>
              </a:rPr>
              <a:t>64</a:t>
            </a:r>
            <a:r>
              <a:rPr lang="zh-CN" altLang="en-US" sz="2000" b="1" dirty="0">
                <a:sym typeface="+mn-ea"/>
              </a:rPr>
              <a:t>位系统用</a:t>
            </a:r>
            <a:r>
              <a:rPr lang="en-US" altLang="zh-CN" sz="2000" b="1" dirty="0">
                <a:sym typeface="+mn-ea"/>
              </a:rPr>
              <a:t>long </a:t>
            </a:r>
            <a:r>
              <a:rPr lang="zh-CN" altLang="en-US" sz="2000" b="1" dirty="0">
                <a:sym typeface="+mn-ea"/>
              </a:rPr>
              <a:t>*实现也可以。（</a:t>
            </a:r>
            <a:r>
              <a:rPr lang="en-US" altLang="zh-CN" sz="2000" b="1" dirty="0">
                <a:sym typeface="+mn-ea"/>
              </a:rPr>
              <a:t>long *</a:t>
            </a:r>
            <a:r>
              <a:rPr lang="zh-CN" altLang="en-US" sz="2000" b="1" dirty="0">
                <a:sym typeface="+mn-ea"/>
              </a:rPr>
              <a:t>和</a:t>
            </a:r>
            <a:r>
              <a:rPr lang="en-US" altLang="zh-CN" sz="2000" b="1" dirty="0">
                <a:sym typeface="+mn-ea"/>
              </a:rPr>
              <a:t>long long *</a:t>
            </a:r>
            <a:r>
              <a:rPr lang="zh-CN" altLang="en-US" sz="2000" b="1" dirty="0">
                <a:sym typeface="+mn-ea"/>
              </a:rPr>
              <a:t>均已测试通过）</a:t>
            </a:r>
            <a:endParaRPr lang="zh-CN" altLang="en-US" sz="2000" b="1" dirty="0"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12108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1049055" y="948697"/>
            <a:ext cx="74148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在构造函数和析构函数中调用虚函数</a:t>
            </a:r>
            <a:endParaRPr kumimoji="1" lang="zh-CN" altLang="en-US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2" name="Rectangle 2"/>
          <p:cNvSpPr txBox="1">
            <a:spLocks noRot="1" noChangeArrowheads="1"/>
          </p:cNvSpPr>
          <p:nvPr/>
        </p:nvSpPr>
        <p:spPr>
          <a:xfrm>
            <a:off x="2135189" y="69851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8.5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多态中的构造函数与析构函数</a:t>
            </a:r>
            <a:endParaRPr lang="zh-CN" altLang="en-US" sz="4000" b="1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9177" y="3324416"/>
            <a:ext cx="8583008" cy="2558621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>
            <a:off x="2710677" y="4927600"/>
            <a:ext cx="8255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2710677" y="5334000"/>
            <a:ext cx="8255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4133077" y="4927600"/>
            <a:ext cx="8255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4133077" y="5384800"/>
            <a:ext cx="8255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384610" y="1816900"/>
            <a:ext cx="9422779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在</a:t>
            </a:r>
            <a:r>
              <a:rPr lang="zh-CN" altLang="en-US" sz="2400" dirty="0">
                <a:solidFill>
                  <a:srgbClr val="0066FF"/>
                </a:solidFill>
              </a:rPr>
              <a:t>构造函数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0066FF"/>
                </a:solidFill>
              </a:rPr>
              <a:t>析构函数</a:t>
            </a:r>
            <a:r>
              <a:rPr lang="zh-CN" altLang="en-US" sz="2400" dirty="0"/>
              <a:t>中</a:t>
            </a:r>
            <a:r>
              <a:rPr lang="zh-CN" altLang="en-US" sz="2400" dirty="0">
                <a:solidFill>
                  <a:srgbClr val="0066FF"/>
                </a:solidFill>
              </a:rPr>
              <a:t>调用虚函数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FF0000"/>
                </a:solidFill>
              </a:rPr>
              <a:t>不是多态</a:t>
            </a:r>
            <a:r>
              <a:rPr lang="zh-CN" altLang="en-US" sz="2400" dirty="0"/>
              <a:t>。它们编译时即确定调用的是自己的类或基类中定义的函数，不会等到运行时才决定。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在</a:t>
            </a:r>
            <a:r>
              <a:rPr lang="zh-CN" altLang="en-US" sz="2400" dirty="0">
                <a:solidFill>
                  <a:srgbClr val="FF0000"/>
                </a:solidFill>
              </a:rPr>
              <a:t>普通成员函数中调用虚函数</a:t>
            </a:r>
            <a:r>
              <a:rPr lang="zh-CN" altLang="en-US" sz="2400" dirty="0"/>
              <a:t>，则是动态联编，</a:t>
            </a:r>
            <a:r>
              <a:rPr lang="zh-CN" altLang="en-US" sz="2400" dirty="0">
                <a:solidFill>
                  <a:srgbClr val="FF0000"/>
                </a:solidFill>
              </a:rPr>
              <a:t>是多态。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38420" y="3328670"/>
            <a:ext cx="35985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6">
                    <a:lumMod val="75000"/>
                  </a:schemeClr>
                </a:solidFill>
              </a:rPr>
              <a:t>例：</a:t>
            </a:r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在构造函数和析构函数中调用虚函数不是多态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12108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5300" y="479608"/>
            <a:ext cx="7721600" cy="5648613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>
            <a:off x="2959100" y="2311400"/>
            <a:ext cx="8255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073400" y="2781300"/>
            <a:ext cx="8255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2857500" y="1816100"/>
            <a:ext cx="8255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2768600" y="4635500"/>
            <a:ext cx="8255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296410" y="1885950"/>
            <a:ext cx="7002780" cy="14204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sz="2400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sym typeface="+mn-ea"/>
              </a:rPr>
              <a:t>//</a:t>
            </a:r>
            <a:r>
              <a:rPr lang="zh-CN" altLang="en-US" sz="2400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sym typeface="+mn-ea"/>
              </a:rPr>
              <a:t>在构造函数</a:t>
            </a:r>
            <a:r>
              <a:rPr lang="zh-CN" altLang="en-US" sz="2400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sym typeface="+mn-ea"/>
              </a:rPr>
              <a:t>中调用虚函数，静态联编</a:t>
            </a:r>
            <a:endParaRPr lang="zh-CN" altLang="en-US" sz="2400" dirty="0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sym typeface="+mn-ea"/>
              </a:rPr>
              <a:t>//</a:t>
            </a:r>
            <a:r>
              <a:rPr lang="zh-CN" altLang="en-US" sz="2400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sym typeface="+mn-ea"/>
              </a:rPr>
              <a:t>在析构函数中调用继承基类的普通虚函数，静态联编</a:t>
            </a:r>
            <a:endParaRPr lang="zh-CN" altLang="en-US" sz="2400" dirty="0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12108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6501" y="80767"/>
            <a:ext cx="9780320" cy="633134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12108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1193846" y="140607"/>
            <a:ext cx="74148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虚析构函数</a:t>
            </a:r>
            <a:endParaRPr kumimoji="1" lang="zh-CN" altLang="en-US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72868" y="848839"/>
            <a:ext cx="8846263" cy="516032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877810" y="5612765"/>
            <a:ext cx="2118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为什么？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809355" y="5123815"/>
            <a:ext cx="3262630" cy="1734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noAutofit/>
          </a:bodyPr>
          <a:p>
            <a:r>
              <a:rPr lang="zh-CN" altLang="en-US" sz="1600">
                <a:sym typeface="+mn-ea"/>
              </a:rPr>
              <a:t>基类指针</a:t>
            </a:r>
            <a:r>
              <a:rPr lang="en-US" altLang="zh-CN" sz="1600">
                <a:sym typeface="+mn-ea"/>
              </a:rPr>
              <a:t>/</a:t>
            </a:r>
            <a:r>
              <a:rPr lang="zh-CN" altLang="en-US" sz="1600">
                <a:sym typeface="+mn-ea"/>
              </a:rPr>
              <a:t>引用指向派生类对象时，调用的虚函数由对象类型决定。但派生类对象创建时，先调用基类构造函数，当基类指针要调用派生类构造函数时，派生类对象还没创建出来，还没有虚函数表，找不到函数入口。</a:t>
            </a:r>
            <a:endParaRPr lang="zh-CN" altLang="en-US" sz="1600"/>
          </a:p>
          <a:p>
            <a:endParaRPr lang="zh-CN" altLang="en-US" sz="1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12108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596946" y="212097"/>
            <a:ext cx="74148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虚析构函数</a:t>
            </a:r>
            <a:endParaRPr kumimoji="1" lang="zh-CN" altLang="en-US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749345" y="917354"/>
            <a:ext cx="9772005" cy="5631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YaHei"/>
              </a:rPr>
              <a:t>在</a:t>
            </a:r>
            <a:r>
              <a:rPr lang="zh-CN" altLang="en-US" sz="2400" b="1" dirty="0">
                <a:solidFill>
                  <a:srgbClr val="FF0000"/>
                </a:solidFill>
                <a:latin typeface="MicrosoftYaHei"/>
              </a:rPr>
              <a:t>动态内存分配情况</a:t>
            </a:r>
            <a:r>
              <a:rPr lang="zh-CN" altLang="en-US" sz="2400" dirty="0">
                <a:solidFill>
                  <a:srgbClr val="000000"/>
                </a:solidFill>
                <a:latin typeface="MicrosoftYaHei"/>
              </a:rPr>
              <a:t>下，</a:t>
            </a:r>
            <a:r>
              <a:rPr lang="zh-CN" altLang="en-US" sz="2400" b="1" dirty="0">
                <a:solidFill>
                  <a:srgbClr val="FF0000"/>
                </a:solidFill>
                <a:latin typeface="MicrosoftYaHei"/>
              </a:rPr>
              <a:t>多态中</a:t>
            </a:r>
            <a:r>
              <a:rPr lang="zh-CN" altLang="en-US" sz="2400" b="1" dirty="0">
                <a:solidFill>
                  <a:schemeClr val="accent1"/>
                </a:solidFill>
                <a:latin typeface="MicrosoftYaHei"/>
              </a:rPr>
              <a:t>基类的析构函数</a:t>
            </a:r>
            <a:r>
              <a:rPr lang="zh-CN" altLang="en-US" sz="2400" b="1" dirty="0">
                <a:solidFill>
                  <a:srgbClr val="FF0000"/>
                </a:solidFill>
                <a:latin typeface="MicrosoftYaHei"/>
              </a:rPr>
              <a:t>应该是虚函数</a:t>
            </a:r>
            <a:r>
              <a:rPr lang="zh-CN" altLang="en-US" sz="2400" dirty="0">
                <a:solidFill>
                  <a:srgbClr val="000000"/>
                </a:solidFill>
                <a:latin typeface="MicrosoftYaHei"/>
              </a:rPr>
              <a:t>，以保证</a:t>
            </a:r>
            <a:r>
              <a:rPr lang="zh-CN" altLang="en-US" sz="2400" dirty="0">
                <a:solidFill>
                  <a:schemeClr val="tx1"/>
                </a:solidFill>
                <a:latin typeface="MicrosoftYaHei"/>
              </a:rPr>
              <a:t>正确</a:t>
            </a:r>
            <a:r>
              <a:rPr lang="en-US" altLang="zh-CN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zh-CN" altLang="en-US" sz="2400" dirty="0">
                <a:solidFill>
                  <a:srgbClr val="000000"/>
                </a:solidFill>
                <a:latin typeface="MicrosoftYaHei"/>
              </a:rPr>
              <a:t>一个</a:t>
            </a:r>
            <a:r>
              <a:rPr lang="zh-CN" altLang="en-US" sz="2400" b="1" dirty="0">
                <a:solidFill>
                  <a:srgbClr val="FF0000"/>
                </a:solidFill>
                <a:latin typeface="MicrosoftYaHei"/>
              </a:rPr>
              <a:t>动态派生类对象</a:t>
            </a:r>
            <a:r>
              <a:rPr lang="zh-CN" altLang="en-US" sz="2400" dirty="0">
                <a:solidFill>
                  <a:srgbClr val="000000"/>
                </a:solidFill>
                <a:latin typeface="MicrosoftYaHei"/>
              </a:rPr>
              <a:t>，</a:t>
            </a:r>
            <a:endParaRPr lang="zh-CN" altLang="en-US" sz="2400" dirty="0">
              <a:solidFill>
                <a:srgbClr val="000000"/>
              </a:solidFill>
              <a:latin typeface="MicrosoftYaHei"/>
            </a:endParaRPr>
          </a:p>
          <a:p>
            <a:r>
              <a:rPr lang="zh-CN" altLang="en-US" sz="2400" b="1" dirty="0">
                <a:solidFill>
                  <a:srgbClr val="000000"/>
                </a:solidFill>
                <a:latin typeface="MicrosoftYaHei"/>
              </a:rPr>
              <a:t>例：有如下类的定义</a:t>
            </a:r>
            <a:endParaRPr lang="zh-CN" altLang="en-US" sz="2400" b="1" dirty="0">
              <a:solidFill>
                <a:srgbClr val="000000"/>
              </a:solidFill>
              <a:latin typeface="MicrosoftYaHei"/>
            </a:endParaRPr>
          </a:p>
          <a:p>
            <a:pPr lvl="1"/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class 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Shape {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/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public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: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2"/>
            <a:r>
              <a:rPr lang="en-US" altLang="zh-CN" sz="24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virtual</a:t>
            </a:r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~Shape() {          </a:t>
            </a:r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虚析构函数</a:t>
            </a:r>
            <a:endParaRPr lang="en-US" altLang="zh-CN" sz="2400" dirty="0">
              <a:solidFill>
                <a:srgbClr val="008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2"/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</a:t>
            </a:r>
            <a:r>
              <a:rPr lang="en-US" altLang="zh-CN" sz="2400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"</a:t>
            </a:r>
            <a:r>
              <a:rPr lang="en-US" altLang="zh-CN" sz="2400" dirty="0" err="1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Destr</a:t>
            </a:r>
            <a:r>
              <a:rPr lang="en-US" altLang="zh-CN" sz="2400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of Shape"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endl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2"/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}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/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};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/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class 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Circle : </a:t>
            </a:r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public 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Shape {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/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public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: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2"/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~Circle() {     </a:t>
            </a:r>
            <a:r>
              <a:rPr lang="zh-CN" altLang="en-US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//不是虚析构函数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2"/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	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</a:t>
            </a:r>
            <a:r>
              <a:rPr lang="en-US" altLang="zh-CN" sz="2400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"</a:t>
            </a:r>
            <a:r>
              <a:rPr lang="en-US" altLang="zh-CN" sz="2400" dirty="0" err="1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Destr</a:t>
            </a:r>
            <a:r>
              <a:rPr lang="en-US" altLang="zh-CN" sz="2400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of Circle"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endl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2"/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}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/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};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12108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972785" y="381879"/>
            <a:ext cx="10698515" cy="6123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LMMono8-Regular-Identity-H"/>
              </a:rPr>
              <a:t>如运行以下代码：</a:t>
            </a:r>
            <a:endParaRPr lang="en-US" altLang="zh-CN" sz="2400" dirty="0">
              <a:solidFill>
                <a:srgbClr val="000000"/>
              </a:solidFill>
              <a:latin typeface="LMMono8-Regular-Identity-H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Shape *p = </a:t>
            </a:r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new 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Circle();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delete p;</a:t>
            </a:r>
            <a:endParaRPr lang="en-US" altLang="zh-CN" sz="24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由于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Shape</a:t>
            </a:r>
            <a:r>
              <a:rPr lang="zh-CN" altLang="en-US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类的析构函数为</a:t>
            </a:r>
            <a:r>
              <a:rPr lang="zh-CN" altLang="en-US" sz="24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虚函数</a:t>
            </a:r>
            <a:r>
              <a:rPr lang="zh-CN" altLang="en-US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，因此在执行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delete</a:t>
            </a:r>
            <a:r>
              <a:rPr lang="zh-CN" altLang="en-US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操作时，将会执行派生类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Circle</a:t>
            </a:r>
            <a:r>
              <a:rPr lang="zh-CN" altLang="en-US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的析构函数，然后再执行基类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Shape</a:t>
            </a:r>
            <a:r>
              <a:rPr lang="zh-CN" altLang="en-US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的析构函数，从而保证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</a:t>
            </a:r>
            <a:r>
              <a:rPr lang="zh-CN" altLang="en-US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指向的动态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Circle</a:t>
            </a:r>
            <a:r>
              <a:rPr lang="zh-CN" altLang="en-US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类对象能够</a:t>
            </a:r>
            <a:r>
              <a:rPr lang="zh-CN" altLang="en-US" sz="24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正确释放内存</a:t>
            </a:r>
            <a:r>
              <a:rPr lang="zh-CN" altLang="en-US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。上面代码执行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delete</a:t>
            </a:r>
            <a:r>
              <a:rPr lang="zh-CN" altLang="en-US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操作将输出：</a:t>
            </a:r>
            <a:endParaRPr lang="zh-CN" altLang="en-US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Destr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of Circle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Destr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of Shape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如果基类析构函数为非虚函数，则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delete</a:t>
            </a:r>
            <a:r>
              <a:rPr lang="zh-CN" altLang="en-US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一个指向派生类对象的基类指针将产生</a:t>
            </a:r>
            <a:r>
              <a:rPr lang="zh-CN" altLang="en-US" sz="24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未定义的行为</a:t>
            </a:r>
            <a:r>
              <a:rPr lang="zh-CN" altLang="en-US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lvl="1"/>
            <a:endParaRPr lang="en-US" altLang="zh-CN" sz="32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71570" y="5455920"/>
            <a:ext cx="5956935" cy="944880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t">
            <a:noAutofit/>
          </a:bodyPr>
          <a:p>
            <a:pPr>
              <a:lnSpc>
                <a:spcPct val="110000"/>
              </a:lnSpc>
            </a:pPr>
            <a:r>
              <a:rPr lang="zh-CN" altLang="en-US" sz="2000">
                <a:sym typeface="+mn-ea"/>
              </a:rPr>
              <a:t>如果基类</a:t>
            </a:r>
            <a:r>
              <a:rPr lang="en-US" altLang="zh-CN" sz="2000">
                <a:sym typeface="+mn-ea"/>
              </a:rPr>
              <a:t>Shape</a:t>
            </a:r>
            <a:r>
              <a:rPr lang="zh-CN" altLang="en-US" sz="2000">
                <a:sym typeface="+mn-ea"/>
              </a:rPr>
              <a:t>的析构函数未定义为virtual，则示例输出结果：</a:t>
            </a:r>
            <a:r>
              <a:rPr lang="en-US" altLang="zh-CN" sz="2000">
                <a:sym typeface="+mn-ea"/>
              </a:rPr>
              <a:t>Destr of Shape</a:t>
            </a:r>
            <a:r>
              <a:rPr lang="zh-CN" altLang="en-US" sz="2000">
                <a:sym typeface="+mn-ea"/>
              </a:rPr>
              <a:t>，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派生类对象未销毁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12108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1193846" y="140607"/>
            <a:ext cx="74148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例：虚析构函数</a:t>
            </a:r>
            <a:endParaRPr kumimoji="1" lang="zh-CN" altLang="en-US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6600" y="723135"/>
            <a:ext cx="6602141" cy="597385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12108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1193846" y="140607"/>
            <a:ext cx="74148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例：虚析构函数</a:t>
            </a:r>
            <a:endParaRPr kumimoji="1" lang="zh-CN" altLang="en-US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4701" y="658776"/>
            <a:ext cx="7219980" cy="611845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Rot="1" noChangeArrowheads="1"/>
          </p:cNvSpPr>
          <p:nvPr/>
        </p:nvSpPr>
        <p:spPr>
          <a:xfrm>
            <a:off x="2135189" y="69851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8.6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纯虚函数与抽象类</a:t>
            </a:r>
            <a:endParaRPr lang="zh-CN" altLang="en-US" sz="4000" b="1" dirty="0"/>
          </a:p>
        </p:txBody>
      </p:sp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1574801" y="914327"/>
            <a:ext cx="74148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纯虚函数</a:t>
            </a:r>
            <a:endParaRPr kumimoji="1" lang="zh-CN" altLang="en-US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1" y="1650961"/>
            <a:ext cx="6502502" cy="24436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34" y="4672424"/>
            <a:ext cx="8420366" cy="1950306"/>
          </a:xfrm>
          <a:prstGeom prst="rect">
            <a:avLst/>
          </a:prstGeom>
        </p:spPr>
      </p:pic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1409434" y="4038481"/>
            <a:ext cx="74148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抽象类</a:t>
            </a:r>
            <a:endParaRPr kumimoji="1" lang="zh-CN" altLang="en-US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63950" y="6412108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1193846" y="140607"/>
            <a:ext cx="74148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纯虚函数与抽象类</a:t>
            </a:r>
            <a:endParaRPr kumimoji="1" lang="zh-CN" altLang="en-US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7696" y="725383"/>
            <a:ext cx="8414304" cy="12667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b="3320"/>
          <a:stretch>
            <a:fillRect/>
          </a:stretch>
        </p:blipFill>
        <p:spPr>
          <a:xfrm>
            <a:off x="6642100" y="1725847"/>
            <a:ext cx="4451904" cy="513215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570" y="5462769"/>
            <a:ext cx="2204214" cy="949339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269516" y="3077427"/>
            <a:ext cx="6254879" cy="2385342"/>
            <a:chOff x="219974" y="2044323"/>
            <a:chExt cx="8718898" cy="2046765"/>
          </a:xfrm>
        </p:grpSpPr>
        <p:sp>
          <p:nvSpPr>
            <p:cNvPr id="12" name="矩形: 圆顶角 9"/>
            <p:cNvSpPr/>
            <p:nvPr/>
          </p:nvSpPr>
          <p:spPr>
            <a:xfrm>
              <a:off x="219974" y="2044323"/>
              <a:ext cx="8704052" cy="577651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E0AB5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/>
                <a:t>提示：公有继承方式下的基类成员函数的继承与覆盖</a:t>
              </a:r>
              <a:endParaRPr lang="zh-CN" altLang="en-US" sz="2000" dirty="0"/>
            </a:p>
          </p:txBody>
        </p:sp>
        <p:sp>
          <p:nvSpPr>
            <p:cNvPr id="13" name="矩形: 圆角 17"/>
            <p:cNvSpPr/>
            <p:nvPr/>
          </p:nvSpPr>
          <p:spPr>
            <a:xfrm>
              <a:off x="234820" y="2621974"/>
              <a:ext cx="8704052" cy="1469114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F6E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buClr>
                  <a:srgbClr val="151DC1"/>
                </a:buClr>
                <a:buFont typeface="Wingdings" panose="05000000000000000000" pitchFamily="2" charset="2"/>
                <a:buChar char="l"/>
              </a:pPr>
              <a:r>
                <a:rPr lang="zh-CN" altLang="en-US" dirty="0">
                  <a:solidFill>
                    <a:schemeClr val="tx1"/>
                  </a:solidFill>
                </a:rPr>
                <a:t>一般不要重新定义基类非虚函数</a:t>
              </a:r>
              <a:endParaRPr lang="en-US" altLang="zh-CN" dirty="0">
                <a:solidFill>
                  <a:schemeClr val="tx1"/>
                </a:solidFill>
              </a:endParaRPr>
            </a:p>
            <a:p>
              <a:pPr marL="342900" indent="-342900" algn="just">
                <a:lnSpc>
                  <a:spcPct val="150000"/>
                </a:lnSpc>
                <a:buClr>
                  <a:srgbClr val="151DC1"/>
                </a:buClr>
                <a:buFont typeface="Wingdings" panose="05000000000000000000" pitchFamily="2" charset="2"/>
                <a:buChar char="l"/>
              </a:pPr>
              <a:r>
                <a:rPr lang="zh-CN" altLang="en-US" dirty="0">
                  <a:solidFill>
                    <a:schemeClr val="tx1"/>
                  </a:solidFill>
                </a:rPr>
                <a:t>如果需要重新定义基类函数，则该函数应声明为虚函数</a:t>
              </a:r>
              <a:endParaRPr lang="en-US" altLang="zh-CN" dirty="0">
                <a:solidFill>
                  <a:schemeClr val="tx1"/>
                </a:solidFill>
              </a:endParaRPr>
            </a:p>
            <a:p>
              <a:pPr marL="342900" indent="-342900" algn="just">
                <a:lnSpc>
                  <a:spcPct val="150000"/>
                </a:lnSpc>
                <a:buClr>
                  <a:srgbClr val="151DC1"/>
                </a:buClr>
                <a:buFont typeface="Wingdings" panose="05000000000000000000" pitchFamily="2" charset="2"/>
                <a:buChar char="l"/>
              </a:pPr>
              <a:r>
                <a:rPr lang="zh-CN" altLang="en-US" dirty="0">
                  <a:solidFill>
                    <a:schemeClr val="tx1"/>
                  </a:solidFill>
                </a:rPr>
                <a:t>派生类继承基类非虚函数的接口和实现、虚函数的接口和默认实现，以及纯虚函数的接口。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389630" y="2845435"/>
            <a:ext cx="57029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200" b="1"/>
              <a:t>本章结束，谢谢！</a:t>
            </a:r>
            <a:endParaRPr lang="zh-CN" altLang="en-US" sz="3200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PP_MARK_KEY" val="edaacf44-c579-48b3-aefe-7c08b3b7654d"/>
  <p:tag name="COMMONDATA" val="eyJoZGlkIjoiNDI0NGE4MmNiOWM4MDZkMDdkNTIyYjlkODg4OWU4OD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4284</Words>
  <Application>WPS 演示</Application>
  <PresentationFormat>宽屏</PresentationFormat>
  <Paragraphs>357</Paragraphs>
  <Slides>44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60" baseType="lpstr">
      <vt:lpstr>Arial</vt:lpstr>
      <vt:lpstr>宋体</vt:lpstr>
      <vt:lpstr>Wingdings</vt:lpstr>
      <vt:lpstr>等线</vt:lpstr>
      <vt:lpstr>微软雅黑</vt:lpstr>
      <vt:lpstr>Times New Roman</vt:lpstr>
      <vt:lpstr>隶书</vt:lpstr>
      <vt:lpstr>MicrosoftYaHei</vt:lpstr>
      <vt:lpstr>Segoe Print</vt:lpstr>
      <vt:lpstr>等线 Light</vt:lpstr>
      <vt:lpstr>Arial Unicode MS</vt:lpstr>
      <vt:lpstr>PingFang SC</vt:lpstr>
      <vt:lpstr>LMMono8-Regular-Identity-H</vt:lpstr>
      <vt:lpstr>LMSans10-Regular-Identity-H</vt:lpstr>
      <vt:lpstr>Calibri</vt:lpstr>
      <vt:lpstr>Office 主题​​</vt:lpstr>
      <vt:lpstr>面向对象程序设计（C++）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27315950@qq.com</dc:creator>
  <cp:lastModifiedBy>朱静</cp:lastModifiedBy>
  <cp:revision>227</cp:revision>
  <dcterms:created xsi:type="dcterms:W3CDTF">2020-02-16T03:33:00Z</dcterms:created>
  <dcterms:modified xsi:type="dcterms:W3CDTF">2024-03-12T01:57:08Z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2B7C94C875BB49EFBFC4B61A0E990A5C</vt:lpwstr>
  </property>
  <property fmtid="{D5CDD505-2E9C-101B-9397-08002B2CF9AE}" pid="3" name="KSOProductBuildVer">
    <vt:lpwstr>2052-12.1.0.16399</vt:lpwstr>
  </property>
</Properties>
</file>