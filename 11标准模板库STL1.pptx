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375" r:id="rId5"/>
    <p:sldId id="378" r:id="rId7"/>
    <p:sldId id="376" r:id="rId8"/>
    <p:sldId id="377" r:id="rId9"/>
    <p:sldId id="379" r:id="rId10"/>
    <p:sldId id="380" r:id="rId11"/>
    <p:sldId id="381" r:id="rId12"/>
    <p:sldId id="382" r:id="rId13"/>
    <p:sldId id="383" r:id="rId14"/>
    <p:sldId id="384" r:id="rId15"/>
    <p:sldId id="385" r:id="rId16"/>
    <p:sldId id="392" r:id="rId17"/>
    <p:sldId id="387" r:id="rId18"/>
    <p:sldId id="386" r:id="rId19"/>
    <p:sldId id="388" r:id="rId20"/>
    <p:sldId id="389" r:id="rId21"/>
    <p:sldId id="391" r:id="rId22"/>
    <p:sldId id="394" r:id="rId23"/>
    <p:sldId id="395" r:id="rId24"/>
    <p:sldId id="397" r:id="rId25"/>
    <p:sldId id="396" r:id="rId26"/>
    <p:sldId id="398" r:id="rId27"/>
    <p:sldId id="399" r:id="rId28"/>
    <p:sldId id="393" r:id="rId29"/>
    <p:sldId id="406" r:id="rId30"/>
    <p:sldId id="407" r:id="rId31"/>
    <p:sldId id="410" r:id="rId32"/>
    <p:sldId id="408" r:id="rId33"/>
    <p:sldId id="409" r:id="rId34"/>
    <p:sldId id="411" r:id="rId35"/>
    <p:sldId id="412" r:id="rId36"/>
    <p:sldId id="413" r:id="rId37"/>
    <p:sldId id="414" r:id="rId38"/>
    <p:sldId id="415" r:id="rId39"/>
    <p:sldId id="417" r:id="rId40"/>
    <p:sldId id="416" r:id="rId41"/>
    <p:sldId id="418" r:id="rId42"/>
    <p:sldId id="419" r:id="rId43"/>
    <p:sldId id="420" r:id="rId44"/>
    <p:sldId id="422" r:id="rId45"/>
    <p:sldId id="430" r:id="rId46"/>
    <p:sldId id="431" r:id="rId47"/>
    <p:sldId id="293" r:id="rId48"/>
    <p:sldId id="296" r:id="rId49"/>
    <p:sldId id="432" r:id="rId50"/>
    <p:sldId id="434" r:id="rId51"/>
    <p:sldId id="433" r:id="rId52"/>
    <p:sldId id="435" r:id="rId53"/>
    <p:sldId id="436" r:id="rId54"/>
    <p:sldId id="437" r:id="rId55"/>
    <p:sldId id="439" r:id="rId56"/>
    <p:sldId id="438" r:id="rId57"/>
    <p:sldId id="440" r:id="rId58"/>
    <p:sldId id="441" r:id="rId59"/>
    <p:sldId id="425" r:id="rId60"/>
    <p:sldId id="461" r:id="rId61"/>
    <p:sldId id="490" r:id="rId62"/>
    <p:sldId id="491" r:id="rId63"/>
    <p:sldId id="515" r:id="rId64"/>
    <p:sldId id="492" r:id="rId65"/>
    <p:sldId id="493" r:id="rId66"/>
    <p:sldId id="494" r:id="rId67"/>
    <p:sldId id="495" r:id="rId68"/>
    <p:sldId id="496" r:id="rId69"/>
    <p:sldId id="497" r:id="rId70"/>
    <p:sldId id="498" r:id="rId71"/>
    <p:sldId id="499" r:id="rId72"/>
    <p:sldId id="500" r:id="rId73"/>
    <p:sldId id="501" r:id="rId74"/>
    <p:sldId id="502" r:id="rId75"/>
    <p:sldId id="460" r:id="rId76"/>
    <p:sldId id="487" r:id="rId77"/>
    <p:sldId id="488" r:id="rId78"/>
    <p:sldId id="489" r:id="rId79"/>
    <p:sldId id="428" r:id="rId80"/>
    <p:sldId id="445" r:id="rId81"/>
    <p:sldId id="315" r:id="rId82"/>
    <p:sldId id="446" r:id="rId83"/>
    <p:sldId id="444" r:id="rId84"/>
    <p:sldId id="284" r:id="rId85"/>
    <p:sldId id="447" r:id="rId86"/>
    <p:sldId id="448" r:id="rId87"/>
    <p:sldId id="539" r:id="rId88"/>
  </p:sldIdLst>
  <p:sldSz cx="12192000" cy="6858000"/>
  <p:notesSz cx="6858000" cy="9144000"/>
  <p:custDataLst>
    <p:tags r:id="rId9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j" initials="z"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4" d="100"/>
          <a:sy n="64" d="100"/>
        </p:scale>
        <p:origin x="68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tags" Target="tags/tag2.xml"/><Relationship Id="rId92" Type="http://schemas.openxmlformats.org/officeDocument/2006/relationships/commentAuthors" Target="commentAuthors.xml"/><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6.xml"/><Relationship Id="rId89" Type="http://schemas.openxmlformats.org/officeDocument/2006/relationships/presProps" Target="presProps.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4C9E92-6DAF-4212-BEA5-4514937BD90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8C7C7-8D69-427D-A93B-1C06AB360EF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1EA6CB7-C145-4002-B5F9-221C9038493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olidFill>
                  <a:srgbClr val="AF00DB"/>
                </a:solidFill>
                <a:latin typeface="Consolas" panose="020B0609020204030204" pitchFamily="49" charset="0"/>
                <a:sym typeface="+mn-ea"/>
              </a:rPr>
              <a:t>for</a:t>
            </a:r>
            <a:r>
              <a:rPr lang="en-US" altLang="zh-CN" dirty="0">
                <a:solidFill>
                  <a:srgbClr val="000000"/>
                </a:solidFill>
                <a:latin typeface="Consolas" panose="020B0609020204030204" pitchFamily="49" charset="0"/>
                <a:sym typeface="+mn-ea"/>
              </a:rPr>
              <a:t> (</a:t>
            </a:r>
            <a:r>
              <a:rPr lang="en-US" altLang="zh-CN" dirty="0">
                <a:solidFill>
                  <a:srgbClr val="0000FF"/>
                </a:solidFill>
                <a:latin typeface="Consolas" panose="020B0609020204030204" pitchFamily="49" charset="0"/>
                <a:sym typeface="+mn-ea"/>
              </a:rPr>
              <a:t>auto</a:t>
            </a:r>
            <a:r>
              <a:rPr lang="en-US" altLang="zh-CN" dirty="0">
                <a:solidFill>
                  <a:srgbClr val="000000"/>
                </a:solidFill>
                <a:latin typeface="Consolas" panose="020B0609020204030204" pitchFamily="49" charset="0"/>
                <a:sym typeface="+mn-ea"/>
              </a:rPr>
              <a:t> &amp;</a:t>
            </a:r>
            <a:r>
              <a:rPr lang="en-US" altLang="zh-CN" dirty="0" err="1">
                <a:solidFill>
                  <a:srgbClr val="000000"/>
                </a:solidFill>
                <a:latin typeface="Consolas" panose="020B0609020204030204" pitchFamily="49" charset="0"/>
                <a:sym typeface="+mn-ea"/>
              </a:rPr>
              <a:t>i</a:t>
            </a:r>
            <a:r>
              <a:rPr lang="en-US" altLang="zh-CN" dirty="0">
                <a:solidFill>
                  <a:srgbClr val="000000"/>
                </a:solidFill>
                <a:latin typeface="Consolas" panose="020B0609020204030204" pitchFamily="49" charset="0"/>
                <a:sym typeface="+mn-ea"/>
              </a:rPr>
              <a:t> : s)</a:t>
            </a:r>
            <a:endParaRPr lang="en-US" altLang="zh-CN" dirty="0">
              <a:solidFill>
                <a:srgbClr val="000000"/>
              </a:solidFill>
              <a:latin typeface="Consolas" panose="020B0609020204030204" pitchFamily="49" charset="0"/>
            </a:endParaRPr>
          </a:p>
          <a:p>
            <a:r>
              <a:rPr lang="en-US" altLang="zh-CN"/>
              <a:t>---C++11</a:t>
            </a:r>
            <a:r>
              <a:rPr lang="zh-CN" altLang="en-US"/>
              <a:t>中的增强</a:t>
            </a:r>
            <a:r>
              <a:rPr lang="en-US" altLang="zh-CN"/>
              <a:t>for</a:t>
            </a:r>
            <a:r>
              <a:rPr lang="zh-CN" altLang="en-US"/>
              <a:t>循环，对容器中元素进行遍历</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2F8CF1C-487D-420B-90B1-C0F4191E2034}" type="slidenum">
              <a:rPr lang="zh-CN" altLang="en-US" smtClean="0"/>
            </a:fld>
            <a:endParaRPr lang="zh-CN" altLang="en-US"/>
          </a:p>
        </p:txBody>
      </p:sp>
      <p:pic>
        <p:nvPicPr>
          <p:cNvPr id="7" name="图片 6"/>
          <p:cNvPicPr>
            <a:picLocks noChangeAspect="1"/>
          </p:cNvPicPr>
          <p:nvPr userDrawn="1"/>
        </p:nvPicPr>
        <p:blipFill>
          <a:blip r:embed="rId2"/>
          <a:stretch>
            <a:fillRect/>
          </a:stretch>
        </p:blipFill>
        <p:spPr>
          <a:xfrm>
            <a:off x="446627" y="287000"/>
            <a:ext cx="835224" cy="77425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9BB82E77-0F69-4D6B-8089-937D271F860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2F8CF1C-487D-420B-90B1-C0F4191E203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F949D5C-8927-4036-B92A-D9F195A44A7D}"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AD33FD5-61D2-4238-98DB-DB8C208BC9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B82E77-0F69-4D6B-8089-937D271F860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F8CF1C-487D-420B-90B1-C0F4191E203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mailto:328492647@qq.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4.png"/></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6.png"/><Relationship Id="rId1" Type="http://schemas.openxmlformats.org/officeDocument/2006/relationships/image" Target="../media/image44.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image" Target="../media/image44.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image" Target="../media/image44.png"/></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image" Target="../media/image44.png"/></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4.png"/><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image" Target="../media/image44.png"/></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image" Target="../media/image44.png"/></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4.png"/><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1.png"/><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4.png"/><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image" Target="../media/image44.png"/></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59.png"/><Relationship Id="rId4" Type="http://schemas.openxmlformats.org/officeDocument/2006/relationships/image" Target="../media/image54.png"/><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image" Target="../media/image44.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3.png"/><Relationship Id="rId2" Type="http://schemas.openxmlformats.org/officeDocument/2006/relationships/image" Target="../media/image46.png"/><Relationship Id="rId1" Type="http://schemas.openxmlformats.org/officeDocument/2006/relationships/image" Target="../media/image44.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46.png"/><Relationship Id="rId1" Type="http://schemas.openxmlformats.org/officeDocument/2006/relationships/image" Target="../media/image44.pn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46.png"/><Relationship Id="rId1" Type="http://schemas.openxmlformats.org/officeDocument/2006/relationships/image" Target="../media/image44.pn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46.png"/><Relationship Id="rId1" Type="http://schemas.openxmlformats.org/officeDocument/2006/relationships/image" Target="../media/image44.png"/></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46.png"/><Relationship Id="rId1" Type="http://schemas.openxmlformats.org/officeDocument/2006/relationships/image" Target="../media/image44.png"/></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 Id="rId3" Type="http://schemas.openxmlformats.org/officeDocument/2006/relationships/image" Target="../media/image71.png"/><Relationship Id="rId2" Type="http://schemas.openxmlformats.org/officeDocument/2006/relationships/image" Target="../media/image46.png"/><Relationship Id="rId1" Type="http://schemas.openxmlformats.org/officeDocument/2006/relationships/image" Target="../media/image44.pn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46.png"/><Relationship Id="rId1" Type="http://schemas.openxmlformats.org/officeDocument/2006/relationships/image" Target="../media/image44.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6.png"/><Relationship Id="rId2" Type="http://schemas.openxmlformats.org/officeDocument/2006/relationships/image" Target="../media/image46.png"/><Relationship Id="rId1" Type="http://schemas.openxmlformats.org/officeDocument/2006/relationships/image" Target="../media/image44.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0.png"/><Relationship Id="rId2" Type="http://schemas.openxmlformats.org/officeDocument/2006/relationships/image" Target="../media/image46.png"/><Relationship Id="rId1" Type="http://schemas.openxmlformats.org/officeDocument/2006/relationships/image" Target="../media/image44.png"/></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46.png"/><Relationship Id="rId1" Type="http://schemas.openxmlformats.org/officeDocument/2006/relationships/image" Target="../media/image44.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3.png"/><Relationship Id="rId2" Type="http://schemas.openxmlformats.org/officeDocument/2006/relationships/image" Target="../media/image46.png"/><Relationship Id="rId1" Type="http://schemas.openxmlformats.org/officeDocument/2006/relationships/image" Target="../media/image44.png"/></Relationships>
</file>

<file path=ppt/slides/_rels/slide5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59.png"/><Relationship Id="rId2" Type="http://schemas.openxmlformats.org/officeDocument/2006/relationships/image" Target="../media/image50.png"/><Relationship Id="rId1" Type="http://schemas.openxmlformats.org/officeDocument/2006/relationships/image" Target="../media/image44.png"/></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 Id="rId3" Type="http://schemas.openxmlformats.org/officeDocument/2006/relationships/image" Target="../media/image59.png"/><Relationship Id="rId2" Type="http://schemas.openxmlformats.org/officeDocument/2006/relationships/image" Target="../media/image50.png"/><Relationship Id="rId1" Type="http://schemas.openxmlformats.org/officeDocument/2006/relationships/image" Target="../media/image44.pn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1.png"/><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59.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3.png"/><Relationship Id="rId1" Type="http://schemas.openxmlformats.org/officeDocument/2006/relationships/image" Target="../media/image9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3.png"/><Relationship Id="rId1" Type="http://schemas.openxmlformats.org/officeDocument/2006/relationships/image" Target="../media/image92.png"/></Relationships>
</file>

<file path=ppt/slides/_rels/slide6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3" Type="http://schemas.openxmlformats.org/officeDocument/2006/relationships/image" Target="../media/image59.png"/><Relationship Id="rId2" Type="http://schemas.openxmlformats.org/officeDocument/2006/relationships/image" Target="../media/image50.png"/><Relationship Id="rId1" Type="http://schemas.openxmlformats.org/officeDocument/2006/relationships/image" Target="../media/image44.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image" Target="../media/image59.png"/></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image" Target="../media/image59.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image" Target="../media/image59.png"/></Relationships>
</file>

<file path=ppt/slides/_rels/slide6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image" Target="../media/image59.png"/></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4.png"/><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image" Target="../media/image59.png"/></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2.png"/><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image" Target="../media/image59.png"/></Relationships>
</file>

<file path=ppt/slides/_rels/slide7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17.png"/><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3"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image" Target="../media/image59.png"/></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8.png"/><Relationship Id="rId2" Type="http://schemas.openxmlformats.org/officeDocument/2006/relationships/image" Target="../media/image110.png"/><Relationship Id="rId1" Type="http://schemas.openxmlformats.org/officeDocument/2006/relationships/image" Target="../media/image59.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19.png"/><Relationship Id="rId1" Type="http://schemas.openxmlformats.org/officeDocument/2006/relationships/image" Target="../media/image59.png"/></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9.png"/><Relationship Id="rId3" Type="http://schemas.openxmlformats.org/officeDocument/2006/relationships/image" Target="../media/image54.png"/><Relationship Id="rId2" Type="http://schemas.openxmlformats.org/officeDocument/2006/relationships/image" Target="../media/image50.png"/><Relationship Id="rId1" Type="http://schemas.openxmlformats.org/officeDocument/2006/relationships/image" Target="../media/image44.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image" Target="../media/image59.png"/></Relationships>
</file>

<file path=ppt/slides/_rels/slide7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8.png"/><Relationship Id="rId7" Type="http://schemas.openxmlformats.org/officeDocument/2006/relationships/image" Target="../media/image127.png"/><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image" Target="../media/image59.png"/></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1.png"/><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image" Target="../media/image59.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3.png"/><Relationship Id="rId1" Type="http://schemas.openxmlformats.org/officeDocument/2006/relationships/image" Target="../media/image13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8.png"/><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image" Target="../media/image135.png"/></Relationships>
</file>

<file path=ppt/slides/_rels/slide8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2.png"/><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image" Target="../media/image13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t>面向对象程序设计（</a:t>
            </a:r>
            <a:r>
              <a:rPr lang="en-US" altLang="zh-CN" b="1" dirty="0"/>
              <a:t>C++</a:t>
            </a:r>
            <a:r>
              <a:rPr lang="zh-CN" altLang="en-US" b="1" dirty="0"/>
              <a:t>）</a:t>
            </a:r>
            <a:endParaRPr lang="zh-CN" altLang="en-US" b="1" dirty="0"/>
          </a:p>
        </p:txBody>
      </p:sp>
      <p:sp>
        <p:nvSpPr>
          <p:cNvPr id="6" name="TextBox 2"/>
          <p:cNvSpPr txBox="1">
            <a:spLocks noChangeArrowheads="1"/>
          </p:cNvSpPr>
          <p:nvPr/>
        </p:nvSpPr>
        <p:spPr bwMode="auto">
          <a:xfrm>
            <a:off x="2453244" y="3972296"/>
            <a:ext cx="7543800"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buFont typeface="Arial" panose="020B0604020202020204" pitchFamily="34" charset="0"/>
              <a:buNone/>
            </a:pPr>
            <a:endParaRPr lang="en-US" altLang="zh-CN" sz="2800" dirty="0">
              <a:latin typeface="微软雅黑" panose="020B0503020204020204" pitchFamily="34" charset="-122"/>
              <a:ea typeface="微软雅黑" panose="020B0503020204020204" pitchFamily="34" charset="-122"/>
            </a:endParaRPr>
          </a:p>
          <a:p>
            <a:pPr algn="ctr" eaLnBrk="1" hangingPunct="1">
              <a:buFont typeface="Arial" panose="020B0604020202020204" pitchFamily="34" charset="0"/>
              <a:buNone/>
            </a:pPr>
            <a:r>
              <a:rPr lang="zh-CN" altLang="en-US" sz="2800" dirty="0">
                <a:latin typeface="微软雅黑" panose="020B0503020204020204" pitchFamily="34" charset="-122"/>
                <a:ea typeface="微软雅黑" panose="020B0503020204020204" pitchFamily="34" charset="-122"/>
              </a:rPr>
              <a:t>中国地质大学（武汉）计算机学院信息安全系</a:t>
            </a:r>
            <a:endParaRPr lang="en-US" altLang="zh-CN" sz="2800" dirty="0">
              <a:latin typeface="微软雅黑" panose="020B0503020204020204" pitchFamily="34" charset="-122"/>
              <a:ea typeface="微软雅黑" panose="020B0503020204020204" pitchFamily="34" charset="-122"/>
            </a:endParaRPr>
          </a:p>
          <a:p>
            <a:pPr algn="ctr" eaLnBrk="1" hangingPunct="1">
              <a:buFont typeface="Arial" panose="020B0604020202020204" pitchFamily="34" charset="0"/>
              <a:buNone/>
            </a:pPr>
            <a:r>
              <a:rPr lang="zh-CN" altLang="en-US" sz="2800" dirty="0">
                <a:latin typeface="微软雅黑" panose="020B0503020204020204" pitchFamily="34" charset="-122"/>
                <a:ea typeface="微软雅黑" panose="020B0503020204020204" pitchFamily="34" charset="-122"/>
              </a:rPr>
              <a:t>  朱    静</a:t>
            </a:r>
            <a:endParaRPr lang="zh-CN" altLang="en-US" sz="2800" dirty="0">
              <a:latin typeface="微软雅黑" panose="020B0503020204020204" pitchFamily="34" charset="-122"/>
              <a:ea typeface="微软雅黑" panose="020B0503020204020204" pitchFamily="34" charset="-122"/>
            </a:endParaRPr>
          </a:p>
          <a:p>
            <a:pPr algn="ctr" eaLnBrk="1" hangingPunct="1">
              <a:buFont typeface="Arial" panose="020B0604020202020204" pitchFamily="34" charset="0"/>
              <a:buNone/>
            </a:pPr>
            <a:r>
              <a:rPr lang="en-US" altLang="zh-CN" sz="2800" dirty="0">
                <a:latin typeface="微软雅黑" panose="020B0503020204020204" pitchFamily="34" charset="-122"/>
                <a:ea typeface="微软雅黑" panose="020B0503020204020204" pitchFamily="34" charset="-122"/>
                <a:hlinkClick r:id="rId1"/>
              </a:rPr>
              <a:t>328492647@qq.com</a:t>
            </a:r>
            <a:endParaRPr lang="en-US" altLang="zh-CN" sz="2800" dirty="0">
              <a:latin typeface="微软雅黑" panose="020B0503020204020204" pitchFamily="34" charset="-122"/>
              <a:ea typeface="微软雅黑" panose="020B0503020204020204" pitchFamily="34" charset="-122"/>
            </a:endParaRPr>
          </a:p>
          <a:p>
            <a:pPr algn="ctr" eaLnBrk="1" hangingPunct="1">
              <a:buFont typeface="Arial" panose="020B0604020202020204" pitchFamily="34" charset="0"/>
              <a:buNone/>
            </a:pP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txBox="1">
            <a:spLocks noRot="1" noChangeArrowheads="1"/>
          </p:cNvSpPr>
          <p:nvPr/>
        </p:nvSpPr>
        <p:spPr>
          <a:xfrm>
            <a:off x="2084125" y="523617"/>
            <a:ext cx="8280400" cy="9826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b="1" dirty="0">
                <a:effectLst>
                  <a:outerShdw blurRad="38100" dist="38100" dir="2700000" algn="tl">
                    <a:srgbClr val="000000">
                      <a:alpha val="43137"/>
                    </a:srgbClr>
                  </a:outerShdw>
                </a:effectLst>
              </a:rPr>
              <a:t>第</a:t>
            </a:r>
            <a:r>
              <a:rPr lang="en-US" altLang="zh-CN" b="1" dirty="0">
                <a:effectLst>
                  <a:outerShdw blurRad="38100" dist="38100" dir="2700000" algn="tl">
                    <a:srgbClr val="000000">
                      <a:alpha val="43137"/>
                    </a:srgbClr>
                  </a:outerShdw>
                </a:effectLst>
              </a:rPr>
              <a:t>11</a:t>
            </a:r>
            <a:r>
              <a:rPr lang="zh-CN" altLang="en-US" b="1" dirty="0">
                <a:effectLst>
                  <a:outerShdw blurRad="38100" dist="38100" dir="2700000" algn="tl">
                    <a:srgbClr val="000000">
                      <a:alpha val="43137"/>
                    </a:srgbClr>
                  </a:outerShdw>
                </a:effectLst>
              </a:rPr>
              <a:t>章   标准模板库</a:t>
            </a:r>
            <a:r>
              <a:rPr lang="en-US" altLang="zh-CN" b="1" dirty="0">
                <a:effectLst>
                  <a:outerShdw blurRad="38100" dist="38100" dir="2700000" algn="tl">
                    <a:srgbClr val="000000">
                      <a:alpha val="43137"/>
                    </a:srgbClr>
                  </a:outerShdw>
                </a:effectLst>
              </a:rPr>
              <a:t>STL</a:t>
            </a:r>
            <a:endParaRPr lang="zh-CN" altLang="en-US" b="1" dirty="0">
              <a:effectLst>
                <a:outerShdw blurRad="38100" dist="38100" dir="2700000" algn="tl">
                  <a:srgbClr val="000000">
                    <a:alpha val="43137"/>
                  </a:srgbClr>
                </a:outerShdw>
              </a:effectLst>
            </a:endParaRPr>
          </a:p>
        </p:txBody>
      </p:sp>
      <p:sp>
        <p:nvSpPr>
          <p:cNvPr id="9" name="TextBox 2"/>
          <p:cNvSpPr txBox="1">
            <a:spLocks noChangeArrowheads="1"/>
          </p:cNvSpPr>
          <p:nvPr/>
        </p:nvSpPr>
        <p:spPr bwMode="auto">
          <a:xfrm>
            <a:off x="3464626" y="1997034"/>
            <a:ext cx="594360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buFont typeface="Arial" panose="020B0604020202020204" pitchFamily="34" charset="0"/>
              <a:buNone/>
            </a:pPr>
            <a:r>
              <a:rPr lang="zh-CN" altLang="en-US" sz="3200" b="1" dirty="0">
                <a:latin typeface="宋体" panose="02010600030101010101" pitchFamily="2" charset="-122"/>
                <a:ea typeface="宋体" panose="02010600030101010101" pitchFamily="2" charset="-122"/>
              </a:rPr>
              <a:t>本章主要内容：</a:t>
            </a:r>
            <a:endParaRPr lang="en-US" altLang="zh-CN" sz="3200" b="1"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STL</a:t>
            </a:r>
            <a:r>
              <a:rPr lang="zh-CN" altLang="en-US" sz="2400" dirty="0">
                <a:latin typeface="宋体" panose="02010600030101010101" pitchFamily="2" charset="-122"/>
                <a:ea typeface="宋体" panose="02010600030101010101" pitchFamily="2" charset="-122"/>
              </a:rPr>
              <a:t>概述</a:t>
            </a:r>
            <a:endParaRPr lang="zh-CN" altLang="en-US"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容器</a:t>
            </a:r>
            <a:endParaRPr lang="zh-CN" altLang="en-US"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迭代器</a:t>
            </a:r>
            <a:endParaRPr lang="zh-CN" altLang="en-US"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函数对象（</a:t>
            </a:r>
            <a:r>
              <a:rPr lang="en-US" altLang="zh-CN" sz="2400" dirty="0">
                <a:latin typeface="宋体" panose="02010600030101010101" pitchFamily="2" charset="-122"/>
                <a:ea typeface="宋体" panose="02010600030101010101" pitchFamily="2" charset="-122"/>
              </a:rPr>
              <a:t>Functor</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匿名函数</a:t>
            </a:r>
            <a:r>
              <a:rPr lang="en-US" altLang="zh-CN" sz="2400" dirty="0">
                <a:latin typeface="宋体" panose="02010600030101010101" pitchFamily="2" charset="-122"/>
                <a:ea typeface="宋体" panose="02010600030101010101" pitchFamily="2" charset="-122"/>
              </a:rPr>
              <a:t>Lambda</a:t>
            </a:r>
            <a:r>
              <a:rPr lang="zh-CN" altLang="en-US" sz="2400" dirty="0">
                <a:latin typeface="宋体" panose="02010600030101010101" pitchFamily="2" charset="-122"/>
                <a:ea typeface="宋体" panose="02010600030101010101" pitchFamily="2" charset="-122"/>
              </a:rPr>
              <a:t>表达式</a:t>
            </a:r>
            <a:endParaRPr lang="en-US" altLang="zh-CN"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算法</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Rot="1" noChangeArrowheads="1"/>
          </p:cNvSpPr>
          <p:nvPr/>
        </p:nvSpPr>
        <p:spPr>
          <a:xfrm>
            <a:off x="1495700" y="92369"/>
            <a:ext cx="8280400" cy="982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4000" b="1" dirty="0">
                <a:effectLst>
                  <a:outerShdw blurRad="38100" dist="38100" dir="2700000" algn="tl">
                    <a:srgbClr val="C0C0C0"/>
                  </a:outerShdw>
                </a:effectLst>
              </a:rPr>
              <a:t>11.1  </a:t>
            </a:r>
            <a:r>
              <a:rPr lang="en-US" altLang="zh-CN" sz="4000" b="1" dirty="0">
                <a:effectLst>
                  <a:outerShdw blurRad="38100" dist="38100" dir="2700000" algn="tl">
                    <a:srgbClr val="C0C0C0"/>
                  </a:outerShdw>
                </a:effectLst>
              </a:rPr>
              <a:t>STL</a:t>
            </a:r>
            <a:r>
              <a:rPr lang="zh-CN" altLang="en-US" sz="4000" b="1" dirty="0">
                <a:effectLst>
                  <a:outerShdw blurRad="38100" dist="38100" dir="2700000" algn="tl">
                    <a:srgbClr val="C0C0C0"/>
                  </a:outerShdw>
                </a:effectLst>
              </a:rPr>
              <a:t>概述</a:t>
            </a:r>
            <a:endParaRPr lang="zh-CN" altLang="en-US" sz="4000" b="1" dirty="0"/>
          </a:p>
        </p:txBody>
      </p:sp>
      <p:sp>
        <p:nvSpPr>
          <p:cNvPr id="4" name="Text Box 3"/>
          <p:cNvSpPr txBox="1">
            <a:spLocks noChangeArrowheads="1"/>
          </p:cNvSpPr>
          <p:nvPr/>
        </p:nvSpPr>
        <p:spPr bwMode="auto">
          <a:xfrm>
            <a:off x="1366491" y="1782436"/>
            <a:ext cx="980509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Arial" panose="020B0604020202020204" pitchFamily="34" charset="0"/>
              <a:buChar char="•"/>
            </a:pPr>
            <a:r>
              <a:rPr lang="zh-CN" altLang="en-US" sz="2400" b="1" dirty="0">
                <a:ea typeface="宋体" panose="02010600030101010101" pitchFamily="2" charset="-122"/>
              </a:rPr>
              <a:t>库（</a:t>
            </a:r>
            <a:r>
              <a:rPr lang="en-US" altLang="zh-CN" sz="2400" b="1" dirty="0">
                <a:ea typeface="宋体" panose="02010600030101010101" pitchFamily="2" charset="-122"/>
              </a:rPr>
              <a:t>library</a:t>
            </a:r>
            <a:r>
              <a:rPr lang="zh-CN" altLang="en-US" sz="2400" b="1" dirty="0">
                <a:ea typeface="宋体" panose="02010600030101010101" pitchFamily="2" charset="-122"/>
              </a:rPr>
              <a:t>）是一系列程序组件（函数、模板）的集合，它们可以在不同的程序中重复使用。</a:t>
            </a:r>
            <a:endParaRPr lang="zh-CN" altLang="en-US" sz="2400" b="1" dirty="0">
              <a:ea typeface="宋体" panose="02010600030101010101" pitchFamily="2" charset="-122"/>
            </a:endParaRPr>
          </a:p>
          <a:p>
            <a:pPr marL="342900" indent="-342900">
              <a:buFont typeface="Arial" panose="020B0604020202020204" pitchFamily="34" charset="0"/>
              <a:buChar char="•"/>
            </a:pPr>
            <a:r>
              <a:rPr lang="zh-CN" altLang="en-US" sz="2400" b="1" dirty="0">
                <a:solidFill>
                  <a:srgbClr val="FF0000"/>
                </a:solidFill>
                <a:ea typeface="宋体" panose="02010600030101010101" pitchFamily="2" charset="-122"/>
              </a:rPr>
              <a:t>标准模板库（</a:t>
            </a:r>
            <a:r>
              <a:rPr lang="en-US" altLang="zh-CN" sz="2400" b="1" dirty="0">
                <a:solidFill>
                  <a:srgbClr val="FF0000"/>
                </a:solidFill>
                <a:ea typeface="宋体" panose="02010600030101010101" pitchFamily="2" charset="-122"/>
              </a:rPr>
              <a:t>Standard Template Library</a:t>
            </a:r>
            <a:r>
              <a:rPr lang="zh-CN" altLang="en-US" sz="2400" b="1" dirty="0">
                <a:solidFill>
                  <a:srgbClr val="FF0000"/>
                </a:solidFill>
                <a:ea typeface="宋体" panose="02010600030101010101" pitchFamily="2" charset="-122"/>
              </a:rPr>
              <a:t>）</a:t>
            </a:r>
            <a:r>
              <a:rPr lang="zh-CN" altLang="en-US" sz="2400" b="1" dirty="0">
                <a:ea typeface="宋体" panose="02010600030101010101" pitchFamily="2" charset="-122"/>
              </a:rPr>
              <a:t>是</a:t>
            </a:r>
            <a:r>
              <a:rPr lang="en-US" altLang="zh-CN" sz="2400" b="1" dirty="0">
                <a:ea typeface="宋体" panose="02010600030101010101" pitchFamily="2" charset="-122"/>
              </a:rPr>
              <a:t>ANSI/ISO C++</a:t>
            </a:r>
            <a:r>
              <a:rPr lang="zh-CN" altLang="en-US" sz="2400" b="1" dirty="0">
                <a:ea typeface="宋体" panose="02010600030101010101" pitchFamily="2" charset="-122"/>
              </a:rPr>
              <a:t>最有特色、最实用的部分之一。</a:t>
            </a:r>
            <a:endParaRPr lang="en-US" altLang="zh-CN" sz="2400" b="1" dirty="0">
              <a:ea typeface="宋体" panose="02010600030101010101" pitchFamily="2" charset="-122"/>
            </a:endParaRPr>
          </a:p>
          <a:p>
            <a:pPr marL="342900" indent="-342900">
              <a:buFont typeface="Arial" panose="020B0604020202020204" pitchFamily="34" charset="0"/>
              <a:buChar char="•"/>
            </a:pPr>
            <a:r>
              <a:rPr lang="en-US" altLang="zh-CN" sz="2400" b="1" dirty="0">
                <a:ea typeface="宋体" panose="02010600030101010101" pitchFamily="2" charset="-122"/>
              </a:rPr>
              <a:t>STL</a:t>
            </a:r>
            <a:r>
              <a:rPr lang="zh-CN" altLang="en-US" sz="2400" b="1" dirty="0">
                <a:ea typeface="宋体" panose="02010600030101010101" pitchFamily="2" charset="-122"/>
              </a:rPr>
              <a:t>主要包含：</a:t>
            </a:r>
            <a:r>
              <a:rPr lang="zh-CN" altLang="en-US" sz="2400" b="1" dirty="0">
                <a:solidFill>
                  <a:srgbClr val="FF0000"/>
                </a:solidFill>
                <a:ea typeface="宋体" panose="02010600030101010101" pitchFamily="2" charset="-122"/>
              </a:rPr>
              <a:t>容器</a:t>
            </a:r>
            <a:r>
              <a:rPr lang="zh-CN" altLang="en-US" sz="2400" b="1" dirty="0">
                <a:ea typeface="宋体" panose="02010600030101010101" pitchFamily="2" charset="-122"/>
              </a:rPr>
              <a:t>（</a:t>
            </a:r>
            <a:r>
              <a:rPr lang="en-US" altLang="zh-CN" sz="2400" b="1" dirty="0">
                <a:ea typeface="宋体" panose="02010600030101010101" pitchFamily="2" charset="-122"/>
              </a:rPr>
              <a:t>container</a:t>
            </a:r>
            <a:r>
              <a:rPr lang="zh-CN" altLang="en-US" sz="2400" b="1" dirty="0">
                <a:ea typeface="宋体" panose="02010600030101010101" pitchFamily="2" charset="-122"/>
              </a:rPr>
              <a:t>）、</a:t>
            </a:r>
            <a:r>
              <a:rPr lang="zh-CN" altLang="en-US" sz="2400" b="1" dirty="0">
                <a:solidFill>
                  <a:srgbClr val="FF0000"/>
                </a:solidFill>
                <a:ea typeface="宋体" panose="02010600030101010101" pitchFamily="2" charset="-122"/>
              </a:rPr>
              <a:t>迭代器</a:t>
            </a:r>
            <a:r>
              <a:rPr lang="zh-CN" altLang="en-US" sz="2400" b="1" dirty="0">
                <a:ea typeface="宋体" panose="02010600030101010101" pitchFamily="2" charset="-122"/>
              </a:rPr>
              <a:t>（</a:t>
            </a:r>
            <a:r>
              <a:rPr lang="en-US" altLang="zh-CN" sz="2400" b="1" dirty="0">
                <a:ea typeface="宋体" panose="02010600030101010101" pitchFamily="2" charset="-122"/>
              </a:rPr>
              <a:t>iterator</a:t>
            </a:r>
            <a:r>
              <a:rPr lang="zh-CN" altLang="en-US" sz="2400" b="1" dirty="0">
                <a:ea typeface="宋体" panose="02010600030101010101" pitchFamily="2" charset="-122"/>
              </a:rPr>
              <a:t>）、</a:t>
            </a:r>
            <a:r>
              <a:rPr lang="zh-CN" altLang="en-US" sz="2400" b="1" dirty="0">
                <a:solidFill>
                  <a:srgbClr val="FF0000"/>
                </a:solidFill>
                <a:ea typeface="宋体" panose="02010600030101010101" pitchFamily="2" charset="-122"/>
              </a:rPr>
              <a:t>算法</a:t>
            </a:r>
            <a:r>
              <a:rPr lang="zh-CN" altLang="en-US" sz="2400" b="1" dirty="0">
                <a:ea typeface="宋体" panose="02010600030101010101" pitchFamily="2" charset="-122"/>
              </a:rPr>
              <a:t>（</a:t>
            </a:r>
            <a:r>
              <a:rPr lang="en-US" altLang="zh-CN" sz="2400" b="1" dirty="0">
                <a:ea typeface="宋体" panose="02010600030101010101" pitchFamily="2" charset="-122"/>
              </a:rPr>
              <a:t>algorithm</a:t>
            </a:r>
            <a:r>
              <a:rPr lang="zh-CN" altLang="en-US" sz="2400" b="1" dirty="0">
                <a:ea typeface="宋体" panose="02010600030101010101" pitchFamily="2" charset="-122"/>
              </a:rPr>
              <a:t>）</a:t>
            </a:r>
            <a:endParaRPr lang="en-US" altLang="zh-CN" sz="2400" b="1" dirty="0">
              <a:ea typeface="宋体" panose="02010600030101010101" pitchFamily="2" charset="-122"/>
            </a:endParaRPr>
          </a:p>
          <a:p>
            <a:pPr marL="342900" indent="-342900">
              <a:buFont typeface="Arial" panose="020B0604020202020204" pitchFamily="34" charset="0"/>
              <a:buChar char="•"/>
            </a:pPr>
            <a:r>
              <a:rPr lang="zh-CN" altLang="en-US" sz="2400" b="1" dirty="0">
                <a:solidFill>
                  <a:srgbClr val="FF0000"/>
                </a:solidFill>
                <a:ea typeface="宋体" panose="02010600030101010101" pitchFamily="2" charset="-122"/>
              </a:rPr>
              <a:t>容器</a:t>
            </a:r>
            <a:r>
              <a:rPr lang="zh-CN" altLang="en-US" sz="2400" b="1" dirty="0">
                <a:ea typeface="宋体" panose="02010600030101010101" pitchFamily="2" charset="-122"/>
              </a:rPr>
              <a:t>：可容纳各种数据类型的通用数据结构（</a:t>
            </a:r>
            <a:r>
              <a:rPr lang="zh-CN" altLang="en-US" sz="2400" b="1" dirty="0">
                <a:solidFill>
                  <a:srgbClr val="0066FF"/>
                </a:solidFill>
                <a:ea typeface="宋体" panose="02010600030101010101" pitchFamily="2" charset="-122"/>
              </a:rPr>
              <a:t>类模板</a:t>
            </a:r>
            <a:r>
              <a:rPr lang="zh-CN" altLang="en-US" sz="2400" b="1" dirty="0">
                <a:ea typeface="宋体" panose="02010600030101010101" pitchFamily="2" charset="-122"/>
              </a:rPr>
              <a:t>）；</a:t>
            </a:r>
            <a:endParaRPr lang="en-US" altLang="zh-CN" sz="2400" b="1" dirty="0">
              <a:ea typeface="宋体" panose="02010600030101010101" pitchFamily="2" charset="-122"/>
            </a:endParaRPr>
          </a:p>
          <a:p>
            <a:pPr marL="342900" indent="-342900">
              <a:buFont typeface="Arial" panose="020B0604020202020204" pitchFamily="34" charset="0"/>
              <a:buChar char="•"/>
            </a:pPr>
            <a:r>
              <a:rPr lang="zh-CN" altLang="en-US" sz="2400" b="1" dirty="0">
                <a:solidFill>
                  <a:srgbClr val="FF0000"/>
                </a:solidFill>
                <a:ea typeface="宋体" panose="02010600030101010101" pitchFamily="2" charset="-122"/>
              </a:rPr>
              <a:t>迭代器</a:t>
            </a:r>
            <a:r>
              <a:rPr lang="zh-CN" altLang="en-US" sz="2400" b="1" dirty="0">
                <a:ea typeface="宋体" panose="02010600030101010101" pitchFamily="2" charset="-122"/>
              </a:rPr>
              <a:t>：定义为可以访问容器中数据元素的</a:t>
            </a:r>
            <a:r>
              <a:rPr lang="zh-CN" altLang="en-US" sz="2400" b="1" dirty="0">
                <a:solidFill>
                  <a:srgbClr val="0066FF"/>
                </a:solidFill>
                <a:ea typeface="宋体" panose="02010600030101010101" pitchFamily="2" charset="-122"/>
              </a:rPr>
              <a:t>类</a:t>
            </a:r>
            <a:r>
              <a:rPr lang="zh-CN" altLang="en-US" sz="2400" b="1" dirty="0">
                <a:ea typeface="宋体" panose="02010600030101010101" pitchFamily="2" charset="-122"/>
              </a:rPr>
              <a:t>；迭代器是指针的泛型化，它能象指针一样增减，可以包括指针，但又不仅仅是一个指针。</a:t>
            </a:r>
            <a:endParaRPr lang="en-US" altLang="zh-CN" sz="2400" b="1" dirty="0">
              <a:ea typeface="宋体" panose="02010600030101010101" pitchFamily="2" charset="-122"/>
            </a:endParaRPr>
          </a:p>
          <a:p>
            <a:pPr marL="342900" indent="-342900">
              <a:buFont typeface="Arial" panose="020B0604020202020204" pitchFamily="34" charset="0"/>
              <a:buChar char="•"/>
            </a:pPr>
            <a:r>
              <a:rPr lang="zh-CN" altLang="en-US" sz="2400" b="1" dirty="0">
                <a:solidFill>
                  <a:srgbClr val="FF0000"/>
                </a:solidFill>
                <a:ea typeface="宋体" panose="02010600030101010101" pitchFamily="2" charset="-122"/>
              </a:rPr>
              <a:t>算法</a:t>
            </a:r>
            <a:r>
              <a:rPr lang="zh-CN" altLang="en-US" sz="2400" b="1" dirty="0">
                <a:ea typeface="宋体" panose="02010600030101010101" pitchFamily="2" charset="-122"/>
              </a:rPr>
              <a:t>：可对容器中数据元素进行各种操作（如</a:t>
            </a:r>
            <a:r>
              <a:rPr lang="en-US" altLang="zh-CN" sz="2400" b="1" dirty="0">
                <a:ea typeface="宋体" panose="02010600030101010101" pitchFamily="2" charset="-122"/>
              </a:rPr>
              <a:t>sort</a:t>
            </a:r>
            <a:r>
              <a:rPr lang="zh-CN" altLang="en-US" sz="2400" b="1" dirty="0">
                <a:ea typeface="宋体" panose="02010600030101010101" pitchFamily="2" charset="-122"/>
              </a:rPr>
              <a:t>，</a:t>
            </a:r>
            <a:r>
              <a:rPr lang="en-US" altLang="zh-CN" sz="2400" b="1" dirty="0">
                <a:ea typeface="宋体" panose="02010600030101010101" pitchFamily="2" charset="-122"/>
              </a:rPr>
              <a:t>find</a:t>
            </a:r>
            <a:r>
              <a:rPr lang="zh-CN" altLang="en-US" sz="2400" b="1" dirty="0">
                <a:ea typeface="宋体" panose="02010600030101010101" pitchFamily="2" charset="-122"/>
              </a:rPr>
              <a:t>）的</a:t>
            </a:r>
            <a:r>
              <a:rPr lang="zh-CN" altLang="en-US" sz="2400" b="1" dirty="0">
                <a:solidFill>
                  <a:srgbClr val="0066FF"/>
                </a:solidFill>
                <a:ea typeface="宋体" panose="02010600030101010101" pitchFamily="2" charset="-122"/>
              </a:rPr>
              <a:t>函数模板</a:t>
            </a:r>
            <a:r>
              <a:rPr lang="zh-CN" altLang="en-US" sz="2400" b="1" dirty="0">
                <a:ea typeface="宋体" panose="02010600030101010101" pitchFamily="2" charset="-122"/>
              </a:rPr>
              <a:t>；</a:t>
            </a:r>
            <a:endParaRPr lang="en-US" altLang="zh-CN" sz="2400" b="1" dirty="0">
              <a:ea typeface="宋体" panose="02010600030101010101" pitchFamily="2" charset="-122"/>
            </a:endParaRPr>
          </a:p>
          <a:p>
            <a:endParaRPr lang="zh-CN" altLang="en-US" sz="2400" b="1" dirty="0">
              <a:ea typeface="宋体" panose="02010600030101010101" pitchFamily="2" charset="-122"/>
            </a:endParaRPr>
          </a:p>
          <a:p>
            <a:endParaRPr lang="zh-CN" altLang="en-US" sz="2400" b="1" dirty="0">
              <a:ea typeface="宋体" panose="02010600030101010101" pitchFamily="2" charset="-122"/>
            </a:endParaRPr>
          </a:p>
        </p:txBody>
      </p:sp>
      <p:sp>
        <p:nvSpPr>
          <p:cNvPr id="5" name="Rectangle 7"/>
          <p:cNvSpPr>
            <a:spLocks noChangeArrowheads="1"/>
          </p:cNvSpPr>
          <p:nvPr/>
        </p:nvSpPr>
        <p:spPr bwMode="auto">
          <a:xfrm>
            <a:off x="1247291" y="1075032"/>
            <a:ext cx="3245195" cy="5847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dirty="0">
                <a:solidFill>
                  <a:srgbClr val="006600"/>
                </a:solidFill>
                <a:ea typeface="隶书" panose="02010509060101010101" pitchFamily="49" charset="-122"/>
              </a:rPr>
              <a:t>标准模板库</a:t>
            </a:r>
            <a:r>
              <a:rPr lang="en-US" altLang="zh-CN" sz="3200" dirty="0">
                <a:solidFill>
                  <a:srgbClr val="006600"/>
                </a:solidFill>
                <a:ea typeface="隶书" panose="02010509060101010101" pitchFamily="49" charset="-122"/>
              </a:rPr>
              <a:t>STL</a:t>
            </a:r>
            <a:endParaRPr lang="zh-CN" altLang="en-US" sz="3200" dirty="0">
              <a:solidFill>
                <a:srgbClr val="006600"/>
              </a:solidFill>
              <a:ea typeface="隶书" panose="020105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431234" y="1453524"/>
            <a:ext cx="9487180" cy="3366954"/>
          </a:xfrm>
          <a:prstGeom prst="rect">
            <a:avLst/>
          </a:prstGeom>
        </p:spPr>
      </p:pic>
      <p:pic>
        <p:nvPicPr>
          <p:cNvPr id="9" name="图片 8"/>
          <p:cNvPicPr>
            <a:picLocks noChangeAspect="1"/>
          </p:cNvPicPr>
          <p:nvPr/>
        </p:nvPicPr>
        <p:blipFill>
          <a:blip r:embed="rId2"/>
          <a:stretch>
            <a:fillRect/>
          </a:stretch>
        </p:blipFill>
        <p:spPr>
          <a:xfrm>
            <a:off x="10127974" y="1495325"/>
            <a:ext cx="1227763" cy="611633"/>
          </a:xfrm>
          <a:prstGeom prst="rect">
            <a:avLst/>
          </a:prstGeom>
        </p:spPr>
      </p:pic>
      <p:pic>
        <p:nvPicPr>
          <p:cNvPr id="11" name="图片 10"/>
          <p:cNvPicPr>
            <a:picLocks noChangeAspect="1"/>
          </p:cNvPicPr>
          <p:nvPr/>
        </p:nvPicPr>
        <p:blipFill>
          <a:blip r:embed="rId2"/>
          <a:stretch>
            <a:fillRect/>
          </a:stretch>
        </p:blipFill>
        <p:spPr>
          <a:xfrm>
            <a:off x="5408085" y="4388656"/>
            <a:ext cx="1733639" cy="863644"/>
          </a:xfrm>
          <a:prstGeom prst="rect">
            <a:avLst/>
          </a:prstGeom>
        </p:spPr>
      </p:pic>
      <p:sp>
        <p:nvSpPr>
          <p:cNvPr id="12" name="Rectangle 7"/>
          <p:cNvSpPr>
            <a:spLocks noChangeArrowheads="1"/>
          </p:cNvSpPr>
          <p:nvPr/>
        </p:nvSpPr>
        <p:spPr bwMode="auto">
          <a:xfrm>
            <a:off x="730457" y="910550"/>
            <a:ext cx="4677628" cy="46166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solidFill>
                  <a:srgbClr val="006600"/>
                </a:solidFill>
                <a:ea typeface="隶书" panose="02010509060101010101" pitchFamily="49" charset="-122"/>
              </a:rPr>
              <a:t>例：</a:t>
            </a:r>
            <a:r>
              <a:rPr lang="en-US" altLang="zh-CN" sz="2400" dirty="0">
                <a:solidFill>
                  <a:srgbClr val="006600"/>
                </a:solidFill>
                <a:ea typeface="隶书" panose="02010509060101010101" pitchFamily="49" charset="-122"/>
              </a:rPr>
              <a:t>STL</a:t>
            </a:r>
            <a:r>
              <a:rPr lang="zh-CN" altLang="en-US" sz="2400" dirty="0">
                <a:solidFill>
                  <a:srgbClr val="006600"/>
                </a:solidFill>
                <a:ea typeface="隶书" panose="02010509060101010101" pitchFamily="49" charset="-122"/>
              </a:rPr>
              <a:t>相关概念理解简单示例</a:t>
            </a:r>
            <a:endParaRPr lang="zh-CN" altLang="en-US" sz="2400" dirty="0">
              <a:solidFill>
                <a:srgbClr val="006600"/>
              </a:solidFill>
              <a:ea typeface="隶书" panose="020105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48189" y="978586"/>
            <a:ext cx="972461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容器</a:t>
            </a:r>
            <a:r>
              <a:rPr kumimoji="0" lang="zh-CN" altLang="en-US" sz="2800" dirty="0">
                <a:solidFill>
                  <a:srgbClr val="006600"/>
                </a:solidFill>
                <a:ea typeface="隶书" panose="02010509060101010101" pitchFamily="49" charset="-122"/>
              </a:rPr>
              <a:t>（</a:t>
            </a:r>
            <a:r>
              <a:rPr kumimoji="0" lang="en-US" altLang="zh-CN" sz="2800" dirty="0">
                <a:solidFill>
                  <a:srgbClr val="006600"/>
                </a:solidFill>
                <a:ea typeface="隶书" panose="02010509060101010101" pitchFamily="49" charset="-122"/>
              </a:rPr>
              <a:t>Container</a:t>
            </a:r>
            <a:r>
              <a:rPr kumimoji="0" lang="zh-CN" altLang="en-US" sz="2800" dirty="0">
                <a:solidFill>
                  <a:srgbClr val="006600"/>
                </a:solidFill>
                <a:ea typeface="隶书" panose="02010509060101010101" pitchFamily="49" charset="-122"/>
              </a:rPr>
              <a:t>）</a:t>
            </a:r>
            <a:r>
              <a:rPr kumimoji="0" lang="en-US" altLang="zh-CN" sz="2800" dirty="0">
                <a:solidFill>
                  <a:srgbClr val="006600"/>
                </a:solidFill>
                <a:ea typeface="隶书" panose="02010509060101010101" pitchFamily="49" charset="-122"/>
              </a:rPr>
              <a:t>---</a:t>
            </a:r>
            <a:r>
              <a:rPr kumimoji="0" lang="zh-CN" altLang="en-US" sz="2800" dirty="0">
                <a:solidFill>
                  <a:srgbClr val="006600"/>
                </a:solidFill>
                <a:ea typeface="隶书" panose="02010509060101010101" pitchFamily="49" charset="-122"/>
              </a:rPr>
              <a:t>标准类模板</a:t>
            </a:r>
            <a:endParaRPr kumimoji="0" lang="en-US" altLang="zh-CN" sz="2800" dirty="0">
              <a:solidFill>
                <a:srgbClr val="006600"/>
              </a:solidFill>
              <a:ea typeface="隶书" panose="02010509060101010101" pitchFamily="49" charset="-122"/>
            </a:endParaRPr>
          </a:p>
          <a:p>
            <a:pPr>
              <a:buFont typeface="Arial" panose="020B0604020202020204" pitchFamily="34" charset="0"/>
              <a:buChar char="•"/>
            </a:pPr>
            <a:r>
              <a:rPr kumimoji="0" lang="zh-CN" altLang="en-US" b="1" dirty="0">
                <a:latin typeface="宋体" panose="02010600030101010101" pitchFamily="2" charset="-122"/>
              </a:rPr>
              <a:t>容器是可</a:t>
            </a:r>
            <a:r>
              <a:rPr kumimoji="0" lang="zh-CN" altLang="en-US" b="1" dirty="0">
                <a:solidFill>
                  <a:srgbClr val="0066FF"/>
                </a:solidFill>
                <a:latin typeface="宋体" panose="02010600030101010101" pitchFamily="2" charset="-122"/>
              </a:rPr>
              <a:t>容纳各种数据类型的通用数据结构（类模板）</a:t>
            </a:r>
            <a:r>
              <a:rPr kumimoji="0" lang="zh-CN" altLang="en-US" b="1" dirty="0">
                <a:latin typeface="宋体" panose="02010600030101010101" pitchFamily="2" charset="-122"/>
              </a:rPr>
              <a:t>。通过由容器类提供的</a:t>
            </a:r>
            <a:r>
              <a:rPr kumimoji="0" lang="zh-CN" altLang="en-US" b="1" dirty="0">
                <a:solidFill>
                  <a:srgbClr val="0066FF"/>
                </a:solidFill>
                <a:latin typeface="宋体" panose="02010600030101010101" pitchFamily="2" charset="-122"/>
              </a:rPr>
              <a:t>成员函数</a:t>
            </a:r>
            <a:r>
              <a:rPr kumimoji="0" lang="zh-CN" altLang="en-US" b="1" dirty="0">
                <a:latin typeface="宋体" panose="02010600030101010101" pitchFamily="2" charset="-122"/>
              </a:rPr>
              <a:t>，可以实现诸如向序列中插入元素，删除元素，查找元素等</a:t>
            </a:r>
            <a:r>
              <a:rPr kumimoji="0" lang="zh-CN" altLang="en-US" b="1" dirty="0">
                <a:solidFill>
                  <a:srgbClr val="0066FF"/>
                </a:solidFill>
                <a:latin typeface="宋体" panose="02010600030101010101" pitchFamily="2" charset="-122"/>
              </a:rPr>
              <a:t>基本</a:t>
            </a:r>
            <a:r>
              <a:rPr kumimoji="0" lang="zh-CN" altLang="en-US" b="1" dirty="0">
                <a:latin typeface="宋体" panose="02010600030101010101" pitchFamily="2" charset="-122"/>
              </a:rPr>
              <a:t>操作。</a:t>
            </a:r>
            <a:endParaRPr kumimoji="0" lang="zh-CN" altLang="en-US" b="1" dirty="0">
              <a:latin typeface="宋体" panose="02010600030101010101" pitchFamily="2" charset="-122"/>
            </a:endParaRPr>
          </a:p>
        </p:txBody>
      </p:sp>
      <p:sp>
        <p:nvSpPr>
          <p:cNvPr id="5" name="Text Box 11"/>
          <p:cNvSpPr txBox="1">
            <a:spLocks noChangeArrowheads="1"/>
          </p:cNvSpPr>
          <p:nvPr/>
        </p:nvSpPr>
        <p:spPr bwMode="auto">
          <a:xfrm>
            <a:off x="1248189" y="2737146"/>
            <a:ext cx="955481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Arial" panose="020B0604020202020204" pitchFamily="34" charset="0"/>
              <a:buChar char="•"/>
            </a:pPr>
            <a:r>
              <a:rPr lang="zh-CN" altLang="en-US" sz="2400" b="1" dirty="0"/>
              <a:t>容器分为三大类：</a:t>
            </a:r>
            <a:endParaRPr lang="zh-CN" altLang="en-US" sz="2400" b="1" dirty="0"/>
          </a:p>
          <a:p>
            <a:r>
              <a:rPr lang="zh-CN" altLang="en-US" sz="2400" dirty="0">
                <a:solidFill>
                  <a:srgbClr val="FF0000"/>
                </a:solidFill>
              </a:rPr>
              <a:t>顺序容器</a:t>
            </a:r>
            <a:r>
              <a:rPr lang="zh-CN" altLang="en-US" sz="2400" dirty="0">
                <a:solidFill>
                  <a:srgbClr val="0066FF"/>
                </a:solidFill>
              </a:rPr>
              <a:t>：</a:t>
            </a:r>
            <a:r>
              <a:rPr lang="zh-CN" altLang="en-US" sz="2400" dirty="0"/>
              <a:t>包含</a:t>
            </a:r>
            <a:r>
              <a:rPr lang="en-US" altLang="zh-CN" sz="2400" dirty="0">
                <a:solidFill>
                  <a:srgbClr val="0066FF"/>
                </a:solidFill>
              </a:rPr>
              <a:t>vector</a:t>
            </a:r>
            <a:r>
              <a:rPr lang="zh-CN" altLang="en-US" sz="2400" dirty="0">
                <a:solidFill>
                  <a:srgbClr val="0066FF"/>
                </a:solidFill>
              </a:rPr>
              <a:t>、</a:t>
            </a:r>
            <a:r>
              <a:rPr lang="en-US" altLang="zh-CN" sz="2400" dirty="0">
                <a:solidFill>
                  <a:srgbClr val="0066FF"/>
                </a:solidFill>
              </a:rPr>
              <a:t>deque</a:t>
            </a:r>
            <a:r>
              <a:rPr lang="zh-CN" altLang="en-US" sz="2400" dirty="0">
                <a:solidFill>
                  <a:srgbClr val="0066FF"/>
                </a:solidFill>
              </a:rPr>
              <a:t>、</a:t>
            </a:r>
            <a:r>
              <a:rPr lang="en-US" altLang="zh-CN" sz="2400" dirty="0">
                <a:solidFill>
                  <a:srgbClr val="0066FF"/>
                </a:solidFill>
              </a:rPr>
              <a:t>list</a:t>
            </a:r>
            <a:r>
              <a:rPr lang="en-US" altLang="zh-CN" sz="2400" dirty="0"/>
              <a:t>	</a:t>
            </a:r>
            <a:endParaRPr lang="en-US" altLang="zh-CN" sz="2400" dirty="0"/>
          </a:p>
          <a:p>
            <a:r>
              <a:rPr lang="zh-CN" altLang="en-US" sz="2400" dirty="0">
                <a:solidFill>
                  <a:srgbClr val="FF0000"/>
                </a:solidFill>
              </a:rPr>
              <a:t>关联容器</a:t>
            </a:r>
            <a:r>
              <a:rPr lang="zh-CN" altLang="en-US" sz="2400" dirty="0">
                <a:solidFill>
                  <a:srgbClr val="0066FF"/>
                </a:solidFill>
              </a:rPr>
              <a:t>：</a:t>
            </a:r>
            <a:r>
              <a:rPr lang="zh-CN" altLang="en-US" sz="2400" dirty="0"/>
              <a:t>包含</a:t>
            </a:r>
            <a:r>
              <a:rPr lang="en-US" altLang="zh-CN" sz="2400" dirty="0">
                <a:solidFill>
                  <a:srgbClr val="0066FF"/>
                </a:solidFill>
              </a:rPr>
              <a:t>set</a:t>
            </a:r>
            <a:r>
              <a:rPr lang="zh-CN" altLang="en-US" sz="2400" dirty="0">
                <a:solidFill>
                  <a:srgbClr val="0066FF"/>
                </a:solidFill>
              </a:rPr>
              <a:t>、</a:t>
            </a:r>
            <a:r>
              <a:rPr lang="en-US" altLang="zh-CN" sz="2400" dirty="0">
                <a:solidFill>
                  <a:srgbClr val="0066FF"/>
                </a:solidFill>
              </a:rPr>
              <a:t>multiset</a:t>
            </a:r>
            <a:r>
              <a:rPr lang="zh-CN" altLang="en-US" sz="2400" dirty="0">
                <a:solidFill>
                  <a:srgbClr val="0066FF"/>
                </a:solidFill>
              </a:rPr>
              <a:t>、</a:t>
            </a:r>
            <a:r>
              <a:rPr lang="en-US" altLang="zh-CN" sz="2400" dirty="0">
                <a:solidFill>
                  <a:srgbClr val="0066FF"/>
                </a:solidFill>
              </a:rPr>
              <a:t>map</a:t>
            </a:r>
            <a:r>
              <a:rPr lang="zh-CN" altLang="en-US" sz="2400" dirty="0">
                <a:solidFill>
                  <a:srgbClr val="0066FF"/>
                </a:solidFill>
              </a:rPr>
              <a:t>、</a:t>
            </a:r>
            <a:r>
              <a:rPr lang="en-US" altLang="zh-CN" sz="2400" dirty="0">
                <a:solidFill>
                  <a:srgbClr val="0066FF"/>
                </a:solidFill>
              </a:rPr>
              <a:t>multimap</a:t>
            </a:r>
            <a:endParaRPr lang="en-US" altLang="zh-CN" sz="2400" dirty="0">
              <a:solidFill>
                <a:srgbClr val="0066FF"/>
              </a:solidFill>
            </a:endParaRPr>
          </a:p>
          <a:p>
            <a:r>
              <a:rPr lang="zh-CN" altLang="en-US" sz="2400" dirty="0">
                <a:solidFill>
                  <a:srgbClr val="FF0000"/>
                </a:solidFill>
              </a:rPr>
              <a:t>容器适配器</a:t>
            </a:r>
            <a:r>
              <a:rPr lang="zh-CN" altLang="en-US" sz="2400" dirty="0">
                <a:solidFill>
                  <a:srgbClr val="0066FF"/>
                </a:solidFill>
              </a:rPr>
              <a:t>：</a:t>
            </a:r>
            <a:r>
              <a:rPr lang="zh-CN" altLang="en-US" sz="2400" dirty="0"/>
              <a:t>包含</a:t>
            </a:r>
            <a:r>
              <a:rPr lang="en-US" altLang="zh-CN" sz="2400" dirty="0">
                <a:solidFill>
                  <a:srgbClr val="0066FF"/>
                </a:solidFill>
              </a:rPr>
              <a:t>stack</a:t>
            </a:r>
            <a:r>
              <a:rPr lang="zh-CN" altLang="en-US" sz="2400" dirty="0">
                <a:solidFill>
                  <a:srgbClr val="0066FF"/>
                </a:solidFill>
              </a:rPr>
              <a:t>、</a:t>
            </a:r>
            <a:r>
              <a:rPr lang="en-US" altLang="zh-CN" sz="2400" dirty="0">
                <a:solidFill>
                  <a:srgbClr val="0066FF"/>
                </a:solidFill>
              </a:rPr>
              <a:t>queue</a:t>
            </a:r>
            <a:r>
              <a:rPr lang="zh-CN" altLang="en-US" sz="2400" dirty="0">
                <a:solidFill>
                  <a:srgbClr val="0066FF"/>
                </a:solidFill>
              </a:rPr>
              <a:t>、</a:t>
            </a:r>
            <a:r>
              <a:rPr lang="en-US" altLang="zh-CN" sz="2400" dirty="0" err="1">
                <a:solidFill>
                  <a:srgbClr val="0066FF"/>
                </a:solidFill>
              </a:rPr>
              <a:t>priority_queue</a:t>
            </a:r>
            <a:endParaRPr lang="zh-CN" altLang="en-US" sz="2400" dirty="0"/>
          </a:p>
        </p:txBody>
      </p:sp>
      <p:sp>
        <p:nvSpPr>
          <p:cNvPr id="6" name="Rectangle 2"/>
          <p:cNvSpPr txBox="1">
            <a:spLocks noRot="1" noChangeArrowheads="1"/>
          </p:cNvSpPr>
          <p:nvPr/>
        </p:nvSpPr>
        <p:spPr>
          <a:xfrm>
            <a:off x="1495700" y="92369"/>
            <a:ext cx="8280400" cy="982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4000" b="1" dirty="0">
                <a:effectLst>
                  <a:outerShdw blurRad="38100" dist="38100" dir="2700000" algn="tl">
                    <a:srgbClr val="C0C0C0"/>
                  </a:outerShdw>
                </a:effectLst>
              </a:rPr>
              <a:t>11.2  </a:t>
            </a:r>
            <a:r>
              <a:rPr lang="zh-CN" altLang="en-US" sz="4000" b="1" dirty="0">
                <a:effectLst>
                  <a:outerShdw blurRad="38100" dist="38100" dir="2700000" algn="tl">
                    <a:srgbClr val="C0C0C0"/>
                  </a:outerShdw>
                </a:effectLst>
              </a:rPr>
              <a:t>容器简介</a:t>
            </a:r>
            <a:endParaRPr lang="zh-CN" altLang="en-US" sz="4000" b="1" dirty="0"/>
          </a:p>
        </p:txBody>
      </p:sp>
      <p:sp>
        <p:nvSpPr>
          <p:cNvPr id="7" name="Text Box 11"/>
          <p:cNvSpPr txBox="1">
            <a:spLocks noChangeArrowheads="1"/>
          </p:cNvSpPr>
          <p:nvPr/>
        </p:nvSpPr>
        <p:spPr bwMode="auto">
          <a:xfrm>
            <a:off x="1318591" y="4434150"/>
            <a:ext cx="95548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Arial" panose="020B0604020202020204" pitchFamily="34" charset="0"/>
              <a:buChar char="•"/>
            </a:pPr>
            <a:r>
              <a:rPr lang="zh-CN" altLang="en-US" sz="2400" dirty="0">
                <a:solidFill>
                  <a:srgbClr val="0066FF"/>
                </a:solidFill>
              </a:rPr>
              <a:t>顺序容器、关联容器</a:t>
            </a:r>
            <a:r>
              <a:rPr lang="zh-CN" altLang="en-US" sz="2400" dirty="0"/>
              <a:t>合称为</a:t>
            </a:r>
            <a:r>
              <a:rPr lang="zh-CN" altLang="en-US" sz="2400" dirty="0">
                <a:solidFill>
                  <a:srgbClr val="FF0000"/>
                </a:solidFill>
              </a:rPr>
              <a:t>第一类容器</a:t>
            </a:r>
            <a:endParaRPr lang="zh-CN"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1"/>
          <p:cNvSpPr txBox="1">
            <a:spLocks noChangeArrowheads="1"/>
          </p:cNvSpPr>
          <p:nvPr/>
        </p:nvSpPr>
        <p:spPr bwMode="auto">
          <a:xfrm>
            <a:off x="1119809" y="371326"/>
            <a:ext cx="95548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Arial" panose="020B0604020202020204" pitchFamily="34" charset="0"/>
              <a:buChar char="•"/>
            </a:pPr>
            <a:r>
              <a:rPr lang="zh-CN" altLang="en-US" sz="2400" b="1" dirty="0"/>
              <a:t>容器类说明</a:t>
            </a:r>
            <a:endParaRPr lang="zh-CN" altLang="en-US" sz="2400" dirty="0"/>
          </a:p>
        </p:txBody>
      </p:sp>
      <p:graphicFrame>
        <p:nvGraphicFramePr>
          <p:cNvPr id="9" name="Group 3"/>
          <p:cNvGraphicFramePr>
            <a:graphicFrameLocks noGrp="1"/>
          </p:cNvGraphicFramePr>
          <p:nvPr>
            <p:ph idx="1"/>
            <p:custDataLst>
              <p:tags r:id="rId1"/>
            </p:custDataLst>
          </p:nvPr>
        </p:nvGraphicFramePr>
        <p:xfrm>
          <a:off x="1425780" y="1165734"/>
          <a:ext cx="9636760" cy="4959350"/>
        </p:xfrm>
        <a:graphic>
          <a:graphicData uri="http://schemas.openxmlformats.org/drawingml/2006/table">
            <a:tbl>
              <a:tblPr/>
              <a:tblGrid>
                <a:gridCol w="3583305"/>
                <a:gridCol w="6053455"/>
              </a:tblGrid>
              <a:tr h="417513">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rgbClr val="3333FF"/>
                          </a:solidFill>
                          <a:effectLst/>
                          <a:latin typeface="+mn-lt"/>
                          <a:ea typeface="宋体" panose="02010600030101010101" pitchFamily="2" charset="-122"/>
                          <a:cs typeface="Times New Roman" panose="02020603050405020304" pitchFamily="18" charset="0"/>
                        </a:rPr>
                        <a:t>标准库容器类</a:t>
                      </a:r>
                      <a:endParaRPr kumimoji="1" lang="zh-CN" altLang="en-US" sz="2000" b="1" i="0" u="none" strike="noStrike" cap="none" normalizeH="0" baseline="0">
                        <a:ln>
                          <a:noFill/>
                        </a:ln>
                        <a:solidFill>
                          <a:srgbClr val="3333FF"/>
                        </a:solidFill>
                        <a:effectLst/>
                        <a:latin typeface="+mn-lt"/>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CC"/>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rPr>
                        <a:t>说明</a:t>
                      </a:r>
                      <a:endParaRPr kumimoji="1" lang="zh-CN" altLang="en-US" sz="2000" b="1" i="0" u="none" strike="noStrike" cap="none" normalizeH="0" baseline="0" dirty="0">
                        <a:ln>
                          <a:noFill/>
                        </a:ln>
                        <a:solidFill>
                          <a:srgbClr val="3333FF"/>
                        </a:solidFill>
                        <a:effectLst/>
                        <a:latin typeface="+mn-lt"/>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CC"/>
                    </a:solidFill>
                  </a:tcPr>
                </a:tc>
              </a:tr>
              <a:tr h="1196975">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rPr>
                        <a:t>顺序容器</a:t>
                      </a:r>
                      <a:endParaRPr kumimoji="1" lang="zh-CN" altLang="en-US"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vector</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（动态数组）</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deque</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（双端队列）</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list</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（双向列表）</a:t>
                      </a:r>
                      <a:endParaRPr kumimoji="1" lang="zh-CN" altLang="en-US" sz="2000" b="1" i="0" u="none" strike="noStrike" cap="none" normalizeH="0" baseline="0" dirty="0">
                        <a:ln>
                          <a:noFill/>
                        </a:ln>
                        <a:solidFill>
                          <a:schemeClr val="tx1"/>
                        </a:solidFill>
                        <a:effectLst/>
                        <a:latin typeface="+mn-lt"/>
                        <a:ea typeface="宋体" panose="02010600030101010101"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CC"/>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从后面快速插入与删除，直接访问任何元素</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从前面或后面快速插入与删除，直接访问任何元素</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从任何地方快速插入与删除，双链表</a:t>
                      </a:r>
                      <a:endParaRPr kumimoji="1" lang="zh-CN" altLang="en-US" sz="2000" b="1" i="0" u="none" strike="noStrike" cap="none" normalizeH="0" baseline="0" dirty="0">
                        <a:ln>
                          <a:noFill/>
                        </a:ln>
                        <a:solidFill>
                          <a:schemeClr val="tx1"/>
                        </a:solidFill>
                        <a:effectLst/>
                        <a:latin typeface="+mn-lt"/>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CC"/>
                    </a:solidFill>
                  </a:tcPr>
                </a:tc>
              </a:tr>
              <a:tr h="1457325">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rPr>
                        <a:t>关联容器</a:t>
                      </a:r>
                      <a:endParaRPr kumimoji="1" lang="zh-CN" altLang="en-US"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set</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（集合）</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multiset</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（多重集合）</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map</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（映射）</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multimap</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（多重映射）</a:t>
                      </a:r>
                      <a:endParaRPr kumimoji="1" lang="zh-CN" altLang="en-US" sz="2000" b="1" i="0" u="none" strike="noStrike" cap="none" normalizeH="0" baseline="0" dirty="0">
                        <a:ln>
                          <a:noFill/>
                        </a:ln>
                        <a:solidFill>
                          <a:schemeClr val="tx1"/>
                        </a:solidFill>
                        <a:effectLst/>
                        <a:latin typeface="+mn-lt"/>
                        <a:ea typeface="宋体" panose="02010600030101010101"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CC"/>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快速查找，不允许重复值</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快速查找，允许重复值</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一对一映射，基于关键字快速查找，不允许重复值</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一对多映射，基于关键字快速查找，允许重复值</a:t>
                      </a:r>
                      <a:endParaRPr kumimoji="1" lang="zh-CN" altLang="en-US" sz="2000" b="1" i="0" u="none" strike="noStrike" cap="none" normalizeH="0" baseline="0" dirty="0">
                        <a:ln>
                          <a:noFill/>
                        </a:ln>
                        <a:solidFill>
                          <a:schemeClr val="tx1"/>
                        </a:solidFill>
                        <a:effectLst/>
                        <a:latin typeface="+mn-lt"/>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CC"/>
                    </a:solidFill>
                  </a:tcPr>
                </a:tc>
              </a:tr>
              <a:tr h="145415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rPr>
                        <a:t>容器适配器</a:t>
                      </a:r>
                      <a:endParaRPr kumimoji="1" lang="zh-CN" altLang="en-US"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stack</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（栈）</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queue</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（队列）</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priority_queue</a:t>
                      </a:r>
                      <a:endPar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（优先级队列）</a:t>
                      </a:r>
                      <a:endParaRPr kumimoji="1" lang="zh-CN" altLang="en-US" sz="2000" b="1" i="0" u="none" strike="noStrike" cap="none" normalizeH="0" baseline="0" dirty="0">
                        <a:ln>
                          <a:noFill/>
                        </a:ln>
                        <a:solidFill>
                          <a:schemeClr val="tx1"/>
                        </a:solidFill>
                        <a:effectLst/>
                        <a:latin typeface="+mn-lt"/>
                        <a:ea typeface="宋体" panose="02010600030101010101" pitchFamily="2" charset="-122"/>
                      </a:endParaRPr>
                    </a:p>
                  </a:txBody>
                  <a:tcP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CC"/>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endParaRPr kumimoji="1" lang="en-US" altLang="zh-CN" sz="2000" b="1" i="0" u="none" strike="noStrike" cap="none" normalizeH="0" baseline="0" dirty="0">
                        <a:ln>
                          <a:noFill/>
                        </a:ln>
                        <a:solidFill>
                          <a:srgbClr val="3333FF"/>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后进先出（</a:t>
                      </a: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LIFO</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先进先出（</a:t>
                      </a:r>
                      <a:r>
                        <a:rPr kumimoji="1"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FIFO</a:t>
                      </a: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最高优先级元素总是第一个出列</a:t>
                      </a:r>
                      <a:endParaRPr kumimoji="1" lang="zh-CN" altLang="en-US" sz="2000" b="1" i="0" u="none" strike="noStrike" cap="none" normalizeH="0" baseline="0" dirty="0">
                        <a:ln>
                          <a:noFill/>
                        </a:ln>
                        <a:solidFill>
                          <a:schemeClr val="tx1"/>
                        </a:solidFill>
                        <a:effectLst/>
                        <a:latin typeface="+mn-lt"/>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C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7" y="590960"/>
            <a:ext cx="9863759"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顺序容器简介</a:t>
            </a:r>
            <a:endParaRPr kumimoji="0" lang="en-US" altLang="zh-CN" sz="2800" dirty="0">
              <a:solidFill>
                <a:srgbClr val="006600"/>
              </a:solidFill>
              <a:ea typeface="隶书" panose="02010509060101010101" pitchFamily="49" charset="-122"/>
            </a:endParaRPr>
          </a:p>
          <a:p>
            <a:pPr>
              <a:buFont typeface="Arial" panose="020B0604020202020204" pitchFamily="34" charset="0"/>
              <a:buChar char="•"/>
            </a:pPr>
            <a:r>
              <a:rPr kumimoji="0" lang="zh-CN" altLang="en-US" b="1" dirty="0">
                <a:latin typeface="宋体" panose="02010600030101010101" pitchFamily="2" charset="-122"/>
              </a:rPr>
              <a:t>顺序容器中的元素</a:t>
            </a:r>
            <a:r>
              <a:rPr kumimoji="0" lang="zh-CN" altLang="en-US" b="1" dirty="0">
                <a:solidFill>
                  <a:srgbClr val="0066FF"/>
                </a:solidFill>
                <a:latin typeface="宋体" panose="02010600030101010101" pitchFamily="2" charset="-122"/>
              </a:rPr>
              <a:t>并非排好序</a:t>
            </a:r>
            <a:r>
              <a:rPr kumimoji="0" lang="zh-CN" altLang="en-US" b="1" dirty="0">
                <a:latin typeface="宋体" panose="02010600030101010101" pitchFamily="2" charset="-122"/>
              </a:rPr>
              <a:t>的，即元素的插入位置与元素的值无关。</a:t>
            </a:r>
            <a:endParaRPr kumimoji="0" lang="en-US" altLang="zh-CN" b="1" dirty="0">
              <a:latin typeface="宋体" panose="02010600030101010101" pitchFamily="2" charset="-122"/>
            </a:endParaRPr>
          </a:p>
          <a:p>
            <a:pPr marL="342900" indent="-342900">
              <a:buFont typeface="Arial" panose="020B0604020202020204" pitchFamily="34" charset="0"/>
              <a:buChar char="•"/>
            </a:pPr>
            <a:r>
              <a:rPr lang="zh-CN" altLang="en-US" dirty="0"/>
              <a:t> 顺序容器包含</a:t>
            </a:r>
            <a:r>
              <a:rPr lang="en-US" altLang="zh-CN" dirty="0">
                <a:solidFill>
                  <a:srgbClr val="0066FF"/>
                </a:solidFill>
              </a:rPr>
              <a:t>vector</a:t>
            </a:r>
            <a:r>
              <a:rPr lang="zh-CN" altLang="en-US" dirty="0">
                <a:solidFill>
                  <a:srgbClr val="0066FF"/>
                </a:solidFill>
              </a:rPr>
              <a:t>、</a:t>
            </a:r>
            <a:r>
              <a:rPr lang="en-US" altLang="zh-CN" dirty="0">
                <a:solidFill>
                  <a:srgbClr val="0066FF"/>
                </a:solidFill>
              </a:rPr>
              <a:t>deque</a:t>
            </a:r>
            <a:r>
              <a:rPr lang="zh-CN" altLang="en-US" dirty="0">
                <a:solidFill>
                  <a:srgbClr val="0066FF"/>
                </a:solidFill>
              </a:rPr>
              <a:t>、</a:t>
            </a:r>
            <a:r>
              <a:rPr lang="en-US" altLang="zh-CN" dirty="0">
                <a:solidFill>
                  <a:srgbClr val="0066FF"/>
                </a:solidFill>
              </a:rPr>
              <a:t>list</a:t>
            </a:r>
            <a:r>
              <a:rPr lang="zh-CN" altLang="en-US" dirty="0"/>
              <a:t>三种。</a:t>
            </a:r>
            <a:r>
              <a:rPr lang="en-US" altLang="zh-CN" dirty="0"/>
              <a:t>	</a:t>
            </a:r>
            <a:endParaRPr lang="en-US" altLang="zh-CN" dirty="0"/>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en-US" altLang="zh-CN" b="1" dirty="0">
                <a:solidFill>
                  <a:srgbClr val="FF0000"/>
                </a:solidFill>
                <a:latin typeface="宋体" panose="02010600030101010101" pitchFamily="2" charset="-122"/>
              </a:rPr>
              <a:t>vector </a:t>
            </a:r>
            <a:r>
              <a:rPr kumimoji="0" lang="en-US" altLang="zh-CN" b="1" dirty="0">
                <a:latin typeface="宋体" panose="02010600030101010101" pitchFamily="2" charset="-122"/>
              </a:rPr>
              <a:t>  </a:t>
            </a:r>
            <a:r>
              <a:rPr kumimoji="0" lang="en-US" altLang="zh-CN" sz="2000" dirty="0">
                <a:solidFill>
                  <a:srgbClr val="0066FF"/>
                </a:solidFill>
                <a:latin typeface="宋体" panose="02010600030101010101" pitchFamily="2" charset="-122"/>
              </a:rPr>
              <a:t>#include &lt;vector&gt;</a:t>
            </a:r>
            <a:endParaRPr kumimoji="0" lang="zh-CN" altLang="en-US" dirty="0">
              <a:solidFill>
                <a:srgbClr val="0066FF"/>
              </a:solidFill>
              <a:latin typeface="宋体" panose="02010600030101010101" pitchFamily="2" charset="-122"/>
            </a:endParaRPr>
          </a:p>
        </p:txBody>
      </p:sp>
      <p:pic>
        <p:nvPicPr>
          <p:cNvPr id="7" name="图片 6"/>
          <p:cNvPicPr>
            <a:picLocks noChangeAspect="1"/>
          </p:cNvPicPr>
          <p:nvPr/>
        </p:nvPicPr>
        <p:blipFill>
          <a:blip r:embed="rId1"/>
          <a:stretch>
            <a:fillRect/>
          </a:stretch>
        </p:blipFill>
        <p:spPr>
          <a:xfrm>
            <a:off x="1504121" y="2659312"/>
            <a:ext cx="9183757" cy="1722639"/>
          </a:xfrm>
          <a:prstGeom prst="rect">
            <a:avLst/>
          </a:prstGeom>
        </p:spPr>
      </p:pic>
      <p:sp>
        <p:nvSpPr>
          <p:cNvPr id="11" name="文本框 10"/>
          <p:cNvSpPr txBox="1"/>
          <p:nvPr/>
        </p:nvSpPr>
        <p:spPr>
          <a:xfrm>
            <a:off x="1689652" y="4542183"/>
            <a:ext cx="5754757" cy="400110"/>
          </a:xfrm>
          <a:prstGeom prst="rect">
            <a:avLst/>
          </a:prstGeom>
          <a:noFill/>
        </p:spPr>
        <p:txBody>
          <a:bodyPr wrap="square" rtlCol="0">
            <a:spAutoFit/>
          </a:bodyPr>
          <a:lstStyle/>
          <a:p>
            <a:r>
              <a:rPr lang="zh-CN" altLang="en-US" sz="2000" b="1" dirty="0"/>
              <a:t>动态数组：</a:t>
            </a:r>
            <a:r>
              <a:rPr lang="zh-CN" altLang="en-US" sz="2000" dirty="0"/>
              <a:t>采用</a:t>
            </a:r>
            <a:r>
              <a:rPr lang="zh-CN" altLang="en-US" sz="2000" dirty="0">
                <a:solidFill>
                  <a:srgbClr val="0066FF"/>
                </a:solidFill>
              </a:rPr>
              <a:t>动态内存分配方式</a:t>
            </a:r>
            <a:r>
              <a:rPr lang="zh-CN" altLang="en-US" sz="2000" dirty="0"/>
              <a:t>创建的数组。</a:t>
            </a: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7" y="590960"/>
            <a:ext cx="9863759"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顺序容器简介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en-US" altLang="zh-CN" b="1" dirty="0">
                <a:solidFill>
                  <a:srgbClr val="FF0000"/>
                </a:solidFill>
                <a:latin typeface="宋体" panose="02010600030101010101" pitchFamily="2" charset="-122"/>
              </a:rPr>
              <a:t>deque </a:t>
            </a:r>
            <a:r>
              <a:rPr kumimoji="0" lang="en-US" altLang="zh-CN" b="1" dirty="0">
                <a:latin typeface="宋体" panose="02010600030101010101" pitchFamily="2" charset="-122"/>
              </a:rPr>
              <a:t>  </a:t>
            </a:r>
            <a:r>
              <a:rPr kumimoji="0" lang="en-US" altLang="zh-CN" sz="2000" dirty="0">
                <a:latin typeface="宋体" panose="02010600030101010101" pitchFamily="2" charset="-122"/>
              </a:rPr>
              <a:t>#include </a:t>
            </a:r>
            <a:r>
              <a:rPr kumimoji="0" lang="en-US" altLang="zh-CN" sz="2000" dirty="0">
                <a:solidFill>
                  <a:srgbClr val="0066FF"/>
                </a:solidFill>
                <a:latin typeface="宋体" panose="02010600030101010101" pitchFamily="2" charset="-122"/>
              </a:rPr>
              <a:t>&lt;deque&gt; </a:t>
            </a:r>
            <a:endParaRPr kumimoji="0" lang="en-US" altLang="zh-CN" sz="2000" dirty="0">
              <a:solidFill>
                <a:srgbClr val="0066FF"/>
              </a:solidFill>
              <a:latin typeface="宋体" panose="02010600030101010101" pitchFamily="2" charset="-122"/>
            </a:endParaRPr>
          </a:p>
          <a:p>
            <a:pPr>
              <a:buFont typeface="Arial" panose="020B0604020202020204" pitchFamily="34" charset="0"/>
              <a:buChar char="•"/>
            </a:pPr>
            <a:r>
              <a:rPr kumimoji="0" lang="zh-CN" altLang="en-US" sz="2000" b="1" dirty="0">
                <a:latin typeface="宋体" panose="02010600030101010101" pitchFamily="2" charset="-122"/>
              </a:rPr>
              <a:t>双端队列，元素在内存中按顺序存放。</a:t>
            </a:r>
            <a:endParaRPr kumimoji="0" lang="en-US" altLang="zh-CN" sz="2000" b="1" dirty="0">
              <a:latin typeface="宋体" panose="02010600030101010101" pitchFamily="2" charset="-122"/>
            </a:endParaRPr>
          </a:p>
          <a:p>
            <a:pPr>
              <a:buFont typeface="Arial" panose="020B0604020202020204" pitchFamily="34" charset="0"/>
              <a:buChar char="•"/>
            </a:pPr>
            <a:endParaRPr kumimoji="0" lang="zh-CN" altLang="en-US" sz="2000"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pic>
        <p:nvPicPr>
          <p:cNvPr id="4" name="图片 3"/>
          <p:cNvPicPr>
            <a:picLocks noChangeAspect="1"/>
          </p:cNvPicPr>
          <p:nvPr/>
        </p:nvPicPr>
        <p:blipFill rotWithShape="1">
          <a:blip r:embed="rId1"/>
          <a:srcRect l="1" r="209"/>
          <a:stretch>
            <a:fillRect/>
          </a:stretch>
        </p:blipFill>
        <p:spPr>
          <a:xfrm>
            <a:off x="1600200" y="2202961"/>
            <a:ext cx="6843725" cy="692482"/>
          </a:xfrm>
          <a:prstGeom prst="rect">
            <a:avLst/>
          </a:prstGeom>
        </p:spPr>
      </p:pic>
      <p:pic>
        <p:nvPicPr>
          <p:cNvPr id="9" name="图片 8"/>
          <p:cNvPicPr>
            <a:picLocks noChangeAspect="1"/>
          </p:cNvPicPr>
          <p:nvPr/>
        </p:nvPicPr>
        <p:blipFill>
          <a:blip r:embed="rId2"/>
          <a:stretch>
            <a:fillRect/>
          </a:stretch>
        </p:blipFill>
        <p:spPr>
          <a:xfrm>
            <a:off x="1948070" y="3182179"/>
            <a:ext cx="7767365" cy="15607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7" y="590960"/>
            <a:ext cx="9863759"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顺序容器简介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en-US" altLang="zh-CN" b="1" dirty="0">
                <a:solidFill>
                  <a:srgbClr val="FF0000"/>
                </a:solidFill>
                <a:latin typeface="宋体" panose="02010600030101010101" pitchFamily="2" charset="-122"/>
              </a:rPr>
              <a:t>deque </a:t>
            </a:r>
            <a:r>
              <a:rPr kumimoji="0" lang="en-US" altLang="zh-CN" b="1" dirty="0">
                <a:latin typeface="宋体" panose="02010600030101010101" pitchFamily="2" charset="-122"/>
              </a:rPr>
              <a:t>  </a:t>
            </a:r>
            <a:r>
              <a:rPr kumimoji="0" lang="en-US" altLang="zh-CN" sz="2000" dirty="0">
                <a:latin typeface="宋体" panose="02010600030101010101" pitchFamily="2" charset="-122"/>
              </a:rPr>
              <a:t>#include </a:t>
            </a:r>
            <a:r>
              <a:rPr kumimoji="0" lang="en-US" altLang="zh-CN" sz="2000" dirty="0">
                <a:solidFill>
                  <a:srgbClr val="0066FF"/>
                </a:solidFill>
                <a:latin typeface="宋体" panose="02010600030101010101" pitchFamily="2" charset="-122"/>
              </a:rPr>
              <a:t>&lt;deque&gt; </a:t>
            </a:r>
            <a:endParaRPr kumimoji="0" lang="en-US" altLang="zh-CN" sz="2000" dirty="0">
              <a:solidFill>
                <a:srgbClr val="0066FF"/>
              </a:solidFill>
              <a:latin typeface="宋体" panose="02010600030101010101" pitchFamily="2" charset="-122"/>
            </a:endParaRPr>
          </a:p>
          <a:p>
            <a:pPr>
              <a:buFont typeface="Arial" panose="020B0604020202020204" pitchFamily="34" charset="0"/>
              <a:buChar char="•"/>
            </a:pPr>
            <a:r>
              <a:rPr kumimoji="0" lang="zh-CN" altLang="en-US" sz="2000" b="1" dirty="0">
                <a:latin typeface="宋体" panose="02010600030101010101" pitchFamily="2" charset="-122"/>
              </a:rPr>
              <a:t>双端队列，元素在内存中按顺序存放。</a:t>
            </a:r>
            <a:endParaRPr kumimoji="0" lang="en-US" altLang="zh-CN" sz="2000" b="1" dirty="0">
              <a:latin typeface="宋体" panose="02010600030101010101" pitchFamily="2" charset="-122"/>
            </a:endParaRPr>
          </a:p>
          <a:p>
            <a:pPr>
              <a:buFont typeface="Arial" panose="020B0604020202020204" pitchFamily="34" charset="0"/>
              <a:buChar char="•"/>
            </a:pPr>
            <a:endParaRPr kumimoji="0" lang="zh-CN" altLang="en-US" sz="2000"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pic>
        <p:nvPicPr>
          <p:cNvPr id="4" name="图片 3"/>
          <p:cNvPicPr>
            <a:picLocks noChangeAspect="1"/>
          </p:cNvPicPr>
          <p:nvPr/>
        </p:nvPicPr>
        <p:blipFill rotWithShape="1">
          <a:blip r:embed="rId1"/>
          <a:srcRect l="1" r="209"/>
          <a:stretch>
            <a:fillRect/>
          </a:stretch>
        </p:blipFill>
        <p:spPr>
          <a:xfrm>
            <a:off x="1600200" y="2202961"/>
            <a:ext cx="6843725" cy="692482"/>
          </a:xfrm>
          <a:prstGeom prst="rect">
            <a:avLst/>
          </a:prstGeom>
        </p:spPr>
      </p:pic>
      <p:pic>
        <p:nvPicPr>
          <p:cNvPr id="9" name="图片 8"/>
          <p:cNvPicPr>
            <a:picLocks noChangeAspect="1"/>
          </p:cNvPicPr>
          <p:nvPr/>
        </p:nvPicPr>
        <p:blipFill>
          <a:blip r:embed="rId2"/>
          <a:stretch>
            <a:fillRect/>
          </a:stretch>
        </p:blipFill>
        <p:spPr>
          <a:xfrm>
            <a:off x="1828800" y="3022523"/>
            <a:ext cx="7587814" cy="1524678"/>
          </a:xfrm>
          <a:prstGeom prst="rect">
            <a:avLst/>
          </a:prstGeom>
        </p:spPr>
      </p:pic>
      <p:pic>
        <p:nvPicPr>
          <p:cNvPr id="3" name="图片 2"/>
          <p:cNvPicPr>
            <a:picLocks noChangeAspect="1"/>
          </p:cNvPicPr>
          <p:nvPr/>
        </p:nvPicPr>
        <p:blipFill>
          <a:blip r:embed="rId3"/>
          <a:stretch>
            <a:fillRect/>
          </a:stretch>
        </p:blipFill>
        <p:spPr>
          <a:xfrm>
            <a:off x="1711222" y="5166339"/>
            <a:ext cx="7561987" cy="1524677"/>
          </a:xfrm>
          <a:prstGeom prst="rect">
            <a:avLst/>
          </a:prstGeom>
        </p:spPr>
      </p:pic>
      <p:sp>
        <p:nvSpPr>
          <p:cNvPr id="8" name="文本框 7"/>
          <p:cNvSpPr txBox="1"/>
          <p:nvPr/>
        </p:nvSpPr>
        <p:spPr>
          <a:xfrm>
            <a:off x="1600200" y="4674281"/>
            <a:ext cx="6097656" cy="400110"/>
          </a:xfrm>
          <a:prstGeom prst="rect">
            <a:avLst/>
          </a:prstGeom>
          <a:noFill/>
        </p:spPr>
        <p:txBody>
          <a:bodyPr wrap="square">
            <a:spAutoFit/>
          </a:bodyPr>
          <a:lstStyle/>
          <a:p>
            <a:r>
              <a:rPr kumimoji="0" lang="zh-CN" altLang="en-US" sz="2000" b="1" dirty="0">
                <a:latin typeface="宋体" panose="02010600030101010101" pitchFamily="2" charset="-122"/>
              </a:rPr>
              <a:t>为什么随机存取元素时</a:t>
            </a:r>
            <a:r>
              <a:rPr kumimoji="0" lang="en-US" altLang="zh-CN" sz="2000" b="1" dirty="0">
                <a:latin typeface="宋体" panose="02010600030101010101" pitchFamily="2" charset="-122"/>
              </a:rPr>
              <a:t>vector</a:t>
            </a:r>
            <a:r>
              <a:rPr kumimoji="0" lang="zh-CN" altLang="en-US" sz="2000" b="1" dirty="0">
                <a:latin typeface="宋体" panose="02010600030101010101" pitchFamily="2" charset="-122"/>
              </a:rPr>
              <a:t>优于</a:t>
            </a:r>
            <a:r>
              <a:rPr kumimoji="0" lang="en-US" altLang="zh-CN" sz="2000" b="1" dirty="0">
                <a:latin typeface="宋体" panose="02010600030101010101" pitchFamily="2" charset="-122"/>
              </a:rPr>
              <a:t>deque</a:t>
            </a:r>
            <a:r>
              <a:rPr kumimoji="0" lang="zh-CN" altLang="en-US" sz="2000" b="1" dirty="0">
                <a:latin typeface="宋体" panose="02010600030101010101" pitchFamily="2" charset="-122"/>
              </a:rPr>
              <a:t>？</a:t>
            </a:r>
            <a:endParaRPr lang="zh-CN"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7" y="590960"/>
            <a:ext cx="9863759"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顺序容器简介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en-US" altLang="zh-CN" b="1" dirty="0">
                <a:solidFill>
                  <a:srgbClr val="FF0000"/>
                </a:solidFill>
                <a:latin typeface="宋体" panose="02010600030101010101" pitchFamily="2" charset="-122"/>
              </a:rPr>
              <a:t>list </a:t>
            </a:r>
            <a:r>
              <a:rPr kumimoji="0" lang="en-US" altLang="zh-CN" b="1" dirty="0">
                <a:latin typeface="宋体" panose="02010600030101010101" pitchFamily="2" charset="-122"/>
              </a:rPr>
              <a:t>  </a:t>
            </a:r>
            <a:r>
              <a:rPr kumimoji="0" lang="en-US" altLang="zh-CN" sz="2000" dirty="0">
                <a:latin typeface="宋体" panose="02010600030101010101" pitchFamily="2" charset="-122"/>
              </a:rPr>
              <a:t>#include </a:t>
            </a:r>
            <a:r>
              <a:rPr kumimoji="0" lang="en-US" altLang="zh-CN" sz="2000" dirty="0">
                <a:solidFill>
                  <a:srgbClr val="0066FF"/>
                </a:solidFill>
                <a:latin typeface="宋体" panose="02010600030101010101" pitchFamily="2" charset="-122"/>
              </a:rPr>
              <a:t>&lt;list&gt; </a:t>
            </a:r>
            <a:endParaRPr kumimoji="0" lang="en-US" altLang="zh-CN" sz="2000" dirty="0">
              <a:solidFill>
                <a:srgbClr val="0066FF"/>
              </a:solidFill>
              <a:latin typeface="宋体" panose="02010600030101010101" pitchFamily="2" charset="-122"/>
            </a:endParaRPr>
          </a:p>
          <a:p>
            <a:pPr>
              <a:buFont typeface="Arial" panose="020B0604020202020204" pitchFamily="34" charset="0"/>
              <a:buChar char="•"/>
            </a:pPr>
            <a:r>
              <a:rPr kumimoji="0" lang="zh-CN" altLang="en-US" sz="2000" b="1" dirty="0">
                <a:latin typeface="宋体" panose="02010600030101010101" pitchFamily="2" charset="-122"/>
              </a:rPr>
              <a:t>双向链表，元素在内存中</a:t>
            </a:r>
            <a:r>
              <a:rPr kumimoji="0" lang="zh-CN" altLang="en-US" sz="2000" b="1" dirty="0">
                <a:solidFill>
                  <a:srgbClr val="FF0000"/>
                </a:solidFill>
                <a:latin typeface="宋体" panose="02010600030101010101" pitchFamily="2" charset="-122"/>
              </a:rPr>
              <a:t>不是</a:t>
            </a:r>
            <a:r>
              <a:rPr kumimoji="0" lang="zh-CN" altLang="en-US" sz="2000" b="1" dirty="0">
                <a:latin typeface="宋体" panose="02010600030101010101" pitchFamily="2" charset="-122"/>
              </a:rPr>
              <a:t>连续的</a:t>
            </a:r>
            <a:r>
              <a:rPr kumimoji="0" lang="zh-CN" altLang="en-US" sz="2000" b="1" dirty="0">
                <a:solidFill>
                  <a:srgbClr val="FF0000"/>
                </a:solidFill>
                <a:latin typeface="宋体" panose="02010600030101010101" pitchFamily="2" charset="-122"/>
              </a:rPr>
              <a:t>顺序存放</a:t>
            </a:r>
            <a:r>
              <a:rPr kumimoji="0" lang="zh-CN" altLang="en-US" sz="2000" b="1" dirty="0">
                <a:latin typeface="宋体" panose="02010600030101010101" pitchFamily="2" charset="-122"/>
              </a:rPr>
              <a:t>，通过指针实现元素的</a:t>
            </a:r>
            <a:r>
              <a:rPr kumimoji="0" lang="zh-CN" altLang="en-US" sz="2000" b="1" dirty="0">
                <a:solidFill>
                  <a:srgbClr val="FF0000"/>
                </a:solidFill>
                <a:latin typeface="宋体" panose="02010600030101010101" pitchFamily="2" charset="-122"/>
              </a:rPr>
              <a:t>顺序访问</a:t>
            </a:r>
            <a:r>
              <a:rPr kumimoji="0" lang="zh-CN" altLang="en-US" sz="2000" b="1" dirty="0">
                <a:latin typeface="宋体" panose="02010600030101010101" pitchFamily="2" charset="-122"/>
              </a:rPr>
              <a:t>，</a:t>
            </a:r>
            <a:r>
              <a:rPr kumimoji="0" lang="zh-CN" altLang="en-US" sz="2000" b="1" dirty="0">
                <a:solidFill>
                  <a:srgbClr val="0066FF"/>
                </a:solidFill>
                <a:latin typeface="宋体" panose="02010600030101010101" pitchFamily="2" charset="-122"/>
              </a:rPr>
              <a:t>不支持随机存取</a:t>
            </a:r>
            <a:r>
              <a:rPr kumimoji="0" lang="zh-CN" altLang="en-US" sz="2000" b="1" dirty="0">
                <a:latin typeface="宋体" panose="02010600030101010101" pitchFamily="2" charset="-122"/>
              </a:rPr>
              <a:t>。</a:t>
            </a:r>
            <a:endParaRPr kumimoji="0" lang="en-US" altLang="zh-CN" sz="2000" b="1" dirty="0">
              <a:latin typeface="宋体" panose="02010600030101010101" pitchFamily="2" charset="-122"/>
            </a:endParaRPr>
          </a:p>
          <a:p>
            <a:pPr>
              <a:buFont typeface="Arial" panose="020B0604020202020204" pitchFamily="34" charset="0"/>
              <a:buChar char="•"/>
            </a:pPr>
            <a:endParaRPr kumimoji="0" lang="zh-CN" altLang="en-US" sz="2000"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pic>
        <p:nvPicPr>
          <p:cNvPr id="5" name="图片 4"/>
          <p:cNvPicPr>
            <a:picLocks noChangeAspect="1"/>
          </p:cNvPicPr>
          <p:nvPr/>
        </p:nvPicPr>
        <p:blipFill>
          <a:blip r:embed="rId1"/>
          <a:stretch>
            <a:fillRect/>
          </a:stretch>
        </p:blipFill>
        <p:spPr>
          <a:xfrm>
            <a:off x="1894987" y="3109632"/>
            <a:ext cx="6965909" cy="1328838"/>
          </a:xfrm>
          <a:prstGeom prst="rect">
            <a:avLst/>
          </a:prstGeom>
        </p:spPr>
      </p:pic>
      <p:sp>
        <p:nvSpPr>
          <p:cNvPr id="10" name="文本框 9"/>
          <p:cNvSpPr txBox="1"/>
          <p:nvPr/>
        </p:nvSpPr>
        <p:spPr>
          <a:xfrm>
            <a:off x="4142132" y="4559055"/>
            <a:ext cx="6097656" cy="369332"/>
          </a:xfrm>
          <a:prstGeom prst="rect">
            <a:avLst/>
          </a:prstGeom>
          <a:noFill/>
        </p:spPr>
        <p:txBody>
          <a:bodyPr wrap="square">
            <a:spAutoFit/>
          </a:bodyPr>
          <a:lstStyle/>
          <a:p>
            <a:r>
              <a:rPr kumimoji="0" lang="zh-CN" altLang="en-US" sz="1800" b="1" dirty="0">
                <a:latin typeface="宋体" panose="02010600030101010101" pitchFamily="2" charset="-122"/>
              </a:rPr>
              <a:t>双向链表结构示意图</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8" y="590960"/>
            <a:ext cx="9327046"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关联容器简介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zh-CN" altLang="en-US" b="1" dirty="0">
                <a:latin typeface="宋体" panose="02010600030101010101" pitchFamily="2" charset="-122"/>
              </a:rPr>
              <a:t>关联容器中的元素是</a:t>
            </a:r>
            <a:r>
              <a:rPr kumimoji="0" lang="zh-CN" altLang="en-US" b="1" dirty="0">
                <a:solidFill>
                  <a:srgbClr val="0066FF"/>
                </a:solidFill>
                <a:latin typeface="宋体" panose="02010600030101010101" pitchFamily="2" charset="-122"/>
              </a:rPr>
              <a:t>排好序</a:t>
            </a:r>
            <a:r>
              <a:rPr kumimoji="0" lang="zh-CN" altLang="en-US" b="1" dirty="0">
                <a:latin typeface="宋体" panose="02010600030101010101" pitchFamily="2" charset="-122"/>
              </a:rPr>
              <a:t>的，插入元素时要按相应的排序规则确定插入位置。</a:t>
            </a:r>
            <a:endParaRPr kumimoji="0" lang="en-US" altLang="zh-CN" b="1" dirty="0">
              <a:latin typeface="宋体" panose="02010600030101010101" pitchFamily="2" charset="-122"/>
            </a:endParaRPr>
          </a:p>
          <a:p>
            <a:pPr marL="342900" indent="-342900">
              <a:buFont typeface="Arial" panose="020B0604020202020204" pitchFamily="34" charset="0"/>
              <a:buChar char="•"/>
            </a:pPr>
            <a:r>
              <a:rPr lang="zh-CN" altLang="en-US" dirty="0"/>
              <a:t> </a:t>
            </a:r>
            <a:r>
              <a:rPr lang="zh-CN" altLang="en-US" b="1" dirty="0"/>
              <a:t>关联容器具有非常好的排序性能。</a:t>
            </a:r>
            <a:r>
              <a:rPr lang="zh-CN" altLang="en-US" sz="2000" b="1" dirty="0"/>
              <a:t>（支持二分法查找等需要元素预先排序的算法。）</a:t>
            </a:r>
            <a:endParaRPr lang="en-US" altLang="zh-CN" b="1" dirty="0"/>
          </a:p>
          <a:p>
            <a:pPr>
              <a:buFont typeface="Arial" panose="020B0604020202020204" pitchFamily="34" charset="0"/>
              <a:buChar char="•"/>
            </a:pPr>
            <a:endParaRPr kumimoji="0" lang="en-US" altLang="zh-CN" sz="2000" b="1" dirty="0">
              <a:latin typeface="宋体" panose="02010600030101010101" pitchFamily="2" charset="-122"/>
            </a:endParaRPr>
          </a:p>
        </p:txBody>
      </p:sp>
      <p:sp>
        <p:nvSpPr>
          <p:cNvPr id="7" name="Text Box 10"/>
          <p:cNvSpPr txBox="1">
            <a:spLocks noChangeArrowheads="1"/>
          </p:cNvSpPr>
          <p:nvPr/>
        </p:nvSpPr>
        <p:spPr bwMode="auto">
          <a:xfrm>
            <a:off x="1456912" y="2938708"/>
            <a:ext cx="986375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Char char="•"/>
            </a:pPr>
            <a:r>
              <a:rPr kumimoji="0" lang="en-US" altLang="zh-CN" b="1" dirty="0">
                <a:solidFill>
                  <a:srgbClr val="FF0000"/>
                </a:solidFill>
                <a:latin typeface="宋体" panose="02010600030101010101" pitchFamily="2" charset="-122"/>
              </a:rPr>
              <a:t>set/multiset </a:t>
            </a:r>
            <a:r>
              <a:rPr kumimoji="0" lang="en-US" altLang="zh-CN" b="1" dirty="0">
                <a:latin typeface="宋体" panose="02010600030101010101" pitchFamily="2" charset="-122"/>
              </a:rPr>
              <a:t>  </a:t>
            </a:r>
            <a:r>
              <a:rPr kumimoji="0" lang="en-US" altLang="zh-CN" sz="2000" dirty="0">
                <a:latin typeface="宋体" panose="02010600030101010101" pitchFamily="2" charset="-122"/>
              </a:rPr>
              <a:t>#include </a:t>
            </a:r>
            <a:r>
              <a:rPr kumimoji="0" lang="en-US" altLang="zh-CN" sz="2000" dirty="0">
                <a:solidFill>
                  <a:srgbClr val="0066FF"/>
                </a:solidFill>
                <a:latin typeface="宋体" panose="02010600030101010101" pitchFamily="2" charset="-122"/>
              </a:rPr>
              <a:t>&lt;set&gt; </a:t>
            </a:r>
            <a:endParaRPr kumimoji="0" lang="en-US" altLang="zh-CN" sz="2000" dirty="0">
              <a:solidFill>
                <a:srgbClr val="0066FF"/>
              </a:solidFill>
              <a:latin typeface="宋体" panose="02010600030101010101" pitchFamily="2" charset="-122"/>
            </a:endParaRPr>
          </a:p>
          <a:p>
            <a:pPr>
              <a:buFont typeface="Arial" panose="020B0604020202020204" pitchFamily="34" charset="0"/>
              <a:buChar char="•"/>
            </a:pPr>
            <a:endParaRPr kumimoji="0" lang="zh-CN" altLang="en-US" sz="2000"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pic>
        <p:nvPicPr>
          <p:cNvPr id="3" name="图片 2"/>
          <p:cNvPicPr>
            <a:picLocks noChangeAspect="1"/>
          </p:cNvPicPr>
          <p:nvPr/>
        </p:nvPicPr>
        <p:blipFill>
          <a:blip r:embed="rId1"/>
          <a:stretch>
            <a:fillRect/>
          </a:stretch>
        </p:blipFill>
        <p:spPr>
          <a:xfrm>
            <a:off x="1729413" y="3427622"/>
            <a:ext cx="6902263" cy="665278"/>
          </a:xfrm>
          <a:prstGeom prst="rect">
            <a:avLst/>
          </a:prstGeom>
        </p:spPr>
      </p:pic>
      <p:sp>
        <p:nvSpPr>
          <p:cNvPr id="8" name="Text Box 10"/>
          <p:cNvSpPr txBox="1">
            <a:spLocks noChangeArrowheads="1"/>
          </p:cNvSpPr>
          <p:nvPr/>
        </p:nvSpPr>
        <p:spPr bwMode="auto">
          <a:xfrm>
            <a:off x="1486728" y="4154560"/>
            <a:ext cx="986375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Char char="•"/>
            </a:pPr>
            <a:r>
              <a:rPr kumimoji="0" lang="en-US" altLang="zh-CN" b="1" dirty="0">
                <a:solidFill>
                  <a:srgbClr val="FF0000"/>
                </a:solidFill>
                <a:latin typeface="宋体" panose="02010600030101010101" pitchFamily="2" charset="-122"/>
              </a:rPr>
              <a:t>map/multimap </a:t>
            </a:r>
            <a:r>
              <a:rPr kumimoji="0" lang="en-US" altLang="zh-CN" b="1" dirty="0">
                <a:latin typeface="宋体" panose="02010600030101010101" pitchFamily="2" charset="-122"/>
              </a:rPr>
              <a:t>  </a:t>
            </a:r>
            <a:r>
              <a:rPr kumimoji="0" lang="en-US" altLang="zh-CN" sz="2000" dirty="0">
                <a:latin typeface="宋体" panose="02010600030101010101" pitchFamily="2" charset="-122"/>
              </a:rPr>
              <a:t>#include </a:t>
            </a:r>
            <a:r>
              <a:rPr kumimoji="0" lang="en-US" altLang="zh-CN" sz="2000" dirty="0">
                <a:solidFill>
                  <a:srgbClr val="0066FF"/>
                </a:solidFill>
                <a:latin typeface="宋体" panose="02010600030101010101" pitchFamily="2" charset="-122"/>
              </a:rPr>
              <a:t>&lt;map&gt; </a:t>
            </a:r>
            <a:endParaRPr kumimoji="0" lang="en-US" altLang="zh-CN" sz="2000" dirty="0">
              <a:solidFill>
                <a:srgbClr val="0066FF"/>
              </a:solidFill>
              <a:latin typeface="宋体" panose="02010600030101010101" pitchFamily="2" charset="-122"/>
            </a:endParaRPr>
          </a:p>
          <a:p>
            <a:pPr>
              <a:buFont typeface="Arial" panose="020B0604020202020204" pitchFamily="34" charset="0"/>
              <a:buChar char="•"/>
            </a:pPr>
            <a:endParaRPr kumimoji="0" lang="zh-CN" altLang="en-US" sz="2000"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pic>
        <p:nvPicPr>
          <p:cNvPr id="12" name="图片 11"/>
          <p:cNvPicPr>
            <a:picLocks noChangeAspect="1"/>
          </p:cNvPicPr>
          <p:nvPr/>
        </p:nvPicPr>
        <p:blipFill>
          <a:blip r:embed="rId2"/>
          <a:stretch>
            <a:fillRect/>
          </a:stretch>
        </p:blipFill>
        <p:spPr>
          <a:xfrm>
            <a:off x="1641199" y="4781454"/>
            <a:ext cx="8909602" cy="1177915"/>
          </a:xfrm>
          <a:prstGeom prst="rect">
            <a:avLst/>
          </a:prstGeom>
        </p:spPr>
      </p:pic>
      <p:pic>
        <p:nvPicPr>
          <p:cNvPr id="14" name="图片 13"/>
          <p:cNvPicPr>
            <a:picLocks noChangeAspect="1"/>
          </p:cNvPicPr>
          <p:nvPr/>
        </p:nvPicPr>
        <p:blipFill>
          <a:blip r:embed="rId3"/>
          <a:stretch>
            <a:fillRect/>
          </a:stretch>
        </p:blipFill>
        <p:spPr>
          <a:xfrm>
            <a:off x="9985494" y="5750716"/>
            <a:ext cx="381020" cy="21591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8" y="590960"/>
            <a:ext cx="932704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容器适配器简介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zh-CN" altLang="en-US" b="1" dirty="0">
                <a:latin typeface="宋体" panose="02010600030101010101" pitchFamily="2" charset="-122"/>
              </a:rPr>
              <a:t>容器适配器主要有</a:t>
            </a:r>
            <a:r>
              <a:rPr kumimoji="0" lang="en-US" altLang="zh-CN" b="1" dirty="0">
                <a:latin typeface="宋体" panose="02010600030101010101" pitchFamily="2" charset="-122"/>
              </a:rPr>
              <a:t>stack</a:t>
            </a:r>
            <a:r>
              <a:rPr kumimoji="0" lang="zh-CN" altLang="en-US" b="1" dirty="0">
                <a:latin typeface="宋体" panose="02010600030101010101" pitchFamily="2" charset="-122"/>
              </a:rPr>
              <a:t>、</a:t>
            </a:r>
            <a:r>
              <a:rPr kumimoji="0" lang="en-US" altLang="zh-CN" b="1" dirty="0">
                <a:latin typeface="宋体" panose="02010600030101010101" pitchFamily="2" charset="-122"/>
              </a:rPr>
              <a:t>queue</a:t>
            </a:r>
            <a:r>
              <a:rPr kumimoji="0" lang="zh-CN" altLang="en-US" b="1" dirty="0">
                <a:latin typeface="宋体" panose="02010600030101010101" pitchFamily="2" charset="-122"/>
              </a:rPr>
              <a:t>、</a:t>
            </a:r>
            <a:r>
              <a:rPr kumimoji="0" lang="en-US" altLang="zh-CN" b="1" dirty="0" err="1">
                <a:latin typeface="宋体" panose="02010600030101010101" pitchFamily="2" charset="-122"/>
              </a:rPr>
              <a:t>priority_queue</a:t>
            </a:r>
            <a:r>
              <a:rPr kumimoji="0" lang="zh-CN" altLang="en-US" b="1" dirty="0">
                <a:latin typeface="宋体" panose="02010600030101010101" pitchFamily="2" charset="-122"/>
              </a:rPr>
              <a:t>。</a:t>
            </a:r>
            <a:endParaRPr kumimoji="0" lang="en-US" altLang="zh-CN"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sp>
        <p:nvSpPr>
          <p:cNvPr id="7" name="Text Box 10"/>
          <p:cNvSpPr txBox="1">
            <a:spLocks noChangeArrowheads="1"/>
          </p:cNvSpPr>
          <p:nvPr/>
        </p:nvSpPr>
        <p:spPr bwMode="auto">
          <a:xfrm>
            <a:off x="1039468" y="2090935"/>
            <a:ext cx="986375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Char char="•"/>
            </a:pPr>
            <a:r>
              <a:rPr kumimoji="0" lang="en-US" altLang="zh-CN" b="1" dirty="0">
                <a:solidFill>
                  <a:srgbClr val="FF0000"/>
                </a:solidFill>
                <a:latin typeface="宋体" panose="02010600030101010101" pitchFamily="2" charset="-122"/>
              </a:rPr>
              <a:t>stack </a:t>
            </a:r>
            <a:r>
              <a:rPr kumimoji="0" lang="en-US" altLang="zh-CN" sz="2000" dirty="0">
                <a:latin typeface="宋体" panose="02010600030101010101" pitchFamily="2" charset="-122"/>
              </a:rPr>
              <a:t>#include </a:t>
            </a:r>
            <a:r>
              <a:rPr kumimoji="0" lang="en-US" altLang="zh-CN" sz="2000" dirty="0">
                <a:solidFill>
                  <a:srgbClr val="0066FF"/>
                </a:solidFill>
                <a:latin typeface="宋体" panose="02010600030101010101" pitchFamily="2" charset="-122"/>
              </a:rPr>
              <a:t>&lt;stack&gt; </a:t>
            </a:r>
            <a:endParaRPr kumimoji="0" lang="en-US" altLang="zh-CN" sz="2000" dirty="0">
              <a:solidFill>
                <a:srgbClr val="0066FF"/>
              </a:solidFill>
              <a:latin typeface="宋体" panose="02010600030101010101" pitchFamily="2" charset="-122"/>
            </a:endParaRPr>
          </a:p>
          <a:p>
            <a:pPr>
              <a:buFont typeface="Arial" panose="020B0604020202020204" pitchFamily="34" charset="0"/>
              <a:buChar char="•"/>
            </a:pPr>
            <a:endParaRPr kumimoji="0" lang="zh-CN" altLang="en-US" sz="2000"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sp>
        <p:nvSpPr>
          <p:cNvPr id="8" name="Text Box 10"/>
          <p:cNvSpPr txBox="1">
            <a:spLocks noChangeArrowheads="1"/>
          </p:cNvSpPr>
          <p:nvPr/>
        </p:nvSpPr>
        <p:spPr bwMode="auto">
          <a:xfrm>
            <a:off x="1164120" y="4129519"/>
            <a:ext cx="986375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Char char="•"/>
            </a:pPr>
            <a:r>
              <a:rPr kumimoji="0" lang="en-US" altLang="zh-CN" b="1" dirty="0">
                <a:solidFill>
                  <a:srgbClr val="FF0000"/>
                </a:solidFill>
                <a:latin typeface="宋体" panose="02010600030101010101" pitchFamily="2" charset="-122"/>
              </a:rPr>
              <a:t>queue </a:t>
            </a:r>
            <a:r>
              <a:rPr kumimoji="0" lang="en-US" altLang="zh-CN" b="1" dirty="0">
                <a:latin typeface="宋体" panose="02010600030101010101" pitchFamily="2" charset="-122"/>
              </a:rPr>
              <a:t>  </a:t>
            </a:r>
            <a:r>
              <a:rPr kumimoji="0" lang="en-US" altLang="zh-CN" sz="2000" dirty="0">
                <a:latin typeface="宋体" panose="02010600030101010101" pitchFamily="2" charset="-122"/>
              </a:rPr>
              <a:t>#include </a:t>
            </a:r>
            <a:r>
              <a:rPr kumimoji="0" lang="en-US" altLang="zh-CN" sz="2000" dirty="0">
                <a:solidFill>
                  <a:srgbClr val="0066FF"/>
                </a:solidFill>
                <a:latin typeface="宋体" panose="02010600030101010101" pitchFamily="2" charset="-122"/>
              </a:rPr>
              <a:t>&lt;queue&gt; </a:t>
            </a:r>
            <a:endParaRPr kumimoji="0" lang="en-US" altLang="zh-CN" sz="2000" dirty="0">
              <a:solidFill>
                <a:srgbClr val="0066FF"/>
              </a:solidFill>
              <a:latin typeface="宋体" panose="02010600030101010101" pitchFamily="2" charset="-122"/>
            </a:endParaRPr>
          </a:p>
          <a:p>
            <a:pPr>
              <a:buFont typeface="Arial" panose="020B0604020202020204" pitchFamily="34" charset="0"/>
              <a:buChar char="•"/>
            </a:pPr>
            <a:endParaRPr kumimoji="0" lang="zh-CN" altLang="en-US" sz="2000"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pic>
        <p:nvPicPr>
          <p:cNvPr id="14" name="图片 13"/>
          <p:cNvPicPr>
            <a:picLocks noChangeAspect="1"/>
          </p:cNvPicPr>
          <p:nvPr/>
        </p:nvPicPr>
        <p:blipFill>
          <a:blip r:embed="rId1"/>
          <a:stretch>
            <a:fillRect/>
          </a:stretch>
        </p:blipFill>
        <p:spPr>
          <a:xfrm>
            <a:off x="9985494" y="5750716"/>
            <a:ext cx="381020" cy="215911"/>
          </a:xfrm>
          <a:prstGeom prst="rect">
            <a:avLst/>
          </a:prstGeom>
        </p:spPr>
      </p:pic>
      <p:sp>
        <p:nvSpPr>
          <p:cNvPr id="2" name="文本框 1"/>
          <p:cNvSpPr txBox="1"/>
          <p:nvPr/>
        </p:nvSpPr>
        <p:spPr>
          <a:xfrm>
            <a:off x="1411357" y="2629544"/>
            <a:ext cx="4462669" cy="1323439"/>
          </a:xfrm>
          <a:prstGeom prst="rect">
            <a:avLst/>
          </a:prstGeom>
          <a:noFill/>
        </p:spPr>
        <p:txBody>
          <a:bodyPr wrap="square" rtlCol="0">
            <a:spAutoFit/>
          </a:bodyPr>
          <a:lstStyle/>
          <a:p>
            <a:r>
              <a:rPr lang="zh-CN" altLang="en-US" sz="2000" b="1" dirty="0">
                <a:solidFill>
                  <a:srgbClr val="0066FF"/>
                </a:solidFill>
              </a:rPr>
              <a:t>栈（堆栈）</a:t>
            </a:r>
            <a:r>
              <a:rPr lang="zh-CN" altLang="en-US" sz="2000" b="1" dirty="0"/>
              <a:t>是元素项的有限序列，并限定了序列中删除、检索、修改一个项都只能是最近被插入的项，称为后进先出（</a:t>
            </a:r>
            <a:r>
              <a:rPr lang="en-US" altLang="zh-CN" sz="2000" b="1" dirty="0"/>
              <a:t>LIFO</a:t>
            </a:r>
            <a:r>
              <a:rPr lang="zh-CN" altLang="en-US" sz="2000" b="1" dirty="0"/>
              <a:t>）原则。</a:t>
            </a:r>
            <a:endParaRPr lang="zh-CN" altLang="en-US" sz="2000" b="1" dirty="0"/>
          </a:p>
        </p:txBody>
      </p:sp>
      <p:pic>
        <p:nvPicPr>
          <p:cNvPr id="5" name="图片 4"/>
          <p:cNvPicPr>
            <a:picLocks noChangeAspect="1"/>
          </p:cNvPicPr>
          <p:nvPr/>
        </p:nvPicPr>
        <p:blipFill>
          <a:blip r:embed="rId2"/>
          <a:stretch>
            <a:fillRect/>
          </a:stretch>
        </p:blipFill>
        <p:spPr>
          <a:xfrm>
            <a:off x="6417673" y="1993740"/>
            <a:ext cx="2033593" cy="2404140"/>
          </a:xfrm>
          <a:prstGeom prst="rect">
            <a:avLst/>
          </a:prstGeom>
        </p:spPr>
      </p:pic>
      <p:sp>
        <p:nvSpPr>
          <p:cNvPr id="11" name="文本框 10"/>
          <p:cNvSpPr txBox="1"/>
          <p:nvPr/>
        </p:nvSpPr>
        <p:spPr>
          <a:xfrm>
            <a:off x="1454426" y="4817007"/>
            <a:ext cx="4462669" cy="1323439"/>
          </a:xfrm>
          <a:prstGeom prst="rect">
            <a:avLst/>
          </a:prstGeom>
          <a:noFill/>
        </p:spPr>
        <p:txBody>
          <a:bodyPr wrap="square" rtlCol="0">
            <a:spAutoFit/>
          </a:bodyPr>
          <a:lstStyle/>
          <a:p>
            <a:r>
              <a:rPr lang="zh-CN" altLang="en-US" sz="2000" b="1" dirty="0">
                <a:solidFill>
                  <a:srgbClr val="0066FF"/>
                </a:solidFill>
              </a:rPr>
              <a:t>队列</a:t>
            </a:r>
            <a:r>
              <a:rPr lang="zh-CN" altLang="en-US" sz="2000" b="1" dirty="0"/>
              <a:t>也是元素项的有限序列，并限定了序列中插入一个项只能在队列尾部，删除、检索和修改一个项只能在队列头部，称为先进先出（</a:t>
            </a:r>
            <a:r>
              <a:rPr lang="en-US" altLang="zh-CN" sz="2000" b="1" dirty="0"/>
              <a:t>FIFO</a:t>
            </a:r>
            <a:r>
              <a:rPr lang="zh-CN" altLang="en-US" sz="2000" b="1" dirty="0"/>
              <a:t>）原则。</a:t>
            </a:r>
            <a:endParaRPr lang="zh-CN" altLang="en-US" sz="2000" b="1" dirty="0"/>
          </a:p>
        </p:txBody>
      </p:sp>
      <p:pic>
        <p:nvPicPr>
          <p:cNvPr id="10" name="图片 9"/>
          <p:cNvPicPr>
            <a:picLocks noChangeAspect="1"/>
          </p:cNvPicPr>
          <p:nvPr/>
        </p:nvPicPr>
        <p:blipFill>
          <a:blip r:embed="rId3"/>
          <a:stretch>
            <a:fillRect/>
          </a:stretch>
        </p:blipFill>
        <p:spPr>
          <a:xfrm>
            <a:off x="6417673" y="4437636"/>
            <a:ext cx="1709611" cy="2286307"/>
          </a:xfrm>
          <a:prstGeom prst="rect">
            <a:avLst/>
          </a:prstGeom>
        </p:spPr>
      </p:pic>
      <p:sp>
        <p:nvSpPr>
          <p:cNvPr id="15" name="Text Box 10"/>
          <p:cNvSpPr txBox="1">
            <a:spLocks noChangeArrowheads="1"/>
          </p:cNvSpPr>
          <p:nvPr/>
        </p:nvSpPr>
        <p:spPr bwMode="auto">
          <a:xfrm>
            <a:off x="8620639" y="2506433"/>
            <a:ext cx="309759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buFont typeface="Arial" panose="020B0604020202020204" pitchFamily="34" charset="0"/>
              <a:buChar char="•"/>
            </a:pPr>
            <a:r>
              <a:rPr kumimoji="0" lang="en-US" altLang="zh-CN" b="1" dirty="0" err="1">
                <a:solidFill>
                  <a:srgbClr val="FF0000"/>
                </a:solidFill>
                <a:latin typeface="宋体" panose="02010600030101010101" pitchFamily="2" charset="-122"/>
              </a:rPr>
              <a:t>priority_queue</a:t>
            </a:r>
            <a:r>
              <a:rPr kumimoji="0" lang="en-US" altLang="zh-CN" b="1" dirty="0">
                <a:solidFill>
                  <a:srgbClr val="FF0000"/>
                </a:solidFill>
                <a:latin typeface="宋体" panose="02010600030101010101" pitchFamily="2" charset="-122"/>
              </a:rPr>
              <a:t> </a:t>
            </a:r>
            <a:endParaRPr kumimoji="0" lang="en-US" altLang="zh-CN" b="1" dirty="0">
              <a:solidFill>
                <a:srgbClr val="FF0000"/>
              </a:solidFill>
              <a:latin typeface="宋体" panose="02010600030101010101" pitchFamily="2" charset="-122"/>
            </a:endParaRPr>
          </a:p>
          <a:p>
            <a:pPr marL="0" indent="0"/>
            <a:r>
              <a:rPr kumimoji="0" lang="en-US" altLang="zh-CN" sz="2000" b="1" dirty="0">
                <a:solidFill>
                  <a:srgbClr val="FF0000"/>
                </a:solidFill>
                <a:latin typeface="宋体" panose="02010600030101010101" pitchFamily="2" charset="-122"/>
              </a:rPr>
              <a:t>    </a:t>
            </a:r>
            <a:r>
              <a:rPr kumimoji="0" lang="en-US" altLang="zh-CN" sz="2000" dirty="0">
                <a:latin typeface="宋体" panose="02010600030101010101" pitchFamily="2" charset="-122"/>
              </a:rPr>
              <a:t>#include </a:t>
            </a:r>
            <a:r>
              <a:rPr kumimoji="0" lang="en-US" altLang="zh-CN" sz="2000" dirty="0">
                <a:solidFill>
                  <a:srgbClr val="0066FF"/>
                </a:solidFill>
                <a:latin typeface="宋体" panose="02010600030101010101" pitchFamily="2" charset="-122"/>
              </a:rPr>
              <a:t>&lt;queue&gt; </a:t>
            </a:r>
            <a:endParaRPr kumimoji="0" lang="en-US" altLang="zh-CN" sz="2000" dirty="0">
              <a:solidFill>
                <a:srgbClr val="0066FF"/>
              </a:solidFill>
              <a:latin typeface="宋体" panose="02010600030101010101" pitchFamily="2" charset="-122"/>
            </a:endParaRPr>
          </a:p>
          <a:p>
            <a:pPr>
              <a:buFont typeface="Arial" panose="020B0604020202020204" pitchFamily="34" charset="0"/>
              <a:buChar char="•"/>
            </a:pPr>
            <a:endParaRPr kumimoji="0" lang="zh-CN" altLang="en-US" sz="2000" b="1" dirty="0">
              <a:latin typeface="宋体" panose="02010600030101010101" pitchFamily="2" charset="-122"/>
            </a:endParaRPr>
          </a:p>
          <a:p>
            <a:pPr>
              <a:buFont typeface="Arial" panose="020B0604020202020204" pitchFamily="34" charset="0"/>
              <a:buChar char="•"/>
            </a:pPr>
            <a:endParaRPr kumimoji="0" lang="en-US" altLang="zh-CN" sz="2000" b="1" dirty="0">
              <a:latin typeface="宋体" panose="02010600030101010101" pitchFamily="2" charset="-122"/>
            </a:endParaRPr>
          </a:p>
        </p:txBody>
      </p:sp>
      <p:sp>
        <p:nvSpPr>
          <p:cNvPr id="16" name="文本框 15"/>
          <p:cNvSpPr txBox="1"/>
          <p:nvPr/>
        </p:nvSpPr>
        <p:spPr>
          <a:xfrm>
            <a:off x="8626700" y="3493568"/>
            <a:ext cx="3401667" cy="1323439"/>
          </a:xfrm>
          <a:prstGeom prst="rect">
            <a:avLst/>
          </a:prstGeom>
          <a:noFill/>
        </p:spPr>
        <p:txBody>
          <a:bodyPr wrap="square" rtlCol="0">
            <a:spAutoFit/>
          </a:bodyPr>
          <a:lstStyle/>
          <a:p>
            <a:r>
              <a:rPr lang="zh-CN" altLang="en-US" sz="2000" b="1" dirty="0">
                <a:solidFill>
                  <a:srgbClr val="0066FF"/>
                </a:solidFill>
              </a:rPr>
              <a:t>优先级队列</a:t>
            </a:r>
            <a:r>
              <a:rPr lang="zh-CN" altLang="en-US" sz="2000" b="1" dirty="0"/>
              <a:t>也是元素项的有限序列，每个元素项都有各自优先级。优先级最高的元素项总是第一个出队。</a:t>
            </a:r>
            <a:endParaRPr lang="zh-CN" altLang="en-US" sz="20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8" y="590960"/>
            <a:ext cx="9327046"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容器的成员函数简介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zh-CN" altLang="en-US" b="1" dirty="0">
                <a:latin typeface="宋体" panose="02010600030101010101" pitchFamily="2" charset="-122"/>
              </a:rPr>
              <a:t>顺序容器、关联容器和</a:t>
            </a:r>
            <a:r>
              <a:rPr kumimoji="0" lang="en-US" altLang="zh-CN" b="1" dirty="0">
                <a:latin typeface="宋体" panose="02010600030101010101" pitchFamily="2" charset="-122"/>
              </a:rPr>
              <a:t>stack</a:t>
            </a:r>
            <a:r>
              <a:rPr kumimoji="0" lang="zh-CN" altLang="en-US" b="1" dirty="0">
                <a:latin typeface="宋体" panose="02010600030101010101" pitchFamily="2" charset="-122"/>
              </a:rPr>
              <a:t>、</a:t>
            </a:r>
            <a:r>
              <a:rPr kumimoji="0" lang="en-US" altLang="zh-CN" b="1" dirty="0">
                <a:latin typeface="宋体" panose="02010600030101010101" pitchFamily="2" charset="-122"/>
              </a:rPr>
              <a:t>queue</a:t>
            </a:r>
            <a:r>
              <a:rPr kumimoji="0" lang="zh-CN" altLang="en-US" b="1" dirty="0">
                <a:latin typeface="宋体" panose="02010600030101010101" pitchFamily="2" charset="-122"/>
              </a:rPr>
              <a:t>中都有的常用成员函数</a:t>
            </a:r>
            <a:endParaRPr kumimoji="0" lang="en-US" altLang="zh-CN" sz="2000" b="1" dirty="0">
              <a:latin typeface="宋体" panose="02010600030101010101" pitchFamily="2" charset="-122"/>
            </a:endParaRPr>
          </a:p>
        </p:txBody>
      </p:sp>
      <p:pic>
        <p:nvPicPr>
          <p:cNvPr id="17" name="图片 16"/>
          <p:cNvPicPr>
            <a:picLocks noChangeAspect="1"/>
          </p:cNvPicPr>
          <p:nvPr/>
        </p:nvPicPr>
        <p:blipFill>
          <a:blip r:embed="rId1"/>
          <a:stretch>
            <a:fillRect/>
          </a:stretch>
        </p:blipFill>
        <p:spPr>
          <a:xfrm>
            <a:off x="2070640" y="2845620"/>
            <a:ext cx="457223" cy="292115"/>
          </a:xfrm>
          <a:prstGeom prst="rect">
            <a:avLst/>
          </a:prstGeom>
        </p:spPr>
      </p:pic>
      <p:pic>
        <p:nvPicPr>
          <p:cNvPr id="19" name="图片 18"/>
          <p:cNvPicPr>
            <a:picLocks noChangeAspect="1"/>
          </p:cNvPicPr>
          <p:nvPr/>
        </p:nvPicPr>
        <p:blipFill rotWithShape="1">
          <a:blip r:embed="rId2"/>
          <a:srcRect r="20657"/>
          <a:stretch>
            <a:fillRect/>
          </a:stretch>
        </p:blipFill>
        <p:spPr>
          <a:xfrm>
            <a:off x="1524157" y="1987927"/>
            <a:ext cx="4589702" cy="1384118"/>
          </a:xfrm>
          <a:prstGeom prst="rect">
            <a:avLst/>
          </a:prstGeom>
        </p:spPr>
      </p:pic>
      <p:sp>
        <p:nvSpPr>
          <p:cNvPr id="20" name="文本框 19"/>
          <p:cNvSpPr txBox="1"/>
          <p:nvPr/>
        </p:nvSpPr>
        <p:spPr>
          <a:xfrm>
            <a:off x="5963478" y="1963458"/>
            <a:ext cx="1431235" cy="369332"/>
          </a:xfrm>
          <a:prstGeom prst="rect">
            <a:avLst/>
          </a:prstGeom>
          <a:noFill/>
        </p:spPr>
        <p:txBody>
          <a:bodyPr wrap="square" rtlCol="0">
            <a:spAutoFit/>
          </a:bodyPr>
          <a:lstStyle/>
          <a:p>
            <a:r>
              <a:rPr lang="en-US" altLang="zh-CN" b="1" dirty="0"/>
              <a:t>&lt;</a:t>
            </a:r>
            <a:r>
              <a:rPr lang="zh-CN" altLang="en-US" b="1" dirty="0"/>
              <a:t>，</a:t>
            </a:r>
            <a:r>
              <a:rPr lang="en-US" altLang="zh-CN" b="1" dirty="0"/>
              <a:t>&lt;=</a:t>
            </a:r>
            <a:r>
              <a:rPr lang="zh-CN" altLang="en-US" b="1" dirty="0"/>
              <a:t>，</a:t>
            </a:r>
            <a:r>
              <a:rPr lang="en-US" altLang="zh-CN" b="1" dirty="0"/>
              <a:t>=</a:t>
            </a:r>
            <a:endParaRPr lang="zh-CN" altLang="en-US" b="1" dirty="0"/>
          </a:p>
        </p:txBody>
      </p:sp>
      <p:pic>
        <p:nvPicPr>
          <p:cNvPr id="22" name="图片 21"/>
          <p:cNvPicPr>
            <a:picLocks noChangeAspect="1"/>
          </p:cNvPicPr>
          <p:nvPr/>
        </p:nvPicPr>
        <p:blipFill>
          <a:blip r:embed="rId3"/>
          <a:stretch>
            <a:fillRect/>
          </a:stretch>
        </p:blipFill>
        <p:spPr>
          <a:xfrm>
            <a:off x="4012942" y="3309773"/>
            <a:ext cx="4276294" cy="3554700"/>
          </a:xfrm>
          <a:prstGeom prst="rect">
            <a:avLst/>
          </a:prstGeom>
        </p:spPr>
      </p:pic>
      <p:pic>
        <p:nvPicPr>
          <p:cNvPr id="24" name="图片 23"/>
          <p:cNvPicPr>
            <a:picLocks noChangeAspect="1"/>
          </p:cNvPicPr>
          <p:nvPr/>
        </p:nvPicPr>
        <p:blipFill>
          <a:blip r:embed="rId4"/>
          <a:stretch>
            <a:fillRect/>
          </a:stretch>
        </p:blipFill>
        <p:spPr>
          <a:xfrm>
            <a:off x="8299468" y="3265556"/>
            <a:ext cx="3746758" cy="3302460"/>
          </a:xfrm>
          <a:prstGeom prst="rect">
            <a:avLst/>
          </a:prstGeom>
        </p:spPr>
      </p:pic>
      <p:sp>
        <p:nvSpPr>
          <p:cNvPr id="25" name="Text Box 10"/>
          <p:cNvSpPr txBox="1">
            <a:spLocks noChangeArrowheads="1"/>
          </p:cNvSpPr>
          <p:nvPr/>
        </p:nvSpPr>
        <p:spPr bwMode="auto">
          <a:xfrm>
            <a:off x="5832250" y="2837114"/>
            <a:ext cx="36285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000" dirty="0">
                <a:solidFill>
                  <a:srgbClr val="006600"/>
                </a:solidFill>
                <a:latin typeface="隶书" panose="02010509060101010101" pitchFamily="49" charset="-122"/>
                <a:ea typeface="隶书" panose="02010509060101010101" pitchFamily="49" charset="-122"/>
              </a:rPr>
              <a:t>例：比较两个容器对象</a:t>
            </a:r>
            <a:endParaRPr kumimoji="0" lang="en-US" altLang="zh-CN" sz="2000" dirty="0">
              <a:solidFill>
                <a:srgbClr val="006600"/>
              </a:solidFill>
              <a:ea typeface="隶书" panose="020105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8" y="590960"/>
            <a:ext cx="9327046"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容器的成员函数简介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zh-CN" altLang="en-US" b="1" dirty="0">
                <a:latin typeface="宋体" panose="02010600030101010101" pitchFamily="2" charset="-122"/>
              </a:rPr>
              <a:t>顺序容器、关联容器和</a:t>
            </a:r>
            <a:r>
              <a:rPr kumimoji="0" lang="en-US" altLang="zh-CN" b="1" dirty="0">
                <a:latin typeface="宋体" panose="02010600030101010101" pitchFamily="2" charset="-122"/>
              </a:rPr>
              <a:t>stack</a:t>
            </a:r>
            <a:r>
              <a:rPr kumimoji="0" lang="zh-CN" altLang="en-US" b="1" dirty="0">
                <a:latin typeface="宋体" panose="02010600030101010101" pitchFamily="2" charset="-122"/>
              </a:rPr>
              <a:t>、</a:t>
            </a:r>
            <a:r>
              <a:rPr kumimoji="0" lang="en-US" altLang="zh-CN" b="1" dirty="0">
                <a:latin typeface="宋体" panose="02010600030101010101" pitchFamily="2" charset="-122"/>
              </a:rPr>
              <a:t>queue</a:t>
            </a:r>
            <a:r>
              <a:rPr kumimoji="0" lang="zh-CN" altLang="en-US" b="1" dirty="0">
                <a:latin typeface="宋体" panose="02010600030101010101" pitchFamily="2" charset="-122"/>
              </a:rPr>
              <a:t>中都有的常用成员函数</a:t>
            </a:r>
            <a:endParaRPr kumimoji="0" lang="en-US" altLang="zh-CN" sz="2000" b="1" dirty="0">
              <a:latin typeface="宋体" panose="02010600030101010101" pitchFamily="2" charset="-122"/>
            </a:endParaRPr>
          </a:p>
        </p:txBody>
      </p:sp>
      <p:pic>
        <p:nvPicPr>
          <p:cNvPr id="17" name="图片 16"/>
          <p:cNvPicPr>
            <a:picLocks noChangeAspect="1"/>
          </p:cNvPicPr>
          <p:nvPr/>
        </p:nvPicPr>
        <p:blipFill>
          <a:blip r:embed="rId1"/>
          <a:stretch>
            <a:fillRect/>
          </a:stretch>
        </p:blipFill>
        <p:spPr>
          <a:xfrm>
            <a:off x="2070640" y="2845620"/>
            <a:ext cx="457223" cy="292115"/>
          </a:xfrm>
          <a:prstGeom prst="rect">
            <a:avLst/>
          </a:prstGeom>
        </p:spPr>
      </p:pic>
      <p:pic>
        <p:nvPicPr>
          <p:cNvPr id="19" name="图片 18"/>
          <p:cNvPicPr>
            <a:picLocks noChangeAspect="1"/>
          </p:cNvPicPr>
          <p:nvPr/>
        </p:nvPicPr>
        <p:blipFill rotWithShape="1">
          <a:blip r:embed="rId2"/>
          <a:srcRect r="20657"/>
          <a:stretch>
            <a:fillRect/>
          </a:stretch>
        </p:blipFill>
        <p:spPr>
          <a:xfrm>
            <a:off x="1524157" y="1987927"/>
            <a:ext cx="4589702" cy="1384118"/>
          </a:xfrm>
          <a:prstGeom prst="rect">
            <a:avLst/>
          </a:prstGeom>
        </p:spPr>
      </p:pic>
      <p:sp>
        <p:nvSpPr>
          <p:cNvPr id="20" name="文本框 19"/>
          <p:cNvSpPr txBox="1"/>
          <p:nvPr/>
        </p:nvSpPr>
        <p:spPr>
          <a:xfrm>
            <a:off x="5963478" y="1963458"/>
            <a:ext cx="1431235" cy="369332"/>
          </a:xfrm>
          <a:prstGeom prst="rect">
            <a:avLst/>
          </a:prstGeom>
          <a:noFill/>
        </p:spPr>
        <p:txBody>
          <a:bodyPr wrap="square" rtlCol="0">
            <a:spAutoFit/>
          </a:bodyPr>
          <a:lstStyle/>
          <a:p>
            <a:r>
              <a:rPr lang="en-US" altLang="zh-CN" b="1" dirty="0"/>
              <a:t>&lt;</a:t>
            </a:r>
            <a:r>
              <a:rPr lang="zh-CN" altLang="en-US" b="1" dirty="0"/>
              <a:t>，</a:t>
            </a:r>
            <a:r>
              <a:rPr lang="en-US" altLang="zh-CN" b="1" dirty="0"/>
              <a:t>&lt;=</a:t>
            </a:r>
            <a:r>
              <a:rPr lang="zh-CN" altLang="en-US" b="1" dirty="0"/>
              <a:t>，</a:t>
            </a:r>
            <a:r>
              <a:rPr lang="en-US" altLang="zh-CN" b="1" dirty="0"/>
              <a:t>=</a:t>
            </a:r>
            <a:endParaRPr lang="zh-CN" altLang="en-US" b="1" dirty="0"/>
          </a:p>
        </p:txBody>
      </p:sp>
      <p:pic>
        <p:nvPicPr>
          <p:cNvPr id="3" name="图片 2"/>
          <p:cNvPicPr>
            <a:picLocks noChangeAspect="1"/>
          </p:cNvPicPr>
          <p:nvPr/>
        </p:nvPicPr>
        <p:blipFill>
          <a:blip r:embed="rId3"/>
          <a:stretch>
            <a:fillRect/>
          </a:stretch>
        </p:blipFill>
        <p:spPr>
          <a:xfrm>
            <a:off x="4850297" y="2443404"/>
            <a:ext cx="7146234" cy="42507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8" y="352424"/>
            <a:ext cx="9327046"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容器的成员函数简介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zh-CN" altLang="en-US" b="1" dirty="0">
                <a:latin typeface="宋体" panose="02010600030101010101" pitchFamily="2" charset="-122"/>
              </a:rPr>
              <a:t>顺序容器和关联容器中都有的常用成员函数</a:t>
            </a:r>
            <a:endParaRPr kumimoji="0" lang="en-US" altLang="zh-CN" sz="2000" b="1" dirty="0">
              <a:latin typeface="宋体" panose="02010600030101010101" pitchFamily="2" charset="-122"/>
            </a:endParaRPr>
          </a:p>
        </p:txBody>
      </p:sp>
      <p:pic>
        <p:nvPicPr>
          <p:cNvPr id="4" name="图片 3"/>
          <p:cNvPicPr>
            <a:picLocks noChangeAspect="1"/>
          </p:cNvPicPr>
          <p:nvPr/>
        </p:nvPicPr>
        <p:blipFill>
          <a:blip r:embed="rId1"/>
          <a:stretch>
            <a:fillRect/>
          </a:stretch>
        </p:blipFill>
        <p:spPr>
          <a:xfrm>
            <a:off x="1543474" y="1608385"/>
            <a:ext cx="7948395" cy="2889883"/>
          </a:xfrm>
          <a:prstGeom prst="rect">
            <a:avLst/>
          </a:prstGeom>
        </p:spPr>
      </p:pic>
      <p:pic>
        <p:nvPicPr>
          <p:cNvPr id="12" name="图片 11"/>
          <p:cNvPicPr>
            <a:picLocks noChangeAspect="1"/>
          </p:cNvPicPr>
          <p:nvPr/>
        </p:nvPicPr>
        <p:blipFill>
          <a:blip r:embed="rId2"/>
          <a:stretch>
            <a:fillRect/>
          </a:stretch>
        </p:blipFill>
        <p:spPr>
          <a:xfrm>
            <a:off x="9034646" y="1687898"/>
            <a:ext cx="457223" cy="292115"/>
          </a:xfrm>
          <a:prstGeom prst="rect">
            <a:avLst/>
          </a:prstGeom>
        </p:spPr>
      </p:pic>
      <p:pic>
        <p:nvPicPr>
          <p:cNvPr id="17" name="图片 16"/>
          <p:cNvPicPr>
            <a:picLocks noChangeAspect="1"/>
          </p:cNvPicPr>
          <p:nvPr/>
        </p:nvPicPr>
        <p:blipFill>
          <a:blip r:embed="rId2"/>
          <a:stretch>
            <a:fillRect/>
          </a:stretch>
        </p:blipFill>
        <p:spPr>
          <a:xfrm>
            <a:off x="2070640" y="2338731"/>
            <a:ext cx="457223" cy="292115"/>
          </a:xfrm>
          <a:prstGeom prst="rect">
            <a:avLst/>
          </a:prstGeom>
        </p:spPr>
      </p:pic>
      <p:cxnSp>
        <p:nvCxnSpPr>
          <p:cNvPr id="7" name="直接连接符 6"/>
          <p:cNvCxnSpPr/>
          <p:nvPr/>
        </p:nvCxnSpPr>
        <p:spPr>
          <a:xfrm>
            <a:off x="6649278" y="2484789"/>
            <a:ext cx="566531"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0" name="直接连接符 9"/>
          <p:cNvCxnSpPr/>
          <p:nvPr/>
        </p:nvCxnSpPr>
        <p:spPr>
          <a:xfrm>
            <a:off x="6366012" y="3462136"/>
            <a:ext cx="566531"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8" name="直接连接符 7"/>
          <p:cNvCxnSpPr/>
          <p:nvPr/>
        </p:nvCxnSpPr>
        <p:spPr>
          <a:xfrm>
            <a:off x="6722164" y="1980013"/>
            <a:ext cx="762001"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nvCxnSpPr>
        <p:spPr>
          <a:xfrm>
            <a:off x="8444923" y="2470343"/>
            <a:ext cx="762001"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3" name="直接连接符 12"/>
          <p:cNvCxnSpPr/>
          <p:nvPr/>
        </p:nvCxnSpPr>
        <p:spPr>
          <a:xfrm>
            <a:off x="7012057" y="2961867"/>
            <a:ext cx="762001"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4" name="直接连接符 13"/>
          <p:cNvCxnSpPr/>
          <p:nvPr/>
        </p:nvCxnSpPr>
        <p:spPr>
          <a:xfrm>
            <a:off x="8196470" y="3434437"/>
            <a:ext cx="762001" cy="0"/>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5" name="文本框 14"/>
          <p:cNvSpPr txBox="1"/>
          <p:nvPr/>
        </p:nvSpPr>
        <p:spPr>
          <a:xfrm>
            <a:off x="1467680" y="4595806"/>
            <a:ext cx="10101468" cy="1015663"/>
          </a:xfrm>
          <a:prstGeom prst="rect">
            <a:avLst/>
          </a:prstGeom>
          <a:noFill/>
        </p:spPr>
        <p:txBody>
          <a:bodyPr wrap="square">
            <a:spAutoFit/>
          </a:bodyPr>
          <a:lstStyle/>
          <a:p>
            <a:r>
              <a:rPr lang="en-US" altLang="zh-CN" sz="2000" b="1" dirty="0" err="1">
                <a:solidFill>
                  <a:srgbClr val="FF0000"/>
                </a:solidFill>
              </a:rPr>
              <a:t>cbegin</a:t>
            </a:r>
            <a:r>
              <a:rPr lang="en-US" altLang="zh-CN" sz="2000" b="1" dirty="0"/>
              <a:t> </a:t>
            </a:r>
            <a:r>
              <a:rPr lang="zh-CN" altLang="en-US" sz="2000" b="1" dirty="0"/>
              <a:t>和 </a:t>
            </a:r>
            <a:r>
              <a:rPr lang="en-US" altLang="zh-CN" sz="2000" b="1" dirty="0" err="1">
                <a:solidFill>
                  <a:srgbClr val="FF0000"/>
                </a:solidFill>
              </a:rPr>
              <a:t>cend</a:t>
            </a:r>
            <a:r>
              <a:rPr lang="zh-CN" altLang="en-US" sz="2000" b="1" dirty="0"/>
              <a:t>：返回值为</a:t>
            </a:r>
            <a:r>
              <a:rPr lang="en-US" altLang="zh-CN" sz="2000" b="1" dirty="0"/>
              <a:t>const</a:t>
            </a:r>
            <a:r>
              <a:rPr lang="zh-CN" altLang="en-US" sz="2000" b="1" dirty="0"/>
              <a:t>迭代器。</a:t>
            </a:r>
            <a:r>
              <a:rPr lang="zh-CN" altLang="en-US" sz="2000" dirty="0">
                <a:solidFill>
                  <a:srgbClr val="000000"/>
                </a:solidFill>
                <a:latin typeface="MicrosoftYaHei"/>
              </a:rPr>
              <a:t>对于 </a:t>
            </a:r>
            <a:r>
              <a:rPr lang="en-US" altLang="zh-CN" sz="2000" dirty="0">
                <a:solidFill>
                  <a:srgbClr val="000000"/>
                </a:solidFill>
                <a:latin typeface="LMSans10-Regular-Identity-H"/>
              </a:rPr>
              <a:t>begin </a:t>
            </a:r>
            <a:r>
              <a:rPr lang="zh-CN" altLang="en-US" sz="2000" dirty="0">
                <a:solidFill>
                  <a:srgbClr val="000000"/>
                </a:solidFill>
                <a:latin typeface="MicrosoftYaHei"/>
              </a:rPr>
              <a:t>函数，只有当容器是 </a:t>
            </a:r>
            <a:r>
              <a:rPr lang="en-US" altLang="zh-CN" sz="2000" dirty="0">
                <a:solidFill>
                  <a:srgbClr val="000000"/>
                </a:solidFill>
                <a:latin typeface="LMSans10-Regular-Identity-H"/>
              </a:rPr>
              <a:t>const </a:t>
            </a:r>
            <a:r>
              <a:rPr lang="zh-CN" altLang="en-US" sz="2000" dirty="0">
                <a:solidFill>
                  <a:srgbClr val="000000"/>
                </a:solidFill>
                <a:latin typeface="MicrosoftYaHei"/>
              </a:rPr>
              <a:t>类型，才返回 </a:t>
            </a:r>
            <a:r>
              <a:rPr lang="en-US" altLang="zh-CN" sz="2000" dirty="0">
                <a:solidFill>
                  <a:srgbClr val="000000"/>
                </a:solidFill>
                <a:latin typeface="LMSans10-Regular-Identity-H"/>
              </a:rPr>
              <a:t>const </a:t>
            </a:r>
            <a:r>
              <a:rPr lang="zh-CN" altLang="en-US" sz="2000" dirty="0">
                <a:solidFill>
                  <a:srgbClr val="000000"/>
                </a:solidFill>
                <a:latin typeface="MicrosoftYaHei"/>
              </a:rPr>
              <a:t>类型迭代器；否则返回非 </a:t>
            </a:r>
            <a:r>
              <a:rPr lang="en-US" altLang="zh-CN" sz="2000" dirty="0">
                <a:solidFill>
                  <a:srgbClr val="000000"/>
                </a:solidFill>
                <a:latin typeface="LMSans10-Regular-Identity-H"/>
              </a:rPr>
              <a:t>const</a:t>
            </a:r>
            <a:r>
              <a:rPr lang="zh-CN" altLang="en-US" sz="2000" dirty="0">
                <a:solidFill>
                  <a:srgbClr val="000000"/>
                </a:solidFill>
                <a:latin typeface="MicrosoftYaHei"/>
              </a:rPr>
              <a:t>。</a:t>
            </a:r>
            <a:endParaRPr lang="zh-CN" altLang="en-US" sz="2000" dirty="0"/>
          </a:p>
          <a:p>
            <a:endParaRPr lang="zh-CN" altLang="en-US" sz="2000" dirty="0"/>
          </a:p>
        </p:txBody>
      </p:sp>
      <p:sp>
        <p:nvSpPr>
          <p:cNvPr id="16" name="矩形 15"/>
          <p:cNvSpPr/>
          <p:nvPr/>
        </p:nvSpPr>
        <p:spPr>
          <a:xfrm>
            <a:off x="2070640" y="5242516"/>
            <a:ext cx="7634377" cy="1477328"/>
          </a:xfrm>
          <a:prstGeom prst="rect">
            <a:avLst/>
          </a:prstGeom>
        </p:spPr>
        <p:txBody>
          <a:bodyPr wrap="square">
            <a:spAutoFit/>
          </a:bodyPr>
          <a:lstStyle/>
          <a:p>
            <a:r>
              <a:rPr lang="en-US" altLang="zh-CN" dirty="0">
                <a:solidFill>
                  <a:srgbClr val="000000"/>
                </a:solidFill>
                <a:latin typeface="Consolas" panose="020B0609020204030204" pitchFamily="49" charset="0"/>
              </a:rPr>
              <a:t>vector&lt;</a:t>
            </a:r>
            <a:r>
              <a:rPr lang="en-US" altLang="zh-CN" dirty="0">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&gt; </a:t>
            </a:r>
            <a:r>
              <a:rPr lang="en-US" altLang="zh-CN" dirty="0" err="1">
                <a:solidFill>
                  <a:srgbClr val="000000"/>
                </a:solidFill>
                <a:latin typeface="Consolas" panose="020B0609020204030204" pitchFamily="49" charset="0"/>
              </a:rPr>
              <a:t>vec</a:t>
            </a:r>
            <a:r>
              <a:rPr lang="en-US" altLang="zh-CN" dirty="0">
                <a:solidFill>
                  <a:srgbClr val="000000"/>
                </a:solidFill>
                <a:latin typeface="Consolas" panose="020B0609020204030204" pitchFamily="49" charset="0"/>
              </a:rPr>
              <a:t> = {</a:t>
            </a:r>
            <a:r>
              <a:rPr lang="en-US" altLang="zh-CN" dirty="0">
                <a:solidFill>
                  <a:srgbClr val="09885A"/>
                </a:solidFill>
                <a:latin typeface="Consolas" panose="020B0609020204030204" pitchFamily="49" charset="0"/>
              </a:rPr>
              <a:t>0</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1</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3</a:t>
            </a:r>
            <a:r>
              <a:rPr lang="en-US" altLang="zh-CN" dirty="0">
                <a:solidFill>
                  <a:srgbClr val="000000"/>
                </a:solidFill>
                <a:latin typeface="Consolas" panose="020B0609020204030204" pitchFamily="49" charset="0"/>
              </a:rPr>
              <a:t>, </a:t>
            </a:r>
            <a:r>
              <a:rPr lang="en-US" altLang="zh-CN" dirty="0">
                <a:solidFill>
                  <a:srgbClr val="09885A"/>
                </a:solidFill>
                <a:latin typeface="Consolas" panose="020B0609020204030204" pitchFamily="49" charset="0"/>
              </a:rPr>
              <a:t>4</a:t>
            </a:r>
            <a:r>
              <a:rPr lang="en-US" altLang="zh-CN" dirty="0">
                <a:solidFill>
                  <a:srgbClr val="000000"/>
                </a:solidFill>
                <a:latin typeface="Consolas" panose="020B0609020204030204" pitchFamily="49" charset="0"/>
              </a:rPr>
              <a:t>};</a:t>
            </a:r>
            <a:endParaRPr lang="en-US" altLang="zh-CN" dirty="0">
              <a:solidFill>
                <a:srgbClr val="000000"/>
              </a:solidFill>
              <a:latin typeface="Consolas" panose="020B0609020204030204" pitchFamily="49" charset="0"/>
            </a:endParaRPr>
          </a:p>
          <a:p>
            <a:r>
              <a:rPr lang="en-US" altLang="zh-CN" dirty="0">
                <a:solidFill>
                  <a:srgbClr val="0000FF"/>
                </a:solidFill>
                <a:latin typeface="Consolas" panose="020B0609020204030204" pitchFamily="49" charset="0"/>
              </a:rPr>
              <a:t>auto</a:t>
            </a:r>
            <a:r>
              <a:rPr lang="en-US" altLang="zh-CN" dirty="0">
                <a:solidFill>
                  <a:srgbClr val="000000"/>
                </a:solidFill>
                <a:latin typeface="Consolas" panose="020B0609020204030204" pitchFamily="49" charset="0"/>
              </a:rPr>
              <a:t> it1 = </a:t>
            </a:r>
            <a:r>
              <a:rPr lang="en-US" altLang="zh-CN" dirty="0" err="1">
                <a:solidFill>
                  <a:srgbClr val="000000"/>
                </a:solidFill>
                <a:latin typeface="Consolas" panose="020B0609020204030204" pitchFamily="49" charset="0"/>
              </a:rPr>
              <a:t>vec.</a:t>
            </a:r>
            <a:r>
              <a:rPr lang="en-US" altLang="zh-CN" dirty="0" err="1">
                <a:solidFill>
                  <a:srgbClr val="795E26"/>
                </a:solidFill>
                <a:latin typeface="Consolas" panose="020B0609020204030204" pitchFamily="49" charset="0"/>
              </a:rPr>
              <a:t>begin</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返回第一个元素的迭代器</a:t>
            </a:r>
            <a:endParaRPr lang="zh-CN" altLang="en-US" dirty="0">
              <a:solidFill>
                <a:srgbClr val="000000"/>
              </a:solidFill>
              <a:latin typeface="Consolas" panose="020B0609020204030204" pitchFamily="49" charset="0"/>
            </a:endParaRPr>
          </a:p>
          <a:p>
            <a:r>
              <a:rPr lang="en-US" altLang="zh-CN" dirty="0">
                <a:solidFill>
                  <a:srgbClr val="0000FF"/>
                </a:solidFill>
                <a:latin typeface="Consolas" panose="020B0609020204030204" pitchFamily="49" charset="0"/>
              </a:rPr>
              <a:t>auto</a:t>
            </a:r>
            <a:r>
              <a:rPr lang="en-US" altLang="zh-CN" dirty="0">
                <a:solidFill>
                  <a:srgbClr val="000000"/>
                </a:solidFill>
                <a:latin typeface="Consolas" panose="020B0609020204030204" pitchFamily="49" charset="0"/>
              </a:rPr>
              <a:t> it2 = </a:t>
            </a:r>
            <a:r>
              <a:rPr lang="en-US" altLang="zh-CN" dirty="0" err="1">
                <a:solidFill>
                  <a:srgbClr val="000000"/>
                </a:solidFill>
                <a:latin typeface="Consolas" panose="020B0609020204030204" pitchFamily="49" charset="0"/>
              </a:rPr>
              <a:t>vec.</a:t>
            </a:r>
            <a:r>
              <a:rPr lang="en-US" altLang="zh-CN" dirty="0" err="1">
                <a:solidFill>
                  <a:srgbClr val="795E26"/>
                </a:solidFill>
                <a:latin typeface="Consolas" panose="020B0609020204030204" pitchFamily="49" charset="0"/>
              </a:rPr>
              <a:t>cbegin</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返回第一个元素的</a:t>
            </a:r>
            <a:r>
              <a:rPr lang="en-US" altLang="zh-CN" dirty="0">
                <a:solidFill>
                  <a:srgbClr val="008000"/>
                </a:solidFill>
                <a:latin typeface="Consolas" panose="020B0609020204030204" pitchFamily="49" charset="0"/>
              </a:rPr>
              <a:t>const</a:t>
            </a:r>
            <a:r>
              <a:rPr lang="zh-CN" altLang="en-US" dirty="0">
                <a:solidFill>
                  <a:srgbClr val="008000"/>
                </a:solidFill>
                <a:latin typeface="Consolas" panose="020B0609020204030204" pitchFamily="49" charset="0"/>
              </a:rPr>
              <a:t>迭代器</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a:t>
            </a:r>
            <a:r>
              <a:rPr lang="en-US" altLang="zh-CN" dirty="0">
                <a:solidFill>
                  <a:srgbClr val="000000"/>
                </a:solidFill>
                <a:latin typeface="Consolas" panose="020B0609020204030204" pitchFamily="49" charset="0"/>
              </a:rPr>
              <a:t>it1 = </a:t>
            </a:r>
            <a:r>
              <a:rPr lang="en-US" altLang="zh-CN" dirty="0">
                <a:solidFill>
                  <a:srgbClr val="09885A"/>
                </a:solidFill>
                <a:latin typeface="Consolas" panose="020B0609020204030204" pitchFamily="49" charset="0"/>
              </a:rPr>
              <a:t>4</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正确：修改第一个元素的值</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a:t>
            </a:r>
            <a:r>
              <a:rPr lang="en-US" altLang="zh-CN" dirty="0">
                <a:solidFill>
                  <a:srgbClr val="000000"/>
                </a:solidFill>
                <a:latin typeface="Consolas" panose="020B0609020204030204" pitchFamily="49" charset="0"/>
              </a:rPr>
              <a:t>it2 = </a:t>
            </a:r>
            <a:r>
              <a:rPr lang="en-US" altLang="zh-CN" dirty="0">
                <a:solidFill>
                  <a:srgbClr val="09885A"/>
                </a:solidFill>
                <a:latin typeface="Consolas" panose="020B0609020204030204" pitchFamily="49" charset="0"/>
              </a:rPr>
              <a:t>5</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错误：</a:t>
            </a:r>
            <a:r>
              <a:rPr lang="en-US" altLang="zh-CN" dirty="0">
                <a:solidFill>
                  <a:srgbClr val="008000"/>
                </a:solidFill>
                <a:latin typeface="Consolas" panose="020B0609020204030204" pitchFamily="49" charset="0"/>
              </a:rPr>
              <a:t>it2</a:t>
            </a:r>
            <a:r>
              <a:rPr lang="zh-CN" altLang="en-US" dirty="0">
                <a:solidFill>
                  <a:srgbClr val="008000"/>
                </a:solidFill>
                <a:latin typeface="Consolas" panose="020B0609020204030204" pitchFamily="49" charset="0"/>
              </a:rPr>
              <a:t>为</a:t>
            </a:r>
            <a:r>
              <a:rPr lang="en-US" altLang="zh-CN" dirty="0">
                <a:solidFill>
                  <a:srgbClr val="008000"/>
                </a:solidFill>
                <a:latin typeface="Consolas" panose="020B0609020204030204" pitchFamily="49" charset="0"/>
              </a:rPr>
              <a:t>const </a:t>
            </a:r>
            <a:r>
              <a:rPr lang="zh-CN" altLang="en-US" dirty="0">
                <a:solidFill>
                  <a:srgbClr val="008000"/>
                </a:solidFill>
                <a:latin typeface="Consolas" panose="020B0609020204030204" pitchFamily="49" charset="0"/>
              </a:rPr>
              <a:t>迭代器，不允许修改指向的对象</a:t>
            </a:r>
            <a:endParaRPr lang="zh-CN" altLang="en-US" b="0" dirty="0">
              <a:solidFill>
                <a:srgbClr val="000000"/>
              </a:solidFill>
              <a:effectLst/>
              <a:latin typeface="Consolas" panose="020B06090202040302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0"/>
          <p:cNvSpPr txBox="1">
            <a:spLocks noChangeArrowheads="1"/>
          </p:cNvSpPr>
          <p:nvPr/>
        </p:nvSpPr>
        <p:spPr bwMode="auto">
          <a:xfrm>
            <a:off x="1039468" y="590960"/>
            <a:ext cx="9327046"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容器的成员函数简介</a:t>
            </a:r>
            <a:endParaRPr kumimoji="0" lang="en-US" altLang="zh-CN" sz="2800" dirty="0">
              <a:solidFill>
                <a:srgbClr val="006600"/>
              </a:solidFill>
              <a:ea typeface="隶书" panose="02010509060101010101" pitchFamily="49" charset="-122"/>
            </a:endParaRPr>
          </a:p>
          <a:p>
            <a:pPr marL="342900" indent="-342900">
              <a:buFont typeface="Arial" panose="020B0604020202020204" pitchFamily="34" charset="0"/>
              <a:buChar char="•"/>
            </a:pPr>
            <a:endParaRPr lang="en-US" altLang="zh-CN" dirty="0"/>
          </a:p>
          <a:p>
            <a:pPr>
              <a:buFont typeface="Arial" panose="020B0604020202020204" pitchFamily="34" charset="0"/>
              <a:buChar char="•"/>
            </a:pPr>
            <a:r>
              <a:rPr kumimoji="0" lang="zh-CN" altLang="en-US" b="1" dirty="0">
                <a:latin typeface="宋体" panose="02010600030101010101" pitchFamily="2" charset="-122"/>
              </a:rPr>
              <a:t>顺序容器中有的常用成员函数</a:t>
            </a:r>
            <a:endParaRPr kumimoji="0" lang="en-US" altLang="zh-CN" sz="2000" b="1" dirty="0">
              <a:latin typeface="宋体" panose="02010600030101010101" pitchFamily="2" charset="-122"/>
            </a:endParaRPr>
          </a:p>
        </p:txBody>
      </p:sp>
      <p:pic>
        <p:nvPicPr>
          <p:cNvPr id="12" name="图片 11"/>
          <p:cNvPicPr>
            <a:picLocks noChangeAspect="1"/>
          </p:cNvPicPr>
          <p:nvPr/>
        </p:nvPicPr>
        <p:blipFill>
          <a:blip r:embed="rId1"/>
          <a:stretch>
            <a:fillRect/>
          </a:stretch>
        </p:blipFill>
        <p:spPr>
          <a:xfrm>
            <a:off x="9034646" y="2194787"/>
            <a:ext cx="457223" cy="292115"/>
          </a:xfrm>
          <a:prstGeom prst="rect">
            <a:avLst/>
          </a:prstGeom>
        </p:spPr>
      </p:pic>
      <p:pic>
        <p:nvPicPr>
          <p:cNvPr id="17" name="图片 16"/>
          <p:cNvPicPr>
            <a:picLocks noChangeAspect="1"/>
          </p:cNvPicPr>
          <p:nvPr/>
        </p:nvPicPr>
        <p:blipFill>
          <a:blip r:embed="rId1"/>
          <a:stretch>
            <a:fillRect/>
          </a:stretch>
        </p:blipFill>
        <p:spPr>
          <a:xfrm>
            <a:off x="2070640" y="2845620"/>
            <a:ext cx="457223" cy="292115"/>
          </a:xfrm>
          <a:prstGeom prst="rect">
            <a:avLst/>
          </a:prstGeom>
        </p:spPr>
      </p:pic>
      <p:pic>
        <p:nvPicPr>
          <p:cNvPr id="7" name="图片 6"/>
          <p:cNvPicPr>
            <a:picLocks noChangeAspect="1"/>
          </p:cNvPicPr>
          <p:nvPr/>
        </p:nvPicPr>
        <p:blipFill>
          <a:blip r:embed="rId2"/>
          <a:stretch>
            <a:fillRect/>
          </a:stretch>
        </p:blipFill>
        <p:spPr>
          <a:xfrm>
            <a:off x="9397165" y="2311028"/>
            <a:ext cx="452513" cy="399277"/>
          </a:xfrm>
          <a:prstGeom prst="rect">
            <a:avLst/>
          </a:prstGeom>
        </p:spPr>
      </p:pic>
      <p:pic>
        <p:nvPicPr>
          <p:cNvPr id="9" name="图片 8"/>
          <p:cNvPicPr>
            <a:picLocks noChangeAspect="1"/>
          </p:cNvPicPr>
          <p:nvPr/>
        </p:nvPicPr>
        <p:blipFill>
          <a:blip r:embed="rId3"/>
          <a:stretch>
            <a:fillRect/>
          </a:stretch>
        </p:blipFill>
        <p:spPr>
          <a:xfrm>
            <a:off x="1442963" y="2038323"/>
            <a:ext cx="8853975" cy="2781353"/>
          </a:xfrm>
          <a:prstGeom prst="rect">
            <a:avLst/>
          </a:prstGeom>
        </p:spPr>
      </p:pic>
      <p:pic>
        <p:nvPicPr>
          <p:cNvPr id="11" name="图片 10"/>
          <p:cNvPicPr>
            <a:picLocks noChangeAspect="1"/>
          </p:cNvPicPr>
          <p:nvPr/>
        </p:nvPicPr>
        <p:blipFill>
          <a:blip r:embed="rId4"/>
          <a:stretch>
            <a:fillRect/>
          </a:stretch>
        </p:blipFill>
        <p:spPr>
          <a:xfrm>
            <a:off x="9550390" y="2069715"/>
            <a:ext cx="330217" cy="482625"/>
          </a:xfrm>
          <a:prstGeom prst="rect">
            <a:avLst/>
          </a:prstGeom>
        </p:spPr>
      </p:pic>
      <p:cxnSp>
        <p:nvCxnSpPr>
          <p:cNvPr id="3" name="直接连接符 2"/>
          <p:cNvCxnSpPr/>
          <p:nvPr/>
        </p:nvCxnSpPr>
        <p:spPr>
          <a:xfrm>
            <a:off x="6162261" y="2311028"/>
            <a:ext cx="55659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324600" y="2845620"/>
            <a:ext cx="55659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309479" y="5261497"/>
            <a:ext cx="10070826" cy="829945"/>
          </a:xfrm>
          <a:prstGeom prst="rect">
            <a:avLst/>
          </a:prstGeom>
          <a:noFill/>
        </p:spPr>
        <p:txBody>
          <a:bodyPr wrap="square">
            <a:spAutoFit/>
          </a:bodyPr>
          <a:lstStyle/>
          <a:p>
            <a:r>
              <a:rPr lang="zh-CN" altLang="en-US" sz="2400" dirty="0">
                <a:solidFill>
                  <a:srgbClr val="000000"/>
                </a:solidFill>
                <a:latin typeface="MicrosoftYaHei"/>
              </a:rPr>
              <a:t>顺序容器</a:t>
            </a:r>
            <a:r>
              <a:rPr lang="en-US" altLang="zh-CN" sz="2400" dirty="0">
                <a:solidFill>
                  <a:srgbClr val="FF0000"/>
                </a:solidFill>
                <a:latin typeface="Arial" panose="020B0604020202020204" pitchFamily="34" charset="0"/>
                <a:cs typeface="Arial" panose="020B0604020202020204" pitchFamily="34" charset="0"/>
              </a:rPr>
              <a:t>vector,</a:t>
            </a:r>
            <a:r>
              <a:rPr lang="zh-CN" altLang="en-US" sz="2400" dirty="0">
                <a:solidFill>
                  <a:srgbClr val="FF0000"/>
                </a:solidFill>
                <a:latin typeface="Arial" panose="020B0604020202020204" pitchFamily="34" charset="0"/>
                <a:cs typeface="Arial" panose="020B0604020202020204" pitchFamily="34" charset="0"/>
              </a:rPr>
              <a:t> </a:t>
            </a:r>
            <a:r>
              <a:rPr lang="en-US" altLang="zh-CN" sz="2400" dirty="0">
                <a:solidFill>
                  <a:srgbClr val="FF0000"/>
                </a:solidFill>
                <a:latin typeface="Arial" panose="020B0604020202020204" pitchFamily="34" charset="0"/>
                <a:cs typeface="Arial" panose="020B0604020202020204" pitchFamily="34" charset="0"/>
              </a:rPr>
              <a:t>string,</a:t>
            </a:r>
            <a:r>
              <a:rPr lang="zh-CN" altLang="en-US" sz="2400" dirty="0">
                <a:solidFill>
                  <a:srgbClr val="FF0000"/>
                </a:solidFill>
                <a:latin typeface="Arial" panose="020B0604020202020204" pitchFamily="34" charset="0"/>
                <a:cs typeface="Arial" panose="020B0604020202020204" pitchFamily="34" charset="0"/>
              </a:rPr>
              <a:t> </a:t>
            </a:r>
            <a:r>
              <a:rPr lang="en-US" altLang="zh-CN" sz="2400" dirty="0">
                <a:solidFill>
                  <a:srgbClr val="FF0000"/>
                </a:solidFill>
                <a:latin typeface="Arial" panose="020B0604020202020204" pitchFamily="34" charset="0"/>
                <a:cs typeface="Arial" panose="020B0604020202020204" pitchFamily="34" charset="0"/>
              </a:rPr>
              <a:t>list,</a:t>
            </a:r>
            <a:r>
              <a:rPr lang="zh-CN" altLang="en-US" sz="2400" dirty="0">
                <a:solidFill>
                  <a:srgbClr val="FF0000"/>
                </a:solidFill>
                <a:latin typeface="Arial" panose="020B0604020202020204" pitchFamily="34" charset="0"/>
                <a:cs typeface="Arial" panose="020B0604020202020204" pitchFamily="34" charset="0"/>
              </a:rPr>
              <a:t> </a:t>
            </a:r>
            <a:r>
              <a:rPr lang="en-US" altLang="zh-CN" sz="2400" dirty="0">
                <a:solidFill>
                  <a:srgbClr val="FF0000"/>
                </a:solidFill>
                <a:latin typeface="Arial" panose="020B0604020202020204" pitchFamily="34" charset="0"/>
                <a:cs typeface="Arial" panose="020B0604020202020204" pitchFamily="34" charset="0"/>
              </a:rPr>
              <a:t>deque, </a:t>
            </a:r>
            <a:r>
              <a:rPr lang="en-US" altLang="zh-CN" sz="2400" dirty="0" err="1">
                <a:solidFill>
                  <a:srgbClr val="FF0000"/>
                </a:solidFill>
                <a:latin typeface="Arial" panose="020B0604020202020204" pitchFamily="34" charset="0"/>
                <a:cs typeface="Arial" panose="020B0604020202020204" pitchFamily="34" charset="0"/>
              </a:rPr>
              <a:t>forward_list</a:t>
            </a:r>
            <a:r>
              <a:rPr lang="zh-CN" altLang="en-US" sz="2400" dirty="0">
                <a:solidFill>
                  <a:srgbClr val="000000"/>
                </a:solidFill>
                <a:latin typeface="MicrosoftYaHei"/>
              </a:rPr>
              <a:t>（</a:t>
            </a:r>
            <a:r>
              <a:rPr lang="en-US" altLang="zh-CN" sz="2400" dirty="0" err="1">
                <a:solidFill>
                  <a:srgbClr val="000000"/>
                </a:solidFill>
                <a:latin typeface="MicrosoftYaHei"/>
              </a:rPr>
              <a:t>c++</a:t>
            </a:r>
            <a:r>
              <a:rPr lang="en-US" altLang="zh-CN" sz="2400" dirty="0">
                <a:solidFill>
                  <a:srgbClr val="000000"/>
                </a:solidFill>
                <a:latin typeface="MicrosoftYaHei"/>
              </a:rPr>
              <a:t>11</a:t>
            </a:r>
            <a:r>
              <a:rPr lang="zh-CN" altLang="en-US" sz="2400" dirty="0">
                <a:solidFill>
                  <a:srgbClr val="000000"/>
                </a:solidFill>
                <a:latin typeface="MicrosoftYaHei"/>
              </a:rPr>
              <a:t>，单链表）</a:t>
            </a:r>
            <a:r>
              <a:rPr lang="en-US" altLang="zh-CN" sz="2400" dirty="0">
                <a:solidFill>
                  <a:srgbClr val="000000"/>
                </a:solidFill>
                <a:latin typeface="MicrosoftYaHei"/>
              </a:rPr>
              <a:t>, </a:t>
            </a:r>
            <a:r>
              <a:rPr lang="en-US" altLang="zh-CN" sz="2400" dirty="0">
                <a:solidFill>
                  <a:srgbClr val="FF0000"/>
                </a:solidFill>
                <a:latin typeface="Arial" panose="020B0604020202020204" pitchFamily="34" charset="0"/>
                <a:cs typeface="Arial" panose="020B0604020202020204" pitchFamily="34" charset="0"/>
              </a:rPr>
              <a:t>array</a:t>
            </a:r>
            <a:r>
              <a:rPr lang="zh-CN" altLang="en-US" sz="2400" dirty="0">
                <a:solidFill>
                  <a:srgbClr val="FF0000"/>
                </a:solidFill>
                <a:latin typeface="Arial" panose="020B0604020202020204" pitchFamily="34" charset="0"/>
                <a:cs typeface="Arial" panose="020B0604020202020204" pitchFamily="34" charset="0"/>
              </a:rPr>
              <a:t> </a:t>
            </a:r>
            <a:r>
              <a:rPr lang="zh-CN" altLang="en-US" sz="2400" dirty="0">
                <a:solidFill>
                  <a:srgbClr val="000000"/>
                </a:solidFill>
                <a:latin typeface="MicrosoftYaHei"/>
              </a:rPr>
              <a:t>（</a:t>
            </a:r>
            <a:r>
              <a:rPr lang="en-US" altLang="zh-CN" sz="2400" dirty="0" err="1">
                <a:solidFill>
                  <a:srgbClr val="000000"/>
                </a:solidFill>
                <a:latin typeface="MicrosoftYaHei"/>
              </a:rPr>
              <a:t>c++</a:t>
            </a:r>
            <a:r>
              <a:rPr lang="en-US" altLang="zh-CN" sz="2400" dirty="0">
                <a:solidFill>
                  <a:srgbClr val="000000"/>
                </a:solidFill>
                <a:latin typeface="MicrosoftYaHei"/>
              </a:rPr>
              <a:t>11</a:t>
            </a:r>
            <a:r>
              <a:rPr lang="zh-CN" altLang="en-US" sz="2400" dirty="0">
                <a:solidFill>
                  <a:srgbClr val="000000"/>
                </a:solidFill>
                <a:latin typeface="MicrosoftYaHei"/>
              </a:rPr>
              <a:t>，固定数组）都可以使用这些成员函数。</a:t>
            </a:r>
            <a:r>
              <a:rPr lang="zh-CN" altLang="en-US" sz="2400" dirty="0"/>
              <a:t> </a:t>
            </a: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48189" y="978586"/>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迭代器</a:t>
            </a:r>
            <a:r>
              <a:rPr kumimoji="0" lang="zh-CN" altLang="en-US" sz="2800" dirty="0">
                <a:solidFill>
                  <a:srgbClr val="006600"/>
                </a:solidFill>
                <a:latin typeface="Times New Roman" panose="02020603050405020304" pitchFamily="18" charset="0"/>
                <a:ea typeface="隶书" panose="02010509060101010101" pitchFamily="49" charset="-122"/>
              </a:rPr>
              <a:t>（</a:t>
            </a:r>
            <a:r>
              <a:rPr kumimoji="0" lang="en-US" altLang="zh-CN" sz="2800" dirty="0">
                <a:solidFill>
                  <a:srgbClr val="006600"/>
                </a:solidFill>
                <a:latin typeface="Times New Roman" panose="02020603050405020304" pitchFamily="18" charset="0"/>
                <a:ea typeface="隶书" panose="02010509060101010101" pitchFamily="49" charset="-122"/>
              </a:rPr>
              <a:t>Iterator</a:t>
            </a:r>
            <a:r>
              <a:rPr kumimoji="0" lang="zh-CN" altLang="en-US" sz="2800" dirty="0">
                <a:solidFill>
                  <a:srgbClr val="006600"/>
                </a:solidFill>
                <a:latin typeface="Times New Roman" panose="02020603050405020304" pitchFamily="18" charset="0"/>
                <a:ea typeface="隶书" panose="02010509060101010101" pitchFamily="49" charset="-122"/>
              </a:rPr>
              <a:t>）</a:t>
            </a:r>
            <a:endParaRPr kumimoji="0" lang="zh-CN" altLang="en-US" b="1" dirty="0">
              <a:latin typeface="宋体" panose="02010600030101010101" pitchFamily="2" charset="-122"/>
            </a:endParaRPr>
          </a:p>
        </p:txBody>
      </p:sp>
      <p:sp>
        <p:nvSpPr>
          <p:cNvPr id="6" name="Rectangle 2"/>
          <p:cNvSpPr txBox="1">
            <a:spLocks noRot="1" noChangeArrowheads="1"/>
          </p:cNvSpPr>
          <p:nvPr/>
        </p:nvSpPr>
        <p:spPr>
          <a:xfrm>
            <a:off x="1495700" y="92369"/>
            <a:ext cx="8280400" cy="982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4000" b="1" dirty="0">
                <a:effectLst>
                  <a:outerShdw blurRad="38100" dist="38100" dir="2700000" algn="tl">
                    <a:srgbClr val="C0C0C0"/>
                  </a:outerShdw>
                </a:effectLst>
              </a:rPr>
              <a:t>11.3  </a:t>
            </a:r>
            <a:r>
              <a:rPr lang="zh-CN" altLang="en-US" sz="4000" b="1" dirty="0">
                <a:effectLst>
                  <a:outerShdw blurRad="38100" dist="38100" dir="2700000" algn="tl">
                    <a:srgbClr val="C0C0C0"/>
                  </a:outerShdw>
                </a:effectLst>
              </a:rPr>
              <a:t>迭代器简介</a:t>
            </a:r>
            <a:endParaRPr lang="zh-CN" altLang="en-US" sz="4000" b="1" dirty="0"/>
          </a:p>
        </p:txBody>
      </p:sp>
      <p:pic>
        <p:nvPicPr>
          <p:cNvPr id="9" name="图片 8"/>
          <p:cNvPicPr>
            <a:picLocks noChangeAspect="1"/>
          </p:cNvPicPr>
          <p:nvPr/>
        </p:nvPicPr>
        <p:blipFill>
          <a:blip r:embed="rId1"/>
          <a:stretch>
            <a:fillRect/>
          </a:stretch>
        </p:blipFill>
        <p:spPr>
          <a:xfrm>
            <a:off x="1360079" y="1661274"/>
            <a:ext cx="6740312" cy="2673258"/>
          </a:xfrm>
          <a:prstGeom prst="rect">
            <a:avLst/>
          </a:prstGeom>
        </p:spPr>
      </p:pic>
      <p:sp>
        <p:nvSpPr>
          <p:cNvPr id="11" name="文本框 10"/>
          <p:cNvSpPr txBox="1"/>
          <p:nvPr/>
        </p:nvSpPr>
        <p:spPr>
          <a:xfrm>
            <a:off x="1248189" y="4577474"/>
            <a:ext cx="8094594" cy="1477328"/>
          </a:xfrm>
          <a:prstGeom prst="rect">
            <a:avLst/>
          </a:prstGeom>
          <a:noFill/>
        </p:spPr>
        <p:txBody>
          <a:bodyPr wrap="square">
            <a:spAutoFit/>
          </a:bodyPr>
          <a:lstStyle/>
          <a:p>
            <a:pPr marL="285750" indent="-285750">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迭代器把</a:t>
            </a:r>
            <a:r>
              <a:rPr lang="zh-CN" altLang="en-US" sz="2400" b="1" dirty="0">
                <a:solidFill>
                  <a:srgbClr val="0066FF"/>
                </a:solidFill>
                <a:latin typeface="宋体" panose="02010600030101010101" pitchFamily="2" charset="-122"/>
                <a:ea typeface="宋体" panose="02010600030101010101" pitchFamily="2" charset="-122"/>
              </a:rPr>
              <a:t>算法</a:t>
            </a:r>
            <a:r>
              <a:rPr lang="zh-CN" altLang="en-US" sz="2400" b="1" dirty="0">
                <a:latin typeface="宋体" panose="02010600030101010101" pitchFamily="2" charset="-122"/>
                <a:ea typeface="宋体" panose="02010600030101010101" pitchFamily="2" charset="-122"/>
              </a:rPr>
              <a:t>与</a:t>
            </a:r>
            <a:r>
              <a:rPr lang="zh-CN" altLang="en-US" sz="2400" b="1" dirty="0">
                <a:solidFill>
                  <a:srgbClr val="0066FF"/>
                </a:solidFill>
                <a:latin typeface="宋体" panose="02010600030101010101" pitchFamily="2" charset="-122"/>
                <a:ea typeface="宋体" panose="02010600030101010101" pitchFamily="2" charset="-122"/>
              </a:rPr>
              <a:t>容器</a:t>
            </a:r>
            <a:r>
              <a:rPr lang="zh-CN" altLang="en-US" sz="2400" b="1" dirty="0">
                <a:latin typeface="宋体" panose="02010600030101010101" pitchFamily="2" charset="-122"/>
                <a:ea typeface="宋体" panose="02010600030101010101" pitchFamily="2" charset="-122"/>
              </a:rPr>
              <a:t>连接起来。因此迭代器总是和容器配合使用。</a:t>
            </a:r>
            <a:endParaRPr lang="en-US" altLang="zh-CN" sz="2400" b="1" dirty="0">
              <a:latin typeface="宋体" panose="02010600030101010101" pitchFamily="2" charset="-122"/>
              <a:ea typeface="宋体" panose="02010600030101010101" pitchFamily="2" charset="-122"/>
            </a:endParaRPr>
          </a:p>
          <a:p>
            <a:r>
              <a:rPr lang="en-US" altLang="zh-CN" b="1" dirty="0">
                <a:solidFill>
                  <a:schemeClr val="accent6">
                    <a:lumMod val="75000"/>
                  </a:schemeClr>
                </a:solidFill>
                <a:latin typeface="宋体" panose="02010600030101010101" pitchFamily="2" charset="-122"/>
                <a:ea typeface="宋体" panose="02010600030101010101" pitchFamily="2" charset="-122"/>
              </a:rPr>
              <a:t>//</a:t>
            </a:r>
            <a:r>
              <a:rPr lang="zh-CN" altLang="en-US" b="1" dirty="0">
                <a:solidFill>
                  <a:schemeClr val="accent6">
                    <a:lumMod val="75000"/>
                  </a:schemeClr>
                </a:solidFill>
                <a:latin typeface="宋体" panose="02010600030101010101" pitchFamily="2" charset="-122"/>
                <a:ea typeface="宋体" panose="02010600030101010101" pitchFamily="2" charset="-122"/>
              </a:rPr>
              <a:t>注意算法只是间接通过迭代器器操作容器元素，算法本身与容器无关。</a:t>
            </a:r>
            <a:endParaRPr lang="en-US" altLang="zh-CN" b="1" dirty="0">
              <a:solidFill>
                <a:schemeClr val="accent6">
                  <a:lumMod val="75000"/>
                </a:schemeClr>
              </a:solidFill>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solidFill>
                  <a:srgbClr val="0066FF"/>
                </a:solidFill>
                <a:latin typeface="宋体" panose="02010600030101010101" pitchFamily="2" charset="-122"/>
                <a:ea typeface="宋体" panose="02010600030101010101" pitchFamily="2" charset="-122"/>
              </a:rPr>
              <a:t>算法返回值</a:t>
            </a:r>
            <a:r>
              <a:rPr lang="zh-CN" altLang="en-US" sz="2400" b="1" dirty="0">
                <a:latin typeface="宋体" panose="02010600030101010101" pitchFamily="2" charset="-122"/>
                <a:ea typeface="宋体" panose="02010600030101010101" pitchFamily="2" charset="-122"/>
              </a:rPr>
              <a:t>通常是一个</a:t>
            </a:r>
            <a:r>
              <a:rPr lang="zh-CN" altLang="en-US" sz="2400" b="1" dirty="0">
                <a:solidFill>
                  <a:srgbClr val="0066FF"/>
                </a:solidFill>
                <a:latin typeface="宋体" panose="02010600030101010101" pitchFamily="2" charset="-122"/>
                <a:ea typeface="宋体" panose="02010600030101010101" pitchFamily="2" charset="-122"/>
              </a:rPr>
              <a:t>迭代器</a:t>
            </a:r>
            <a:r>
              <a:rPr lang="zh-CN" altLang="en-US" sz="2400" b="1" dirty="0">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p:txBody>
      </p:sp>
      <p:pic>
        <p:nvPicPr>
          <p:cNvPr id="13" name="图片 12"/>
          <p:cNvPicPr>
            <a:picLocks noChangeAspect="1"/>
          </p:cNvPicPr>
          <p:nvPr/>
        </p:nvPicPr>
        <p:blipFill>
          <a:blip r:embed="rId2"/>
          <a:stretch>
            <a:fillRect/>
          </a:stretch>
        </p:blipFill>
        <p:spPr>
          <a:xfrm>
            <a:off x="5635901" y="2997903"/>
            <a:ext cx="1957596" cy="262178"/>
          </a:xfrm>
          <a:prstGeom prst="rect">
            <a:avLst/>
          </a:prstGeom>
        </p:spPr>
      </p:pic>
      <p:pic>
        <p:nvPicPr>
          <p:cNvPr id="15" name="图片 14"/>
          <p:cNvPicPr>
            <a:picLocks noChangeAspect="1"/>
          </p:cNvPicPr>
          <p:nvPr/>
        </p:nvPicPr>
        <p:blipFill>
          <a:blip r:embed="rId3"/>
          <a:stretch>
            <a:fillRect/>
          </a:stretch>
        </p:blipFill>
        <p:spPr>
          <a:xfrm>
            <a:off x="5635900" y="2624131"/>
            <a:ext cx="1185343" cy="2940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48189" y="978586"/>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迭代器</a:t>
            </a:r>
            <a:r>
              <a:rPr kumimoji="0" lang="zh-CN" altLang="en-US" sz="2800" dirty="0">
                <a:solidFill>
                  <a:srgbClr val="006600"/>
                </a:solidFill>
                <a:ea typeface="隶书" panose="02010509060101010101" pitchFamily="49" charset="-122"/>
              </a:rPr>
              <a:t>的定义</a:t>
            </a:r>
            <a:endParaRPr kumimoji="0" lang="zh-CN" altLang="en-US" b="1" dirty="0">
              <a:latin typeface="宋体" panose="02010600030101010101" pitchFamily="2" charset="-122"/>
            </a:endParaRPr>
          </a:p>
        </p:txBody>
      </p:sp>
      <p:pic>
        <p:nvPicPr>
          <p:cNvPr id="10" name="图片 9"/>
          <p:cNvPicPr>
            <a:picLocks noChangeAspect="1"/>
          </p:cNvPicPr>
          <p:nvPr/>
        </p:nvPicPr>
        <p:blipFill>
          <a:blip r:embed="rId1"/>
          <a:stretch>
            <a:fillRect/>
          </a:stretch>
        </p:blipFill>
        <p:spPr>
          <a:xfrm>
            <a:off x="1754294" y="1784885"/>
            <a:ext cx="5697752" cy="2991066"/>
          </a:xfrm>
          <a:prstGeom prst="rect">
            <a:avLst/>
          </a:prstGeom>
        </p:spPr>
      </p:pic>
      <p:pic>
        <p:nvPicPr>
          <p:cNvPr id="12" name="图片 11"/>
          <p:cNvPicPr>
            <a:picLocks noChangeAspect="1"/>
          </p:cNvPicPr>
          <p:nvPr/>
        </p:nvPicPr>
        <p:blipFill>
          <a:blip r:embed="rId2"/>
          <a:stretch>
            <a:fillRect/>
          </a:stretch>
        </p:blipFill>
        <p:spPr>
          <a:xfrm>
            <a:off x="5532148" y="4430419"/>
            <a:ext cx="6095563" cy="1592693"/>
          </a:xfrm>
          <a:prstGeom prst="rect">
            <a:avLst/>
          </a:prstGeom>
        </p:spPr>
      </p:pic>
      <p:pic>
        <p:nvPicPr>
          <p:cNvPr id="14" name="图片 13"/>
          <p:cNvPicPr>
            <a:picLocks noChangeAspect="1"/>
          </p:cNvPicPr>
          <p:nvPr/>
        </p:nvPicPr>
        <p:blipFill>
          <a:blip r:embed="rId3"/>
          <a:stretch>
            <a:fillRect/>
          </a:stretch>
        </p:blipFill>
        <p:spPr>
          <a:xfrm>
            <a:off x="2780189" y="2645852"/>
            <a:ext cx="330217" cy="203210"/>
          </a:xfrm>
          <a:prstGeom prst="rect">
            <a:avLst/>
          </a:prstGeom>
        </p:spPr>
      </p:pic>
      <p:pic>
        <p:nvPicPr>
          <p:cNvPr id="16" name="图片 15"/>
          <p:cNvPicPr>
            <a:picLocks noChangeAspect="1"/>
          </p:cNvPicPr>
          <p:nvPr/>
        </p:nvPicPr>
        <p:blipFill>
          <a:blip r:embed="rId3"/>
          <a:stretch>
            <a:fillRect/>
          </a:stretch>
        </p:blipFill>
        <p:spPr>
          <a:xfrm>
            <a:off x="2839822" y="2651358"/>
            <a:ext cx="330217" cy="2032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19200" y="412055"/>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例：迭代器</a:t>
            </a:r>
            <a:r>
              <a:rPr kumimoji="0" lang="zh-CN" altLang="en-US" sz="2800" dirty="0">
                <a:solidFill>
                  <a:srgbClr val="006600"/>
                </a:solidFill>
                <a:ea typeface="隶书" panose="02010509060101010101" pitchFamily="49" charset="-122"/>
              </a:rPr>
              <a:t>的定义与使用</a:t>
            </a: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5639067" y="3593402"/>
            <a:ext cx="317516" cy="247663"/>
          </a:xfrm>
          <a:prstGeom prst="rect">
            <a:avLst/>
          </a:prstGeom>
        </p:spPr>
      </p:pic>
      <p:pic>
        <p:nvPicPr>
          <p:cNvPr id="3" name="图片 2"/>
          <p:cNvPicPr>
            <a:picLocks noChangeAspect="1"/>
          </p:cNvPicPr>
          <p:nvPr/>
        </p:nvPicPr>
        <p:blipFill>
          <a:blip r:embed="rId2"/>
          <a:stretch>
            <a:fillRect/>
          </a:stretch>
        </p:blipFill>
        <p:spPr>
          <a:xfrm>
            <a:off x="583095" y="1096164"/>
            <a:ext cx="2114659" cy="1505027"/>
          </a:xfrm>
          <a:prstGeom prst="rect">
            <a:avLst/>
          </a:prstGeom>
        </p:spPr>
      </p:pic>
      <p:pic>
        <p:nvPicPr>
          <p:cNvPr id="7" name="图片 6"/>
          <p:cNvPicPr>
            <a:picLocks noChangeAspect="1"/>
          </p:cNvPicPr>
          <p:nvPr/>
        </p:nvPicPr>
        <p:blipFill>
          <a:blip r:embed="rId3"/>
          <a:stretch>
            <a:fillRect/>
          </a:stretch>
        </p:blipFill>
        <p:spPr>
          <a:xfrm>
            <a:off x="758522" y="2601191"/>
            <a:ext cx="6401129" cy="3365673"/>
          </a:xfrm>
          <a:prstGeom prst="rect">
            <a:avLst/>
          </a:prstGeom>
        </p:spPr>
      </p:pic>
      <p:pic>
        <p:nvPicPr>
          <p:cNvPr id="10" name="图片 9"/>
          <p:cNvPicPr>
            <a:picLocks noChangeAspect="1"/>
          </p:cNvPicPr>
          <p:nvPr/>
        </p:nvPicPr>
        <p:blipFill>
          <a:blip r:embed="rId4"/>
          <a:stretch>
            <a:fillRect/>
          </a:stretch>
        </p:blipFill>
        <p:spPr>
          <a:xfrm>
            <a:off x="5450779" y="3060331"/>
            <a:ext cx="5493032" cy="3619686"/>
          </a:xfrm>
          <a:prstGeom prst="rect">
            <a:avLst/>
          </a:prstGeom>
        </p:spPr>
      </p:pic>
      <p:pic>
        <p:nvPicPr>
          <p:cNvPr id="12" name="图片 11"/>
          <p:cNvPicPr>
            <a:picLocks noChangeAspect="1"/>
          </p:cNvPicPr>
          <p:nvPr/>
        </p:nvPicPr>
        <p:blipFill rotWithShape="1">
          <a:blip r:embed="rId5"/>
          <a:srcRect l="2639"/>
          <a:stretch>
            <a:fillRect/>
          </a:stretch>
        </p:blipFill>
        <p:spPr>
          <a:xfrm>
            <a:off x="8488016" y="754205"/>
            <a:ext cx="1743535" cy="138437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48189" y="282846"/>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不同功能的迭代器</a:t>
            </a:r>
            <a:endParaRPr kumimoji="0" lang="zh-CN" altLang="en-US" b="1" dirty="0">
              <a:latin typeface="宋体" panose="02010600030101010101" pitchFamily="2" charset="-122"/>
            </a:endParaRPr>
          </a:p>
        </p:txBody>
      </p:sp>
      <p:pic>
        <p:nvPicPr>
          <p:cNvPr id="14" name="图片 13"/>
          <p:cNvPicPr>
            <a:picLocks noChangeAspect="1"/>
          </p:cNvPicPr>
          <p:nvPr/>
        </p:nvPicPr>
        <p:blipFill>
          <a:blip r:embed="rId1"/>
          <a:stretch>
            <a:fillRect/>
          </a:stretch>
        </p:blipFill>
        <p:spPr>
          <a:xfrm>
            <a:off x="2780189" y="1950112"/>
            <a:ext cx="330217" cy="203210"/>
          </a:xfrm>
          <a:prstGeom prst="rect">
            <a:avLst/>
          </a:prstGeom>
        </p:spPr>
      </p:pic>
      <p:pic>
        <p:nvPicPr>
          <p:cNvPr id="16" name="图片 15"/>
          <p:cNvPicPr>
            <a:picLocks noChangeAspect="1"/>
          </p:cNvPicPr>
          <p:nvPr/>
        </p:nvPicPr>
        <p:blipFill>
          <a:blip r:embed="rId1"/>
          <a:stretch>
            <a:fillRect/>
          </a:stretch>
        </p:blipFill>
        <p:spPr>
          <a:xfrm>
            <a:off x="2839822" y="1955618"/>
            <a:ext cx="330217" cy="203210"/>
          </a:xfrm>
          <a:prstGeom prst="rect">
            <a:avLst/>
          </a:prstGeom>
        </p:spPr>
      </p:pic>
      <p:sp>
        <p:nvSpPr>
          <p:cNvPr id="7" name="文本框 6"/>
          <p:cNvSpPr txBox="1"/>
          <p:nvPr/>
        </p:nvSpPr>
        <p:spPr>
          <a:xfrm>
            <a:off x="1516545" y="931882"/>
            <a:ext cx="8392768" cy="5262979"/>
          </a:xfrm>
          <a:prstGeom prst="rect">
            <a:avLst/>
          </a:prstGeom>
          <a:noFill/>
        </p:spPr>
        <p:txBody>
          <a:bodyPr wrap="square">
            <a:spAutoFit/>
          </a:bodyPr>
          <a:lstStyle/>
          <a:p>
            <a:r>
              <a:rPr lang="zh-CN" altLang="en-US" sz="2400" b="1" dirty="0">
                <a:latin typeface="宋体" panose="02010600030101010101" pitchFamily="2" charset="-122"/>
                <a:ea typeface="宋体" panose="02010600030101010101" pitchFamily="2" charset="-122"/>
              </a:rPr>
              <a:t>迭代器按功能不同分为</a:t>
            </a:r>
            <a:r>
              <a:rPr lang="en-US" altLang="zh-CN" sz="2400" b="1" dirty="0">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种：</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solidFill>
                  <a:srgbClr val="FF0000"/>
                </a:solidFill>
                <a:latin typeface="宋体" panose="02010600030101010101" pitchFamily="2" charset="-122"/>
                <a:ea typeface="宋体" panose="02010600030101010101" pitchFamily="2" charset="-122"/>
              </a:rPr>
              <a:t>输入迭代器 </a:t>
            </a:r>
            <a:r>
              <a:rPr lang="en-US" altLang="zh-CN" sz="2400" b="1" dirty="0" err="1">
                <a:solidFill>
                  <a:srgbClr val="FF0000"/>
                </a:solidFill>
                <a:latin typeface="宋体" panose="02010600030101010101" pitchFamily="2" charset="-122"/>
                <a:ea typeface="宋体" panose="02010600030101010101" pitchFamily="2" charset="-122"/>
              </a:rPr>
              <a:t>InputIterator</a:t>
            </a:r>
            <a:r>
              <a:rPr lang="zh-CN" altLang="en-US" sz="2400" b="1" dirty="0">
                <a:latin typeface="宋体" panose="02010600030101010101" pitchFamily="2" charset="-122"/>
                <a:ea typeface="宋体" panose="02010600030101010101" pitchFamily="2" charset="-122"/>
              </a:rPr>
              <a:t>：从容器中</a:t>
            </a:r>
            <a:r>
              <a:rPr lang="zh-CN" altLang="en-US" sz="2400" b="1" dirty="0">
                <a:solidFill>
                  <a:srgbClr val="0066FF"/>
                </a:solidFill>
                <a:latin typeface="宋体" panose="02010600030101010101" pitchFamily="2" charset="-122"/>
                <a:ea typeface="宋体" panose="02010600030101010101" pitchFamily="2" charset="-122"/>
              </a:rPr>
              <a:t>读</a:t>
            </a:r>
            <a:r>
              <a:rPr lang="zh-CN" altLang="en-US" sz="2400" b="1" dirty="0">
                <a:latin typeface="宋体" panose="02010600030101010101" pitchFamily="2" charset="-122"/>
                <a:ea typeface="宋体" panose="02010600030101010101" pitchFamily="2" charset="-122"/>
              </a:rPr>
              <a:t>取元素。一次一个元素地向前移动（即从容器开头到容器末尾）。要重读必须从头开始。</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solidFill>
                  <a:srgbClr val="FF0000"/>
                </a:solidFill>
                <a:latin typeface="宋体" panose="02010600030101010101" pitchFamily="2" charset="-122"/>
                <a:ea typeface="宋体" panose="02010600030101010101" pitchFamily="2" charset="-122"/>
              </a:rPr>
              <a:t>输出迭代器</a:t>
            </a:r>
            <a:r>
              <a:rPr lang="en-US" altLang="zh-CN" sz="2400" b="1" dirty="0" err="1">
                <a:solidFill>
                  <a:srgbClr val="FF0000"/>
                </a:solidFill>
                <a:latin typeface="宋体" panose="02010600030101010101" pitchFamily="2" charset="-122"/>
                <a:ea typeface="宋体" panose="02010600030101010101" pitchFamily="2" charset="-122"/>
              </a:rPr>
              <a:t>OutputIterator</a:t>
            </a:r>
            <a:r>
              <a:rPr lang="zh-CN" altLang="en-US" sz="2400" b="1" dirty="0">
                <a:latin typeface="宋体" panose="02010600030101010101" pitchFamily="2" charset="-122"/>
                <a:ea typeface="宋体" panose="02010600030101010101" pitchFamily="2" charset="-122"/>
              </a:rPr>
              <a:t>：向容器</a:t>
            </a:r>
            <a:r>
              <a:rPr lang="zh-CN" altLang="en-US" sz="2400" b="1" dirty="0">
                <a:solidFill>
                  <a:srgbClr val="0066FF"/>
                </a:solidFill>
                <a:latin typeface="宋体" panose="02010600030101010101" pitchFamily="2" charset="-122"/>
                <a:ea typeface="宋体" panose="02010600030101010101" pitchFamily="2" charset="-122"/>
              </a:rPr>
              <a:t>写</a:t>
            </a:r>
            <a:r>
              <a:rPr lang="zh-CN" altLang="en-US" sz="2400" b="1" dirty="0">
                <a:latin typeface="宋体" panose="02010600030101010101" pitchFamily="2" charset="-122"/>
                <a:ea typeface="宋体" panose="02010600030101010101" pitchFamily="2" charset="-122"/>
              </a:rPr>
              <a:t>入元素。一次一个元素地向前移动。要重写必须从头开始。</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solidFill>
                  <a:srgbClr val="FF0000"/>
                </a:solidFill>
                <a:latin typeface="宋体" panose="02010600030101010101" pitchFamily="2" charset="-122"/>
                <a:ea typeface="宋体" panose="02010600030101010101" pitchFamily="2" charset="-122"/>
              </a:rPr>
              <a:t>正向迭代器</a:t>
            </a:r>
            <a:r>
              <a:rPr lang="en-US" altLang="zh-CN" sz="2400" b="1" dirty="0" err="1">
                <a:solidFill>
                  <a:srgbClr val="FF0000"/>
                </a:solidFill>
                <a:latin typeface="宋体" panose="02010600030101010101" pitchFamily="2" charset="-122"/>
                <a:ea typeface="宋体" panose="02010600030101010101" pitchFamily="2" charset="-122"/>
              </a:rPr>
              <a:t>ForwardIterator</a:t>
            </a:r>
            <a:r>
              <a:rPr lang="zh-CN" altLang="en-US" sz="2400" b="1" dirty="0">
                <a:latin typeface="宋体" panose="02010600030101010101" pitchFamily="2" charset="-122"/>
                <a:ea typeface="宋体" panose="02010600030101010101" pitchFamily="2" charset="-122"/>
              </a:rPr>
              <a:t>：可执行对容器的</a:t>
            </a:r>
            <a:r>
              <a:rPr lang="zh-CN" altLang="en-US" sz="2400" b="1" dirty="0">
                <a:solidFill>
                  <a:srgbClr val="0066FF"/>
                </a:solidFill>
                <a:latin typeface="宋体" panose="02010600030101010101" pitchFamily="2" charset="-122"/>
                <a:ea typeface="宋体" panose="02010600030101010101" pitchFamily="2" charset="-122"/>
              </a:rPr>
              <a:t>读写</a:t>
            </a:r>
            <a:r>
              <a:rPr lang="zh-CN" altLang="en-US" sz="2400" b="1" dirty="0">
                <a:latin typeface="宋体" panose="02010600030101010101" pitchFamily="2" charset="-122"/>
                <a:ea typeface="宋体" panose="02010600030101010101" pitchFamily="2" charset="-122"/>
              </a:rPr>
              <a:t>元素操作。保留指针在容器中的位置（作为状态信息），所以重新读写不必从头开始。</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solidFill>
                  <a:srgbClr val="FF0000"/>
                </a:solidFill>
                <a:latin typeface="宋体" panose="02010600030101010101" pitchFamily="2" charset="-122"/>
                <a:ea typeface="宋体" panose="02010600030101010101" pitchFamily="2" charset="-122"/>
              </a:rPr>
              <a:t>双向迭代器</a:t>
            </a:r>
            <a:r>
              <a:rPr lang="en-US" altLang="zh-CN" sz="2400" b="1" dirty="0" err="1">
                <a:solidFill>
                  <a:srgbClr val="FF0000"/>
                </a:solidFill>
                <a:latin typeface="宋体" panose="02010600030101010101" pitchFamily="2" charset="-122"/>
                <a:ea typeface="宋体" panose="02010600030101010101" pitchFamily="2" charset="-122"/>
              </a:rPr>
              <a:t>BidirectionalIterator</a:t>
            </a:r>
            <a:r>
              <a:rPr lang="zh-CN" altLang="en-US" sz="2400" b="1" dirty="0">
                <a:latin typeface="宋体" panose="02010600030101010101" pitchFamily="2" charset="-122"/>
                <a:ea typeface="宋体" panose="02010600030101010101" pitchFamily="2" charset="-122"/>
              </a:rPr>
              <a:t>：可执行对容器的</a:t>
            </a:r>
            <a:r>
              <a:rPr lang="zh-CN" altLang="en-US" sz="2400" b="1" dirty="0">
                <a:solidFill>
                  <a:srgbClr val="0066FF"/>
                </a:solidFill>
                <a:latin typeface="宋体" panose="02010600030101010101" pitchFamily="2" charset="-122"/>
                <a:ea typeface="宋体" panose="02010600030101010101" pitchFamily="2" charset="-122"/>
              </a:rPr>
              <a:t>读写</a:t>
            </a:r>
            <a:r>
              <a:rPr lang="zh-CN" altLang="en-US" sz="2400" b="1" dirty="0">
                <a:latin typeface="宋体" panose="02010600030101010101" pitchFamily="2" charset="-122"/>
                <a:ea typeface="宋体" panose="02010600030101010101" pitchFamily="2" charset="-122"/>
              </a:rPr>
              <a:t>元素操作，并可以一次一个元素地</a:t>
            </a:r>
            <a:r>
              <a:rPr lang="zh-CN" altLang="en-US" sz="2400" b="1" dirty="0">
                <a:solidFill>
                  <a:srgbClr val="0066FF"/>
                </a:solidFill>
                <a:latin typeface="宋体" panose="02010600030101010101" pitchFamily="2" charset="-122"/>
                <a:ea typeface="宋体" panose="02010600030101010101" pitchFamily="2" charset="-122"/>
              </a:rPr>
              <a:t>向前或向后</a:t>
            </a:r>
            <a:r>
              <a:rPr lang="zh-CN" altLang="en-US" sz="2400" b="1" dirty="0">
                <a:latin typeface="宋体" panose="02010600030101010101" pitchFamily="2" charset="-122"/>
                <a:ea typeface="宋体" panose="02010600030101010101" pitchFamily="2" charset="-122"/>
              </a:rPr>
              <a:t>移动。</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solidFill>
                  <a:srgbClr val="FF0000"/>
                </a:solidFill>
                <a:latin typeface="宋体" panose="02010600030101010101" pitchFamily="2" charset="-122"/>
                <a:ea typeface="宋体" panose="02010600030101010101" pitchFamily="2" charset="-122"/>
              </a:rPr>
              <a:t>随机访问迭代器</a:t>
            </a:r>
            <a:r>
              <a:rPr lang="en-US" altLang="zh-CN" sz="2400" b="1" dirty="0" err="1">
                <a:solidFill>
                  <a:srgbClr val="FF0000"/>
                </a:solidFill>
                <a:latin typeface="宋体" panose="02010600030101010101" pitchFamily="2" charset="-122"/>
                <a:ea typeface="宋体" panose="02010600030101010101" pitchFamily="2" charset="-122"/>
              </a:rPr>
              <a:t>RandomAccessIterator</a:t>
            </a:r>
            <a:r>
              <a:rPr lang="zh-CN" altLang="en-US" sz="2400" b="1" dirty="0">
                <a:latin typeface="宋体" panose="02010600030101010101" pitchFamily="2" charset="-122"/>
                <a:ea typeface="宋体" panose="02010600030101010101" pitchFamily="2" charset="-122"/>
              </a:rPr>
              <a:t>：可执行对容器的</a:t>
            </a:r>
            <a:r>
              <a:rPr lang="zh-CN" altLang="en-US" sz="2400" b="1" dirty="0">
                <a:solidFill>
                  <a:srgbClr val="0066FF"/>
                </a:solidFill>
                <a:latin typeface="宋体" panose="02010600030101010101" pitchFamily="2" charset="-122"/>
                <a:ea typeface="宋体" panose="02010600030101010101" pitchFamily="2" charset="-122"/>
              </a:rPr>
              <a:t>读写</a:t>
            </a:r>
            <a:r>
              <a:rPr lang="zh-CN" altLang="en-US" sz="2400" b="1" dirty="0">
                <a:latin typeface="宋体" panose="02010600030101010101" pitchFamily="2" charset="-122"/>
                <a:ea typeface="宋体" panose="02010600030101010101" pitchFamily="2" charset="-122"/>
              </a:rPr>
              <a:t>元素操作，并可以在容器中</a:t>
            </a:r>
            <a:r>
              <a:rPr lang="zh-CN" altLang="en-US" sz="2400" b="1" dirty="0">
                <a:solidFill>
                  <a:srgbClr val="0066FF"/>
                </a:solidFill>
                <a:latin typeface="宋体" panose="02010600030101010101" pitchFamily="2" charset="-122"/>
                <a:ea typeface="宋体" panose="02010600030101010101" pitchFamily="2" charset="-122"/>
              </a:rPr>
              <a:t>随机移动</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endParaRPr lang="en-US" altLang="zh-CN" sz="2400" b="1" dirty="0">
              <a:latin typeface="宋体" panose="02010600030101010101" pitchFamily="2" charset="-122"/>
              <a:ea typeface="宋体" panose="02010600030101010101" pitchFamily="2" charset="-122"/>
            </a:endParaRPr>
          </a:p>
        </p:txBody>
      </p:sp>
      <p:sp>
        <p:nvSpPr>
          <p:cNvPr id="2" name="文本框 1"/>
          <p:cNvSpPr txBox="1"/>
          <p:nvPr/>
        </p:nvSpPr>
        <p:spPr>
          <a:xfrm>
            <a:off x="7847772" y="5510619"/>
            <a:ext cx="2478984" cy="830997"/>
          </a:xfrm>
          <a:prstGeom prst="rect">
            <a:avLst/>
          </a:prstGeom>
          <a:noFill/>
        </p:spPr>
        <p:txBody>
          <a:bodyPr wrap="square" rtlCol="0">
            <a:spAutoFit/>
          </a:bodyPr>
          <a:lstStyle/>
          <a:p>
            <a:r>
              <a:rPr lang="zh-CN" altLang="en-US" sz="2400" b="1" dirty="0">
                <a:solidFill>
                  <a:srgbClr val="FF0000"/>
                </a:solidFill>
              </a:rPr>
              <a:t>以上迭代器的功能从下往上兼容。</a:t>
            </a:r>
            <a:endParaRPr lang="zh-CN" altLang="en-US" sz="2400" b="1"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59954" y="435765"/>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不同迭代器可执行的操作</a:t>
            </a:r>
            <a:endParaRPr kumimoji="0" lang="zh-CN" altLang="en-US" b="1" dirty="0">
              <a:latin typeface="宋体" panose="02010600030101010101" pitchFamily="2" charset="-122"/>
            </a:endParaRPr>
          </a:p>
        </p:txBody>
      </p:sp>
      <p:pic>
        <p:nvPicPr>
          <p:cNvPr id="14" name="图片 13"/>
          <p:cNvPicPr>
            <a:picLocks noChangeAspect="1"/>
          </p:cNvPicPr>
          <p:nvPr/>
        </p:nvPicPr>
        <p:blipFill>
          <a:blip r:embed="rId1"/>
          <a:stretch>
            <a:fillRect/>
          </a:stretch>
        </p:blipFill>
        <p:spPr>
          <a:xfrm>
            <a:off x="2780189" y="2645852"/>
            <a:ext cx="330217" cy="203210"/>
          </a:xfrm>
          <a:prstGeom prst="rect">
            <a:avLst/>
          </a:prstGeom>
        </p:spPr>
      </p:pic>
      <p:pic>
        <p:nvPicPr>
          <p:cNvPr id="16" name="图片 15"/>
          <p:cNvPicPr>
            <a:picLocks noChangeAspect="1"/>
          </p:cNvPicPr>
          <p:nvPr/>
        </p:nvPicPr>
        <p:blipFill>
          <a:blip r:embed="rId1"/>
          <a:stretch>
            <a:fillRect/>
          </a:stretch>
        </p:blipFill>
        <p:spPr>
          <a:xfrm>
            <a:off x="2839822" y="2651358"/>
            <a:ext cx="330217" cy="203210"/>
          </a:xfrm>
          <a:prstGeom prst="rect">
            <a:avLst/>
          </a:prstGeom>
        </p:spPr>
      </p:pic>
      <p:grpSp>
        <p:nvGrpSpPr>
          <p:cNvPr id="6" name="Group 94"/>
          <p:cNvGrpSpPr/>
          <p:nvPr/>
        </p:nvGrpSpPr>
        <p:grpSpPr bwMode="auto">
          <a:xfrm>
            <a:off x="1717778" y="1002510"/>
            <a:ext cx="8208962" cy="5507620"/>
            <a:chOff x="249" y="300"/>
            <a:chExt cx="5171" cy="3414"/>
          </a:xfrm>
        </p:grpSpPr>
        <p:sp>
          <p:nvSpPr>
            <p:cNvPr id="8" name="Rectangle 30"/>
            <p:cNvSpPr>
              <a:spLocks noChangeArrowheads="1"/>
            </p:cNvSpPr>
            <p:nvPr/>
          </p:nvSpPr>
          <p:spPr bwMode="auto">
            <a:xfrm>
              <a:off x="1952" y="3081"/>
              <a:ext cx="3468" cy="63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dirty="0">
                  <a:cs typeface="Times New Roman" panose="02020603050405020304" pitchFamily="18" charset="0"/>
                </a:rPr>
                <a:t>包含正向迭代器所有功能，再增加</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先</a:t>
              </a:r>
              <a:r>
                <a:rPr lang="en-US" altLang="zh-CN" sz="2000" dirty="0">
                  <a:cs typeface="Times New Roman" panose="02020603050405020304" pitchFamily="18" charset="0"/>
                </a:rPr>
                <a:t>- -</a:t>
              </a:r>
              <a:r>
                <a:rPr lang="zh-CN" altLang="en-US" sz="2000" dirty="0">
                  <a:cs typeface="Times New Roman" panose="02020603050405020304" pitchFamily="18" charset="0"/>
                </a:rPr>
                <a:t>后执行，前置自减迭代器</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先执行后</a:t>
              </a:r>
              <a:r>
                <a:rPr lang="en-US" altLang="zh-CN" sz="2000" dirty="0">
                  <a:cs typeface="Times New Roman" panose="02020603050405020304" pitchFamily="18" charset="0"/>
                </a:rPr>
                <a:t>- - </a:t>
              </a:r>
              <a:r>
                <a:rPr lang="zh-CN" altLang="en-US" sz="2000" dirty="0">
                  <a:cs typeface="Times New Roman" panose="02020603050405020304" pitchFamily="18" charset="0"/>
                </a:rPr>
                <a:t>，后置自减迭代器</a:t>
              </a:r>
              <a:endParaRPr lang="zh-CN" altLang="en-US" sz="2000" dirty="0">
                <a:cs typeface="Times New Roman" panose="02020603050405020304" pitchFamily="18" charset="0"/>
              </a:endParaRPr>
            </a:p>
          </p:txBody>
        </p:sp>
        <p:sp>
          <p:nvSpPr>
            <p:cNvPr id="9" name="Rectangle 29"/>
            <p:cNvSpPr>
              <a:spLocks noChangeArrowheads="1"/>
            </p:cNvSpPr>
            <p:nvPr/>
          </p:nvSpPr>
          <p:spPr bwMode="auto">
            <a:xfrm>
              <a:off x="249" y="3081"/>
              <a:ext cx="1703" cy="63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cs typeface="Times New Roman" panose="02020603050405020304" pitchFamily="18" charset="0"/>
                </a:rPr>
                <a:t>双向迭代器</a:t>
              </a:r>
              <a:endParaRPr lang="zh-CN" altLang="en-US" sz="2000" b="1" dirty="0">
                <a:cs typeface="Times New Roman" panose="02020603050405020304" pitchFamily="18" charset="0"/>
              </a:endParaRPr>
            </a:p>
            <a:p>
              <a:pPr eaLnBrk="0" hangingPunct="0"/>
              <a:r>
                <a:rPr lang="en-US" altLang="zh-CN" sz="2000" dirty="0">
                  <a:cs typeface="Times New Roman" panose="02020603050405020304" pitchFamily="18" charset="0"/>
                </a:rPr>
                <a:t>--p</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a:t>
              </a:r>
              <a:endParaRPr lang="en-US" altLang="zh-CN" sz="2000" dirty="0">
                <a:cs typeface="Times New Roman" panose="02020603050405020304" pitchFamily="18" charset="0"/>
              </a:endParaRPr>
            </a:p>
          </p:txBody>
        </p:sp>
        <p:sp>
          <p:nvSpPr>
            <p:cNvPr id="10" name="Rectangle 28"/>
            <p:cNvSpPr>
              <a:spLocks noChangeArrowheads="1"/>
            </p:cNvSpPr>
            <p:nvPr/>
          </p:nvSpPr>
          <p:spPr bwMode="auto">
            <a:xfrm>
              <a:off x="1952" y="2832"/>
              <a:ext cx="3468" cy="249"/>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dirty="0">
                  <a:cs typeface="Times New Roman" panose="02020603050405020304" pitchFamily="18" charset="0"/>
                </a:rPr>
                <a:t>提供输入和输出迭代器的所有功能</a:t>
              </a:r>
              <a:endParaRPr lang="zh-CN" altLang="en-US" sz="2000" dirty="0">
                <a:cs typeface="Times New Roman" panose="02020603050405020304" pitchFamily="18" charset="0"/>
              </a:endParaRPr>
            </a:p>
          </p:txBody>
        </p:sp>
        <p:sp>
          <p:nvSpPr>
            <p:cNvPr id="11" name="Rectangle 27"/>
            <p:cNvSpPr>
              <a:spLocks noChangeArrowheads="1"/>
            </p:cNvSpPr>
            <p:nvPr/>
          </p:nvSpPr>
          <p:spPr bwMode="auto">
            <a:xfrm>
              <a:off x="249" y="2832"/>
              <a:ext cx="1703" cy="249"/>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cs typeface="Times New Roman" panose="02020603050405020304" pitchFamily="18" charset="0"/>
                </a:rPr>
                <a:t>正向迭代器</a:t>
              </a:r>
              <a:endParaRPr lang="zh-CN" altLang="en-US" sz="2000" b="1" dirty="0">
                <a:cs typeface="Times New Roman" panose="02020603050405020304" pitchFamily="18" charset="0"/>
              </a:endParaRPr>
            </a:p>
          </p:txBody>
        </p:sp>
        <p:sp>
          <p:nvSpPr>
            <p:cNvPr id="12" name="Rectangle 26"/>
            <p:cNvSpPr>
              <a:spLocks noChangeArrowheads="1"/>
            </p:cNvSpPr>
            <p:nvPr/>
          </p:nvSpPr>
          <p:spPr bwMode="auto">
            <a:xfrm>
              <a:off x="1952" y="2199"/>
              <a:ext cx="3468" cy="63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zh-CN" sz="2000" dirty="0">
                <a:cs typeface="Times New Roman" panose="02020603050405020304" pitchFamily="18" charset="0"/>
              </a:endParaRPr>
            </a:p>
            <a:p>
              <a:r>
                <a:rPr lang="zh-CN" altLang="en-US" sz="2000" dirty="0">
                  <a:cs typeface="Times New Roman" panose="02020603050405020304" pitchFamily="18" charset="0"/>
                </a:rPr>
                <a:t>间接引用迭代器，作为左值</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将一个迭代器赋给另一个迭代器</a:t>
              </a:r>
              <a:endParaRPr lang="zh-CN" altLang="en-US" sz="2000" dirty="0">
                <a:cs typeface="Times New Roman" panose="02020603050405020304" pitchFamily="18" charset="0"/>
              </a:endParaRPr>
            </a:p>
          </p:txBody>
        </p:sp>
        <p:sp>
          <p:nvSpPr>
            <p:cNvPr id="13" name="Rectangle 25"/>
            <p:cNvSpPr>
              <a:spLocks noChangeArrowheads="1"/>
            </p:cNvSpPr>
            <p:nvPr/>
          </p:nvSpPr>
          <p:spPr bwMode="auto">
            <a:xfrm>
              <a:off x="249" y="2199"/>
              <a:ext cx="1703" cy="63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cs typeface="Times New Roman" panose="02020603050405020304" pitchFamily="18" charset="0"/>
                </a:rPr>
                <a:t>输出迭代器</a:t>
              </a:r>
              <a:endParaRPr lang="zh-CN" altLang="en-US" sz="2000" b="1" dirty="0">
                <a:cs typeface="Times New Roman" panose="02020603050405020304" pitchFamily="18" charset="0"/>
              </a:endParaRPr>
            </a:p>
            <a:p>
              <a:pPr eaLnBrk="0" hangingPunct="0"/>
              <a:r>
                <a:rPr lang="zh-CN" altLang="en-US" sz="2000" dirty="0">
                  <a:cs typeface="Times New Roman" panose="02020603050405020304" pitchFamily="18" charset="0"/>
                </a:rPr>
                <a:t>*</a:t>
              </a:r>
              <a:r>
                <a:rPr lang="en-US" altLang="zh-CN" sz="2000" dirty="0">
                  <a:cs typeface="Times New Roman" panose="02020603050405020304" pitchFamily="18" charset="0"/>
                </a:rPr>
                <a:t>p</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p=p1</a:t>
              </a:r>
              <a:endParaRPr lang="en-US" altLang="zh-CN" sz="2000" dirty="0">
                <a:cs typeface="Times New Roman" panose="02020603050405020304" pitchFamily="18" charset="0"/>
              </a:endParaRPr>
            </a:p>
          </p:txBody>
        </p:sp>
        <p:sp>
          <p:nvSpPr>
            <p:cNvPr id="15" name="Rectangle 24"/>
            <p:cNvSpPr>
              <a:spLocks noChangeArrowheads="1"/>
            </p:cNvSpPr>
            <p:nvPr/>
          </p:nvSpPr>
          <p:spPr bwMode="auto">
            <a:xfrm>
              <a:off x="1952" y="1182"/>
              <a:ext cx="3468" cy="1017"/>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zh-CN" sz="2000" dirty="0">
                <a:cs typeface="Times New Roman" panose="02020603050405020304" pitchFamily="18" charset="0"/>
              </a:endParaRPr>
            </a:p>
            <a:p>
              <a:r>
                <a:rPr lang="zh-CN" altLang="en-US" sz="2000" dirty="0">
                  <a:cs typeface="Times New Roman" panose="02020603050405020304" pitchFamily="18" charset="0"/>
                </a:rPr>
                <a:t>间接引用迭代器，作为右值</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将一个迭代器赋给另一个迭代器</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比较迭代器的相等性</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比较迭代器的不等性</a:t>
              </a:r>
              <a:endParaRPr lang="zh-CN" altLang="en-US" sz="2000" dirty="0">
                <a:cs typeface="Times New Roman" panose="02020603050405020304" pitchFamily="18" charset="0"/>
              </a:endParaRPr>
            </a:p>
          </p:txBody>
        </p:sp>
        <p:sp>
          <p:nvSpPr>
            <p:cNvPr id="17" name="Rectangle 23"/>
            <p:cNvSpPr>
              <a:spLocks noChangeArrowheads="1"/>
            </p:cNvSpPr>
            <p:nvPr/>
          </p:nvSpPr>
          <p:spPr bwMode="auto">
            <a:xfrm>
              <a:off x="249" y="1182"/>
              <a:ext cx="1703" cy="1017"/>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cs typeface="Times New Roman" panose="02020603050405020304" pitchFamily="18" charset="0"/>
                </a:rPr>
                <a:t>输入迭代器</a:t>
              </a:r>
              <a:endParaRPr lang="zh-CN" altLang="en-US" sz="2000" b="1" dirty="0">
                <a:cs typeface="Times New Roman" panose="02020603050405020304" pitchFamily="18" charset="0"/>
              </a:endParaRPr>
            </a:p>
            <a:p>
              <a:pPr eaLnBrk="0" hangingPunct="0"/>
              <a:r>
                <a:rPr lang="zh-CN" altLang="en-US" sz="2000" dirty="0">
                  <a:cs typeface="Times New Roman" panose="02020603050405020304" pitchFamily="18" charset="0"/>
                </a:rPr>
                <a:t>*</a:t>
              </a:r>
              <a:r>
                <a:rPr lang="en-US" altLang="zh-CN" sz="2000" dirty="0">
                  <a:cs typeface="Times New Roman" panose="02020603050405020304" pitchFamily="18" charset="0"/>
                </a:rPr>
                <a:t>p</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p=p1</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p==p1</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p!=p1</a:t>
              </a:r>
              <a:endParaRPr lang="en-US" altLang="zh-CN" sz="2000" dirty="0">
                <a:cs typeface="Times New Roman" panose="02020603050405020304" pitchFamily="18" charset="0"/>
              </a:endParaRPr>
            </a:p>
          </p:txBody>
        </p:sp>
        <p:sp>
          <p:nvSpPr>
            <p:cNvPr id="18" name="Rectangle 22"/>
            <p:cNvSpPr>
              <a:spLocks noChangeArrowheads="1"/>
            </p:cNvSpPr>
            <p:nvPr/>
          </p:nvSpPr>
          <p:spPr bwMode="auto">
            <a:xfrm>
              <a:off x="1952" y="549"/>
              <a:ext cx="3468" cy="63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zh-CN" sz="2000" dirty="0">
                <a:cs typeface="Times New Roman" panose="02020603050405020304" pitchFamily="18" charset="0"/>
              </a:endParaRPr>
            </a:p>
            <a:p>
              <a:r>
                <a:rPr lang="zh-CN" altLang="en-US" sz="2000" dirty="0">
                  <a:cs typeface="Times New Roman" panose="02020603050405020304" pitchFamily="18" charset="0"/>
                </a:rPr>
                <a:t>前置自增迭代器，先</a:t>
              </a:r>
              <a:r>
                <a:rPr lang="en-US" altLang="zh-CN" sz="2000" dirty="0">
                  <a:cs typeface="Times New Roman" panose="02020603050405020304" pitchFamily="18" charset="0"/>
                </a:rPr>
                <a:t>++</a:t>
              </a:r>
              <a:r>
                <a:rPr lang="zh-CN" altLang="en-US" sz="2000" dirty="0">
                  <a:cs typeface="Times New Roman" panose="02020603050405020304" pitchFamily="18" charset="0"/>
                </a:rPr>
                <a:t>后执行</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后置自增迭代器，执行后再</a:t>
              </a:r>
              <a:r>
                <a:rPr lang="en-US" altLang="zh-CN" sz="2000" dirty="0">
                  <a:cs typeface="Times New Roman" panose="02020603050405020304" pitchFamily="18" charset="0"/>
                </a:rPr>
                <a:t>++</a:t>
              </a:r>
              <a:endParaRPr lang="en-US" altLang="zh-CN" sz="2000" dirty="0">
                <a:cs typeface="Times New Roman" panose="02020603050405020304" pitchFamily="18" charset="0"/>
              </a:endParaRPr>
            </a:p>
          </p:txBody>
        </p:sp>
        <p:sp>
          <p:nvSpPr>
            <p:cNvPr id="19" name="Rectangle 21"/>
            <p:cNvSpPr>
              <a:spLocks noChangeArrowheads="1"/>
            </p:cNvSpPr>
            <p:nvPr/>
          </p:nvSpPr>
          <p:spPr bwMode="auto">
            <a:xfrm>
              <a:off x="249" y="549"/>
              <a:ext cx="1703" cy="633"/>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cs typeface="Times New Roman" panose="02020603050405020304" pitchFamily="18" charset="0"/>
                </a:rPr>
                <a:t>所有迭代器</a:t>
              </a:r>
              <a:endParaRPr lang="zh-CN" altLang="en-US" sz="2000" b="1" dirty="0">
                <a:cs typeface="Times New Roman" panose="02020603050405020304" pitchFamily="18" charset="0"/>
              </a:endParaRPr>
            </a:p>
            <a:p>
              <a:pPr eaLnBrk="0" hangingPunct="0"/>
              <a:r>
                <a:rPr lang="en-US" altLang="zh-CN" sz="2000" dirty="0">
                  <a:cs typeface="Times New Roman" panose="02020603050405020304" pitchFamily="18" charset="0"/>
                </a:rPr>
                <a:t>++p</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a:t>
              </a:r>
              <a:endParaRPr lang="en-US" altLang="zh-CN" sz="2000" dirty="0">
                <a:cs typeface="Times New Roman" panose="02020603050405020304" pitchFamily="18" charset="0"/>
              </a:endParaRPr>
            </a:p>
          </p:txBody>
        </p:sp>
        <p:sp>
          <p:nvSpPr>
            <p:cNvPr id="20" name="Rectangle 20"/>
            <p:cNvSpPr>
              <a:spLocks noChangeArrowheads="1"/>
            </p:cNvSpPr>
            <p:nvPr/>
          </p:nvSpPr>
          <p:spPr bwMode="auto">
            <a:xfrm>
              <a:off x="1952" y="300"/>
              <a:ext cx="3468" cy="249"/>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000" b="1" dirty="0">
                  <a:cs typeface="Times New Roman" panose="02020603050405020304" pitchFamily="18" charset="0"/>
                </a:rPr>
                <a:t>说明</a:t>
              </a:r>
              <a:endParaRPr lang="zh-CN" altLang="en-US" sz="2000" b="1" dirty="0">
                <a:cs typeface="Times New Roman" panose="02020603050405020304" pitchFamily="18" charset="0"/>
              </a:endParaRPr>
            </a:p>
          </p:txBody>
        </p:sp>
        <p:sp>
          <p:nvSpPr>
            <p:cNvPr id="21" name="Rectangle 19"/>
            <p:cNvSpPr>
              <a:spLocks noChangeArrowheads="1"/>
            </p:cNvSpPr>
            <p:nvPr/>
          </p:nvSpPr>
          <p:spPr bwMode="auto">
            <a:xfrm>
              <a:off x="249" y="300"/>
              <a:ext cx="1703" cy="249"/>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000" b="1" dirty="0">
                  <a:cs typeface="Times New Roman" panose="02020603050405020304" pitchFamily="18" charset="0"/>
                </a:rPr>
                <a:t>迭代操作</a:t>
              </a:r>
              <a:endParaRPr lang="zh-CN" altLang="en-US" sz="2000" b="1" dirty="0">
                <a:cs typeface="Times New Roman" panose="02020603050405020304" pitchFamily="18" charset="0"/>
              </a:endParaRPr>
            </a:p>
          </p:txBody>
        </p:sp>
        <p:sp>
          <p:nvSpPr>
            <p:cNvPr id="22" name="Line 33"/>
            <p:cNvSpPr>
              <a:spLocks noChangeShapeType="1"/>
            </p:cNvSpPr>
            <p:nvPr/>
          </p:nvSpPr>
          <p:spPr bwMode="auto">
            <a:xfrm>
              <a:off x="249" y="300"/>
              <a:ext cx="5171"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3" name="Line 35"/>
            <p:cNvSpPr>
              <a:spLocks noChangeShapeType="1"/>
            </p:cNvSpPr>
            <p:nvPr/>
          </p:nvSpPr>
          <p:spPr bwMode="auto">
            <a:xfrm>
              <a:off x="249" y="300"/>
              <a:ext cx="0" cy="249"/>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4" name="Line 36"/>
            <p:cNvSpPr>
              <a:spLocks noChangeShapeType="1"/>
            </p:cNvSpPr>
            <p:nvPr/>
          </p:nvSpPr>
          <p:spPr bwMode="auto">
            <a:xfrm>
              <a:off x="5420" y="300"/>
              <a:ext cx="0" cy="3402"/>
            </a:xfrm>
            <a:prstGeom prst="line">
              <a:avLst/>
            </a:prstGeom>
            <a:noFill/>
            <a:ln w="9525"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5" name="Line 39"/>
            <p:cNvSpPr>
              <a:spLocks noChangeShapeType="1"/>
            </p:cNvSpPr>
            <p:nvPr/>
          </p:nvSpPr>
          <p:spPr bwMode="auto">
            <a:xfrm>
              <a:off x="249" y="549"/>
              <a:ext cx="5171"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6" name="Line 40"/>
            <p:cNvSpPr>
              <a:spLocks noChangeShapeType="1"/>
            </p:cNvSpPr>
            <p:nvPr/>
          </p:nvSpPr>
          <p:spPr bwMode="auto">
            <a:xfrm>
              <a:off x="249" y="527"/>
              <a:ext cx="0" cy="3175"/>
            </a:xfrm>
            <a:prstGeom prst="line">
              <a:avLst/>
            </a:prstGeom>
            <a:noFill/>
            <a:ln w="9525"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7" name="Line 41"/>
            <p:cNvSpPr>
              <a:spLocks noChangeShapeType="1"/>
            </p:cNvSpPr>
            <p:nvPr/>
          </p:nvSpPr>
          <p:spPr bwMode="auto">
            <a:xfrm>
              <a:off x="1952" y="300"/>
              <a:ext cx="21" cy="3402"/>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8" name="Line 45"/>
            <p:cNvSpPr>
              <a:spLocks noChangeShapeType="1"/>
            </p:cNvSpPr>
            <p:nvPr/>
          </p:nvSpPr>
          <p:spPr bwMode="auto">
            <a:xfrm>
              <a:off x="249" y="1182"/>
              <a:ext cx="5171"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9" name="Line 53"/>
            <p:cNvSpPr>
              <a:spLocks noChangeShapeType="1"/>
            </p:cNvSpPr>
            <p:nvPr/>
          </p:nvSpPr>
          <p:spPr bwMode="auto">
            <a:xfrm>
              <a:off x="249" y="2199"/>
              <a:ext cx="5171"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0" name="Line 61"/>
            <p:cNvSpPr>
              <a:spLocks noChangeShapeType="1"/>
            </p:cNvSpPr>
            <p:nvPr/>
          </p:nvSpPr>
          <p:spPr bwMode="auto">
            <a:xfrm>
              <a:off x="249" y="2832"/>
              <a:ext cx="5171"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1" name="Line 69"/>
            <p:cNvSpPr>
              <a:spLocks noChangeShapeType="1"/>
            </p:cNvSpPr>
            <p:nvPr/>
          </p:nvSpPr>
          <p:spPr bwMode="auto">
            <a:xfrm>
              <a:off x="249" y="3081"/>
              <a:ext cx="5171"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2" name="Line 77"/>
            <p:cNvSpPr>
              <a:spLocks noChangeShapeType="1"/>
            </p:cNvSpPr>
            <p:nvPr/>
          </p:nvSpPr>
          <p:spPr bwMode="auto">
            <a:xfrm>
              <a:off x="249" y="3714"/>
              <a:ext cx="5171"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59954" y="435765"/>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不同迭代器可执行的操作</a:t>
            </a:r>
            <a:endParaRPr kumimoji="0" lang="zh-CN" altLang="en-US" b="1" dirty="0">
              <a:latin typeface="宋体" panose="02010600030101010101" pitchFamily="2" charset="-122"/>
            </a:endParaRPr>
          </a:p>
        </p:txBody>
      </p:sp>
      <p:pic>
        <p:nvPicPr>
          <p:cNvPr id="14" name="图片 13"/>
          <p:cNvPicPr>
            <a:picLocks noChangeAspect="1"/>
          </p:cNvPicPr>
          <p:nvPr/>
        </p:nvPicPr>
        <p:blipFill>
          <a:blip r:embed="rId1"/>
          <a:stretch>
            <a:fillRect/>
          </a:stretch>
        </p:blipFill>
        <p:spPr>
          <a:xfrm>
            <a:off x="2780189" y="2645852"/>
            <a:ext cx="330217" cy="203210"/>
          </a:xfrm>
          <a:prstGeom prst="rect">
            <a:avLst/>
          </a:prstGeom>
        </p:spPr>
      </p:pic>
      <p:pic>
        <p:nvPicPr>
          <p:cNvPr id="16" name="图片 15"/>
          <p:cNvPicPr>
            <a:picLocks noChangeAspect="1"/>
          </p:cNvPicPr>
          <p:nvPr/>
        </p:nvPicPr>
        <p:blipFill>
          <a:blip r:embed="rId1"/>
          <a:stretch>
            <a:fillRect/>
          </a:stretch>
        </p:blipFill>
        <p:spPr>
          <a:xfrm>
            <a:off x="2839822" y="2651358"/>
            <a:ext cx="330217" cy="203210"/>
          </a:xfrm>
          <a:prstGeom prst="rect">
            <a:avLst/>
          </a:prstGeom>
        </p:spPr>
      </p:pic>
      <p:grpSp>
        <p:nvGrpSpPr>
          <p:cNvPr id="33" name="Group 95"/>
          <p:cNvGrpSpPr/>
          <p:nvPr/>
        </p:nvGrpSpPr>
        <p:grpSpPr bwMode="auto">
          <a:xfrm>
            <a:off x="1757362" y="1243013"/>
            <a:ext cx="8677275" cy="3687762"/>
            <a:chOff x="204" y="472"/>
            <a:chExt cx="5466" cy="2323"/>
          </a:xfrm>
        </p:grpSpPr>
        <p:grpSp>
          <p:nvGrpSpPr>
            <p:cNvPr id="34" name="Group 94"/>
            <p:cNvGrpSpPr/>
            <p:nvPr/>
          </p:nvGrpSpPr>
          <p:grpSpPr bwMode="auto">
            <a:xfrm>
              <a:off x="204" y="472"/>
              <a:ext cx="5466" cy="2323"/>
              <a:chOff x="204" y="472"/>
              <a:chExt cx="5466" cy="2323"/>
            </a:xfrm>
          </p:grpSpPr>
          <p:sp>
            <p:nvSpPr>
              <p:cNvPr id="36" name="Rectangle 32"/>
              <p:cNvSpPr>
                <a:spLocks noChangeArrowheads="1"/>
              </p:cNvSpPr>
              <p:nvPr/>
            </p:nvSpPr>
            <p:spPr bwMode="auto">
              <a:xfrm>
                <a:off x="1565" y="744"/>
                <a:ext cx="4105" cy="200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dirty="0">
                    <a:cs typeface="Times New Roman" panose="02020603050405020304" pitchFamily="18" charset="0"/>
                  </a:rPr>
                  <a:t>包含双向迭代器所有功能，再增加</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迭代器</a:t>
                </a:r>
                <a:r>
                  <a:rPr lang="en-US" altLang="zh-CN" sz="2000" dirty="0">
                    <a:cs typeface="Times New Roman" panose="02020603050405020304" pitchFamily="18" charset="0"/>
                  </a:rPr>
                  <a:t>p</a:t>
                </a:r>
                <a:r>
                  <a:rPr lang="zh-CN" altLang="en-US" sz="2000" dirty="0">
                    <a:cs typeface="Times New Roman" panose="02020603050405020304" pitchFamily="18" charset="0"/>
                  </a:rPr>
                  <a:t>递增</a:t>
                </a:r>
                <a:r>
                  <a:rPr lang="en-US" altLang="zh-CN" sz="2000" dirty="0" err="1">
                    <a:cs typeface="Times New Roman" panose="02020603050405020304" pitchFamily="18" charset="0"/>
                  </a:rPr>
                  <a:t>i</a:t>
                </a:r>
                <a:r>
                  <a:rPr lang="zh-CN" altLang="en-US" sz="2000" dirty="0">
                    <a:cs typeface="Times New Roman" panose="02020603050405020304" pitchFamily="18" charset="0"/>
                  </a:rPr>
                  <a:t>位（后移</a:t>
                </a:r>
                <a:r>
                  <a:rPr lang="en-US" altLang="zh-CN" sz="2000" dirty="0" err="1">
                    <a:cs typeface="Times New Roman" panose="02020603050405020304" pitchFamily="18" charset="0"/>
                  </a:rPr>
                  <a:t>i</a:t>
                </a:r>
                <a:r>
                  <a:rPr lang="zh-CN" altLang="en-US" sz="2000" dirty="0">
                    <a:cs typeface="Times New Roman" panose="02020603050405020304" pitchFamily="18" charset="0"/>
                  </a:rPr>
                  <a:t>位）（</a:t>
                </a:r>
                <a:r>
                  <a:rPr lang="en-US" altLang="zh-CN" sz="2000" dirty="0">
                    <a:cs typeface="Times New Roman" panose="02020603050405020304" pitchFamily="18" charset="0"/>
                  </a:rPr>
                  <a:t>p</a:t>
                </a:r>
                <a:r>
                  <a:rPr lang="zh-CN" altLang="en-US" sz="2000" dirty="0">
                    <a:cs typeface="Times New Roman" panose="02020603050405020304" pitchFamily="18" charset="0"/>
                  </a:rPr>
                  <a:t>本身变）</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迭代器</a:t>
                </a:r>
                <a:r>
                  <a:rPr lang="en-US" altLang="zh-CN" sz="2000" dirty="0">
                    <a:cs typeface="Times New Roman" panose="02020603050405020304" pitchFamily="18" charset="0"/>
                  </a:rPr>
                  <a:t>p</a:t>
                </a:r>
                <a:r>
                  <a:rPr lang="zh-CN" altLang="en-US" sz="2000" dirty="0">
                    <a:cs typeface="Times New Roman" panose="02020603050405020304" pitchFamily="18" charset="0"/>
                  </a:rPr>
                  <a:t>递减</a:t>
                </a:r>
                <a:r>
                  <a:rPr lang="en-US" altLang="zh-CN" sz="2000" dirty="0" err="1">
                    <a:cs typeface="Times New Roman" panose="02020603050405020304" pitchFamily="18" charset="0"/>
                  </a:rPr>
                  <a:t>i</a:t>
                </a:r>
                <a:r>
                  <a:rPr lang="zh-CN" altLang="en-US" sz="2000" dirty="0">
                    <a:cs typeface="Times New Roman" panose="02020603050405020304" pitchFamily="18" charset="0"/>
                  </a:rPr>
                  <a:t>位（前移</a:t>
                </a:r>
                <a:r>
                  <a:rPr lang="en-US" altLang="zh-CN" sz="2000" dirty="0" err="1">
                    <a:cs typeface="Times New Roman" panose="02020603050405020304" pitchFamily="18" charset="0"/>
                  </a:rPr>
                  <a:t>i</a:t>
                </a:r>
                <a:r>
                  <a:rPr lang="zh-CN" altLang="en-US" sz="2000" dirty="0">
                    <a:cs typeface="Times New Roman" panose="02020603050405020304" pitchFamily="18" charset="0"/>
                  </a:rPr>
                  <a:t>位）（</a:t>
                </a:r>
                <a:r>
                  <a:rPr lang="en-US" altLang="zh-CN" sz="2000" dirty="0">
                    <a:cs typeface="Times New Roman" panose="02020603050405020304" pitchFamily="18" charset="0"/>
                  </a:rPr>
                  <a:t>p</a:t>
                </a:r>
                <a:r>
                  <a:rPr lang="zh-CN" altLang="en-US" sz="2000" dirty="0">
                    <a:cs typeface="Times New Roman" panose="02020603050405020304" pitchFamily="18" charset="0"/>
                  </a:rPr>
                  <a:t>本身变）</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在</a:t>
                </a:r>
                <a:r>
                  <a:rPr lang="en-US" altLang="zh-CN" sz="2000" dirty="0">
                    <a:cs typeface="Times New Roman" panose="02020603050405020304" pitchFamily="18" charset="0"/>
                  </a:rPr>
                  <a:t>p</a:t>
                </a:r>
                <a:r>
                  <a:rPr lang="zh-CN" altLang="en-US" sz="2000" dirty="0">
                    <a:cs typeface="Times New Roman" panose="02020603050405020304" pitchFamily="18" charset="0"/>
                  </a:rPr>
                  <a:t>所在位置后移</a:t>
                </a:r>
                <a:r>
                  <a:rPr lang="en-US" altLang="zh-CN" sz="2000" dirty="0" err="1">
                    <a:cs typeface="Times New Roman" panose="02020603050405020304" pitchFamily="18" charset="0"/>
                  </a:rPr>
                  <a:t>i</a:t>
                </a:r>
                <a:r>
                  <a:rPr lang="zh-CN" altLang="en-US" sz="2000" dirty="0">
                    <a:cs typeface="Times New Roman" panose="02020603050405020304" pitchFamily="18" charset="0"/>
                  </a:rPr>
                  <a:t>位后的迭代器（迭代器</a:t>
                </a:r>
                <a:r>
                  <a:rPr lang="en-US" altLang="zh-CN" sz="2000" dirty="0">
                    <a:cs typeface="Times New Roman" panose="02020603050405020304" pitchFamily="18" charset="0"/>
                  </a:rPr>
                  <a:t>p</a:t>
                </a:r>
                <a:r>
                  <a:rPr lang="zh-CN" altLang="en-US" sz="2000" dirty="0">
                    <a:cs typeface="Times New Roman" panose="02020603050405020304" pitchFamily="18" charset="0"/>
                  </a:rPr>
                  <a:t>本身不变）</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在</a:t>
                </a:r>
                <a:r>
                  <a:rPr lang="en-US" altLang="zh-CN" sz="2000" dirty="0">
                    <a:cs typeface="Times New Roman" panose="02020603050405020304" pitchFamily="18" charset="0"/>
                  </a:rPr>
                  <a:t>p</a:t>
                </a:r>
                <a:r>
                  <a:rPr lang="zh-CN" altLang="en-US" sz="2000" dirty="0">
                    <a:cs typeface="Times New Roman" panose="02020603050405020304" pitchFamily="18" charset="0"/>
                  </a:rPr>
                  <a:t>所在位置前移</a:t>
                </a:r>
                <a:r>
                  <a:rPr lang="en-US" altLang="zh-CN" sz="2000" dirty="0" err="1">
                    <a:cs typeface="Times New Roman" panose="02020603050405020304" pitchFamily="18" charset="0"/>
                  </a:rPr>
                  <a:t>i</a:t>
                </a:r>
                <a:r>
                  <a:rPr lang="zh-CN" altLang="en-US" sz="2000" dirty="0">
                    <a:cs typeface="Times New Roman" panose="02020603050405020304" pitchFamily="18" charset="0"/>
                  </a:rPr>
                  <a:t>位后的迭代器（迭代器</a:t>
                </a:r>
                <a:r>
                  <a:rPr lang="en-US" altLang="zh-CN" sz="2000" dirty="0">
                    <a:cs typeface="Times New Roman" panose="02020603050405020304" pitchFamily="18" charset="0"/>
                  </a:rPr>
                  <a:t>p</a:t>
                </a:r>
                <a:r>
                  <a:rPr lang="zh-CN" altLang="en-US" sz="2000" dirty="0">
                    <a:cs typeface="Times New Roman" panose="02020603050405020304" pitchFamily="18" charset="0"/>
                  </a:rPr>
                  <a:t>本身不变）</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返回与</a:t>
                </a:r>
                <a:r>
                  <a:rPr lang="en-US" altLang="zh-CN" sz="2000" dirty="0">
                    <a:cs typeface="Times New Roman" panose="02020603050405020304" pitchFamily="18" charset="0"/>
                  </a:rPr>
                  <a:t>p</a:t>
                </a:r>
                <a:r>
                  <a:rPr lang="zh-CN" altLang="en-US" sz="2000" dirty="0">
                    <a:cs typeface="Times New Roman" panose="02020603050405020304" pitchFamily="18" charset="0"/>
                  </a:rPr>
                  <a:t>所在位置后移</a:t>
                </a:r>
                <a:r>
                  <a:rPr lang="en-US" altLang="zh-CN" sz="2000" dirty="0" err="1">
                    <a:cs typeface="Times New Roman" panose="02020603050405020304" pitchFamily="18" charset="0"/>
                  </a:rPr>
                  <a:t>i</a:t>
                </a:r>
                <a:r>
                  <a:rPr lang="zh-CN" altLang="en-US" sz="2000" dirty="0">
                    <a:cs typeface="Times New Roman" panose="02020603050405020304" pitchFamily="18" charset="0"/>
                  </a:rPr>
                  <a:t>位的元素引用</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如迭代器</a:t>
                </a:r>
                <a:r>
                  <a:rPr lang="en-US" altLang="zh-CN" sz="2000" dirty="0">
                    <a:cs typeface="Times New Roman" panose="02020603050405020304" pitchFamily="18" charset="0"/>
                  </a:rPr>
                  <a:t>p</a:t>
                </a:r>
                <a:r>
                  <a:rPr lang="zh-CN" altLang="en-US" sz="2000" dirty="0">
                    <a:cs typeface="Times New Roman" panose="02020603050405020304" pitchFamily="18" charset="0"/>
                  </a:rPr>
                  <a:t>小于</a:t>
                </a:r>
                <a:r>
                  <a:rPr lang="en-US" altLang="zh-CN" sz="2000" dirty="0">
                    <a:cs typeface="Times New Roman" panose="02020603050405020304" pitchFamily="18" charset="0"/>
                  </a:rPr>
                  <a:t>p1</a:t>
                </a:r>
                <a:r>
                  <a:rPr lang="zh-CN" altLang="en-US" sz="2000" dirty="0">
                    <a:cs typeface="Times New Roman" panose="02020603050405020304" pitchFamily="18" charset="0"/>
                  </a:rPr>
                  <a:t>，返回</a:t>
                </a:r>
                <a:r>
                  <a:rPr lang="en-US" altLang="zh-CN" sz="2000" dirty="0">
                    <a:cs typeface="Times New Roman" panose="02020603050405020304" pitchFamily="18" charset="0"/>
                  </a:rPr>
                  <a:t>true</a:t>
                </a:r>
                <a:r>
                  <a:rPr lang="zh-CN" altLang="en-US" sz="2000" dirty="0">
                    <a:cs typeface="Times New Roman" panose="02020603050405020304" pitchFamily="18" charset="0"/>
                  </a:rPr>
                  <a:t>，所谓小，即</a:t>
                </a:r>
                <a:r>
                  <a:rPr lang="en-US" altLang="zh-CN" sz="2000" dirty="0">
                    <a:cs typeface="Times New Roman" panose="02020603050405020304" pitchFamily="18" charset="0"/>
                  </a:rPr>
                  <a:t>p</a:t>
                </a:r>
                <a:r>
                  <a:rPr lang="zh-CN" altLang="en-US" sz="2000" dirty="0">
                    <a:cs typeface="Times New Roman" panose="02020603050405020304" pitchFamily="18" charset="0"/>
                  </a:rPr>
                  <a:t>在</a:t>
                </a:r>
                <a:r>
                  <a:rPr lang="en-US" altLang="zh-CN" sz="2000" dirty="0">
                    <a:cs typeface="Times New Roman" panose="02020603050405020304" pitchFamily="18" charset="0"/>
                  </a:rPr>
                  <a:t>p1</a:t>
                </a:r>
                <a:r>
                  <a:rPr lang="zh-CN" altLang="en-US" sz="2000" dirty="0">
                    <a:cs typeface="Times New Roman" panose="02020603050405020304" pitchFamily="18" charset="0"/>
                  </a:rPr>
                  <a:t>之前</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如迭代器</a:t>
                </a:r>
                <a:r>
                  <a:rPr lang="en-US" altLang="zh-CN" sz="2000" dirty="0">
                    <a:cs typeface="Times New Roman" panose="02020603050405020304" pitchFamily="18" charset="0"/>
                  </a:rPr>
                  <a:t>p</a:t>
                </a:r>
                <a:r>
                  <a:rPr lang="zh-CN" altLang="en-US" sz="2000" dirty="0">
                    <a:cs typeface="Times New Roman" panose="02020603050405020304" pitchFamily="18" charset="0"/>
                  </a:rPr>
                  <a:t>小于等于</a:t>
                </a:r>
                <a:r>
                  <a:rPr lang="en-US" altLang="zh-CN" sz="2000" dirty="0">
                    <a:cs typeface="Times New Roman" panose="02020603050405020304" pitchFamily="18" charset="0"/>
                  </a:rPr>
                  <a:t>p1</a:t>
                </a:r>
                <a:r>
                  <a:rPr lang="zh-CN" altLang="en-US" sz="2000" dirty="0">
                    <a:cs typeface="Times New Roman" panose="02020603050405020304" pitchFamily="18" charset="0"/>
                  </a:rPr>
                  <a:t>，返回</a:t>
                </a:r>
                <a:r>
                  <a:rPr lang="en-US" altLang="zh-CN" sz="2000" dirty="0">
                    <a:cs typeface="Times New Roman" panose="02020603050405020304" pitchFamily="18" charset="0"/>
                  </a:rPr>
                  <a:t>true</a:t>
                </a:r>
                <a:r>
                  <a:rPr lang="zh-CN" altLang="en-US" sz="2000" dirty="0">
                    <a:cs typeface="Times New Roman" panose="02020603050405020304" pitchFamily="18" charset="0"/>
                  </a:rPr>
                  <a:t>，否则返回</a:t>
                </a:r>
                <a:r>
                  <a:rPr lang="en-US" altLang="zh-CN" sz="2000" dirty="0">
                    <a:cs typeface="Times New Roman" panose="02020603050405020304" pitchFamily="18" charset="0"/>
                  </a:rPr>
                  <a:t>false</a:t>
                </a:r>
                <a:endParaRPr lang="en-US" altLang="zh-CN" sz="2000" dirty="0">
                  <a:cs typeface="Times New Roman" panose="02020603050405020304" pitchFamily="18" charset="0"/>
                </a:endParaRPr>
              </a:p>
              <a:p>
                <a:pPr eaLnBrk="0" hangingPunct="0"/>
                <a:r>
                  <a:rPr lang="zh-CN" altLang="en-US" sz="2000" dirty="0">
                    <a:cs typeface="Times New Roman" panose="02020603050405020304" pitchFamily="18" charset="0"/>
                  </a:rPr>
                  <a:t>如迭代器</a:t>
                </a:r>
                <a:r>
                  <a:rPr lang="en-US" altLang="zh-CN" sz="2000" dirty="0">
                    <a:cs typeface="Times New Roman" panose="02020603050405020304" pitchFamily="18" charset="0"/>
                  </a:rPr>
                  <a:t>p</a:t>
                </a:r>
                <a:r>
                  <a:rPr lang="zh-CN" altLang="en-US" sz="2000" dirty="0">
                    <a:cs typeface="Times New Roman" panose="02020603050405020304" pitchFamily="18" charset="0"/>
                  </a:rPr>
                  <a:t>大于等于</a:t>
                </a:r>
                <a:r>
                  <a:rPr lang="en-US" altLang="zh-CN" sz="2000" dirty="0">
                    <a:cs typeface="Times New Roman" panose="02020603050405020304" pitchFamily="18" charset="0"/>
                  </a:rPr>
                  <a:t>p1</a:t>
                </a:r>
                <a:r>
                  <a:rPr lang="zh-CN" altLang="en-US" sz="2000" dirty="0">
                    <a:cs typeface="Times New Roman" panose="02020603050405020304" pitchFamily="18" charset="0"/>
                  </a:rPr>
                  <a:t>，返回</a:t>
                </a:r>
                <a:r>
                  <a:rPr lang="en-US" altLang="zh-CN" sz="2000" dirty="0">
                    <a:cs typeface="Times New Roman" panose="02020603050405020304" pitchFamily="18" charset="0"/>
                  </a:rPr>
                  <a:t>true</a:t>
                </a:r>
                <a:r>
                  <a:rPr lang="zh-CN" altLang="en-US" sz="2000" dirty="0">
                    <a:cs typeface="Times New Roman" panose="02020603050405020304" pitchFamily="18" charset="0"/>
                  </a:rPr>
                  <a:t>，所谓大即</a:t>
                </a:r>
                <a:r>
                  <a:rPr lang="en-US" altLang="zh-CN" sz="2000" dirty="0">
                    <a:cs typeface="Times New Roman" panose="02020603050405020304" pitchFamily="18" charset="0"/>
                  </a:rPr>
                  <a:t>p</a:t>
                </a:r>
                <a:r>
                  <a:rPr lang="zh-CN" altLang="en-US" sz="2000" dirty="0">
                    <a:cs typeface="Times New Roman" panose="02020603050405020304" pitchFamily="18" charset="0"/>
                  </a:rPr>
                  <a:t>在</a:t>
                </a:r>
                <a:r>
                  <a:rPr lang="en-US" altLang="zh-CN" sz="2000" dirty="0">
                    <a:cs typeface="Times New Roman" panose="02020603050405020304" pitchFamily="18" charset="0"/>
                  </a:rPr>
                  <a:t>p1</a:t>
                </a:r>
                <a:r>
                  <a:rPr lang="zh-CN" altLang="en-US" sz="2000" dirty="0">
                    <a:cs typeface="Times New Roman" panose="02020603050405020304" pitchFamily="18" charset="0"/>
                  </a:rPr>
                  <a:t>之后</a:t>
                </a:r>
                <a:endParaRPr lang="zh-CN" altLang="en-US" sz="2000" dirty="0">
                  <a:cs typeface="Times New Roman" panose="02020603050405020304" pitchFamily="18" charset="0"/>
                </a:endParaRPr>
              </a:p>
              <a:p>
                <a:pPr eaLnBrk="0" hangingPunct="0"/>
                <a:r>
                  <a:rPr lang="zh-CN" altLang="en-US" sz="2000" dirty="0">
                    <a:cs typeface="Times New Roman" panose="02020603050405020304" pitchFamily="18" charset="0"/>
                  </a:rPr>
                  <a:t>如迭代器</a:t>
                </a:r>
                <a:r>
                  <a:rPr lang="en-US" altLang="zh-CN" sz="2000" dirty="0">
                    <a:cs typeface="Times New Roman" panose="02020603050405020304" pitchFamily="18" charset="0"/>
                  </a:rPr>
                  <a:t>p</a:t>
                </a:r>
                <a:r>
                  <a:rPr lang="zh-CN" altLang="en-US" sz="2000" dirty="0">
                    <a:cs typeface="Times New Roman" panose="02020603050405020304" pitchFamily="18" charset="0"/>
                  </a:rPr>
                  <a:t>大于迭代器</a:t>
                </a:r>
                <a:r>
                  <a:rPr lang="en-US" altLang="zh-CN" sz="2000" dirty="0">
                    <a:cs typeface="Times New Roman" panose="02020603050405020304" pitchFamily="18" charset="0"/>
                  </a:rPr>
                  <a:t>p1</a:t>
                </a:r>
                <a:r>
                  <a:rPr lang="zh-CN" altLang="en-US" sz="2000" dirty="0">
                    <a:cs typeface="Times New Roman" panose="02020603050405020304" pitchFamily="18" charset="0"/>
                  </a:rPr>
                  <a:t>，返回</a:t>
                </a:r>
                <a:r>
                  <a:rPr lang="en-US" altLang="zh-CN" sz="2000" dirty="0">
                    <a:cs typeface="Times New Roman" panose="02020603050405020304" pitchFamily="18" charset="0"/>
                  </a:rPr>
                  <a:t>true</a:t>
                </a:r>
                <a:r>
                  <a:rPr lang="zh-CN" altLang="en-US" sz="2000" dirty="0">
                    <a:cs typeface="Times New Roman" panose="02020603050405020304" pitchFamily="18" charset="0"/>
                  </a:rPr>
                  <a:t>，否则返回</a:t>
                </a:r>
                <a:r>
                  <a:rPr lang="en-US" altLang="zh-CN" sz="2000" dirty="0">
                    <a:cs typeface="Times New Roman" panose="02020603050405020304" pitchFamily="18" charset="0"/>
                  </a:rPr>
                  <a:t>false</a:t>
                </a:r>
                <a:endParaRPr lang="en-US" altLang="zh-CN" sz="2000" dirty="0">
                  <a:cs typeface="Times New Roman" panose="02020603050405020304" pitchFamily="18" charset="0"/>
                </a:endParaRPr>
              </a:p>
            </p:txBody>
          </p:sp>
          <p:sp>
            <p:nvSpPr>
              <p:cNvPr id="37" name="Rectangle 31"/>
              <p:cNvSpPr>
                <a:spLocks noChangeArrowheads="1"/>
              </p:cNvSpPr>
              <p:nvPr/>
            </p:nvSpPr>
            <p:spPr bwMode="auto">
              <a:xfrm>
                <a:off x="244" y="744"/>
                <a:ext cx="1275" cy="2006"/>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cs typeface="Times New Roman" panose="02020603050405020304" pitchFamily="18" charset="0"/>
                  </a:rPr>
                  <a:t>随机访问迭代器</a:t>
                </a:r>
                <a:endParaRPr lang="zh-CN" altLang="en-US" sz="2000" b="1" dirty="0">
                  <a:cs typeface="Times New Roman" panose="02020603050405020304" pitchFamily="18" charset="0"/>
                </a:endParaRPr>
              </a:p>
              <a:p>
                <a:pPr eaLnBrk="0" hangingPunct="0"/>
                <a:r>
                  <a:rPr lang="en-US" altLang="zh-CN" sz="2000" dirty="0">
                    <a:cs typeface="Times New Roman" panose="02020603050405020304" pitchFamily="18" charset="0"/>
                  </a:rPr>
                  <a:t>p+=</a:t>
                </a:r>
                <a:r>
                  <a:rPr lang="en-US" altLang="zh-CN" sz="2000" dirty="0" err="1">
                    <a:cs typeface="Times New Roman" panose="02020603050405020304" pitchFamily="18" charset="0"/>
                  </a:rPr>
                  <a:t>i</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a:t>
                </a:r>
                <a:r>
                  <a:rPr lang="en-US" altLang="zh-CN" sz="2000" dirty="0" err="1">
                    <a:cs typeface="Times New Roman" panose="02020603050405020304" pitchFamily="18" charset="0"/>
                  </a:rPr>
                  <a:t>i</a:t>
                </a:r>
                <a:endParaRPr lang="en-US" altLang="zh-CN" sz="2000" dirty="0">
                  <a:cs typeface="Times New Roman" panose="02020603050405020304" pitchFamily="18" charset="0"/>
                </a:endParaRPr>
              </a:p>
              <a:p>
                <a:pPr eaLnBrk="0" hangingPunct="0"/>
                <a:r>
                  <a:rPr lang="en-US" altLang="zh-CN" sz="2000" dirty="0" err="1">
                    <a:cs typeface="Times New Roman" panose="02020603050405020304" pitchFamily="18" charset="0"/>
                  </a:rPr>
                  <a:t>p+i</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a:t>
                </a:r>
                <a:r>
                  <a:rPr lang="en-US" altLang="zh-CN" sz="2000" dirty="0" err="1">
                    <a:cs typeface="Times New Roman" panose="02020603050405020304" pitchFamily="18" charset="0"/>
                  </a:rPr>
                  <a:t>i</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a:t>
                </a:r>
                <a:r>
                  <a:rPr lang="en-US" altLang="zh-CN" sz="2000" dirty="0" err="1">
                    <a:cs typeface="Times New Roman" panose="02020603050405020304" pitchFamily="18" charset="0"/>
                  </a:rPr>
                  <a:t>i</a:t>
                </a:r>
                <a:r>
                  <a:rPr lang="en-US" altLang="zh-CN" sz="2000" dirty="0">
                    <a:cs typeface="Times New Roman" panose="02020603050405020304" pitchFamily="18" charset="0"/>
                  </a:rPr>
                  <a:t>]</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p&lt;p1</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p&lt;=p1</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p&gt;=p1</a:t>
                </a:r>
                <a:endParaRPr lang="en-US" altLang="zh-CN" sz="2000" dirty="0">
                  <a:cs typeface="Times New Roman" panose="02020603050405020304" pitchFamily="18" charset="0"/>
                </a:endParaRPr>
              </a:p>
              <a:p>
                <a:pPr eaLnBrk="0" hangingPunct="0"/>
                <a:r>
                  <a:rPr lang="en-US" altLang="zh-CN" sz="2000" dirty="0">
                    <a:cs typeface="Times New Roman" panose="02020603050405020304" pitchFamily="18" charset="0"/>
                  </a:rPr>
                  <a:t>p&gt;p1</a:t>
                </a:r>
                <a:endParaRPr lang="en-US" altLang="zh-CN" sz="2000" dirty="0">
                  <a:cs typeface="Times New Roman" panose="02020603050405020304" pitchFamily="18" charset="0"/>
                </a:endParaRPr>
              </a:p>
            </p:txBody>
          </p:sp>
          <p:sp>
            <p:nvSpPr>
              <p:cNvPr id="38" name="Rectangle 20"/>
              <p:cNvSpPr>
                <a:spLocks noChangeArrowheads="1"/>
              </p:cNvSpPr>
              <p:nvPr/>
            </p:nvSpPr>
            <p:spPr bwMode="auto">
              <a:xfrm>
                <a:off x="1927" y="482"/>
                <a:ext cx="3528" cy="189"/>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000" b="1" dirty="0">
                    <a:ea typeface="宋体" panose="02010600030101010101" pitchFamily="2" charset="-122"/>
                    <a:cs typeface="Times New Roman" panose="02020603050405020304" pitchFamily="18" charset="0"/>
                  </a:rPr>
                  <a:t>说明</a:t>
                </a:r>
                <a:endParaRPr lang="zh-CN" altLang="en-US" sz="2000" b="1" dirty="0">
                  <a:ea typeface="宋体" panose="02010600030101010101" pitchFamily="2" charset="-122"/>
                </a:endParaRPr>
              </a:p>
            </p:txBody>
          </p:sp>
          <p:sp>
            <p:nvSpPr>
              <p:cNvPr id="39" name="Rectangle 19"/>
              <p:cNvSpPr>
                <a:spLocks noChangeArrowheads="1"/>
              </p:cNvSpPr>
              <p:nvPr/>
            </p:nvSpPr>
            <p:spPr bwMode="auto">
              <a:xfrm>
                <a:off x="204" y="472"/>
                <a:ext cx="1733" cy="189"/>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000" b="1" dirty="0">
                    <a:ea typeface="宋体" panose="02010600030101010101" pitchFamily="2" charset="-122"/>
                    <a:cs typeface="Times New Roman" panose="02020603050405020304" pitchFamily="18" charset="0"/>
                  </a:rPr>
                  <a:t>迭代操作</a:t>
                </a:r>
                <a:endParaRPr lang="zh-CN" altLang="en-US" sz="2000" b="1" dirty="0">
                  <a:ea typeface="宋体" panose="02010600030101010101" pitchFamily="2" charset="-122"/>
                </a:endParaRPr>
              </a:p>
            </p:txBody>
          </p:sp>
          <p:sp>
            <p:nvSpPr>
              <p:cNvPr id="40" name="Line 33"/>
              <p:cNvSpPr>
                <a:spLocks noChangeShapeType="1"/>
              </p:cNvSpPr>
              <p:nvPr/>
            </p:nvSpPr>
            <p:spPr bwMode="auto">
              <a:xfrm>
                <a:off x="204" y="482"/>
                <a:ext cx="5443"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1" name="Line 35"/>
              <p:cNvSpPr>
                <a:spLocks noChangeShapeType="1"/>
              </p:cNvSpPr>
              <p:nvPr/>
            </p:nvSpPr>
            <p:spPr bwMode="auto">
              <a:xfrm>
                <a:off x="204" y="472"/>
                <a:ext cx="0" cy="282"/>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2" name="Line 36"/>
              <p:cNvSpPr>
                <a:spLocks noChangeShapeType="1"/>
              </p:cNvSpPr>
              <p:nvPr/>
            </p:nvSpPr>
            <p:spPr bwMode="auto">
              <a:xfrm flipH="1">
                <a:off x="5647" y="482"/>
                <a:ext cx="0" cy="2313"/>
              </a:xfrm>
              <a:prstGeom prst="line">
                <a:avLst/>
              </a:prstGeom>
              <a:noFill/>
              <a:ln w="9525"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3" name="Line 39"/>
              <p:cNvSpPr>
                <a:spLocks noChangeShapeType="1"/>
              </p:cNvSpPr>
              <p:nvPr/>
            </p:nvSpPr>
            <p:spPr bwMode="auto">
              <a:xfrm>
                <a:off x="249" y="754"/>
                <a:ext cx="5398" cy="0"/>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4" name="Line 40"/>
              <p:cNvSpPr>
                <a:spLocks noChangeShapeType="1"/>
              </p:cNvSpPr>
              <p:nvPr/>
            </p:nvSpPr>
            <p:spPr bwMode="auto">
              <a:xfrm>
                <a:off x="204" y="721"/>
                <a:ext cx="0" cy="2074"/>
              </a:xfrm>
              <a:prstGeom prst="line">
                <a:avLst/>
              </a:prstGeom>
              <a:noFill/>
              <a:ln w="9525"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5" name="Line 41"/>
              <p:cNvSpPr>
                <a:spLocks noChangeShapeType="1"/>
              </p:cNvSpPr>
              <p:nvPr/>
            </p:nvSpPr>
            <p:spPr bwMode="auto">
              <a:xfrm>
                <a:off x="1519" y="482"/>
                <a:ext cx="0" cy="2313"/>
              </a:xfrm>
              <a:prstGeom prst="line">
                <a:avLst/>
              </a:prstGeom>
              <a:noFill/>
              <a:ln w="12700" cap="rnd">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35" name="Line 92"/>
            <p:cNvSpPr>
              <a:spLocks noChangeShapeType="1"/>
            </p:cNvSpPr>
            <p:nvPr/>
          </p:nvSpPr>
          <p:spPr bwMode="auto">
            <a:xfrm>
              <a:off x="204" y="2795"/>
              <a:ext cx="544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59954" y="435765"/>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不同容器包含了不同的迭代器</a:t>
            </a:r>
            <a:endParaRPr kumimoji="0" lang="zh-CN" altLang="en-US" b="1" dirty="0">
              <a:latin typeface="宋体" panose="02010600030101010101" pitchFamily="2" charset="-122"/>
            </a:endParaRPr>
          </a:p>
        </p:txBody>
      </p:sp>
      <p:pic>
        <p:nvPicPr>
          <p:cNvPr id="14" name="图片 13"/>
          <p:cNvPicPr>
            <a:picLocks noChangeAspect="1"/>
          </p:cNvPicPr>
          <p:nvPr/>
        </p:nvPicPr>
        <p:blipFill>
          <a:blip r:embed="rId1"/>
          <a:stretch>
            <a:fillRect/>
          </a:stretch>
        </p:blipFill>
        <p:spPr>
          <a:xfrm>
            <a:off x="2780189" y="2645852"/>
            <a:ext cx="330217" cy="203210"/>
          </a:xfrm>
          <a:prstGeom prst="rect">
            <a:avLst/>
          </a:prstGeom>
        </p:spPr>
      </p:pic>
      <p:pic>
        <p:nvPicPr>
          <p:cNvPr id="16" name="图片 15"/>
          <p:cNvPicPr>
            <a:picLocks noChangeAspect="1"/>
          </p:cNvPicPr>
          <p:nvPr/>
        </p:nvPicPr>
        <p:blipFill>
          <a:blip r:embed="rId1"/>
          <a:stretch>
            <a:fillRect/>
          </a:stretch>
        </p:blipFill>
        <p:spPr>
          <a:xfrm>
            <a:off x="2839822" y="2651358"/>
            <a:ext cx="330217" cy="203210"/>
          </a:xfrm>
          <a:prstGeom prst="rect">
            <a:avLst/>
          </a:prstGeom>
        </p:spPr>
      </p:pic>
      <p:pic>
        <p:nvPicPr>
          <p:cNvPr id="3" name="图片 2"/>
          <p:cNvPicPr>
            <a:picLocks noChangeAspect="1"/>
          </p:cNvPicPr>
          <p:nvPr/>
        </p:nvPicPr>
        <p:blipFill>
          <a:blip r:embed="rId2"/>
          <a:stretch>
            <a:fillRect/>
          </a:stretch>
        </p:blipFill>
        <p:spPr>
          <a:xfrm>
            <a:off x="2839822" y="1171593"/>
            <a:ext cx="4775445" cy="4673840"/>
          </a:xfrm>
          <a:prstGeom prst="rect">
            <a:avLst/>
          </a:prstGeom>
        </p:spPr>
      </p:pic>
      <p:pic>
        <p:nvPicPr>
          <p:cNvPr id="6" name="图片 5"/>
          <p:cNvPicPr>
            <a:picLocks noChangeAspect="1"/>
          </p:cNvPicPr>
          <p:nvPr/>
        </p:nvPicPr>
        <p:blipFill>
          <a:blip r:embed="rId3"/>
          <a:stretch>
            <a:fillRect/>
          </a:stretch>
        </p:blipFill>
        <p:spPr>
          <a:xfrm>
            <a:off x="7834840" y="1171593"/>
            <a:ext cx="3638737" cy="274334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59954" y="435765"/>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例：</a:t>
            </a:r>
            <a:r>
              <a:rPr kumimoji="0" lang="en-US" altLang="zh-CN" sz="2800" dirty="0">
                <a:solidFill>
                  <a:srgbClr val="006600"/>
                </a:solidFill>
                <a:latin typeface="隶书" panose="02010509060101010101" pitchFamily="49" charset="-122"/>
                <a:ea typeface="隶书" panose="02010509060101010101" pitchFamily="49" charset="-122"/>
              </a:rPr>
              <a:t>vector</a:t>
            </a:r>
            <a:r>
              <a:rPr kumimoji="0" lang="zh-CN" altLang="en-US" sz="2800" dirty="0">
                <a:solidFill>
                  <a:srgbClr val="006600"/>
                </a:solidFill>
                <a:latin typeface="隶书" panose="02010509060101010101" pitchFamily="49" charset="-122"/>
                <a:ea typeface="隶书" panose="02010509060101010101" pitchFamily="49" charset="-122"/>
              </a:rPr>
              <a:t>中迭代器的使用</a:t>
            </a:r>
            <a:endParaRPr kumimoji="0" lang="zh-CN" altLang="en-US" b="1" dirty="0">
              <a:latin typeface="宋体" panose="02010600030101010101" pitchFamily="2" charset="-122"/>
            </a:endParaRPr>
          </a:p>
        </p:txBody>
      </p:sp>
      <p:pic>
        <p:nvPicPr>
          <p:cNvPr id="14" name="图片 13"/>
          <p:cNvPicPr>
            <a:picLocks noChangeAspect="1"/>
          </p:cNvPicPr>
          <p:nvPr/>
        </p:nvPicPr>
        <p:blipFill>
          <a:blip r:embed="rId1"/>
          <a:stretch>
            <a:fillRect/>
          </a:stretch>
        </p:blipFill>
        <p:spPr>
          <a:xfrm>
            <a:off x="2780189" y="2645852"/>
            <a:ext cx="330217" cy="203210"/>
          </a:xfrm>
          <a:prstGeom prst="rect">
            <a:avLst/>
          </a:prstGeom>
        </p:spPr>
      </p:pic>
      <p:pic>
        <p:nvPicPr>
          <p:cNvPr id="16" name="图片 15"/>
          <p:cNvPicPr>
            <a:picLocks noChangeAspect="1"/>
          </p:cNvPicPr>
          <p:nvPr/>
        </p:nvPicPr>
        <p:blipFill>
          <a:blip r:embed="rId1"/>
          <a:stretch>
            <a:fillRect/>
          </a:stretch>
        </p:blipFill>
        <p:spPr>
          <a:xfrm>
            <a:off x="2839822" y="2651358"/>
            <a:ext cx="330217" cy="203210"/>
          </a:xfrm>
          <a:prstGeom prst="rect">
            <a:avLst/>
          </a:prstGeom>
        </p:spPr>
      </p:pic>
      <p:pic>
        <p:nvPicPr>
          <p:cNvPr id="5" name="图片 4"/>
          <p:cNvPicPr>
            <a:picLocks noChangeAspect="1"/>
          </p:cNvPicPr>
          <p:nvPr/>
        </p:nvPicPr>
        <p:blipFill>
          <a:blip r:embed="rId2"/>
          <a:stretch>
            <a:fillRect/>
          </a:stretch>
        </p:blipFill>
        <p:spPr>
          <a:xfrm>
            <a:off x="1450571" y="1128447"/>
            <a:ext cx="7602281" cy="4601105"/>
          </a:xfrm>
          <a:prstGeom prst="rect">
            <a:avLst/>
          </a:prstGeom>
        </p:spPr>
      </p:pic>
      <p:pic>
        <p:nvPicPr>
          <p:cNvPr id="8" name="图片 7"/>
          <p:cNvPicPr>
            <a:picLocks noChangeAspect="1"/>
          </p:cNvPicPr>
          <p:nvPr/>
        </p:nvPicPr>
        <p:blipFill>
          <a:blip r:embed="rId3"/>
          <a:stretch>
            <a:fillRect/>
          </a:stretch>
        </p:blipFill>
        <p:spPr>
          <a:xfrm>
            <a:off x="7893584" y="1128446"/>
            <a:ext cx="1159268" cy="1137675"/>
          </a:xfrm>
          <a:prstGeom prst="rect">
            <a:avLst/>
          </a:prstGeom>
        </p:spPr>
      </p:pic>
      <p:sp>
        <p:nvSpPr>
          <p:cNvPr id="9" name="文本框 8"/>
          <p:cNvSpPr txBox="1"/>
          <p:nvPr/>
        </p:nvSpPr>
        <p:spPr>
          <a:xfrm>
            <a:off x="9322903" y="1321904"/>
            <a:ext cx="2007705" cy="1015663"/>
          </a:xfrm>
          <a:prstGeom prst="rect">
            <a:avLst/>
          </a:prstGeom>
          <a:noFill/>
        </p:spPr>
        <p:txBody>
          <a:bodyPr wrap="square" rtlCol="0">
            <a:spAutoFit/>
          </a:bodyPr>
          <a:lstStyle/>
          <a:p>
            <a:r>
              <a:rPr lang="zh-CN" altLang="en-US" sz="2000" b="1" dirty="0">
                <a:solidFill>
                  <a:srgbClr val="FF0000"/>
                </a:solidFill>
              </a:rPr>
              <a:t>遍历</a:t>
            </a:r>
            <a:r>
              <a:rPr lang="en-US" altLang="zh-CN" sz="2000" b="1" dirty="0">
                <a:solidFill>
                  <a:srgbClr val="FF0000"/>
                </a:solidFill>
              </a:rPr>
              <a:t> </a:t>
            </a:r>
            <a:r>
              <a:rPr lang="zh-CN" altLang="en-US" sz="2000" dirty="0"/>
              <a:t>：对数据结构中所有数据访问至少一遍。</a:t>
            </a:r>
            <a:endParaRPr lang="zh-CN" altLang="en-US" sz="2000" dirty="0"/>
          </a:p>
        </p:txBody>
      </p:sp>
      <p:sp>
        <p:nvSpPr>
          <p:cNvPr id="12" name="文本框 11"/>
          <p:cNvSpPr txBox="1"/>
          <p:nvPr/>
        </p:nvSpPr>
        <p:spPr>
          <a:xfrm>
            <a:off x="9432233" y="2921167"/>
            <a:ext cx="2007705" cy="1015663"/>
          </a:xfrm>
          <a:prstGeom prst="rect">
            <a:avLst/>
          </a:prstGeom>
          <a:noFill/>
        </p:spPr>
        <p:txBody>
          <a:bodyPr wrap="square" rtlCol="0">
            <a:spAutoFit/>
          </a:bodyPr>
          <a:lstStyle/>
          <a:p>
            <a:r>
              <a:rPr lang="en-US" altLang="zh-CN" sz="2000" dirty="0"/>
              <a:t>vector</a:t>
            </a:r>
            <a:r>
              <a:rPr lang="zh-CN" altLang="en-US" sz="2000" dirty="0"/>
              <a:t>中的迭代器是</a:t>
            </a:r>
            <a:r>
              <a:rPr lang="zh-CN" altLang="en-US" sz="2000" b="1" dirty="0">
                <a:solidFill>
                  <a:srgbClr val="FF0000"/>
                </a:solidFill>
              </a:rPr>
              <a:t>随机访问迭代器</a:t>
            </a:r>
            <a:r>
              <a:rPr lang="zh-CN" altLang="en-US" sz="2000" dirty="0"/>
              <a:t>。</a:t>
            </a:r>
            <a:endParaRPr lang="zh-CN"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59954" y="435765"/>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latin typeface="隶书" panose="02010509060101010101" pitchFamily="49" charset="-122"/>
                <a:ea typeface="隶书" panose="02010509060101010101" pitchFamily="49" charset="-122"/>
              </a:rPr>
              <a:t>例：</a:t>
            </a:r>
            <a:r>
              <a:rPr kumimoji="0" lang="en-US" altLang="zh-CN" sz="2800" dirty="0">
                <a:solidFill>
                  <a:srgbClr val="006600"/>
                </a:solidFill>
                <a:latin typeface="隶书" panose="02010509060101010101" pitchFamily="49" charset="-122"/>
                <a:ea typeface="隶书" panose="02010509060101010101" pitchFamily="49" charset="-122"/>
              </a:rPr>
              <a:t>list</a:t>
            </a:r>
            <a:r>
              <a:rPr kumimoji="0" lang="zh-CN" altLang="en-US" sz="2800" dirty="0">
                <a:solidFill>
                  <a:srgbClr val="006600"/>
                </a:solidFill>
                <a:latin typeface="隶书" panose="02010509060101010101" pitchFamily="49" charset="-122"/>
                <a:ea typeface="隶书" panose="02010509060101010101" pitchFamily="49" charset="-122"/>
              </a:rPr>
              <a:t>中迭代器的使用</a:t>
            </a:r>
            <a:endParaRPr kumimoji="0" lang="zh-CN" altLang="en-US" b="1" dirty="0">
              <a:latin typeface="宋体" panose="02010600030101010101" pitchFamily="2" charset="-122"/>
            </a:endParaRPr>
          </a:p>
        </p:txBody>
      </p:sp>
      <p:pic>
        <p:nvPicPr>
          <p:cNvPr id="14" name="图片 13"/>
          <p:cNvPicPr>
            <a:picLocks noChangeAspect="1"/>
          </p:cNvPicPr>
          <p:nvPr/>
        </p:nvPicPr>
        <p:blipFill>
          <a:blip r:embed="rId1"/>
          <a:stretch>
            <a:fillRect/>
          </a:stretch>
        </p:blipFill>
        <p:spPr>
          <a:xfrm>
            <a:off x="2780189" y="2645852"/>
            <a:ext cx="330217" cy="203210"/>
          </a:xfrm>
          <a:prstGeom prst="rect">
            <a:avLst/>
          </a:prstGeom>
        </p:spPr>
      </p:pic>
      <p:pic>
        <p:nvPicPr>
          <p:cNvPr id="16" name="图片 15"/>
          <p:cNvPicPr>
            <a:picLocks noChangeAspect="1"/>
          </p:cNvPicPr>
          <p:nvPr/>
        </p:nvPicPr>
        <p:blipFill>
          <a:blip r:embed="rId1"/>
          <a:stretch>
            <a:fillRect/>
          </a:stretch>
        </p:blipFill>
        <p:spPr>
          <a:xfrm>
            <a:off x="2839822" y="2651358"/>
            <a:ext cx="330217" cy="203210"/>
          </a:xfrm>
          <a:prstGeom prst="rect">
            <a:avLst/>
          </a:prstGeom>
        </p:spPr>
      </p:pic>
      <p:sp>
        <p:nvSpPr>
          <p:cNvPr id="12" name="文本框 11"/>
          <p:cNvSpPr txBox="1"/>
          <p:nvPr/>
        </p:nvSpPr>
        <p:spPr>
          <a:xfrm>
            <a:off x="5618920" y="1629149"/>
            <a:ext cx="3366053" cy="400110"/>
          </a:xfrm>
          <a:prstGeom prst="rect">
            <a:avLst/>
          </a:prstGeom>
          <a:noFill/>
        </p:spPr>
        <p:txBody>
          <a:bodyPr wrap="square" rtlCol="0">
            <a:spAutoFit/>
          </a:bodyPr>
          <a:lstStyle/>
          <a:p>
            <a:r>
              <a:rPr lang="en-US" altLang="zh-CN" sz="2000" b="1" dirty="0"/>
              <a:t>list</a:t>
            </a:r>
            <a:r>
              <a:rPr lang="zh-CN" altLang="en-US" sz="2000" dirty="0"/>
              <a:t>中的迭代器是</a:t>
            </a:r>
            <a:r>
              <a:rPr lang="zh-CN" altLang="en-US" sz="2000" b="1" dirty="0">
                <a:solidFill>
                  <a:srgbClr val="FF0000"/>
                </a:solidFill>
              </a:rPr>
              <a:t>双向迭代器</a:t>
            </a:r>
            <a:r>
              <a:rPr lang="zh-CN" altLang="en-US" sz="2000" dirty="0"/>
              <a:t>。</a:t>
            </a:r>
            <a:endParaRPr lang="zh-CN" altLang="en-US" sz="2000" dirty="0"/>
          </a:p>
        </p:txBody>
      </p:sp>
      <p:pic>
        <p:nvPicPr>
          <p:cNvPr id="7" name="图片 6"/>
          <p:cNvPicPr>
            <a:picLocks noChangeAspect="1"/>
          </p:cNvPicPr>
          <p:nvPr/>
        </p:nvPicPr>
        <p:blipFill>
          <a:blip r:embed="rId2"/>
          <a:stretch>
            <a:fillRect/>
          </a:stretch>
        </p:blipFill>
        <p:spPr>
          <a:xfrm>
            <a:off x="1573262" y="3836994"/>
            <a:ext cx="6083613" cy="2463927"/>
          </a:xfrm>
          <a:prstGeom prst="rect">
            <a:avLst/>
          </a:prstGeom>
        </p:spPr>
      </p:pic>
      <p:pic>
        <p:nvPicPr>
          <p:cNvPr id="11" name="图片 10"/>
          <p:cNvPicPr>
            <a:picLocks noChangeAspect="1"/>
          </p:cNvPicPr>
          <p:nvPr/>
        </p:nvPicPr>
        <p:blipFill rotWithShape="1">
          <a:blip r:embed="rId3"/>
          <a:srcRect t="4332" r="1980"/>
          <a:stretch>
            <a:fillRect/>
          </a:stretch>
        </p:blipFill>
        <p:spPr>
          <a:xfrm>
            <a:off x="1573262" y="2025299"/>
            <a:ext cx="5334434" cy="1622083"/>
          </a:xfrm>
          <a:prstGeom prst="rect">
            <a:avLst/>
          </a:prstGeom>
        </p:spPr>
      </p:pic>
      <p:sp>
        <p:nvSpPr>
          <p:cNvPr id="13" name="文本框 12"/>
          <p:cNvSpPr txBox="1"/>
          <p:nvPr/>
        </p:nvSpPr>
        <p:spPr>
          <a:xfrm>
            <a:off x="1779104" y="1292087"/>
            <a:ext cx="2385392" cy="400110"/>
          </a:xfrm>
          <a:prstGeom prst="rect">
            <a:avLst/>
          </a:prstGeom>
          <a:noFill/>
        </p:spPr>
        <p:txBody>
          <a:bodyPr wrap="square" rtlCol="0">
            <a:spAutoFit/>
          </a:bodyPr>
          <a:lstStyle/>
          <a:p>
            <a:r>
              <a:rPr lang="zh-CN" altLang="en-US" sz="2000" b="1" dirty="0"/>
              <a:t>遍历</a:t>
            </a:r>
            <a:r>
              <a:rPr lang="en-US" altLang="zh-CN" sz="2000" b="1" dirty="0"/>
              <a:t>list</a:t>
            </a:r>
            <a:r>
              <a:rPr lang="zh-CN" altLang="en-US" sz="2000" b="1" dirty="0"/>
              <a:t>的正确方法：</a:t>
            </a:r>
            <a:endParaRPr lang="zh-CN" altLang="en-US" sz="2000" b="1" dirty="0"/>
          </a:p>
        </p:txBody>
      </p:sp>
      <p:cxnSp>
        <p:nvCxnSpPr>
          <p:cNvPr id="3" name="直接连接符 2"/>
          <p:cNvCxnSpPr/>
          <p:nvPr/>
        </p:nvCxnSpPr>
        <p:spPr>
          <a:xfrm>
            <a:off x="4482548" y="3140765"/>
            <a:ext cx="50689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118653" y="4615069"/>
            <a:ext cx="18884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118113" y="6300921"/>
            <a:ext cx="25510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440815" y="3751580"/>
            <a:ext cx="2049780" cy="473710"/>
          </a:xfrm>
          <a:prstGeom prst="rect">
            <a:avLst/>
          </a:prstGeom>
          <a:solidFill>
            <a:srgbClr val="FFC000">
              <a:alpha val="7000"/>
            </a:srgbClr>
          </a:solid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Rot="1" noChangeArrowheads="1"/>
          </p:cNvSpPr>
          <p:nvPr/>
        </p:nvSpPr>
        <p:spPr>
          <a:xfrm>
            <a:off x="1495700" y="92369"/>
            <a:ext cx="8280400" cy="982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4000" b="1" dirty="0">
                <a:effectLst>
                  <a:outerShdw blurRad="38100" dist="38100" dir="2700000" algn="tl">
                    <a:srgbClr val="C0C0C0"/>
                  </a:outerShdw>
                </a:effectLst>
              </a:rPr>
              <a:t>11.4  </a:t>
            </a:r>
            <a:r>
              <a:rPr lang="zh-CN" altLang="en-US" sz="4000" b="1" dirty="0">
                <a:effectLst>
                  <a:outerShdw blurRad="38100" dist="38100" dir="2700000" algn="tl">
                    <a:srgbClr val="C0C0C0"/>
                  </a:outerShdw>
                </a:effectLst>
              </a:rPr>
              <a:t>算法简介</a:t>
            </a:r>
            <a:endParaRPr lang="zh-CN" altLang="en-US" sz="4000" b="1" dirty="0"/>
          </a:p>
        </p:txBody>
      </p:sp>
      <p:sp>
        <p:nvSpPr>
          <p:cNvPr id="3" name="文本框 2"/>
          <p:cNvSpPr txBox="1"/>
          <p:nvPr/>
        </p:nvSpPr>
        <p:spPr>
          <a:xfrm>
            <a:off x="1632501" y="1317439"/>
            <a:ext cx="8926997" cy="4524315"/>
          </a:xfrm>
          <a:prstGeom prst="rect">
            <a:avLst/>
          </a:prstGeom>
          <a:noFill/>
        </p:spPr>
        <p:txBody>
          <a:bodyPr wrap="square">
            <a:spAutoFit/>
          </a:bodyPr>
          <a:lstStyle/>
          <a:p>
            <a:pPr marL="285750" indent="-285750">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主要算法</a:t>
            </a:r>
            <a:r>
              <a:rPr lang="en-US" altLang="zh-CN" sz="2400" b="1" dirty="0">
                <a:latin typeface="宋体" panose="02010600030101010101" pitchFamily="2" charset="-122"/>
                <a:ea typeface="宋体" panose="02010600030101010101" pitchFamily="2" charset="-122"/>
              </a:rPr>
              <a:t>#inlucde&lt;</a:t>
            </a:r>
            <a:r>
              <a:rPr lang="en-US" altLang="zh-CN" sz="2400" b="1" dirty="0">
                <a:solidFill>
                  <a:srgbClr val="FF0000"/>
                </a:solidFill>
                <a:latin typeface="宋体" panose="02010600030101010101" pitchFamily="2" charset="-122"/>
                <a:ea typeface="宋体" panose="02010600030101010101" pitchFamily="2" charset="-122"/>
              </a:rPr>
              <a:t>algorithm</a:t>
            </a:r>
            <a:r>
              <a:rPr lang="en-US" altLang="zh-CN" sz="2400" b="1" dirty="0">
                <a:latin typeface="宋体" panose="02010600030101010101" pitchFamily="2" charset="-122"/>
                <a:ea typeface="宋体" panose="02010600030101010101" pitchFamily="2" charset="-122"/>
              </a:rPr>
              <a:t>&gt;</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算法是一个个</a:t>
            </a:r>
            <a:r>
              <a:rPr lang="zh-CN" altLang="en-US" sz="2400" b="1" dirty="0">
                <a:solidFill>
                  <a:srgbClr val="FF0000"/>
                </a:solidFill>
                <a:latin typeface="宋体" panose="02010600030101010101" pitchFamily="2" charset="-122"/>
                <a:ea typeface="宋体" panose="02010600030101010101" pitchFamily="2" charset="-122"/>
              </a:rPr>
              <a:t>函数模板</a:t>
            </a:r>
            <a:r>
              <a:rPr lang="zh-CN" altLang="en-US" sz="2400" b="1" dirty="0">
                <a:latin typeface="宋体" panose="02010600030101010101" pitchFamily="2" charset="-122"/>
                <a:ea typeface="宋体" panose="02010600030101010101" pitchFamily="2" charset="-122"/>
              </a:rPr>
              <a:t>，实现特定功能；比如</a:t>
            </a:r>
            <a:r>
              <a:rPr lang="zh-CN" altLang="en-US" sz="2400" b="1" dirty="0">
                <a:solidFill>
                  <a:srgbClr val="0066FF"/>
                </a:solidFill>
                <a:latin typeface="宋体" panose="02010600030101010101" pitchFamily="2" charset="-122"/>
                <a:ea typeface="宋体" panose="02010600030101010101" pitchFamily="2" charset="-122"/>
              </a:rPr>
              <a:t>查找、排序</a:t>
            </a:r>
            <a:r>
              <a:rPr lang="zh-CN" altLang="en-US" sz="2400" b="1" dirty="0">
                <a:latin typeface="宋体" panose="02010600030101010101" pitchFamily="2" charset="-122"/>
                <a:ea typeface="宋体" panose="02010600030101010101" pitchFamily="2" charset="-122"/>
              </a:rPr>
              <a:t>等；</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en-US" altLang="zh-CN" sz="2400" b="1" dirty="0">
                <a:latin typeface="宋体" panose="02010600030101010101" pitchFamily="2" charset="-122"/>
                <a:ea typeface="宋体" panose="02010600030101010101" pitchFamily="2" charset="-122"/>
              </a:rPr>
              <a:t>STL</a:t>
            </a:r>
            <a:r>
              <a:rPr lang="zh-CN" altLang="en-US" sz="2400" b="1" dirty="0">
                <a:latin typeface="宋体" panose="02010600030101010101" pitchFamily="2" charset="-122"/>
                <a:ea typeface="宋体" panose="02010600030101010101" pitchFamily="2" charset="-122"/>
              </a:rPr>
              <a:t>提供的标准算法适用于各种容器。</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依据算法对元素的访问方式，标准库算法主要有三大类：</a:t>
            </a:r>
            <a:r>
              <a:rPr lang="zh-CN" altLang="en-US" sz="2400" b="1" dirty="0">
                <a:solidFill>
                  <a:srgbClr val="0066FF"/>
                </a:solidFill>
                <a:latin typeface="宋体" panose="02010600030101010101" pitchFamily="2" charset="-122"/>
                <a:ea typeface="宋体" panose="02010600030101010101" pitchFamily="2" charset="-122"/>
              </a:rPr>
              <a:t>只读型、写入型、重排型</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算法（</a:t>
            </a:r>
            <a:r>
              <a:rPr lang="zh-CN" altLang="en-US" sz="2400" b="1" dirty="0">
                <a:solidFill>
                  <a:srgbClr val="0066FF"/>
                </a:solidFill>
                <a:latin typeface="宋体" panose="02010600030101010101" pitchFamily="2" charset="-122"/>
                <a:ea typeface="宋体" panose="02010600030101010101" pitchFamily="2" charset="-122"/>
              </a:rPr>
              <a:t>函数模板</a:t>
            </a:r>
            <a:r>
              <a:rPr lang="zh-CN" altLang="en-US" sz="2400" b="1" dirty="0">
                <a:latin typeface="宋体" panose="02010600030101010101" pitchFamily="2" charset="-122"/>
                <a:ea typeface="宋体" panose="02010600030101010101" pitchFamily="2" charset="-122"/>
              </a:rPr>
              <a:t>）通过</a:t>
            </a:r>
            <a:r>
              <a:rPr lang="zh-CN" altLang="en-US" sz="2400" b="1" dirty="0">
                <a:solidFill>
                  <a:srgbClr val="0066FF"/>
                </a:solidFill>
                <a:latin typeface="宋体" panose="02010600030101010101" pitchFamily="2" charset="-122"/>
                <a:ea typeface="宋体" panose="02010600030101010101" pitchFamily="2" charset="-122"/>
              </a:rPr>
              <a:t>迭代器</a:t>
            </a:r>
            <a:r>
              <a:rPr lang="zh-CN" altLang="en-US" sz="2400" b="1" dirty="0">
                <a:latin typeface="宋体" panose="02010600030101010101" pitchFamily="2" charset="-122"/>
                <a:ea typeface="宋体" panose="02010600030101010101" pitchFamily="2" charset="-122"/>
              </a:rPr>
              <a:t>对</a:t>
            </a:r>
            <a:r>
              <a:rPr lang="zh-CN" altLang="en-US" sz="2400" b="1" dirty="0">
                <a:solidFill>
                  <a:srgbClr val="0066FF"/>
                </a:solidFill>
                <a:latin typeface="宋体" panose="02010600030101010101" pitchFamily="2" charset="-122"/>
                <a:ea typeface="宋体" panose="02010600030101010101" pitchFamily="2" charset="-122"/>
              </a:rPr>
              <a:t>容器</a:t>
            </a:r>
            <a:r>
              <a:rPr lang="zh-CN" altLang="en-US" sz="2400" b="1" dirty="0">
                <a:latin typeface="宋体" panose="02010600030101010101" pitchFamily="2" charset="-122"/>
                <a:ea typeface="宋体" panose="02010600030101010101" pitchFamily="2" charset="-122"/>
              </a:rPr>
              <a:t>中的元素进行访问和操作。因此算法通常需要两个参数：起始元素的迭代器，终止元素后一个位置的迭代器。</a:t>
            </a:r>
            <a:endParaRPr lang="en-US" altLang="zh-CN" sz="24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向算法传递可调用对象的三种方式：</a:t>
            </a:r>
            <a:r>
              <a:rPr lang="zh-CN" altLang="en-US" sz="2400" b="1" dirty="0">
                <a:solidFill>
                  <a:srgbClr val="FF0000"/>
                </a:solidFill>
                <a:latin typeface="宋体" panose="02010600030101010101" pitchFamily="2" charset="-122"/>
                <a:ea typeface="宋体" panose="02010600030101010101" pitchFamily="2" charset="-122"/>
              </a:rPr>
              <a:t>函数</a:t>
            </a:r>
            <a:r>
              <a:rPr lang="zh-CN" altLang="en-US" sz="2400" b="1" dirty="0">
                <a:latin typeface="宋体" panose="02010600030101010101" pitchFamily="2" charset="-122"/>
                <a:ea typeface="宋体" panose="02010600030101010101" pitchFamily="2" charset="-122"/>
              </a:rPr>
              <a:t>（函数名或函数指针）、</a:t>
            </a:r>
            <a:r>
              <a:rPr lang="zh-CN" altLang="en-US" sz="2400" b="1" dirty="0">
                <a:solidFill>
                  <a:srgbClr val="FF0000"/>
                </a:solidFill>
                <a:latin typeface="宋体" panose="02010600030101010101" pitchFamily="2" charset="-122"/>
                <a:ea typeface="宋体" panose="02010600030101010101" pitchFamily="2" charset="-122"/>
              </a:rPr>
              <a:t>函数对象</a:t>
            </a:r>
            <a:r>
              <a:rPr lang="zh-CN" altLang="en-US" sz="2400" b="1" dirty="0">
                <a:latin typeface="宋体" panose="02010600030101010101" pitchFamily="2" charset="-122"/>
                <a:ea typeface="宋体" panose="02010600030101010101" pitchFamily="2" charset="-122"/>
              </a:rPr>
              <a:t>、</a:t>
            </a:r>
            <a:r>
              <a:rPr lang="en-US" altLang="zh-CN" sz="2400" b="1" dirty="0">
                <a:solidFill>
                  <a:srgbClr val="FF0000"/>
                </a:solidFill>
                <a:latin typeface="宋体" panose="02010600030101010101" pitchFamily="2" charset="-122"/>
                <a:ea typeface="宋体" panose="02010600030101010101" pitchFamily="2" charset="-122"/>
              </a:rPr>
              <a:t>lambda </a:t>
            </a:r>
            <a:r>
              <a:rPr lang="zh-CN" altLang="en-US" sz="2400" b="1" dirty="0">
                <a:solidFill>
                  <a:srgbClr val="FF0000"/>
                </a:solidFill>
                <a:latin typeface="宋体" panose="02010600030101010101" pitchFamily="2" charset="-122"/>
                <a:ea typeface="宋体" panose="02010600030101010101" pitchFamily="2" charset="-122"/>
              </a:rPr>
              <a:t>表达式</a:t>
            </a:r>
            <a:r>
              <a:rPr lang="zh-CN" altLang="en-US" sz="2400" dirty="0">
                <a:solidFill>
                  <a:schemeClr val="bg1"/>
                </a:solidFill>
              </a:rPr>
              <a:t>向算法传递可调用对象的三种方式</a:t>
            </a:r>
            <a:endParaRPr lang="zh-CN" altLang="en-US" sz="2400" dirty="0">
              <a:solidFill>
                <a:schemeClr val="bg1"/>
              </a:solidFill>
            </a:endParaRPr>
          </a:p>
          <a:p>
            <a:pPr marL="285750" indent="-285750">
              <a:buFont typeface="Arial" panose="020B0604020202020204" pitchFamily="34" charset="0"/>
              <a:buChar char="•"/>
            </a:pPr>
            <a:r>
              <a:rPr lang="zh-CN" altLang="en-US" sz="2400" b="1" dirty="0">
                <a:solidFill>
                  <a:srgbClr val="0066FF"/>
                </a:solidFill>
                <a:latin typeface="宋体" panose="02010600030101010101" pitchFamily="2" charset="-122"/>
                <a:ea typeface="宋体" panose="02010600030101010101" pitchFamily="2" charset="-122"/>
              </a:rPr>
              <a:t>算法返回值</a:t>
            </a:r>
            <a:r>
              <a:rPr lang="zh-CN" altLang="en-US" sz="2400" b="1" dirty="0">
                <a:latin typeface="宋体" panose="02010600030101010101" pitchFamily="2" charset="-122"/>
                <a:ea typeface="宋体" panose="02010600030101010101" pitchFamily="2" charset="-122"/>
              </a:rPr>
              <a:t>通常是一个</a:t>
            </a:r>
            <a:r>
              <a:rPr lang="zh-CN" altLang="en-US" sz="2400" b="1" dirty="0">
                <a:solidFill>
                  <a:srgbClr val="0066FF"/>
                </a:solidFill>
                <a:latin typeface="宋体" panose="02010600030101010101" pitchFamily="2" charset="-122"/>
                <a:ea typeface="宋体" panose="02010600030101010101" pitchFamily="2" charset="-122"/>
              </a:rPr>
              <a:t>迭代器</a:t>
            </a:r>
            <a:r>
              <a:rPr lang="zh-CN" altLang="en-US" sz="2400" b="1" dirty="0">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33694" y="302725"/>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只读型算法</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14" name="图片 13"/>
          <p:cNvPicPr>
            <a:picLocks noChangeAspect="1"/>
          </p:cNvPicPr>
          <p:nvPr/>
        </p:nvPicPr>
        <p:blipFill>
          <a:blip r:embed="rId1"/>
          <a:stretch>
            <a:fillRect/>
          </a:stretch>
        </p:blipFill>
        <p:spPr>
          <a:xfrm>
            <a:off x="2980448" y="2255698"/>
            <a:ext cx="330217" cy="203210"/>
          </a:xfrm>
          <a:prstGeom prst="rect">
            <a:avLst/>
          </a:prstGeom>
        </p:spPr>
      </p:pic>
      <p:pic>
        <p:nvPicPr>
          <p:cNvPr id="16" name="图片 15"/>
          <p:cNvPicPr>
            <a:picLocks noChangeAspect="1"/>
          </p:cNvPicPr>
          <p:nvPr/>
        </p:nvPicPr>
        <p:blipFill>
          <a:blip r:embed="rId1"/>
          <a:stretch>
            <a:fillRect/>
          </a:stretch>
        </p:blipFill>
        <p:spPr>
          <a:xfrm>
            <a:off x="3040081" y="2261204"/>
            <a:ext cx="330217" cy="203210"/>
          </a:xfrm>
          <a:prstGeom prst="rect">
            <a:avLst/>
          </a:prstGeom>
        </p:spPr>
      </p:pic>
      <p:sp>
        <p:nvSpPr>
          <p:cNvPr id="7" name="矩形 6"/>
          <p:cNvSpPr/>
          <p:nvPr/>
        </p:nvSpPr>
        <p:spPr>
          <a:xfrm>
            <a:off x="1565505" y="946371"/>
            <a:ext cx="8622103" cy="400110"/>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zh-CN" altLang="en-US" sz="2000" b="1" dirty="0"/>
              <a:t>只是读取迭代器范围内的元素，不会改变元素的内容</a:t>
            </a:r>
            <a:r>
              <a:rPr lang="en-US" altLang="zh-CN" sz="2000" b="1" dirty="0"/>
              <a:t>, </a:t>
            </a:r>
            <a:r>
              <a:rPr lang="zh-CN" altLang="en-US" sz="2000" b="1" dirty="0"/>
              <a:t>如 </a:t>
            </a:r>
            <a:r>
              <a:rPr lang="en-US" altLang="zh-CN" sz="2000" b="1" dirty="0"/>
              <a:t>find</a:t>
            </a:r>
            <a:r>
              <a:rPr lang="zh-CN" altLang="en-US" sz="2000" b="1" dirty="0"/>
              <a:t> 函数：</a:t>
            </a:r>
            <a:endParaRPr lang="zh-CN" altLang="en-US" sz="2000" b="1" dirty="0"/>
          </a:p>
        </p:txBody>
      </p:sp>
      <p:sp>
        <p:nvSpPr>
          <p:cNvPr id="8" name="矩形 7"/>
          <p:cNvSpPr/>
          <p:nvPr/>
        </p:nvSpPr>
        <p:spPr>
          <a:xfrm>
            <a:off x="1965510" y="1561924"/>
            <a:ext cx="7588407" cy="923330"/>
          </a:xfrm>
          <a:prstGeom prst="rect">
            <a:avLst/>
          </a:prstGeom>
        </p:spPr>
        <p:txBody>
          <a:bodyPr wrap="square">
            <a:spAutoFit/>
          </a:bodyPr>
          <a:lstStyle/>
          <a:p>
            <a:r>
              <a:rPr lang="en-US" altLang="zh-CN" dirty="0">
                <a:solidFill>
                  <a:srgbClr val="008080"/>
                </a:solidFill>
                <a:latin typeface="Consolas" panose="020B0609020204030204" pitchFamily="49" charset="0"/>
              </a:rPr>
              <a:t>vector</a:t>
            </a:r>
            <a:r>
              <a:rPr lang="en-US" altLang="zh-CN" dirty="0">
                <a:solidFill>
                  <a:srgbClr val="000000"/>
                </a:solidFill>
                <a:latin typeface="Consolas" panose="020B0609020204030204" pitchFamily="49" charset="0"/>
              </a:rPr>
              <a:t>&lt;</a:t>
            </a:r>
            <a:r>
              <a:rPr lang="en-US" altLang="zh-CN" dirty="0">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&gt; v = { 3, 7, 3, 11, 3, 3, 2 };</a:t>
            </a:r>
            <a:br>
              <a:rPr lang="en-US" altLang="zh-CN" dirty="0">
                <a:solidFill>
                  <a:srgbClr val="000000"/>
                </a:solidFill>
                <a:latin typeface="Consolas" panose="020B0609020204030204" pitchFamily="49" charset="0"/>
              </a:rPr>
            </a:br>
            <a:r>
              <a:rPr lang="en-US" altLang="zh-CN" dirty="0">
                <a:solidFill>
                  <a:srgbClr val="0000FF"/>
                </a:solidFill>
                <a:latin typeface="Consolas" panose="020B0609020204030204" pitchFamily="49" charset="0"/>
              </a:rPr>
              <a:t>auto </a:t>
            </a:r>
            <a:r>
              <a:rPr lang="en-US" altLang="zh-CN" dirty="0">
                <a:solidFill>
                  <a:srgbClr val="000000"/>
                </a:solidFill>
                <a:latin typeface="Consolas" panose="020B0609020204030204" pitchFamily="49" charset="0"/>
              </a:rPr>
              <a:t>it = </a:t>
            </a:r>
            <a:r>
              <a:rPr lang="en-US" altLang="zh-CN" dirty="0">
                <a:solidFill>
                  <a:srgbClr val="FF0000"/>
                </a:solidFill>
                <a:latin typeface="Consolas" panose="020B0609020204030204" pitchFamily="49" charset="0"/>
              </a:rPr>
              <a:t>find</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v.begin</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v.end</a:t>
            </a:r>
            <a:r>
              <a:rPr lang="en-US" altLang="zh-CN" dirty="0">
                <a:solidFill>
                  <a:srgbClr val="000000"/>
                </a:solidFill>
                <a:latin typeface="Consolas" panose="020B0609020204030204" pitchFamily="49" charset="0"/>
              </a:rPr>
              <a:t>(), 10);</a:t>
            </a:r>
            <a:br>
              <a:rPr lang="en-US" altLang="zh-CN" dirty="0">
                <a:solidFill>
                  <a:srgbClr val="000000"/>
                </a:solidFill>
                <a:latin typeface="Consolas" panose="020B0609020204030204" pitchFamily="49" charset="0"/>
              </a:rPr>
            </a:br>
            <a:r>
              <a:rPr lang="en-US" altLang="zh-CN" dirty="0" err="1">
                <a:solidFill>
                  <a:srgbClr val="000000"/>
                </a:solidFill>
                <a:latin typeface="Consolas" panose="020B0609020204030204" pitchFamily="49" charset="0"/>
              </a:rPr>
              <a:t>cout</a:t>
            </a:r>
            <a:r>
              <a:rPr lang="en-US" altLang="zh-CN" dirty="0">
                <a:solidFill>
                  <a:srgbClr val="000000"/>
                </a:solidFill>
                <a:latin typeface="Consolas" panose="020B0609020204030204" pitchFamily="49" charset="0"/>
              </a:rPr>
              <a:t> &lt;&lt; </a:t>
            </a:r>
            <a:r>
              <a:rPr lang="en-US" altLang="zh-CN" dirty="0">
                <a:solidFill>
                  <a:srgbClr val="BF8040"/>
                </a:solidFill>
                <a:latin typeface="Consolas" panose="020B0609020204030204" pitchFamily="49" charset="0"/>
              </a:rPr>
              <a:t>"10 is " </a:t>
            </a:r>
            <a:r>
              <a:rPr lang="en-US" altLang="zh-CN" dirty="0">
                <a:solidFill>
                  <a:srgbClr val="000000"/>
                </a:solidFill>
                <a:latin typeface="Consolas" panose="020B0609020204030204" pitchFamily="49" charset="0"/>
              </a:rPr>
              <a:t>&lt;&lt; (it != </a:t>
            </a:r>
            <a:r>
              <a:rPr lang="en-US" altLang="zh-CN" dirty="0" err="1">
                <a:solidFill>
                  <a:srgbClr val="000000"/>
                </a:solidFill>
                <a:latin typeface="Consolas" panose="020B0609020204030204" pitchFamily="49" charset="0"/>
              </a:rPr>
              <a:t>v.end</a:t>
            </a:r>
            <a:r>
              <a:rPr lang="en-US" altLang="zh-CN" dirty="0">
                <a:solidFill>
                  <a:srgbClr val="000000"/>
                </a:solidFill>
                <a:latin typeface="Consolas" panose="020B0609020204030204" pitchFamily="49" charset="0"/>
              </a:rPr>
              <a:t>() ? </a:t>
            </a:r>
            <a:r>
              <a:rPr lang="en-US" altLang="zh-CN" dirty="0">
                <a:solidFill>
                  <a:srgbClr val="BF8040"/>
                </a:solidFill>
                <a:latin typeface="Consolas" panose="020B0609020204030204" pitchFamily="49" charset="0"/>
              </a:rPr>
              <a:t>"found" </a:t>
            </a:r>
            <a:r>
              <a:rPr lang="en-US" altLang="zh-CN" dirty="0">
                <a:solidFill>
                  <a:srgbClr val="000000"/>
                </a:solidFill>
                <a:latin typeface="Consolas" panose="020B0609020204030204" pitchFamily="49" charset="0"/>
              </a:rPr>
              <a:t>: </a:t>
            </a:r>
            <a:r>
              <a:rPr lang="en-US" altLang="zh-CN" dirty="0">
                <a:solidFill>
                  <a:srgbClr val="BF8040"/>
                </a:solidFill>
                <a:latin typeface="Consolas" panose="020B0609020204030204" pitchFamily="49" charset="0"/>
              </a:rPr>
              <a:t>"not found"</a:t>
            </a:r>
            <a:r>
              <a:rPr lang="en-US" altLang="zh-CN" dirty="0">
                <a:solidFill>
                  <a:srgbClr val="000000"/>
                </a:solidFill>
                <a:latin typeface="Consolas" panose="020B0609020204030204" pitchFamily="49" charset="0"/>
              </a:rPr>
              <a:t>);</a:t>
            </a:r>
            <a:r>
              <a:rPr lang="en-US" altLang="zh-CN" dirty="0">
                <a:latin typeface="Consolas" panose="020B0609020204030204" pitchFamily="49" charset="0"/>
              </a:rPr>
              <a:t> </a:t>
            </a:r>
            <a:endParaRPr lang="zh-CN" altLang="en-US" dirty="0">
              <a:latin typeface="Consolas" panose="020B0609020204030204" pitchFamily="49" charset="0"/>
            </a:endParaRPr>
          </a:p>
        </p:txBody>
      </p:sp>
      <p:sp>
        <p:nvSpPr>
          <p:cNvPr id="9" name="矩形 8"/>
          <p:cNvSpPr/>
          <p:nvPr/>
        </p:nvSpPr>
        <p:spPr>
          <a:xfrm>
            <a:off x="1965510" y="4124740"/>
            <a:ext cx="8396454" cy="1599565"/>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zh-CN" altLang="en-US" sz="2000" dirty="0">
                <a:solidFill>
                  <a:srgbClr val="000000"/>
                </a:solidFill>
                <a:latin typeface="MicrosoftYaHei"/>
              </a:rPr>
              <a:t>遍历给定范围内</a:t>
            </a:r>
            <a:r>
              <a:rPr lang="en-US" altLang="zh-CN" sz="2000" dirty="0">
                <a:solidFill>
                  <a:srgbClr val="FF0000"/>
                </a:solidFill>
                <a:latin typeface="Arial" panose="020B0604020202020204" pitchFamily="34" charset="0"/>
                <a:cs typeface="Arial" panose="020B0604020202020204" pitchFamily="34" charset="0"/>
              </a:rPr>
              <a:t>[</a:t>
            </a:r>
            <a:r>
              <a:rPr lang="en-US" altLang="zh-CN" sz="2000" dirty="0" err="1">
                <a:solidFill>
                  <a:srgbClr val="FF0000"/>
                </a:solidFill>
                <a:latin typeface="Arial" panose="020B0604020202020204" pitchFamily="34" charset="0"/>
                <a:cs typeface="Arial" panose="020B0604020202020204" pitchFamily="34" charset="0"/>
              </a:rPr>
              <a:t>first,last</a:t>
            </a:r>
            <a:r>
              <a:rPr lang="en-US" altLang="zh-CN" sz="2000" dirty="0">
                <a:solidFill>
                  <a:srgbClr val="FF0000"/>
                </a:solidFill>
                <a:latin typeface="Arial" panose="020B0604020202020204" pitchFamily="34" charset="0"/>
                <a:cs typeface="Arial" panose="020B0604020202020204" pitchFamily="34" charset="0"/>
              </a:rPr>
              <a:t>)</a:t>
            </a:r>
            <a:r>
              <a:rPr lang="zh-CN" altLang="en-US" sz="2000" dirty="0">
                <a:solidFill>
                  <a:srgbClr val="000000"/>
                </a:solidFill>
                <a:latin typeface="MicrosoftYaHei"/>
              </a:rPr>
              <a:t>的元素是否存在一个特定值。</a:t>
            </a:r>
            <a:r>
              <a:rPr lang="en-US" altLang="zh-CN" dirty="0">
                <a:solidFill>
                  <a:srgbClr val="00B050"/>
                </a:solidFill>
                <a:latin typeface="Arial" panose="020B0604020202020204" pitchFamily="34" charset="0"/>
                <a:cs typeface="Arial" panose="020B0604020202020204" pitchFamily="34" charset="0"/>
              </a:rPr>
              <a:t>(last</a:t>
            </a:r>
            <a:r>
              <a:rPr lang="zh-CN" altLang="en-US" dirty="0">
                <a:solidFill>
                  <a:srgbClr val="00B050"/>
                </a:solidFill>
                <a:latin typeface="Arial" panose="020B0604020202020204" pitchFamily="34" charset="0"/>
                <a:cs typeface="Arial" panose="020B0604020202020204" pitchFamily="34" charset="0"/>
              </a:rPr>
              <a:t>指示的元素并不在查找范围</a:t>
            </a:r>
            <a:r>
              <a:rPr lang="en-US" altLang="zh-CN" dirty="0">
                <a:solidFill>
                  <a:srgbClr val="00B050"/>
                </a:solidFill>
                <a:latin typeface="Arial" panose="020B0604020202020204" pitchFamily="34" charset="0"/>
                <a:cs typeface="Arial" panose="020B0604020202020204" pitchFamily="34" charset="0"/>
              </a:rPr>
              <a:t>)</a:t>
            </a:r>
            <a:endParaRPr lang="en-US" altLang="zh-CN" sz="2000" dirty="0">
              <a:solidFill>
                <a:srgbClr val="00B050"/>
              </a:solidFill>
              <a:latin typeface="Arial" panose="020B0604020202020204" pitchFamily="34" charset="0"/>
              <a:cs typeface="Arial" panose="020B0604020202020204" pitchFamily="34" charset="0"/>
            </a:endParaRPr>
          </a:p>
          <a:p>
            <a:pPr marL="285750" indent="-285750">
              <a:buClr>
                <a:srgbClr val="262686"/>
              </a:buClr>
              <a:buSzPct val="80000"/>
              <a:buFont typeface="Wingdings" panose="05000000000000000000" pitchFamily="2" charset="2"/>
              <a:buChar char="l"/>
            </a:pPr>
            <a:r>
              <a:rPr lang="zh-CN" altLang="en-US" sz="2000" dirty="0"/>
              <a:t>前两个参数为迭代器范围，第三个参数为待搜索值</a:t>
            </a:r>
            <a:endParaRPr lang="en-US" altLang="zh-CN" sz="2000" dirty="0"/>
          </a:p>
          <a:p>
            <a:pPr marL="285750" indent="-285750">
              <a:buClr>
                <a:srgbClr val="262686"/>
              </a:buClr>
              <a:buSzPct val="80000"/>
              <a:buFont typeface="Wingdings" panose="05000000000000000000" pitchFamily="2" charset="2"/>
              <a:buChar char="l"/>
            </a:pPr>
            <a:r>
              <a:rPr lang="zh-CN" altLang="en-US" sz="2000" dirty="0"/>
              <a:t>它从开始位置</a:t>
            </a:r>
            <a:r>
              <a:rPr lang="zh-CN" altLang="en-US" sz="2000" dirty="0">
                <a:solidFill>
                  <a:srgbClr val="FF0000"/>
                </a:solidFill>
              </a:rPr>
              <a:t>依次</a:t>
            </a:r>
            <a:r>
              <a:rPr lang="zh-CN" altLang="en-US" sz="2000" dirty="0"/>
              <a:t>将每个元素</a:t>
            </a:r>
            <a:r>
              <a:rPr lang="zh-CN" altLang="en-US" sz="2000" dirty="0">
                <a:solidFill>
                  <a:srgbClr val="FF0000"/>
                </a:solidFill>
              </a:rPr>
              <a:t>与给定值比较</a:t>
            </a:r>
            <a:r>
              <a:rPr lang="zh-CN" altLang="en-US" sz="2000" i="1" dirty="0"/>
              <a:t>，</a:t>
            </a:r>
            <a:r>
              <a:rPr lang="zh-CN" altLang="en-US" sz="2000" dirty="0"/>
              <a:t>如找到，返回第一个与给定值相等的元素的迭代器，否则返回第二个参数</a:t>
            </a:r>
            <a:r>
              <a:rPr lang="en-US" altLang="zh-CN" sz="2000" dirty="0"/>
              <a:t>last</a:t>
            </a:r>
            <a:r>
              <a:rPr lang="zh-CN" altLang="en-US" sz="2000" dirty="0"/>
              <a:t>表示搜索失败 </a:t>
            </a:r>
            <a:endParaRPr lang="zh-CN" altLang="en-US" sz="2000" dirty="0"/>
          </a:p>
        </p:txBody>
      </p:sp>
      <p:sp>
        <p:nvSpPr>
          <p:cNvPr id="13" name="文本框 12"/>
          <p:cNvSpPr txBox="1"/>
          <p:nvPr/>
        </p:nvSpPr>
        <p:spPr>
          <a:xfrm>
            <a:off x="1965510" y="2854180"/>
            <a:ext cx="6097656" cy="400110"/>
          </a:xfrm>
          <a:prstGeom prst="rect">
            <a:avLst/>
          </a:prstGeom>
          <a:noFill/>
        </p:spPr>
        <p:txBody>
          <a:bodyPr wrap="square">
            <a:spAutoFit/>
          </a:bodyPr>
          <a:lstStyle/>
          <a:p>
            <a:r>
              <a:rPr lang="en-US" altLang="zh-CN" sz="2000" b="1" dirty="0">
                <a:solidFill>
                  <a:srgbClr val="000000"/>
                </a:solidFill>
                <a:latin typeface="Consolas" panose="020B0609020204030204" pitchFamily="49" charset="0"/>
              </a:rPr>
              <a:t>find</a:t>
            </a:r>
            <a:r>
              <a:rPr lang="zh-CN" altLang="en-US" sz="2000" b="1" dirty="0">
                <a:solidFill>
                  <a:srgbClr val="000000"/>
                </a:solidFill>
                <a:latin typeface="Consolas" panose="020B0609020204030204" pitchFamily="49" charset="0"/>
              </a:rPr>
              <a:t>算法</a:t>
            </a:r>
            <a:endParaRPr lang="zh-CN" altLang="en-US" sz="2000" b="1" dirty="0"/>
          </a:p>
        </p:txBody>
      </p:sp>
      <p:pic>
        <p:nvPicPr>
          <p:cNvPr id="5" name="图片 4"/>
          <p:cNvPicPr>
            <a:picLocks noChangeAspect="1"/>
          </p:cNvPicPr>
          <p:nvPr/>
        </p:nvPicPr>
        <p:blipFill>
          <a:blip r:embed="rId2"/>
          <a:stretch>
            <a:fillRect/>
          </a:stretch>
        </p:blipFill>
        <p:spPr>
          <a:xfrm>
            <a:off x="2980448" y="3352936"/>
            <a:ext cx="4717143" cy="62191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33694" y="302725"/>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只读型算法</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sp>
        <p:nvSpPr>
          <p:cNvPr id="10" name="矩形 9"/>
          <p:cNvSpPr/>
          <p:nvPr/>
        </p:nvSpPr>
        <p:spPr>
          <a:xfrm>
            <a:off x="1504235" y="4312178"/>
            <a:ext cx="8944988" cy="1015663"/>
          </a:xfrm>
          <a:prstGeom prst="rect">
            <a:avLst/>
          </a:prstGeom>
        </p:spPr>
        <p:txBody>
          <a:bodyPr wrap="square">
            <a:spAutoFit/>
          </a:bodyPr>
          <a:lstStyle/>
          <a:p>
            <a:r>
              <a:rPr lang="en-US" altLang="zh-CN" sz="2000" dirty="0">
                <a:solidFill>
                  <a:srgbClr val="008080"/>
                </a:solidFill>
                <a:latin typeface="Consolas" panose="020B0609020204030204" pitchFamily="49" charset="0"/>
              </a:rPr>
              <a:t>vector</a:t>
            </a:r>
            <a:r>
              <a:rPr lang="en-US" altLang="zh-CN" sz="2000" dirty="0">
                <a:solidFill>
                  <a:srgbClr val="000000"/>
                </a:solidFill>
                <a:latin typeface="Consolas" panose="020B0609020204030204" pitchFamily="49" charset="0"/>
              </a:rPr>
              <a:t>&lt;</a:t>
            </a:r>
            <a:r>
              <a:rPr lang="en-US" altLang="zh-CN" sz="2000" dirty="0">
                <a:solidFill>
                  <a:srgbClr val="008080"/>
                </a:solidFill>
                <a:latin typeface="Consolas" panose="020B0609020204030204" pitchFamily="49" charset="0"/>
              </a:rPr>
              <a:t>string</a:t>
            </a:r>
            <a:r>
              <a:rPr lang="en-US" altLang="zh-CN" sz="2000" dirty="0">
                <a:solidFill>
                  <a:srgbClr val="000000"/>
                </a:solidFill>
                <a:latin typeface="Consolas" panose="020B0609020204030204" pitchFamily="49" charset="0"/>
              </a:rPr>
              <a:t>&gt; vs = { </a:t>
            </a:r>
            <a:r>
              <a:rPr lang="en-US" altLang="zh-CN" sz="2000" dirty="0">
                <a:solidFill>
                  <a:srgbClr val="BF8040"/>
                </a:solidFill>
                <a:latin typeface="Consolas" panose="020B0609020204030204" pitchFamily="49" charset="0"/>
              </a:rPr>
              <a:t>"Hello "</a:t>
            </a:r>
            <a:r>
              <a:rPr lang="en-US" altLang="zh-CN" sz="2000" dirty="0">
                <a:solidFill>
                  <a:srgbClr val="000000"/>
                </a:solidFill>
                <a:latin typeface="Consolas" panose="020B0609020204030204" pitchFamily="49" charset="0"/>
              </a:rPr>
              <a:t>,</a:t>
            </a:r>
            <a:r>
              <a:rPr lang="en-US" altLang="zh-CN" sz="2000" dirty="0">
                <a:solidFill>
                  <a:srgbClr val="BF8040"/>
                </a:solidFill>
                <a:latin typeface="Consolas" panose="020B0609020204030204" pitchFamily="49" charset="0"/>
              </a:rPr>
              <a:t>"world" </a:t>
            </a:r>
            <a:r>
              <a:rPr lang="en-US" altLang="zh-CN" sz="2000" dirty="0">
                <a:solidFill>
                  <a:srgbClr val="000000"/>
                </a:solidFill>
                <a:latin typeface="Consolas" panose="020B0609020204030204" pitchFamily="49" charset="0"/>
              </a:rPr>
              <a:t>};</a:t>
            </a:r>
            <a:br>
              <a:rPr lang="en-US" altLang="zh-CN" sz="2000" dirty="0">
                <a:solidFill>
                  <a:srgbClr val="000000"/>
                </a:solidFill>
                <a:latin typeface="Consolas" panose="020B0609020204030204" pitchFamily="49" charset="0"/>
              </a:rPr>
            </a:br>
            <a:r>
              <a:rPr lang="en-US" altLang="zh-CN" sz="2000" dirty="0">
                <a:solidFill>
                  <a:srgbClr val="008080"/>
                </a:solidFill>
                <a:latin typeface="Consolas" panose="020B0609020204030204" pitchFamily="49" charset="0"/>
              </a:rPr>
              <a:t>string </a:t>
            </a:r>
            <a:r>
              <a:rPr lang="en-US" altLang="zh-CN" sz="2000" dirty="0">
                <a:solidFill>
                  <a:srgbClr val="000000"/>
                </a:solidFill>
                <a:latin typeface="Consolas" panose="020B0609020204030204" pitchFamily="49" charset="0"/>
              </a:rPr>
              <a:t>s1 = </a:t>
            </a:r>
            <a:r>
              <a:rPr lang="en-US" altLang="zh-CN" sz="2000" dirty="0">
                <a:solidFill>
                  <a:srgbClr val="FF0000"/>
                </a:solidFill>
                <a:latin typeface="Consolas" panose="020B0609020204030204" pitchFamily="49" charset="0"/>
              </a:rPr>
              <a:t>accumulate</a:t>
            </a:r>
            <a:r>
              <a:rPr lang="en-US" altLang="zh-CN" sz="2000" dirty="0">
                <a:solidFill>
                  <a:srgbClr val="000000"/>
                </a:solidFill>
                <a:latin typeface="Consolas" panose="020B0609020204030204" pitchFamily="49" charset="0"/>
              </a:rPr>
              <a:t>(</a:t>
            </a:r>
            <a:r>
              <a:rPr lang="en-US" altLang="zh-CN" sz="2000" dirty="0" err="1">
                <a:solidFill>
                  <a:srgbClr val="000000"/>
                </a:solidFill>
                <a:latin typeface="Consolas" panose="020B0609020204030204" pitchFamily="49" charset="0"/>
              </a:rPr>
              <a:t>vs.begin</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vs.end</a:t>
            </a:r>
            <a:r>
              <a:rPr lang="en-US" altLang="zh-CN" sz="2000" dirty="0">
                <a:solidFill>
                  <a:srgbClr val="000000"/>
                </a:solidFill>
                <a:latin typeface="Consolas" panose="020B0609020204030204" pitchFamily="49" charset="0"/>
              </a:rPr>
              <a:t>(), </a:t>
            </a:r>
            <a:r>
              <a:rPr lang="en-US" altLang="zh-CN" sz="2000" dirty="0">
                <a:solidFill>
                  <a:srgbClr val="008080"/>
                </a:solidFill>
                <a:latin typeface="Consolas" panose="020B0609020204030204" pitchFamily="49" charset="0"/>
              </a:rPr>
              <a:t>string</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ea typeface="仿宋" panose="02010609060101010101" pitchFamily="49" charset="-122"/>
              </a:rPr>
              <a:t>正确</a:t>
            </a:r>
            <a:br>
              <a:rPr lang="zh-CN" altLang="en-US" sz="2000" dirty="0">
                <a:solidFill>
                  <a:srgbClr val="008000"/>
                </a:solidFill>
                <a:latin typeface="Consolas" panose="020B0609020204030204" pitchFamily="49" charset="0"/>
                <a:ea typeface="仿宋" panose="02010609060101010101" pitchFamily="49" charset="-122"/>
              </a:rPr>
            </a:br>
            <a:r>
              <a:rPr lang="en-US" altLang="zh-CN" sz="2000" dirty="0">
                <a:solidFill>
                  <a:srgbClr val="008080"/>
                </a:solidFill>
                <a:latin typeface="Consolas" panose="020B0609020204030204" pitchFamily="49" charset="0"/>
              </a:rPr>
              <a:t>string </a:t>
            </a:r>
            <a:r>
              <a:rPr lang="en-US" altLang="zh-CN" sz="2000" dirty="0">
                <a:solidFill>
                  <a:srgbClr val="000000"/>
                </a:solidFill>
                <a:latin typeface="Consolas" panose="020B0609020204030204" pitchFamily="49" charset="0"/>
              </a:rPr>
              <a:t>s2 = </a:t>
            </a:r>
            <a:r>
              <a:rPr lang="en-US" altLang="zh-CN" sz="2000" dirty="0">
                <a:solidFill>
                  <a:srgbClr val="FF0000"/>
                </a:solidFill>
                <a:latin typeface="Consolas" panose="020B0609020204030204" pitchFamily="49" charset="0"/>
              </a:rPr>
              <a:t>accumulate</a:t>
            </a:r>
            <a:r>
              <a:rPr lang="en-US" altLang="zh-CN" sz="2000" dirty="0">
                <a:solidFill>
                  <a:srgbClr val="000000"/>
                </a:solidFill>
                <a:latin typeface="Consolas" panose="020B0609020204030204" pitchFamily="49" charset="0"/>
              </a:rPr>
              <a:t>(</a:t>
            </a:r>
            <a:r>
              <a:rPr lang="en-US" altLang="zh-CN" sz="2000" dirty="0" err="1">
                <a:solidFill>
                  <a:srgbClr val="000000"/>
                </a:solidFill>
                <a:latin typeface="Consolas" panose="020B0609020204030204" pitchFamily="49" charset="0"/>
              </a:rPr>
              <a:t>vs.begin</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vs.end</a:t>
            </a:r>
            <a:r>
              <a:rPr lang="en-US" altLang="zh-CN" sz="2000" dirty="0">
                <a:solidFill>
                  <a:srgbClr val="000000"/>
                </a:solidFill>
                <a:latin typeface="Consolas" panose="020B0609020204030204" pitchFamily="49" charset="0"/>
              </a:rPr>
              <a:t>(), </a:t>
            </a:r>
            <a:r>
              <a:rPr lang="en-US" altLang="zh-CN" sz="2000" dirty="0">
                <a:solidFill>
                  <a:srgbClr val="BF8040"/>
                </a:solidFill>
                <a:latin typeface="Consolas" panose="020B0609020204030204" pitchFamily="49" charset="0"/>
              </a:rPr>
              <a:t>""</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ea typeface="仿宋" panose="02010609060101010101" pitchFamily="49" charset="-122"/>
              </a:rPr>
              <a:t>错误</a:t>
            </a:r>
            <a:r>
              <a:rPr lang="zh-CN" altLang="en-US" sz="2000" dirty="0">
                <a:latin typeface="Consolas" panose="020B0609020204030204" pitchFamily="49" charset="0"/>
              </a:rPr>
              <a:t> </a:t>
            </a:r>
            <a:endParaRPr lang="zh-CN" altLang="en-US" sz="2000" dirty="0">
              <a:latin typeface="Consolas" panose="020B0609020204030204" pitchFamily="49" charset="0"/>
            </a:endParaRPr>
          </a:p>
        </p:txBody>
      </p:sp>
      <p:sp>
        <p:nvSpPr>
          <p:cNvPr id="12" name="文本框 11"/>
          <p:cNvSpPr txBox="1"/>
          <p:nvPr/>
        </p:nvSpPr>
        <p:spPr>
          <a:xfrm>
            <a:off x="1504235" y="866621"/>
            <a:ext cx="6097656" cy="400110"/>
          </a:xfrm>
          <a:prstGeom prst="rect">
            <a:avLst/>
          </a:prstGeom>
          <a:noFill/>
        </p:spPr>
        <p:txBody>
          <a:bodyPr wrap="square">
            <a:spAutoFit/>
          </a:bodyPr>
          <a:lstStyle/>
          <a:p>
            <a:r>
              <a:rPr lang="en-US" altLang="zh-CN" sz="2000" b="1" dirty="0">
                <a:solidFill>
                  <a:srgbClr val="000000"/>
                </a:solidFill>
                <a:latin typeface="Consolas" panose="020B0609020204030204" pitchFamily="49" charset="0"/>
              </a:rPr>
              <a:t>accumulate</a:t>
            </a:r>
            <a:r>
              <a:rPr lang="zh-CN" altLang="en-US" sz="2000" b="1" dirty="0">
                <a:solidFill>
                  <a:srgbClr val="000000"/>
                </a:solidFill>
                <a:latin typeface="Consolas" panose="020B0609020204030204" pitchFamily="49" charset="0"/>
              </a:rPr>
              <a:t>算法</a:t>
            </a:r>
            <a:endParaRPr lang="zh-CN" altLang="en-US" sz="2000" b="1" dirty="0"/>
          </a:p>
        </p:txBody>
      </p:sp>
      <p:sp>
        <p:nvSpPr>
          <p:cNvPr id="13" name="矩形 12"/>
          <p:cNvSpPr/>
          <p:nvPr/>
        </p:nvSpPr>
        <p:spPr>
          <a:xfrm>
            <a:off x="1575446" y="1437366"/>
            <a:ext cx="7786816" cy="400110"/>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zh-CN" altLang="en-US" sz="2000" dirty="0"/>
              <a:t>计算特定范围内元素的和</a:t>
            </a:r>
            <a:endParaRPr lang="zh-CN" altLang="en-US" sz="2000" dirty="0"/>
          </a:p>
        </p:txBody>
      </p:sp>
      <p:sp>
        <p:nvSpPr>
          <p:cNvPr id="15" name="矩形 14"/>
          <p:cNvSpPr/>
          <p:nvPr/>
        </p:nvSpPr>
        <p:spPr>
          <a:xfrm>
            <a:off x="1833863" y="3292661"/>
            <a:ext cx="6599208" cy="400110"/>
          </a:xfrm>
          <a:prstGeom prst="rect">
            <a:avLst/>
          </a:prstGeom>
        </p:spPr>
        <p:txBody>
          <a:bodyPr wrap="square">
            <a:spAutoFit/>
          </a:bodyPr>
          <a:lstStyle/>
          <a:p>
            <a:r>
              <a:rPr lang="en-US" altLang="zh-CN" sz="2000" dirty="0">
                <a:solidFill>
                  <a:srgbClr val="0000FF"/>
                </a:solidFill>
                <a:latin typeface="Consolas" panose="020B0609020204030204" pitchFamily="49" charset="0"/>
              </a:rPr>
              <a:t>int </a:t>
            </a:r>
            <a:r>
              <a:rPr lang="en-US" altLang="zh-CN" sz="2000" dirty="0">
                <a:solidFill>
                  <a:srgbClr val="000000"/>
                </a:solidFill>
                <a:latin typeface="Consolas" panose="020B0609020204030204" pitchFamily="49" charset="0"/>
              </a:rPr>
              <a:t>sum = </a:t>
            </a:r>
            <a:r>
              <a:rPr lang="en-US" altLang="zh-CN" sz="2000" dirty="0">
                <a:solidFill>
                  <a:srgbClr val="FF0000"/>
                </a:solidFill>
                <a:latin typeface="Consolas" panose="020B0609020204030204" pitchFamily="49" charset="0"/>
              </a:rPr>
              <a:t>accumulate</a:t>
            </a:r>
            <a:r>
              <a:rPr lang="en-US" altLang="zh-CN" sz="2000" dirty="0">
                <a:solidFill>
                  <a:srgbClr val="000000"/>
                </a:solidFill>
                <a:latin typeface="Consolas" panose="020B0609020204030204" pitchFamily="49" charset="0"/>
              </a:rPr>
              <a:t>(</a:t>
            </a:r>
            <a:r>
              <a:rPr lang="en-US" altLang="zh-CN" sz="2000" dirty="0" err="1">
                <a:solidFill>
                  <a:srgbClr val="000000"/>
                </a:solidFill>
                <a:latin typeface="Consolas" panose="020B0609020204030204" pitchFamily="49" charset="0"/>
              </a:rPr>
              <a:t>v.begin</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v.end</a:t>
            </a:r>
            <a:r>
              <a:rPr lang="en-US" altLang="zh-CN" sz="2000" dirty="0">
                <a:solidFill>
                  <a:srgbClr val="000000"/>
                </a:solidFill>
                <a:latin typeface="Consolas" panose="020B0609020204030204" pitchFamily="49" charset="0"/>
              </a:rPr>
              <a:t>(), 0);</a:t>
            </a:r>
            <a:r>
              <a:rPr lang="en-US" altLang="zh-CN" sz="2000" dirty="0">
                <a:latin typeface="Consolas" panose="020B0609020204030204" pitchFamily="49" charset="0"/>
              </a:rPr>
              <a:t> </a:t>
            </a:r>
            <a:endParaRPr lang="zh-CN" altLang="en-US" sz="2000" dirty="0">
              <a:latin typeface="Consolas" panose="020B0609020204030204" pitchFamily="49" charset="0"/>
            </a:endParaRPr>
          </a:p>
        </p:txBody>
      </p:sp>
      <p:sp>
        <p:nvSpPr>
          <p:cNvPr id="17" name="矩形 16"/>
          <p:cNvSpPr/>
          <p:nvPr/>
        </p:nvSpPr>
        <p:spPr>
          <a:xfrm>
            <a:off x="1575446" y="1789681"/>
            <a:ext cx="7538069" cy="1323439"/>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zh-CN" altLang="en-US" sz="2000" dirty="0">
                <a:solidFill>
                  <a:srgbClr val="000000"/>
                </a:solidFill>
              </a:rPr>
              <a:t>第三个参数表示和的初始值</a:t>
            </a:r>
            <a:endParaRPr lang="en-US" altLang="zh-CN" sz="2000" dirty="0">
              <a:solidFill>
                <a:srgbClr val="000000"/>
              </a:solidFill>
            </a:endParaRPr>
          </a:p>
          <a:p>
            <a:pPr marL="285750" indent="-285750">
              <a:buClr>
                <a:srgbClr val="262686"/>
              </a:buClr>
              <a:buSzPct val="80000"/>
              <a:buFont typeface="Wingdings" panose="05000000000000000000" pitchFamily="2" charset="2"/>
              <a:buChar char="l"/>
            </a:pPr>
            <a:r>
              <a:rPr lang="zh-CN" altLang="en-US" sz="2000" dirty="0">
                <a:solidFill>
                  <a:srgbClr val="000000"/>
                </a:solidFill>
              </a:rPr>
              <a:t>初始值决定了返回值的类型</a:t>
            </a:r>
            <a:endParaRPr lang="en-US" altLang="zh-CN" sz="2000" dirty="0">
              <a:solidFill>
                <a:srgbClr val="000000"/>
              </a:solidFill>
            </a:endParaRPr>
          </a:p>
          <a:p>
            <a:pPr marL="285750" indent="-285750">
              <a:buClr>
                <a:srgbClr val="262686"/>
              </a:buClr>
              <a:buSzPct val="80000"/>
              <a:buFont typeface="Wingdings" panose="05000000000000000000" pitchFamily="2" charset="2"/>
              <a:buChar char="l"/>
            </a:pPr>
            <a:r>
              <a:rPr lang="zh-CN" altLang="en-US" sz="2000" dirty="0">
                <a:solidFill>
                  <a:srgbClr val="000000"/>
                </a:solidFill>
              </a:rPr>
              <a:t>若元素的类型为 </a:t>
            </a:r>
            <a:r>
              <a:rPr lang="en-US" altLang="zh-CN" sz="2000" dirty="0">
                <a:solidFill>
                  <a:srgbClr val="000000"/>
                </a:solidFill>
              </a:rPr>
              <a:t>string</a:t>
            </a:r>
            <a:r>
              <a:rPr lang="zh-CN" altLang="en-US" sz="2000" dirty="0">
                <a:solidFill>
                  <a:srgbClr val="000000"/>
                </a:solidFill>
              </a:rPr>
              <a:t>，则把范围内所有的 </a:t>
            </a:r>
            <a:r>
              <a:rPr lang="en-US" altLang="zh-CN" sz="2000" dirty="0">
                <a:solidFill>
                  <a:srgbClr val="000000"/>
                </a:solidFill>
              </a:rPr>
              <a:t>string </a:t>
            </a:r>
            <a:r>
              <a:rPr lang="zh-CN" altLang="en-US" sz="2000" dirty="0">
                <a:solidFill>
                  <a:srgbClr val="000000"/>
                </a:solidFill>
              </a:rPr>
              <a:t>连接起来。其中第三个参数类型必须是 </a:t>
            </a:r>
            <a:r>
              <a:rPr lang="en-US" altLang="zh-CN" sz="2000" dirty="0">
                <a:solidFill>
                  <a:srgbClr val="000000"/>
                </a:solidFill>
              </a:rPr>
              <a:t>string </a:t>
            </a:r>
            <a:r>
              <a:rPr lang="zh-CN" altLang="en-US" sz="2000" dirty="0">
                <a:solidFill>
                  <a:srgbClr val="000000"/>
                </a:solidFill>
              </a:rPr>
              <a:t>类型，不能是字符串常量</a:t>
            </a:r>
            <a:endParaRPr lang="en-US" altLang="zh-CN" sz="2000" dirty="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33694" y="302725"/>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只读型算法</a:t>
            </a:r>
            <a:r>
              <a:rPr kumimoji="0" lang="en-US" altLang="zh-CN" sz="2800" dirty="0">
                <a:solidFill>
                  <a:srgbClr val="006600"/>
                </a:solidFill>
                <a:ea typeface="隶书" panose="02010509060101010101" pitchFamily="49" charset="-122"/>
              </a:rPr>
              <a:t>find</a:t>
            </a:r>
            <a:r>
              <a:rPr kumimoji="0" lang="zh-CN" altLang="en-US" sz="2800" dirty="0">
                <a:solidFill>
                  <a:srgbClr val="006600"/>
                </a:solidFill>
                <a:ea typeface="隶书" panose="02010509060101010101" pitchFamily="49" charset="-122"/>
              </a:rPr>
              <a:t>示例</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3" name="图片 2"/>
          <p:cNvPicPr>
            <a:picLocks noChangeAspect="1"/>
          </p:cNvPicPr>
          <p:nvPr/>
        </p:nvPicPr>
        <p:blipFill>
          <a:blip r:embed="rId1"/>
          <a:stretch>
            <a:fillRect/>
          </a:stretch>
        </p:blipFill>
        <p:spPr>
          <a:xfrm>
            <a:off x="1233694" y="841334"/>
            <a:ext cx="4680191" cy="4762745"/>
          </a:xfrm>
          <a:prstGeom prst="rect">
            <a:avLst/>
          </a:prstGeom>
        </p:spPr>
      </p:pic>
      <p:pic>
        <p:nvPicPr>
          <p:cNvPr id="6" name="图片 5"/>
          <p:cNvPicPr>
            <a:picLocks noChangeAspect="1"/>
          </p:cNvPicPr>
          <p:nvPr/>
        </p:nvPicPr>
        <p:blipFill>
          <a:blip r:embed="rId2"/>
          <a:stretch>
            <a:fillRect/>
          </a:stretch>
        </p:blipFill>
        <p:spPr>
          <a:xfrm>
            <a:off x="6248407" y="841334"/>
            <a:ext cx="4375375" cy="3283119"/>
          </a:xfrm>
          <a:prstGeom prst="rect">
            <a:avLst/>
          </a:prstGeom>
        </p:spPr>
      </p:pic>
      <p:pic>
        <p:nvPicPr>
          <p:cNvPr id="8" name="图片 7"/>
          <p:cNvPicPr>
            <a:picLocks noChangeAspect="1"/>
          </p:cNvPicPr>
          <p:nvPr/>
        </p:nvPicPr>
        <p:blipFill>
          <a:blip r:embed="rId3"/>
          <a:stretch>
            <a:fillRect/>
          </a:stretch>
        </p:blipFill>
        <p:spPr>
          <a:xfrm>
            <a:off x="6988215" y="3945835"/>
            <a:ext cx="1036372" cy="1807331"/>
          </a:xfrm>
          <a:prstGeom prst="rect">
            <a:avLst/>
          </a:prstGeom>
        </p:spPr>
      </p:pic>
      <p:sp>
        <p:nvSpPr>
          <p:cNvPr id="9" name="文本框 8"/>
          <p:cNvSpPr txBox="1"/>
          <p:nvPr/>
        </p:nvSpPr>
        <p:spPr>
          <a:xfrm>
            <a:off x="10277061" y="1948070"/>
            <a:ext cx="1669774" cy="338554"/>
          </a:xfrm>
          <a:prstGeom prst="rect">
            <a:avLst/>
          </a:prstGeom>
          <a:noFill/>
        </p:spPr>
        <p:txBody>
          <a:bodyPr wrap="square" rtlCol="0">
            <a:spAutoFit/>
          </a:bodyPr>
          <a:lstStyle/>
          <a:p>
            <a:r>
              <a:rPr lang="en-US" altLang="zh-CN" sz="1600" dirty="0">
                <a:solidFill>
                  <a:srgbClr val="00B050"/>
                </a:solidFill>
              </a:rPr>
              <a:t>//</a:t>
            </a:r>
            <a:r>
              <a:rPr lang="zh-CN" altLang="en-US" sz="1600" dirty="0">
                <a:solidFill>
                  <a:srgbClr val="00B050"/>
                </a:solidFill>
              </a:rPr>
              <a:t>查找区间</a:t>
            </a:r>
            <a:r>
              <a:rPr lang="en-US" altLang="zh-CN" sz="1600" dirty="0">
                <a:solidFill>
                  <a:srgbClr val="00B050"/>
                </a:solidFill>
              </a:rPr>
              <a:t>[2,3)</a:t>
            </a:r>
            <a:endParaRPr lang="zh-CN" altLang="en-US" sz="1600" dirty="0">
              <a:solidFill>
                <a:srgbClr val="00B050"/>
              </a:solidFill>
            </a:endParaRPr>
          </a:p>
        </p:txBody>
      </p:sp>
      <p:sp>
        <p:nvSpPr>
          <p:cNvPr id="16" name="文本框 15"/>
          <p:cNvSpPr txBox="1"/>
          <p:nvPr/>
        </p:nvSpPr>
        <p:spPr>
          <a:xfrm>
            <a:off x="10187609" y="3036261"/>
            <a:ext cx="1759226" cy="338554"/>
          </a:xfrm>
          <a:prstGeom prst="rect">
            <a:avLst/>
          </a:prstGeom>
          <a:noFill/>
        </p:spPr>
        <p:txBody>
          <a:bodyPr wrap="square" rtlCol="0">
            <a:spAutoFit/>
          </a:bodyPr>
          <a:lstStyle/>
          <a:p>
            <a:r>
              <a:rPr lang="en-US" altLang="zh-CN" sz="1600" dirty="0">
                <a:solidFill>
                  <a:srgbClr val="00B050"/>
                </a:solidFill>
              </a:rPr>
              <a:t>//</a:t>
            </a:r>
            <a:r>
              <a:rPr lang="zh-CN" altLang="en-US" sz="1600" dirty="0">
                <a:solidFill>
                  <a:srgbClr val="00B050"/>
                </a:solidFill>
              </a:rPr>
              <a:t>数组名作迭代器</a:t>
            </a:r>
            <a:endParaRPr lang="zh-CN" altLang="en-US" sz="1600" dirty="0">
              <a:solidFill>
                <a:srgbClr val="00B05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33694" y="302725"/>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写入型算法</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sp>
        <p:nvSpPr>
          <p:cNvPr id="10" name="矩形 9"/>
          <p:cNvSpPr/>
          <p:nvPr/>
        </p:nvSpPr>
        <p:spPr>
          <a:xfrm>
            <a:off x="1620984" y="1018771"/>
            <a:ext cx="7786816" cy="400110"/>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zh-CN" altLang="en-US" sz="2000" b="1" dirty="0"/>
              <a:t>将元素的值</a:t>
            </a:r>
            <a:r>
              <a:rPr lang="zh-CN" altLang="en-US" sz="2000" b="1" dirty="0">
                <a:solidFill>
                  <a:srgbClr val="FF0000"/>
                </a:solidFill>
              </a:rPr>
              <a:t>写入</a:t>
            </a:r>
            <a:r>
              <a:rPr lang="zh-CN" altLang="en-US" sz="2000" b="1" dirty="0"/>
              <a:t>到容器中，如 </a:t>
            </a:r>
            <a:r>
              <a:rPr lang="en-US" altLang="zh-CN" sz="2000" b="1" dirty="0"/>
              <a:t>fill </a:t>
            </a:r>
            <a:r>
              <a:rPr lang="zh-CN" altLang="en-US" sz="2000" b="1" dirty="0"/>
              <a:t>和 </a:t>
            </a:r>
            <a:r>
              <a:rPr lang="en-US" altLang="zh-CN" sz="2000" b="1" dirty="0"/>
              <a:t>copy </a:t>
            </a:r>
            <a:r>
              <a:rPr lang="zh-CN" altLang="en-US" sz="2000" b="1" dirty="0"/>
              <a:t>函数：</a:t>
            </a:r>
            <a:endParaRPr lang="zh-CN" altLang="en-US" sz="2000" b="1" dirty="0"/>
          </a:p>
        </p:txBody>
      </p:sp>
      <p:sp>
        <p:nvSpPr>
          <p:cNvPr id="11" name="矩形 10"/>
          <p:cNvSpPr/>
          <p:nvPr/>
        </p:nvSpPr>
        <p:spPr>
          <a:xfrm>
            <a:off x="1965510" y="1403151"/>
            <a:ext cx="8992795" cy="923330"/>
          </a:xfrm>
          <a:prstGeom prst="rect">
            <a:avLst/>
          </a:prstGeom>
        </p:spPr>
        <p:txBody>
          <a:bodyPr wrap="square">
            <a:spAutoFit/>
          </a:bodyPr>
          <a:lstStyle/>
          <a:p>
            <a:r>
              <a:rPr lang="en-US" altLang="zh-CN" dirty="0">
                <a:solidFill>
                  <a:srgbClr val="008080"/>
                </a:solidFill>
                <a:latin typeface="Consolas" panose="020B0609020204030204" pitchFamily="49" charset="0"/>
              </a:rPr>
              <a:t>vector</a:t>
            </a:r>
            <a:r>
              <a:rPr lang="en-US" altLang="zh-CN" dirty="0">
                <a:solidFill>
                  <a:srgbClr val="000000"/>
                </a:solidFill>
                <a:latin typeface="Consolas" panose="020B0609020204030204" pitchFamily="49" charset="0"/>
              </a:rPr>
              <a:t>&lt;</a:t>
            </a:r>
            <a:r>
              <a:rPr lang="en-US" altLang="zh-CN" dirty="0">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&gt; v1(10),v2(15);</a:t>
            </a:r>
            <a:br>
              <a:rPr lang="en-US" altLang="zh-CN" dirty="0">
                <a:solidFill>
                  <a:srgbClr val="000000"/>
                </a:solidFill>
                <a:latin typeface="Consolas" panose="020B0609020204030204" pitchFamily="49" charset="0"/>
              </a:rPr>
            </a:br>
            <a:r>
              <a:rPr lang="en-US" altLang="zh-CN" dirty="0">
                <a:solidFill>
                  <a:srgbClr val="FF0000"/>
                </a:solidFill>
                <a:latin typeface="Consolas" panose="020B0609020204030204" pitchFamily="49" charset="0"/>
              </a:rPr>
              <a:t>fill</a:t>
            </a:r>
            <a:r>
              <a:rPr lang="en-US" altLang="zh-CN" dirty="0">
                <a:solidFill>
                  <a:srgbClr val="000000"/>
                </a:solidFill>
                <a:latin typeface="Consolas" panose="020B0609020204030204" pitchFamily="49" charset="0"/>
              </a:rPr>
              <a:t>(v1.begin(), v1.end(), 1);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ea typeface="仿宋" panose="02010609060101010101" pitchFamily="49" charset="-122"/>
              </a:rPr>
              <a:t>将容器</a:t>
            </a:r>
            <a:r>
              <a:rPr lang="en-US" altLang="zh-CN" dirty="0">
                <a:solidFill>
                  <a:srgbClr val="008000"/>
                </a:solidFill>
                <a:latin typeface="Consolas" panose="020B0609020204030204" pitchFamily="49" charset="0"/>
              </a:rPr>
              <a:t>v1</a:t>
            </a:r>
            <a:r>
              <a:rPr lang="zh-CN" altLang="en-US" dirty="0">
                <a:solidFill>
                  <a:srgbClr val="008000"/>
                </a:solidFill>
                <a:latin typeface="Consolas" panose="020B0609020204030204" pitchFamily="49" charset="0"/>
                <a:ea typeface="仿宋" panose="02010609060101010101" pitchFamily="49" charset="-122"/>
              </a:rPr>
              <a:t>中所有元素重置为</a:t>
            </a:r>
            <a:r>
              <a:rPr lang="en-US" altLang="zh-CN" dirty="0">
                <a:solidFill>
                  <a:srgbClr val="008000"/>
                </a:solidFill>
                <a:latin typeface="Consolas" panose="020B0609020204030204" pitchFamily="49" charset="0"/>
              </a:rPr>
              <a:t>1</a:t>
            </a:r>
            <a:br>
              <a:rPr lang="en-US" altLang="zh-CN" dirty="0">
                <a:solidFill>
                  <a:srgbClr val="008000"/>
                </a:solidFill>
                <a:latin typeface="Consolas" panose="020B0609020204030204" pitchFamily="49" charset="0"/>
              </a:rPr>
            </a:br>
            <a:r>
              <a:rPr lang="en-US" altLang="zh-CN" dirty="0">
                <a:solidFill>
                  <a:srgbClr val="FF0000"/>
                </a:solidFill>
                <a:latin typeface="Consolas" panose="020B0609020204030204" pitchFamily="49" charset="0"/>
              </a:rPr>
              <a:t>copy</a:t>
            </a:r>
            <a:r>
              <a:rPr lang="en-US" altLang="zh-CN" dirty="0">
                <a:solidFill>
                  <a:srgbClr val="000000"/>
                </a:solidFill>
                <a:latin typeface="Consolas" panose="020B0609020204030204" pitchFamily="49" charset="0"/>
              </a:rPr>
              <a:t>(v1.begin(), v1.end(), v2.begin());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ea typeface="仿宋" panose="02010609060101010101" pitchFamily="49" charset="-122"/>
              </a:rPr>
              <a:t>将</a:t>
            </a:r>
            <a:r>
              <a:rPr lang="en-US" altLang="zh-CN" dirty="0">
                <a:solidFill>
                  <a:srgbClr val="008000"/>
                </a:solidFill>
                <a:latin typeface="Consolas" panose="020B0609020204030204" pitchFamily="49" charset="0"/>
              </a:rPr>
              <a:t>v1</a:t>
            </a:r>
            <a:r>
              <a:rPr lang="zh-CN" altLang="en-US" dirty="0">
                <a:solidFill>
                  <a:srgbClr val="008000"/>
                </a:solidFill>
                <a:latin typeface="Consolas" panose="020B0609020204030204" pitchFamily="49" charset="0"/>
                <a:ea typeface="仿宋" panose="02010609060101010101" pitchFamily="49" charset="-122"/>
              </a:rPr>
              <a:t>中的元素复制到</a:t>
            </a:r>
            <a:r>
              <a:rPr lang="en-US" altLang="zh-CN" dirty="0">
                <a:solidFill>
                  <a:srgbClr val="008000"/>
                </a:solidFill>
                <a:latin typeface="Consolas" panose="020B0609020204030204" pitchFamily="49" charset="0"/>
              </a:rPr>
              <a:t>v2</a:t>
            </a:r>
            <a:r>
              <a:rPr lang="zh-CN" altLang="en-US" dirty="0">
                <a:solidFill>
                  <a:srgbClr val="008000"/>
                </a:solidFill>
                <a:latin typeface="Consolas" panose="020B0609020204030204" pitchFamily="49" charset="0"/>
                <a:ea typeface="仿宋" panose="02010609060101010101" pitchFamily="49" charset="-122"/>
              </a:rPr>
              <a:t>中</a:t>
            </a:r>
            <a:r>
              <a:rPr lang="zh-CN" altLang="en-US" dirty="0">
                <a:latin typeface="Consolas" panose="020B0609020204030204" pitchFamily="49" charset="0"/>
              </a:rPr>
              <a:t> </a:t>
            </a:r>
            <a:endParaRPr lang="zh-CN" altLang="en-US" dirty="0">
              <a:latin typeface="Consolas" panose="020B0609020204030204" pitchFamily="49" charset="0"/>
            </a:endParaRPr>
          </a:p>
        </p:txBody>
      </p:sp>
      <p:sp>
        <p:nvSpPr>
          <p:cNvPr id="12" name="矩形 11"/>
          <p:cNvSpPr/>
          <p:nvPr/>
        </p:nvSpPr>
        <p:spPr>
          <a:xfrm>
            <a:off x="1660740" y="2608445"/>
            <a:ext cx="8556686" cy="1015663"/>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en-US" altLang="zh-CN" sz="2000" dirty="0">
                <a:solidFill>
                  <a:srgbClr val="FF0000"/>
                </a:solidFill>
              </a:rPr>
              <a:t>fill </a:t>
            </a:r>
            <a:r>
              <a:rPr lang="zh-CN" altLang="en-US" sz="2000" dirty="0"/>
              <a:t>函数将给定的值写入到指定的范围内</a:t>
            </a:r>
            <a:endParaRPr lang="en-US" altLang="zh-CN" sz="2000" dirty="0"/>
          </a:p>
          <a:p>
            <a:pPr marL="285750" indent="-285750">
              <a:buClr>
                <a:srgbClr val="262686"/>
              </a:buClr>
              <a:buSzPct val="80000"/>
              <a:buFont typeface="Wingdings" panose="05000000000000000000" pitchFamily="2" charset="2"/>
              <a:buChar char="l"/>
            </a:pPr>
            <a:r>
              <a:rPr lang="en-US" altLang="zh-CN" sz="2000" dirty="0">
                <a:solidFill>
                  <a:srgbClr val="FF0000"/>
                </a:solidFill>
              </a:rPr>
              <a:t>copy</a:t>
            </a:r>
            <a:r>
              <a:rPr lang="en-US" altLang="zh-CN" sz="2000" dirty="0"/>
              <a:t> </a:t>
            </a:r>
            <a:r>
              <a:rPr lang="zh-CN" altLang="en-US" sz="2000" dirty="0"/>
              <a:t>函数将给定范围内的元素依次复制到第三个迭代器参数指定的起始位置</a:t>
            </a:r>
            <a:endParaRPr lang="zh-CN" altLang="en-US" sz="2000" dirty="0"/>
          </a:p>
        </p:txBody>
      </p:sp>
      <p:sp>
        <p:nvSpPr>
          <p:cNvPr id="15" name="矩形 14"/>
          <p:cNvSpPr/>
          <p:nvPr/>
        </p:nvSpPr>
        <p:spPr>
          <a:xfrm>
            <a:off x="1666122" y="3808790"/>
            <a:ext cx="8551303" cy="1015663"/>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en-US" altLang="zh-CN" sz="2000" dirty="0">
                <a:solidFill>
                  <a:srgbClr val="000000"/>
                </a:solidFill>
                <a:latin typeface="LMSans10-Regular-Identity-H"/>
              </a:rPr>
              <a:t>fill </a:t>
            </a:r>
            <a:r>
              <a:rPr lang="zh-CN" altLang="en-US" sz="2000" dirty="0">
                <a:solidFill>
                  <a:srgbClr val="000000"/>
                </a:solidFill>
                <a:latin typeface="MicrosoftYaHei"/>
              </a:rPr>
              <a:t>函数前两个参数为迭代器范围（目的序列），第三个参数为写入值</a:t>
            </a:r>
            <a:endParaRPr lang="en-US" altLang="zh-CN" sz="2000" dirty="0">
              <a:solidFill>
                <a:srgbClr val="000000"/>
              </a:solidFill>
              <a:latin typeface="MicrosoftYaHei"/>
            </a:endParaRPr>
          </a:p>
          <a:p>
            <a:pPr marL="285750" indent="-285750">
              <a:buClr>
                <a:srgbClr val="262686"/>
              </a:buClr>
              <a:buSzPct val="80000"/>
              <a:buFont typeface="Wingdings" panose="05000000000000000000" pitchFamily="2" charset="2"/>
              <a:buChar char="l"/>
            </a:pPr>
            <a:r>
              <a:rPr lang="en-US" altLang="zh-CN" sz="2000" dirty="0">
                <a:solidFill>
                  <a:srgbClr val="000000"/>
                </a:solidFill>
                <a:latin typeface="LMSans10-Regular-Identity-H"/>
              </a:rPr>
              <a:t>copy </a:t>
            </a:r>
            <a:r>
              <a:rPr lang="zh-CN" altLang="en-US" sz="2000" dirty="0">
                <a:solidFill>
                  <a:srgbClr val="000000"/>
                </a:solidFill>
                <a:latin typeface="MicrosoftYaHei"/>
              </a:rPr>
              <a:t>函数前两个参数表示输入范围，第三个迭代器表示目的序列的起始位置</a:t>
            </a:r>
            <a:r>
              <a:rPr lang="zh-CN" altLang="en-US" sz="2000" dirty="0"/>
              <a:t> </a:t>
            </a:r>
            <a:endParaRPr lang="zh-CN"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33694" y="302725"/>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重排型算法</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sp>
        <p:nvSpPr>
          <p:cNvPr id="8" name="矩形 7"/>
          <p:cNvSpPr/>
          <p:nvPr/>
        </p:nvSpPr>
        <p:spPr>
          <a:xfrm>
            <a:off x="2052524" y="1083385"/>
            <a:ext cx="7786816" cy="400110"/>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zh-CN" altLang="en-US" sz="2000" b="1" dirty="0"/>
              <a:t>重新排列容器中的元素顺序</a:t>
            </a:r>
            <a:r>
              <a:rPr lang="zh-CN" altLang="en-US" sz="2000" dirty="0"/>
              <a:t>，如 </a:t>
            </a:r>
            <a:r>
              <a:rPr lang="en-US" altLang="zh-CN" sz="2000" dirty="0"/>
              <a:t>sort </a:t>
            </a:r>
            <a:r>
              <a:rPr lang="zh-CN" altLang="en-US" sz="2000" dirty="0"/>
              <a:t>和 </a:t>
            </a:r>
            <a:r>
              <a:rPr lang="en-US" altLang="zh-CN" sz="2000" dirty="0" err="1"/>
              <a:t>stable_sort</a:t>
            </a:r>
            <a:r>
              <a:rPr lang="en-US" altLang="zh-CN" sz="2000" dirty="0"/>
              <a:t> </a:t>
            </a:r>
            <a:r>
              <a:rPr lang="zh-CN" altLang="en-US" sz="2000" dirty="0"/>
              <a:t>函数：</a:t>
            </a:r>
            <a:endParaRPr lang="zh-CN" altLang="en-US" sz="2000" dirty="0"/>
          </a:p>
        </p:txBody>
      </p:sp>
      <p:sp>
        <p:nvSpPr>
          <p:cNvPr id="9" name="矩形 8"/>
          <p:cNvSpPr/>
          <p:nvPr/>
        </p:nvSpPr>
        <p:spPr>
          <a:xfrm>
            <a:off x="2052524" y="1547679"/>
            <a:ext cx="8251106" cy="400110"/>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en-US" altLang="zh-CN" sz="2000" dirty="0">
                <a:solidFill>
                  <a:srgbClr val="FF0000"/>
                </a:solidFill>
              </a:rPr>
              <a:t>sort </a:t>
            </a:r>
            <a:r>
              <a:rPr lang="zh-CN" altLang="en-US" sz="2000" dirty="0"/>
              <a:t>函数使输入序列中的元素有序，默认的元素比较方式为 </a:t>
            </a:r>
            <a:r>
              <a:rPr lang="en-US" altLang="zh-CN" sz="2000" dirty="0"/>
              <a:t>&lt; </a:t>
            </a:r>
            <a:r>
              <a:rPr lang="zh-CN" altLang="en-US" sz="2000" dirty="0"/>
              <a:t>运算</a:t>
            </a:r>
            <a:endParaRPr lang="en-US" altLang="zh-CN" sz="2000" dirty="0"/>
          </a:p>
        </p:txBody>
      </p:sp>
      <p:sp>
        <p:nvSpPr>
          <p:cNvPr id="11" name="矩形 10"/>
          <p:cNvSpPr/>
          <p:nvPr/>
        </p:nvSpPr>
        <p:spPr>
          <a:xfrm>
            <a:off x="2938015" y="2696488"/>
            <a:ext cx="6981465" cy="646331"/>
          </a:xfrm>
          <a:prstGeom prst="rect">
            <a:avLst/>
          </a:prstGeom>
        </p:spPr>
        <p:txBody>
          <a:bodyPr wrap="square">
            <a:spAutoFit/>
          </a:bodyPr>
          <a:lstStyle/>
          <a:p>
            <a:r>
              <a:rPr lang="en-US" altLang="zh-CN" dirty="0">
                <a:solidFill>
                  <a:srgbClr val="008080"/>
                </a:solidFill>
                <a:latin typeface="Consolas" panose="020B0609020204030204" pitchFamily="49" charset="0"/>
              </a:rPr>
              <a:t>vector</a:t>
            </a:r>
            <a:r>
              <a:rPr lang="en-US" altLang="zh-CN" dirty="0">
                <a:solidFill>
                  <a:srgbClr val="000000"/>
                </a:solidFill>
                <a:latin typeface="Consolas" panose="020B0609020204030204" pitchFamily="49" charset="0"/>
              </a:rPr>
              <a:t>&lt;</a:t>
            </a:r>
            <a:r>
              <a:rPr lang="en-US" altLang="zh-CN" dirty="0">
                <a:solidFill>
                  <a:srgbClr val="0000FF"/>
                </a:solidFill>
                <a:latin typeface="Consolas" panose="020B0609020204030204" pitchFamily="49" charset="0"/>
              </a:rPr>
              <a:t>int</a:t>
            </a:r>
            <a:r>
              <a:rPr lang="en-US" altLang="zh-CN" dirty="0">
                <a:solidFill>
                  <a:srgbClr val="000000"/>
                </a:solidFill>
                <a:latin typeface="Consolas" panose="020B0609020204030204" pitchFamily="49" charset="0"/>
              </a:rPr>
              <a:t>&gt; v = { 3, 7, 3, 11, 3, 3, 2 };</a:t>
            </a:r>
            <a:br>
              <a:rPr lang="en-US" altLang="zh-CN" dirty="0">
                <a:solidFill>
                  <a:srgbClr val="000000"/>
                </a:solidFill>
                <a:latin typeface="Consolas" panose="020B0609020204030204" pitchFamily="49" charset="0"/>
              </a:rPr>
            </a:br>
            <a:r>
              <a:rPr lang="en-US" altLang="zh-CN" dirty="0">
                <a:solidFill>
                  <a:srgbClr val="FF0000"/>
                </a:solidFill>
                <a:latin typeface="Consolas" panose="020B0609020204030204" pitchFamily="49" charset="0"/>
              </a:rPr>
              <a:t>sort</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v.begin</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v.end</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ea typeface="仿宋" panose="02010609060101010101" pitchFamily="49" charset="-122"/>
              </a:rPr>
              <a:t>升序排序</a:t>
            </a:r>
            <a:r>
              <a:rPr lang="zh-CN" altLang="en-US" dirty="0">
                <a:latin typeface="Consolas" panose="020B0609020204030204" pitchFamily="49" charset="0"/>
              </a:rPr>
              <a:t> </a:t>
            </a:r>
            <a:endParaRPr lang="zh-CN" altLang="en-US" dirty="0">
              <a:latin typeface="Consolas" panose="020B0609020204030204" pitchFamily="49" charset="0"/>
            </a:endParaRPr>
          </a:p>
        </p:txBody>
      </p:sp>
      <p:sp>
        <p:nvSpPr>
          <p:cNvPr id="14" name="矩形 13"/>
          <p:cNvSpPr/>
          <p:nvPr/>
        </p:nvSpPr>
        <p:spPr>
          <a:xfrm>
            <a:off x="2938015" y="3587180"/>
            <a:ext cx="5652997" cy="369332"/>
          </a:xfrm>
          <a:prstGeom prst="rect">
            <a:avLst/>
          </a:prstGeom>
        </p:spPr>
        <p:txBody>
          <a:bodyPr wrap="square">
            <a:spAutoFit/>
          </a:bodyPr>
          <a:lstStyle/>
          <a:p>
            <a:r>
              <a:rPr lang="en-US" altLang="zh-CN" dirty="0" err="1">
                <a:solidFill>
                  <a:srgbClr val="000000"/>
                </a:solidFill>
                <a:latin typeface="Consolas" panose="020B0609020204030204" pitchFamily="49" charset="0"/>
              </a:rPr>
              <a:t>stable_sort</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v.begin</a:t>
            </a:r>
            <a:r>
              <a:rPr lang="en-US" altLang="zh-CN" dirty="0">
                <a:solidFill>
                  <a:srgbClr val="000000"/>
                </a:solidFill>
                <a:latin typeface="Consolas" panose="020B0609020204030204" pitchFamily="49" charset="0"/>
              </a:rPr>
              <a:t>(), </a:t>
            </a:r>
            <a:r>
              <a:rPr lang="en-US" altLang="zh-CN" dirty="0" err="1">
                <a:solidFill>
                  <a:srgbClr val="000000"/>
                </a:solidFill>
                <a:latin typeface="Consolas" panose="020B0609020204030204" pitchFamily="49" charset="0"/>
              </a:rPr>
              <a:t>v.end</a:t>
            </a:r>
            <a:r>
              <a:rPr lang="en-US" altLang="zh-CN" dirty="0">
                <a:solidFill>
                  <a:srgbClr val="000000"/>
                </a:solidFill>
                <a:latin typeface="Consolas" panose="020B0609020204030204" pitchFamily="49" charset="0"/>
              </a:rPr>
              <a:t>());</a:t>
            </a:r>
            <a:r>
              <a:rPr lang="en-US" altLang="zh-CN" dirty="0">
                <a:latin typeface="Consolas" panose="020B0609020204030204" pitchFamily="49" charset="0"/>
              </a:rPr>
              <a:t> </a:t>
            </a:r>
            <a:endParaRPr lang="zh-CN" altLang="en-US" dirty="0">
              <a:latin typeface="Consolas" panose="020B0609020204030204" pitchFamily="49" charset="0"/>
            </a:endParaRPr>
          </a:p>
        </p:txBody>
      </p:sp>
      <p:sp>
        <p:nvSpPr>
          <p:cNvPr id="16" name="矩形 15"/>
          <p:cNvSpPr/>
          <p:nvPr/>
        </p:nvSpPr>
        <p:spPr>
          <a:xfrm>
            <a:off x="2067433" y="2044951"/>
            <a:ext cx="8181532" cy="400110"/>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en-US" altLang="zh-CN" sz="2000" dirty="0" err="1">
                <a:solidFill>
                  <a:srgbClr val="FF0000"/>
                </a:solidFill>
              </a:rPr>
              <a:t>stable_sort</a:t>
            </a:r>
            <a:r>
              <a:rPr lang="en-US" altLang="zh-CN" sz="2000" dirty="0">
                <a:solidFill>
                  <a:srgbClr val="FF0000"/>
                </a:solidFill>
              </a:rPr>
              <a:t> </a:t>
            </a:r>
            <a:r>
              <a:rPr lang="zh-CN" altLang="en-US" sz="2000" dirty="0"/>
              <a:t>函数与 </a:t>
            </a:r>
            <a:r>
              <a:rPr lang="en-US" altLang="zh-CN" sz="2000" dirty="0"/>
              <a:t>sort </a:t>
            </a:r>
            <a:r>
              <a:rPr lang="zh-CN" altLang="en-US" sz="2000" dirty="0"/>
              <a:t>函数作用相同，但会保持相等元素的相对位置</a:t>
            </a:r>
            <a:endParaRPr lang="en-US" altLang="zh-CN" sz="2000" dirty="0"/>
          </a:p>
        </p:txBody>
      </p:sp>
      <p:grpSp>
        <p:nvGrpSpPr>
          <p:cNvPr id="20" name="组合 19"/>
          <p:cNvGrpSpPr/>
          <p:nvPr/>
        </p:nvGrpSpPr>
        <p:grpSpPr>
          <a:xfrm>
            <a:off x="2252971" y="4756217"/>
            <a:ext cx="6910907" cy="1108207"/>
            <a:chOff x="219974" y="2358412"/>
            <a:chExt cx="8704052" cy="1568262"/>
          </a:xfrm>
        </p:grpSpPr>
        <p:grpSp>
          <p:nvGrpSpPr>
            <p:cNvPr id="21" name="组合 20"/>
            <p:cNvGrpSpPr/>
            <p:nvPr/>
          </p:nvGrpSpPr>
          <p:grpSpPr>
            <a:xfrm>
              <a:off x="219974" y="2358417"/>
              <a:ext cx="8704052" cy="1568257"/>
              <a:chOff x="219974" y="1604517"/>
              <a:chExt cx="8704052" cy="1462449"/>
            </a:xfrm>
            <a:effectLst>
              <a:outerShdw blurRad="50800" dist="69850" dir="2700000" algn="tl" rotWithShape="0">
                <a:prstClr val="black">
                  <a:alpha val="40000"/>
                </a:prstClr>
              </a:outerShdw>
            </a:effectLst>
          </p:grpSpPr>
          <p:sp>
            <p:nvSpPr>
              <p:cNvPr id="23" name="矩形: 圆角 22"/>
              <p:cNvSpPr/>
              <p:nvPr/>
            </p:nvSpPr>
            <p:spPr>
              <a:xfrm>
                <a:off x="219974" y="1604517"/>
                <a:ext cx="8704052" cy="1462449"/>
              </a:xfrm>
              <a:prstGeom prst="roundRect">
                <a:avLst>
                  <a:gd name="adj" fmla="val 7211"/>
                </a:avLst>
              </a:prstGeom>
              <a:solidFill>
                <a:srgbClr val="FA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圆顶角 23"/>
              <p:cNvSpPr/>
              <p:nvPr/>
            </p:nvSpPr>
            <p:spPr>
              <a:xfrm>
                <a:off x="219974" y="1617783"/>
                <a:ext cx="8704052" cy="520389"/>
              </a:xfrm>
              <a:prstGeom prst="round2SameRect">
                <a:avLst>
                  <a:gd name="adj1" fmla="val 20076"/>
                  <a:gd name="adj2" fmla="val 0"/>
                </a:avLst>
              </a:prstGeom>
              <a:solidFill>
                <a:srgbClr val="CC5C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2" name="矩形 21"/>
            <p:cNvSpPr/>
            <p:nvPr/>
          </p:nvSpPr>
          <p:spPr>
            <a:xfrm>
              <a:off x="319177" y="2358412"/>
              <a:ext cx="7472516" cy="566209"/>
            </a:xfrm>
            <a:prstGeom prst="rect">
              <a:avLst/>
            </a:prstGeom>
          </p:spPr>
          <p:txBody>
            <a:bodyPr wrap="square">
              <a:spAutoFit/>
            </a:bodyPr>
            <a:lstStyle/>
            <a:p>
              <a:r>
                <a:rPr lang="zh-CN" altLang="en-US" sz="2000" dirty="0">
                  <a:solidFill>
                    <a:schemeClr val="bg1"/>
                  </a:solidFill>
                </a:rPr>
                <a:t>注意</a:t>
              </a:r>
              <a:endParaRPr lang="zh-CN" altLang="en-US" sz="2000" dirty="0">
                <a:solidFill>
                  <a:schemeClr val="bg1"/>
                </a:solidFill>
              </a:endParaRPr>
            </a:p>
          </p:txBody>
        </p:sp>
      </p:grpSp>
      <p:sp>
        <p:nvSpPr>
          <p:cNvPr id="25" name="矩形 24"/>
          <p:cNvSpPr/>
          <p:nvPr/>
        </p:nvSpPr>
        <p:spPr>
          <a:xfrm>
            <a:off x="2441713" y="5185244"/>
            <a:ext cx="8307238" cy="646331"/>
          </a:xfrm>
          <a:prstGeom prst="rect">
            <a:avLst/>
          </a:prstGeom>
        </p:spPr>
        <p:txBody>
          <a:bodyPr wrap="square">
            <a:spAutoFit/>
          </a:bodyPr>
          <a:lstStyle/>
          <a:p>
            <a:pPr marL="285750" indent="-285750">
              <a:buClr>
                <a:srgbClr val="262686"/>
              </a:buClr>
              <a:buSzPct val="80000"/>
              <a:buFont typeface="Arial" panose="020B0604020202020204" pitchFamily="34" charset="0"/>
              <a:buChar char="•"/>
            </a:pPr>
            <a:r>
              <a:rPr lang="zh-CN" altLang="en-US" dirty="0"/>
              <a:t>数值相等的元素的相对位置在使用 </a:t>
            </a:r>
            <a:r>
              <a:rPr lang="en-US" altLang="zh-CN" dirty="0"/>
              <a:t>sort </a:t>
            </a:r>
            <a:r>
              <a:rPr lang="zh-CN" altLang="en-US" dirty="0"/>
              <a:t>排序后可能会改变</a:t>
            </a:r>
            <a:endParaRPr lang="en-US" altLang="zh-CN" dirty="0"/>
          </a:p>
          <a:p>
            <a:pPr marL="285750" indent="-285750">
              <a:buClr>
                <a:srgbClr val="262686"/>
              </a:buClr>
              <a:buSzPct val="80000"/>
              <a:buFont typeface="Arial" panose="020B0604020202020204" pitchFamily="34" charset="0"/>
              <a:buChar char="•"/>
            </a:pPr>
            <a:r>
              <a:rPr lang="zh-CN" altLang="en-US" dirty="0"/>
              <a:t>如果容器元素是用户自定义类型，则需要提供元素的 </a:t>
            </a:r>
            <a:r>
              <a:rPr lang="en-US" altLang="zh-CN" dirty="0"/>
              <a:t>&lt; </a:t>
            </a:r>
            <a:r>
              <a:rPr lang="zh-CN" altLang="en-US" dirty="0"/>
              <a:t>运算符 </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Rot="1" noChangeArrowheads="1"/>
          </p:cNvSpPr>
          <p:nvPr/>
        </p:nvSpPr>
        <p:spPr>
          <a:xfrm>
            <a:off x="1495700" y="92369"/>
            <a:ext cx="8280400" cy="982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4000" b="1" dirty="0">
                <a:effectLst>
                  <a:outerShdw blurRad="38100" dist="38100" dir="2700000" algn="tl">
                    <a:srgbClr val="C0C0C0"/>
                  </a:outerShdw>
                </a:effectLst>
              </a:rPr>
              <a:t>11.5  </a:t>
            </a:r>
            <a:r>
              <a:rPr lang="zh-CN" altLang="en-US" sz="4000" b="1" dirty="0">
                <a:effectLst>
                  <a:outerShdw blurRad="38100" dist="38100" dir="2700000" algn="tl">
                    <a:srgbClr val="C0C0C0"/>
                  </a:outerShdw>
                </a:effectLst>
              </a:rPr>
              <a:t>顺序容器示例</a:t>
            </a:r>
            <a:endParaRPr lang="zh-CN" altLang="en-US" sz="4000" b="1" dirty="0"/>
          </a:p>
        </p:txBody>
      </p:sp>
      <p:sp>
        <p:nvSpPr>
          <p:cNvPr id="4" name="Text Box 10"/>
          <p:cNvSpPr txBox="1">
            <a:spLocks noChangeArrowheads="1"/>
          </p:cNvSpPr>
          <p:nvPr/>
        </p:nvSpPr>
        <p:spPr bwMode="auto">
          <a:xfrm>
            <a:off x="1495700" y="92889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vector</a:t>
            </a:r>
            <a:r>
              <a:rPr kumimoji="0" lang="zh-CN" altLang="en-US" sz="2800" dirty="0">
                <a:solidFill>
                  <a:srgbClr val="006600"/>
                </a:solidFill>
                <a:ea typeface="隶书" panose="02010509060101010101" pitchFamily="49" charset="-122"/>
              </a:rPr>
              <a:t>容器示例</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0" name="图片 9"/>
          <p:cNvPicPr>
            <a:picLocks noChangeAspect="1"/>
          </p:cNvPicPr>
          <p:nvPr/>
        </p:nvPicPr>
        <p:blipFill>
          <a:blip r:embed="rId2"/>
          <a:stretch>
            <a:fillRect/>
          </a:stretch>
        </p:blipFill>
        <p:spPr>
          <a:xfrm>
            <a:off x="1495700" y="1635556"/>
            <a:ext cx="6293173" cy="4680191"/>
          </a:xfrm>
          <a:prstGeom prst="rect">
            <a:avLst/>
          </a:prstGeom>
        </p:spPr>
      </p:pic>
      <p:pic>
        <p:nvPicPr>
          <p:cNvPr id="12" name="图片 11"/>
          <p:cNvPicPr>
            <a:picLocks noChangeAspect="1"/>
          </p:cNvPicPr>
          <p:nvPr/>
        </p:nvPicPr>
        <p:blipFill>
          <a:blip r:embed="rId3"/>
          <a:stretch>
            <a:fillRect/>
          </a:stretch>
        </p:blipFill>
        <p:spPr>
          <a:xfrm>
            <a:off x="7293793" y="1640964"/>
            <a:ext cx="667450" cy="1258308"/>
          </a:xfrm>
          <a:prstGeom prst="rect">
            <a:avLst/>
          </a:prstGeom>
        </p:spPr>
      </p:pic>
      <p:sp>
        <p:nvSpPr>
          <p:cNvPr id="14" name="文本框 13"/>
          <p:cNvSpPr txBox="1"/>
          <p:nvPr/>
        </p:nvSpPr>
        <p:spPr>
          <a:xfrm>
            <a:off x="7569729" y="2006108"/>
            <a:ext cx="3697356"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vector</a:t>
            </a:r>
            <a:r>
              <a:rPr lang="zh-CN" altLang="en-US" b="1" dirty="0"/>
              <a:t>支持随机访问迭代器</a:t>
            </a:r>
            <a:endParaRPr lang="en-US" altLang="zh-CN" b="1" dirty="0"/>
          </a:p>
          <a:p>
            <a:pPr marL="285750" indent="-285750">
              <a:buFont typeface="Arial" panose="020B0604020202020204" pitchFamily="34" charset="0"/>
              <a:buChar char="•"/>
            </a:pPr>
            <a:r>
              <a:rPr lang="zh-CN" altLang="en-US" b="1" dirty="0"/>
              <a:t>所有</a:t>
            </a:r>
            <a:r>
              <a:rPr lang="en-US" altLang="zh-CN" b="1" dirty="0"/>
              <a:t>STL</a:t>
            </a:r>
            <a:r>
              <a:rPr lang="zh-CN" altLang="en-US" b="1" dirty="0"/>
              <a:t>算法都能对</a:t>
            </a:r>
            <a:r>
              <a:rPr lang="en-US" altLang="zh-CN" b="1" dirty="0"/>
              <a:t>vector</a:t>
            </a:r>
            <a:r>
              <a:rPr lang="zh-CN" altLang="en-US" b="1" dirty="0"/>
              <a:t>操作</a:t>
            </a:r>
            <a:endParaRPr lang="zh-CN" altLang="en-US"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700570" y="207709"/>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vector</a:t>
            </a:r>
            <a:r>
              <a:rPr kumimoji="0" lang="zh-CN" altLang="en-US" sz="2800" dirty="0">
                <a:solidFill>
                  <a:srgbClr val="006600"/>
                </a:solidFill>
                <a:ea typeface="隶书" panose="02010509060101010101" pitchFamily="49" charset="-122"/>
              </a:rPr>
              <a:t>容器示例</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sp>
        <p:nvSpPr>
          <p:cNvPr id="14" name="文本框 13"/>
          <p:cNvSpPr txBox="1"/>
          <p:nvPr/>
        </p:nvSpPr>
        <p:spPr>
          <a:xfrm>
            <a:off x="403616" y="5788516"/>
            <a:ext cx="3697356"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vector</a:t>
            </a:r>
            <a:r>
              <a:rPr lang="zh-CN" altLang="en-US" b="1" dirty="0"/>
              <a:t>支持随机访问迭代器</a:t>
            </a:r>
            <a:endParaRPr lang="en-US" altLang="zh-CN" b="1" dirty="0"/>
          </a:p>
          <a:p>
            <a:pPr marL="285750" indent="-285750">
              <a:buFont typeface="Arial" panose="020B0604020202020204" pitchFamily="34" charset="0"/>
              <a:buChar char="•"/>
            </a:pPr>
            <a:r>
              <a:rPr lang="zh-CN" altLang="en-US" b="1" dirty="0"/>
              <a:t>所有</a:t>
            </a:r>
            <a:r>
              <a:rPr lang="en-US" altLang="zh-CN" b="1" dirty="0"/>
              <a:t>STL</a:t>
            </a:r>
            <a:r>
              <a:rPr lang="zh-CN" altLang="en-US" b="1" dirty="0"/>
              <a:t>算法都能对</a:t>
            </a:r>
            <a:r>
              <a:rPr lang="en-US" altLang="zh-CN" b="1" dirty="0"/>
              <a:t>vector</a:t>
            </a:r>
            <a:r>
              <a:rPr lang="zh-CN" altLang="en-US" b="1" dirty="0"/>
              <a:t>操作</a:t>
            </a:r>
            <a:endParaRPr lang="zh-CN" altLang="en-US" b="1" dirty="0"/>
          </a:p>
        </p:txBody>
      </p:sp>
      <p:pic>
        <p:nvPicPr>
          <p:cNvPr id="3" name="图片 2"/>
          <p:cNvPicPr>
            <a:picLocks noChangeAspect="1"/>
          </p:cNvPicPr>
          <p:nvPr/>
        </p:nvPicPr>
        <p:blipFill>
          <a:blip r:embed="rId3"/>
          <a:stretch>
            <a:fillRect/>
          </a:stretch>
        </p:blipFill>
        <p:spPr>
          <a:xfrm>
            <a:off x="887749" y="746318"/>
            <a:ext cx="4673840" cy="4599005"/>
          </a:xfrm>
          <a:prstGeom prst="rect">
            <a:avLst/>
          </a:prstGeom>
        </p:spPr>
      </p:pic>
      <p:pic>
        <p:nvPicPr>
          <p:cNvPr id="7" name="图片 6"/>
          <p:cNvPicPr>
            <a:picLocks noChangeAspect="1"/>
          </p:cNvPicPr>
          <p:nvPr/>
        </p:nvPicPr>
        <p:blipFill>
          <a:blip r:embed="rId4"/>
          <a:stretch>
            <a:fillRect/>
          </a:stretch>
        </p:blipFill>
        <p:spPr>
          <a:xfrm>
            <a:off x="6557692" y="746318"/>
            <a:ext cx="4933738" cy="467230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700570" y="207709"/>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vector</a:t>
            </a:r>
            <a:r>
              <a:rPr kumimoji="0" lang="zh-CN" altLang="en-US" sz="2800" dirty="0">
                <a:solidFill>
                  <a:srgbClr val="006600"/>
                </a:solidFill>
                <a:ea typeface="隶书" panose="02010509060101010101" pitchFamily="49" charset="-122"/>
              </a:rPr>
              <a:t>容器示例</a:t>
            </a:r>
            <a:r>
              <a:rPr kumimoji="0" lang="en-US" altLang="zh-CN" sz="2800" dirty="0">
                <a:solidFill>
                  <a:srgbClr val="006600"/>
                </a:solidFill>
                <a:ea typeface="隶书" panose="02010509060101010101" pitchFamily="49" charset="-122"/>
              </a:rPr>
              <a:t>—</a:t>
            </a:r>
            <a:r>
              <a:rPr kumimoji="0" lang="zh-CN" altLang="en-US" sz="2800" dirty="0">
                <a:solidFill>
                  <a:srgbClr val="006600"/>
                </a:solidFill>
                <a:ea typeface="隶书" panose="02010509060101010101" pitchFamily="49" charset="-122"/>
              </a:rPr>
              <a:t>二维数组</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5" name="图片 4"/>
          <p:cNvPicPr>
            <a:picLocks noChangeAspect="1"/>
          </p:cNvPicPr>
          <p:nvPr/>
        </p:nvPicPr>
        <p:blipFill>
          <a:blip r:embed="rId3"/>
          <a:stretch>
            <a:fillRect/>
          </a:stretch>
        </p:blipFill>
        <p:spPr>
          <a:xfrm>
            <a:off x="1179020" y="1045194"/>
            <a:ext cx="9533524" cy="4619623"/>
          </a:xfrm>
          <a:prstGeom prst="rect">
            <a:avLst/>
          </a:prstGeom>
        </p:spPr>
      </p:pic>
      <p:pic>
        <p:nvPicPr>
          <p:cNvPr id="9" name="图片 8"/>
          <p:cNvPicPr>
            <a:picLocks noChangeAspect="1"/>
          </p:cNvPicPr>
          <p:nvPr/>
        </p:nvPicPr>
        <p:blipFill>
          <a:blip r:embed="rId4"/>
          <a:stretch>
            <a:fillRect/>
          </a:stretch>
        </p:blipFill>
        <p:spPr>
          <a:xfrm>
            <a:off x="5945782" y="1266294"/>
            <a:ext cx="450873" cy="749339"/>
          </a:xfrm>
          <a:prstGeom prst="rect">
            <a:avLst/>
          </a:prstGeom>
        </p:spPr>
      </p:pic>
      <p:pic>
        <p:nvPicPr>
          <p:cNvPr id="11" name="图片 10"/>
          <p:cNvPicPr>
            <a:picLocks noChangeAspect="1"/>
          </p:cNvPicPr>
          <p:nvPr/>
        </p:nvPicPr>
        <p:blipFill>
          <a:blip r:embed="rId4"/>
          <a:stretch>
            <a:fillRect/>
          </a:stretch>
        </p:blipFill>
        <p:spPr>
          <a:xfrm>
            <a:off x="10840128" y="5894384"/>
            <a:ext cx="450873" cy="749339"/>
          </a:xfrm>
          <a:prstGeom prst="rect">
            <a:avLst/>
          </a:prstGeom>
        </p:spPr>
      </p:pic>
      <p:pic>
        <p:nvPicPr>
          <p:cNvPr id="3" name="图片 2"/>
          <p:cNvPicPr>
            <a:picLocks noChangeAspect="1"/>
          </p:cNvPicPr>
          <p:nvPr/>
        </p:nvPicPr>
        <p:blipFill>
          <a:blip r:embed="rId5"/>
          <a:stretch>
            <a:fillRect/>
          </a:stretch>
        </p:blipFill>
        <p:spPr>
          <a:xfrm>
            <a:off x="10181387" y="5264746"/>
            <a:ext cx="368319" cy="400071"/>
          </a:xfrm>
          <a:prstGeom prst="rect">
            <a:avLst/>
          </a:prstGeom>
        </p:spPr>
      </p:pic>
      <p:pic>
        <p:nvPicPr>
          <p:cNvPr id="7" name="图片 6"/>
          <p:cNvPicPr>
            <a:picLocks noChangeAspect="1"/>
          </p:cNvPicPr>
          <p:nvPr/>
        </p:nvPicPr>
        <p:blipFill>
          <a:blip r:embed="rId5"/>
          <a:stretch>
            <a:fillRect/>
          </a:stretch>
        </p:blipFill>
        <p:spPr>
          <a:xfrm>
            <a:off x="5722999" y="1668522"/>
            <a:ext cx="368319" cy="40007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使用 </a:t>
            </a:r>
            <a:r>
              <a:rPr kumimoji="0" lang="en-US" altLang="zh-CN" sz="2800" dirty="0">
                <a:solidFill>
                  <a:srgbClr val="006600"/>
                </a:solidFill>
                <a:ea typeface="隶书" panose="02010509060101010101" pitchFamily="49" charset="-122"/>
              </a:rPr>
              <a:t>array</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9" name="图片 8"/>
          <p:cNvPicPr>
            <a:picLocks noChangeAspect="1"/>
          </p:cNvPicPr>
          <p:nvPr/>
        </p:nvPicPr>
        <p:blipFill>
          <a:blip r:embed="rId3"/>
          <a:stretch>
            <a:fillRect/>
          </a:stretch>
        </p:blipFill>
        <p:spPr>
          <a:xfrm>
            <a:off x="5945782" y="1266294"/>
            <a:ext cx="450873" cy="749339"/>
          </a:xfrm>
          <a:prstGeom prst="rect">
            <a:avLst/>
          </a:prstGeom>
        </p:spPr>
      </p:pic>
      <p:pic>
        <p:nvPicPr>
          <p:cNvPr id="11" name="图片 10"/>
          <p:cNvPicPr>
            <a:picLocks noChangeAspect="1"/>
          </p:cNvPicPr>
          <p:nvPr/>
        </p:nvPicPr>
        <p:blipFill>
          <a:blip r:embed="rId3"/>
          <a:stretch>
            <a:fillRect/>
          </a:stretch>
        </p:blipFill>
        <p:spPr>
          <a:xfrm>
            <a:off x="10840128" y="5894384"/>
            <a:ext cx="450873" cy="749339"/>
          </a:xfrm>
          <a:prstGeom prst="rect">
            <a:avLst/>
          </a:prstGeom>
        </p:spPr>
      </p:pic>
      <p:sp>
        <p:nvSpPr>
          <p:cNvPr id="10" name="矩形 9"/>
          <p:cNvSpPr/>
          <p:nvPr/>
        </p:nvSpPr>
        <p:spPr>
          <a:xfrm>
            <a:off x="999823" y="1254392"/>
            <a:ext cx="8084117" cy="1631216"/>
          </a:xfrm>
          <a:prstGeom prst="rect">
            <a:avLst/>
          </a:prstGeom>
        </p:spPr>
        <p:txBody>
          <a:bodyPr wrap="square">
            <a:spAutoFit/>
          </a:bodyPr>
          <a:lstStyle/>
          <a:p>
            <a:r>
              <a:rPr lang="en-US" altLang="zh-CN" sz="2000" dirty="0">
                <a:solidFill>
                  <a:srgbClr val="000000"/>
                </a:solidFill>
                <a:latin typeface="Consolas" panose="020B0609020204030204" pitchFamily="49" charset="0"/>
              </a:rPr>
              <a:t>array&lt;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4</a:t>
            </a:r>
            <a:r>
              <a:rPr lang="en-US" altLang="zh-CN" sz="2000" dirty="0">
                <a:solidFill>
                  <a:srgbClr val="000000"/>
                </a:solidFill>
                <a:latin typeface="Consolas" panose="020B0609020204030204" pitchFamily="49" charset="0"/>
              </a:rPr>
              <a:t>&gt; </a:t>
            </a:r>
            <a:r>
              <a:rPr lang="en-US" altLang="zh-CN" sz="2000" dirty="0" err="1">
                <a:solidFill>
                  <a:srgbClr val="000000"/>
                </a:solidFill>
                <a:latin typeface="Consolas" panose="020B0609020204030204" pitchFamily="49" charset="0"/>
              </a:rPr>
              <a:t>arr</a:t>
            </a:r>
            <a:r>
              <a:rPr lang="en-US" altLang="zh-CN" sz="2000" dirty="0">
                <a:solidFill>
                  <a:srgbClr val="000000"/>
                </a:solidFill>
                <a:latin typeface="Consolas" panose="020B0609020204030204" pitchFamily="49" charset="0"/>
              </a:rPr>
              <a:t> = {</a:t>
            </a:r>
            <a:r>
              <a:rPr lang="en-US" altLang="zh-CN" sz="2000" dirty="0">
                <a:solidFill>
                  <a:srgbClr val="09885A"/>
                </a:solidFill>
                <a:latin typeface="Consolas" panose="020B0609020204030204" pitchFamily="49" charset="0"/>
              </a:rPr>
              <a:t>1</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2</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3</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4</a:t>
            </a:r>
            <a:r>
              <a:rPr lang="en-US" altLang="zh-CN" sz="2000" dirty="0">
                <a:solidFill>
                  <a:srgbClr val="000000"/>
                </a:solidFill>
                <a:latin typeface="Consolas" panose="020B0609020204030204" pitchFamily="49" charset="0"/>
              </a:rPr>
              <a:t>};</a:t>
            </a:r>
            <a:endParaRPr lang="en-US" altLang="zh-CN" sz="2000" dirty="0">
              <a:solidFill>
                <a:srgbClr val="000000"/>
              </a:solidFill>
              <a:latin typeface="Consolas" panose="020B0609020204030204" pitchFamily="49" charset="0"/>
            </a:endParaRPr>
          </a:p>
          <a:p>
            <a:r>
              <a:rPr lang="en-US" altLang="zh-CN" sz="2000" dirty="0">
                <a:solidFill>
                  <a:srgbClr val="AF00DB"/>
                </a:solidFill>
                <a:latin typeface="Consolas" panose="020B0609020204030204" pitchFamily="49" charset="0"/>
              </a:rPr>
              <a:t>for</a:t>
            </a:r>
            <a:r>
              <a:rPr lang="en-US" altLang="zh-CN" sz="2000" dirty="0">
                <a:solidFill>
                  <a:srgbClr val="000000"/>
                </a:solidFill>
                <a:latin typeface="Consolas" panose="020B0609020204030204" pitchFamily="49" charset="0"/>
              </a:rPr>
              <a:t> (</a:t>
            </a:r>
            <a:r>
              <a:rPr lang="en-US" altLang="zh-CN" sz="2000" dirty="0">
                <a:solidFill>
                  <a:srgbClr val="0000FF"/>
                </a:solidFill>
                <a:latin typeface="Consolas" panose="020B0609020204030204" pitchFamily="49" charset="0"/>
              </a:rPr>
              <a:t>auto</a:t>
            </a:r>
            <a:r>
              <a:rPr lang="en-US" altLang="zh-CN" sz="2000" dirty="0">
                <a:solidFill>
                  <a:srgbClr val="000000"/>
                </a:solidFill>
                <a:latin typeface="Consolas" panose="020B0609020204030204" pitchFamily="49" charset="0"/>
              </a:rPr>
              <a:t> it = </a:t>
            </a:r>
            <a:r>
              <a:rPr lang="en-US" altLang="zh-CN" sz="2000" dirty="0" err="1">
                <a:solidFill>
                  <a:srgbClr val="000000"/>
                </a:solidFill>
                <a:latin typeface="Consolas" panose="020B0609020204030204" pitchFamily="49" charset="0"/>
              </a:rPr>
              <a:t>arr.</a:t>
            </a:r>
            <a:r>
              <a:rPr lang="en-US" altLang="zh-CN" sz="2000" dirty="0" err="1">
                <a:solidFill>
                  <a:srgbClr val="795E26"/>
                </a:solidFill>
                <a:latin typeface="Consolas" panose="020B0609020204030204" pitchFamily="49" charset="0"/>
              </a:rPr>
              <a:t>begin</a:t>
            </a:r>
            <a:r>
              <a:rPr lang="en-US" altLang="zh-CN" sz="2000" dirty="0">
                <a:solidFill>
                  <a:srgbClr val="000000"/>
                </a:solidFill>
                <a:latin typeface="Consolas" panose="020B0609020204030204" pitchFamily="49" charset="0"/>
              </a:rPr>
              <a:t>(); it != </a:t>
            </a:r>
            <a:r>
              <a:rPr lang="en-US" altLang="zh-CN" sz="2000" dirty="0" err="1">
                <a:solidFill>
                  <a:srgbClr val="000000"/>
                </a:solidFill>
                <a:latin typeface="Consolas" panose="020B0609020204030204" pitchFamily="49" charset="0"/>
              </a:rPr>
              <a:t>arr.</a:t>
            </a:r>
            <a:r>
              <a:rPr lang="en-US" altLang="zh-CN" sz="2000" dirty="0" err="1">
                <a:solidFill>
                  <a:srgbClr val="795E26"/>
                </a:solidFill>
                <a:latin typeface="Consolas" panose="020B0609020204030204" pitchFamily="49" charset="0"/>
              </a:rPr>
              <a:t>end</a:t>
            </a:r>
            <a:r>
              <a:rPr lang="en-US" altLang="zh-CN" sz="2000" dirty="0">
                <a:solidFill>
                  <a:srgbClr val="000000"/>
                </a:solidFill>
                <a:latin typeface="Consolas" panose="020B0609020204030204" pitchFamily="49" charset="0"/>
              </a:rPr>
              <a:t>(); ++it)</a:t>
            </a:r>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*it &lt;&lt; </a:t>
            </a:r>
            <a:r>
              <a:rPr lang="en-US" altLang="zh-CN" sz="2000" dirty="0" err="1">
                <a:solidFill>
                  <a:srgbClr val="000000"/>
                </a:solidFill>
                <a:latin typeface="Consolas" panose="020B0609020204030204" pitchFamily="49" charset="0"/>
              </a:rPr>
              <a:t>endl</a:t>
            </a:r>
            <a:r>
              <a:rPr lang="en-US" altLang="zh-CN" sz="2000" dirty="0">
                <a:solidFill>
                  <a:srgbClr val="000000"/>
                </a:solidFill>
                <a:latin typeface="Consolas" panose="020B0609020204030204" pitchFamily="49" charset="0"/>
              </a:rPr>
              <a:t>;</a:t>
            </a:r>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array&lt;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4</a:t>
            </a:r>
            <a:r>
              <a:rPr lang="en-US" altLang="zh-CN" sz="2000" dirty="0">
                <a:solidFill>
                  <a:srgbClr val="000000"/>
                </a:solidFill>
                <a:latin typeface="Consolas" panose="020B0609020204030204" pitchFamily="49" charset="0"/>
              </a:rPr>
              <a:t>&gt; arr2 = </a:t>
            </a:r>
            <a:r>
              <a:rPr lang="en-US" altLang="zh-CN" sz="2000" dirty="0" err="1">
                <a:solidFill>
                  <a:srgbClr val="000000"/>
                </a:solidFill>
                <a:latin typeface="Consolas" panose="020B0609020204030204" pitchFamily="49" charset="0"/>
              </a:rPr>
              <a:t>arr</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//array</a:t>
            </a:r>
            <a:r>
              <a:rPr lang="zh-CN" altLang="en-US" sz="2000" dirty="0">
                <a:solidFill>
                  <a:srgbClr val="008000"/>
                </a:solidFill>
                <a:latin typeface="Consolas" panose="020B0609020204030204" pitchFamily="49" charset="0"/>
              </a:rPr>
              <a:t>对象允许复制</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arr2.</a:t>
            </a:r>
            <a:r>
              <a:rPr lang="en-US" altLang="zh-CN" sz="2000" dirty="0">
                <a:solidFill>
                  <a:srgbClr val="795E26"/>
                </a:solidFill>
                <a:latin typeface="Consolas" panose="020B0609020204030204" pitchFamily="49" charset="0"/>
              </a:rPr>
              <a:t>fill</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0</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所有元素赋值为</a:t>
            </a:r>
            <a:r>
              <a:rPr lang="en-US" altLang="zh-CN" sz="2000" dirty="0">
                <a:solidFill>
                  <a:srgbClr val="008000"/>
                </a:solidFill>
                <a:latin typeface="Consolas" panose="020B0609020204030204" pitchFamily="49" charset="0"/>
              </a:rPr>
              <a:t>0</a:t>
            </a:r>
            <a:endParaRPr lang="zh-CN" altLang="en-US" sz="2000" b="0" dirty="0">
              <a:solidFill>
                <a:srgbClr val="000000"/>
              </a:solidFill>
              <a:effectLst/>
              <a:latin typeface="Consolas" panose="020B0609020204030204" pitchFamily="49" charset="0"/>
            </a:endParaRPr>
          </a:p>
        </p:txBody>
      </p:sp>
      <p:grpSp>
        <p:nvGrpSpPr>
          <p:cNvPr id="13" name="组合 12"/>
          <p:cNvGrpSpPr/>
          <p:nvPr/>
        </p:nvGrpSpPr>
        <p:grpSpPr>
          <a:xfrm>
            <a:off x="900999" y="3495848"/>
            <a:ext cx="8670790" cy="2347748"/>
            <a:chOff x="219974" y="2000284"/>
            <a:chExt cx="8704052" cy="3609931"/>
          </a:xfrm>
        </p:grpSpPr>
        <p:grpSp>
          <p:nvGrpSpPr>
            <p:cNvPr id="14" name="组合 13"/>
            <p:cNvGrpSpPr/>
            <p:nvPr/>
          </p:nvGrpSpPr>
          <p:grpSpPr>
            <a:xfrm>
              <a:off x="219974" y="2014515"/>
              <a:ext cx="8704052" cy="3595700"/>
              <a:chOff x="219974" y="1283821"/>
              <a:chExt cx="8704052" cy="3353100"/>
            </a:xfrm>
            <a:effectLst>
              <a:outerShdw blurRad="50800" dist="69850" dir="2700000" algn="tl" rotWithShape="0">
                <a:prstClr val="black">
                  <a:alpha val="40000"/>
                </a:prstClr>
              </a:outerShdw>
            </a:effectLst>
          </p:grpSpPr>
          <p:sp>
            <p:nvSpPr>
              <p:cNvPr id="17" name="矩形: 圆角 16"/>
              <p:cNvSpPr/>
              <p:nvPr/>
            </p:nvSpPr>
            <p:spPr>
              <a:xfrm>
                <a:off x="219974" y="1604512"/>
                <a:ext cx="8704052" cy="3032409"/>
              </a:xfrm>
              <a:prstGeom prst="roundRect">
                <a:avLst>
                  <a:gd name="adj" fmla="val 7211"/>
                </a:avLst>
              </a:prstGeom>
              <a:solidFill>
                <a:srgbClr val="FCF6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顶角 17"/>
              <p:cNvSpPr/>
              <p:nvPr/>
            </p:nvSpPr>
            <p:spPr>
              <a:xfrm>
                <a:off x="219974" y="1283821"/>
                <a:ext cx="8704052" cy="619519"/>
              </a:xfrm>
              <a:prstGeom prst="round2SameRect">
                <a:avLst>
                  <a:gd name="adj1" fmla="val 20076"/>
                  <a:gd name="adj2" fmla="val 0"/>
                </a:avLst>
              </a:prstGeom>
              <a:solidFill>
                <a:srgbClr val="E3A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矩形 14"/>
            <p:cNvSpPr/>
            <p:nvPr/>
          </p:nvSpPr>
          <p:spPr>
            <a:xfrm>
              <a:off x="319177" y="2000284"/>
              <a:ext cx="4571999" cy="487697"/>
            </a:xfrm>
            <a:prstGeom prst="rect">
              <a:avLst/>
            </a:prstGeom>
          </p:spPr>
          <p:txBody>
            <a:bodyPr>
              <a:spAutoFit/>
            </a:bodyPr>
            <a:lstStyle/>
            <a:p>
              <a:r>
                <a:rPr lang="zh-CN" altLang="en-US" sz="2400" dirty="0">
                  <a:solidFill>
                    <a:srgbClr val="FFFFFF"/>
                  </a:solidFill>
                  <a:latin typeface="MicrosoftYaHei"/>
                </a:rPr>
                <a:t>说明</a:t>
              </a:r>
              <a:endParaRPr lang="zh-CN" altLang="en-US" sz="2400" dirty="0"/>
            </a:p>
          </p:txBody>
        </p:sp>
        <p:sp>
          <p:nvSpPr>
            <p:cNvPr id="16" name="矩形 15"/>
            <p:cNvSpPr/>
            <p:nvPr/>
          </p:nvSpPr>
          <p:spPr>
            <a:xfrm>
              <a:off x="319177" y="2572676"/>
              <a:ext cx="8307238" cy="2632603"/>
            </a:xfrm>
            <a:prstGeom prst="rect">
              <a:avLst/>
            </a:prstGeom>
          </p:spPr>
          <p:txBody>
            <a:bodyPr wrap="square">
              <a:spAutoFit/>
            </a:bodyPr>
            <a:lstStyle/>
            <a:p>
              <a:pPr marL="285750" indent="-285750">
                <a:lnSpc>
                  <a:spcPct val="150000"/>
                </a:lnSpc>
                <a:buClr>
                  <a:srgbClr val="262686"/>
                </a:buClr>
                <a:buSzPct val="80000"/>
                <a:buFont typeface="Wingdings" panose="05000000000000000000" pitchFamily="2" charset="2"/>
                <a:buChar char="l"/>
              </a:pPr>
              <a:r>
                <a:rPr lang="zh-CN" altLang="en-US" dirty="0"/>
                <a:t>相比于普通数组，</a:t>
              </a:r>
              <a:r>
                <a:rPr lang="en-US" altLang="zh-CN" dirty="0"/>
                <a:t>array </a:t>
              </a:r>
              <a:r>
                <a:rPr lang="zh-CN" altLang="en-US" dirty="0"/>
                <a:t>更安全、易使用</a:t>
              </a:r>
              <a:endParaRPr lang="en-US" altLang="zh-CN" dirty="0"/>
            </a:p>
            <a:p>
              <a:pPr marL="285750" indent="-285750">
                <a:lnSpc>
                  <a:spcPct val="150000"/>
                </a:lnSpc>
                <a:buClr>
                  <a:srgbClr val="262686"/>
                </a:buClr>
                <a:buSzPct val="80000"/>
                <a:buFont typeface="Wingdings" panose="05000000000000000000" pitchFamily="2" charset="2"/>
                <a:buChar char="l"/>
              </a:pPr>
              <a:r>
                <a:rPr lang="en-US" altLang="zh-CN" dirty="0"/>
                <a:t>array </a:t>
              </a:r>
              <a:r>
                <a:rPr lang="zh-CN" altLang="en-US" dirty="0"/>
                <a:t>不支持插入、删除等改变容器大小的操作</a:t>
              </a:r>
              <a:endParaRPr lang="en-US" altLang="zh-CN" dirty="0"/>
            </a:p>
            <a:p>
              <a:pPr marL="285750" indent="-285750">
                <a:lnSpc>
                  <a:spcPct val="150000"/>
                </a:lnSpc>
                <a:buClr>
                  <a:srgbClr val="262686"/>
                </a:buClr>
                <a:buSzPct val="80000"/>
                <a:buFont typeface="Wingdings" panose="05000000000000000000" pitchFamily="2" charset="2"/>
                <a:buChar char="l"/>
              </a:pPr>
              <a:r>
                <a:rPr lang="zh-CN" altLang="en-US" dirty="0"/>
                <a:t>创建 </a:t>
              </a:r>
              <a:r>
                <a:rPr lang="en-US" altLang="zh-CN" dirty="0"/>
                <a:t>array </a:t>
              </a:r>
              <a:r>
                <a:rPr lang="zh-CN" altLang="en-US" dirty="0"/>
                <a:t>对象时需指明元素类型和数组大小</a:t>
              </a:r>
              <a:endParaRPr lang="en-US" altLang="zh-CN" dirty="0"/>
            </a:p>
            <a:p>
              <a:pPr marL="285750" indent="-285750">
                <a:lnSpc>
                  <a:spcPct val="150000"/>
                </a:lnSpc>
                <a:buClr>
                  <a:srgbClr val="262686"/>
                </a:buClr>
                <a:buSzPct val="80000"/>
                <a:buFont typeface="Wingdings" panose="05000000000000000000" pitchFamily="2" charset="2"/>
                <a:buChar char="l"/>
              </a:pPr>
              <a:r>
                <a:rPr lang="en-US" altLang="zh-CN" dirty="0"/>
                <a:t>array </a:t>
              </a:r>
              <a:r>
                <a:rPr lang="zh-CN" altLang="en-US" dirty="0"/>
                <a:t>支持随机迭代器</a:t>
              </a:r>
              <a:endParaRPr lang="zh-CN" altLang="en-US" dirty="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使用 </a:t>
            </a:r>
            <a:r>
              <a:rPr kumimoji="0" lang="en-US" altLang="zh-CN" sz="2800" dirty="0">
                <a:solidFill>
                  <a:srgbClr val="006600"/>
                </a:solidFill>
                <a:ea typeface="隶书" panose="02010509060101010101" pitchFamily="49" charset="-122"/>
              </a:rPr>
              <a:t>deque</a:t>
            </a:r>
            <a:endParaRPr kumimoji="0" lang="zh-CN" altLang="en-US" sz="2800" dirty="0">
              <a:solidFill>
                <a:srgbClr val="006600"/>
              </a:solidFill>
              <a:ea typeface="隶书" panose="02010509060101010101" pitchFamily="49" charset="-122"/>
            </a:endParaRPr>
          </a:p>
          <a:p>
            <a:pPr marL="342900" indent="-342900">
              <a:spcBef>
                <a:spcPct val="50000"/>
              </a:spcBef>
              <a:buFont typeface="Arial" panose="020B0604020202020204" pitchFamily="34" charset="0"/>
              <a:buChar char="•"/>
            </a:pPr>
            <a:r>
              <a:rPr kumimoji="0" lang="zh-CN" altLang="en-US" sz="2000" b="1" dirty="0">
                <a:latin typeface="宋体" panose="02010600030101010101" pitchFamily="2" charset="-122"/>
              </a:rPr>
              <a:t>所有适用</a:t>
            </a:r>
            <a:r>
              <a:rPr kumimoji="0" lang="en-US" altLang="zh-CN" sz="2000" b="1" dirty="0">
                <a:latin typeface="宋体" panose="02010600030101010101" pitchFamily="2" charset="-122"/>
              </a:rPr>
              <a:t>vector</a:t>
            </a:r>
            <a:r>
              <a:rPr kumimoji="0" lang="zh-CN" altLang="en-US" sz="2000" b="1" dirty="0">
                <a:latin typeface="宋体" panose="02010600030101010101" pitchFamily="2" charset="-122"/>
              </a:rPr>
              <a:t>的操作都适用于</a:t>
            </a:r>
            <a:r>
              <a:rPr kumimoji="0" lang="en-US" altLang="zh-CN" sz="2000" b="1" dirty="0">
                <a:latin typeface="宋体" panose="02010600030101010101" pitchFamily="2" charset="-122"/>
              </a:rPr>
              <a:t>deque</a:t>
            </a:r>
            <a:r>
              <a:rPr kumimoji="0" lang="zh-CN" altLang="en-US" sz="2000" b="1" dirty="0">
                <a:latin typeface="宋体" panose="02010600030101010101" pitchFamily="2" charset="-122"/>
              </a:rPr>
              <a:t>。</a:t>
            </a:r>
            <a:endParaRPr kumimoji="0" lang="en-US" altLang="zh-CN" sz="2000" b="1" dirty="0">
              <a:latin typeface="宋体" panose="02010600030101010101" pitchFamily="2" charset="-122"/>
            </a:endParaRPr>
          </a:p>
          <a:p>
            <a:pPr marL="342900" indent="-342900">
              <a:spcBef>
                <a:spcPct val="50000"/>
              </a:spcBef>
              <a:buFont typeface="Arial" panose="020B0604020202020204" pitchFamily="34" charset="0"/>
              <a:buChar char="•"/>
            </a:pPr>
            <a:r>
              <a:rPr kumimoji="0" lang="en-US" altLang="zh-CN" sz="2000" b="1" dirty="0">
                <a:latin typeface="宋体" panose="02010600030101010101" pitchFamily="2" charset="-122"/>
              </a:rPr>
              <a:t>deque</a:t>
            </a:r>
            <a:r>
              <a:rPr kumimoji="0" lang="zh-CN" altLang="en-US" sz="2000" b="1" dirty="0">
                <a:latin typeface="宋体" panose="02010600030101010101" pitchFamily="2" charset="-122"/>
              </a:rPr>
              <a:t>还有</a:t>
            </a:r>
            <a:r>
              <a:rPr kumimoji="0" lang="en-US" altLang="zh-CN" sz="2000" b="1" dirty="0" err="1">
                <a:solidFill>
                  <a:srgbClr val="FF0000"/>
                </a:solidFill>
                <a:latin typeface="宋体" panose="02010600030101010101" pitchFamily="2" charset="-122"/>
              </a:rPr>
              <a:t>push_front</a:t>
            </a:r>
            <a:r>
              <a:rPr kumimoji="0" lang="zh-CN" altLang="en-US" sz="2000" b="1" dirty="0">
                <a:latin typeface="宋体" panose="02010600030101010101" pitchFamily="2" charset="-122"/>
              </a:rPr>
              <a:t>和</a:t>
            </a:r>
            <a:r>
              <a:rPr kumimoji="0" lang="en-US" altLang="zh-CN" sz="2000" b="1" dirty="0" err="1">
                <a:latin typeface="宋体" panose="02010600030101010101" pitchFamily="2" charset="-122"/>
              </a:rPr>
              <a:t>pop_front</a:t>
            </a:r>
            <a:r>
              <a:rPr kumimoji="0" lang="zh-CN" altLang="en-US" sz="2000" b="1" dirty="0">
                <a:latin typeface="宋体" panose="02010600030101010101" pitchFamily="2" charset="-122"/>
              </a:rPr>
              <a:t>两个操作。</a:t>
            </a:r>
            <a:endParaRPr kumimoji="0" lang="en-US" altLang="zh-CN" sz="2000" b="1" dirty="0">
              <a:latin typeface="宋体" panose="02010600030101010101" pitchFamily="2" charset="-122"/>
            </a:endParaRPr>
          </a:p>
          <a:p>
            <a:pPr marL="342900" indent="-342900">
              <a:spcBef>
                <a:spcPct val="50000"/>
              </a:spcBef>
              <a:buFont typeface="Arial" panose="020B0604020202020204" pitchFamily="34" charset="0"/>
              <a:buChar char="•"/>
            </a:pPr>
            <a:r>
              <a:rPr kumimoji="0" lang="en-US" altLang="zh-CN" sz="2000" b="1" dirty="0" err="1">
                <a:latin typeface="宋体" panose="02010600030101010101" pitchFamily="2" charset="-122"/>
              </a:rPr>
              <a:t>push_front</a:t>
            </a:r>
            <a:r>
              <a:rPr kumimoji="0" lang="zh-CN" altLang="en-US" sz="2000" b="1" dirty="0">
                <a:latin typeface="宋体" panose="02010600030101010101" pitchFamily="2" charset="-122"/>
              </a:rPr>
              <a:t>：在最前面插入一个元素；</a:t>
            </a:r>
            <a:endParaRPr kumimoji="0" lang="en-US" altLang="zh-CN" sz="2000" b="1" dirty="0">
              <a:latin typeface="宋体" panose="02010600030101010101" pitchFamily="2" charset="-122"/>
            </a:endParaRPr>
          </a:p>
          <a:p>
            <a:pPr marL="342900" indent="-342900">
              <a:spcBef>
                <a:spcPct val="50000"/>
              </a:spcBef>
              <a:buFont typeface="Arial" panose="020B0604020202020204" pitchFamily="34" charset="0"/>
              <a:buChar char="•"/>
            </a:pPr>
            <a:r>
              <a:rPr kumimoji="0" lang="en-US" altLang="zh-CN" sz="2000" b="1" dirty="0" err="1">
                <a:latin typeface="宋体" panose="02010600030101010101" pitchFamily="2" charset="-122"/>
              </a:rPr>
              <a:t>pop_front</a:t>
            </a:r>
            <a:r>
              <a:rPr kumimoji="0" lang="zh-CN" altLang="en-US" sz="2000" b="1" dirty="0">
                <a:latin typeface="宋体" panose="02010600030101010101" pitchFamily="2" charset="-122"/>
              </a:rPr>
              <a:t>：删除最前面的元素；</a:t>
            </a:r>
            <a:endParaRPr kumimoji="0" lang="zh-CN" altLang="en-US" sz="2000"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11" name="图片 10"/>
          <p:cNvPicPr>
            <a:picLocks noChangeAspect="1"/>
          </p:cNvPicPr>
          <p:nvPr/>
        </p:nvPicPr>
        <p:blipFill>
          <a:blip r:embed="rId3"/>
          <a:stretch>
            <a:fillRect/>
          </a:stretch>
        </p:blipFill>
        <p:spPr>
          <a:xfrm>
            <a:off x="10840128" y="5894384"/>
            <a:ext cx="450873" cy="749339"/>
          </a:xfrm>
          <a:prstGeom prst="rect">
            <a:avLst/>
          </a:prstGeom>
        </p:spPr>
      </p:pic>
      <p:sp>
        <p:nvSpPr>
          <p:cNvPr id="19" name="矩形 18"/>
          <p:cNvSpPr/>
          <p:nvPr/>
        </p:nvSpPr>
        <p:spPr>
          <a:xfrm>
            <a:off x="900999" y="3268920"/>
            <a:ext cx="6488884" cy="1323439"/>
          </a:xfrm>
          <a:prstGeom prst="rect">
            <a:avLst/>
          </a:prstGeom>
        </p:spPr>
        <p:txBody>
          <a:bodyPr wrap="square">
            <a:spAutoFit/>
          </a:bodyPr>
          <a:lstStyle/>
          <a:p>
            <a:r>
              <a:rPr lang="en-US" altLang="zh-CN" sz="2000" dirty="0">
                <a:solidFill>
                  <a:srgbClr val="000000"/>
                </a:solidFill>
                <a:latin typeface="Consolas" panose="020B0609020204030204" pitchFamily="49" charset="0"/>
              </a:rPr>
              <a:t>deque&lt;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a:t>
            </a:r>
            <a:r>
              <a:rPr lang="en-US" altLang="zh-CN" sz="2000" dirty="0" err="1">
                <a:solidFill>
                  <a:srgbClr val="000000"/>
                </a:solidFill>
                <a:latin typeface="Consolas" panose="020B0609020204030204" pitchFamily="49" charset="0"/>
              </a:rPr>
              <a:t>dq</a:t>
            </a:r>
            <a:r>
              <a:rPr lang="en-US" altLang="zh-CN" sz="2000" dirty="0">
                <a:solidFill>
                  <a:srgbClr val="000000"/>
                </a:solidFill>
                <a:latin typeface="Consolas" panose="020B0609020204030204" pitchFamily="49" charset="0"/>
              </a:rPr>
              <a:t> = {</a:t>
            </a:r>
            <a:r>
              <a:rPr lang="en-US" altLang="zh-CN" sz="2000" dirty="0">
                <a:solidFill>
                  <a:srgbClr val="09885A"/>
                </a:solidFill>
                <a:latin typeface="Consolas" panose="020B0609020204030204" pitchFamily="49" charset="0"/>
              </a:rPr>
              <a:t>1</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2</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3</a:t>
            </a:r>
            <a:r>
              <a:rPr lang="en-US" altLang="zh-CN" sz="2000" dirty="0">
                <a:solidFill>
                  <a:srgbClr val="000000"/>
                </a:solidFill>
                <a:latin typeface="Consolas" panose="020B0609020204030204" pitchFamily="49" charset="0"/>
              </a:rPr>
              <a:t>};</a:t>
            </a:r>
            <a:endParaRPr lang="en-US" altLang="zh-CN" sz="2000" dirty="0">
              <a:solidFill>
                <a:srgbClr val="000000"/>
              </a:solidFill>
              <a:latin typeface="Consolas" panose="020B0609020204030204" pitchFamily="49" charset="0"/>
            </a:endParaRPr>
          </a:p>
          <a:p>
            <a:r>
              <a:rPr lang="en-US" altLang="zh-CN" sz="2000" dirty="0" err="1">
                <a:solidFill>
                  <a:srgbClr val="000000"/>
                </a:solidFill>
                <a:latin typeface="Consolas" panose="020B0609020204030204" pitchFamily="49" charset="0"/>
              </a:rPr>
              <a:t>dq.</a:t>
            </a:r>
            <a:r>
              <a:rPr lang="en-US" altLang="zh-CN" sz="2000" dirty="0" err="1">
                <a:solidFill>
                  <a:srgbClr val="795E26"/>
                </a:solidFill>
                <a:latin typeface="Consolas" panose="020B0609020204030204" pitchFamily="49" charset="0"/>
              </a:rPr>
              <a:t>push_back</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4</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尾部插入一个元素</a:t>
            </a:r>
            <a:endParaRPr lang="zh-CN" altLang="en-US" sz="2000" dirty="0">
              <a:solidFill>
                <a:srgbClr val="000000"/>
              </a:solidFill>
              <a:latin typeface="Consolas" panose="020B0609020204030204" pitchFamily="49" charset="0"/>
            </a:endParaRPr>
          </a:p>
          <a:p>
            <a:r>
              <a:rPr lang="en-US" altLang="zh-CN" sz="2000" dirty="0" err="1">
                <a:solidFill>
                  <a:srgbClr val="000000"/>
                </a:solidFill>
                <a:latin typeface="Consolas" panose="020B0609020204030204" pitchFamily="49" charset="0"/>
              </a:rPr>
              <a:t>dq.</a:t>
            </a:r>
            <a:r>
              <a:rPr lang="en-US" altLang="zh-CN" sz="2000" dirty="0" err="1">
                <a:solidFill>
                  <a:srgbClr val="795E26"/>
                </a:solidFill>
                <a:latin typeface="Consolas" panose="020B0609020204030204" pitchFamily="49" charset="0"/>
              </a:rPr>
              <a:t>push_front</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0</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首部插入一个元素</a:t>
            </a:r>
            <a:endParaRPr lang="zh-CN" altLang="en-US" sz="2000" dirty="0">
              <a:solidFill>
                <a:srgbClr val="000000"/>
              </a:solidFill>
              <a:latin typeface="Consolas" panose="020B0609020204030204" pitchFamily="49" charset="0"/>
            </a:endParaRPr>
          </a:p>
          <a:p>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a:t>
            </a:r>
            <a:r>
              <a:rPr lang="en-US" altLang="zh-CN" sz="2000" dirty="0" err="1">
                <a:solidFill>
                  <a:srgbClr val="000000"/>
                </a:solidFill>
                <a:latin typeface="Consolas" panose="020B0609020204030204" pitchFamily="49" charset="0"/>
              </a:rPr>
              <a:t>dq</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3</a:t>
            </a:r>
            <a:r>
              <a:rPr lang="en-US" altLang="zh-CN" sz="2000" dirty="0">
                <a:solidFill>
                  <a:srgbClr val="000000"/>
                </a:solidFill>
                <a:latin typeface="Consolas" panose="020B0609020204030204" pitchFamily="49" charset="0"/>
              </a:rPr>
              <a:t>]&lt;&lt; </a:t>
            </a:r>
            <a:r>
              <a:rPr lang="en-US" altLang="zh-CN" sz="2000" dirty="0" err="1">
                <a:solidFill>
                  <a:srgbClr val="000000"/>
                </a:solidFill>
                <a:latin typeface="Consolas" panose="020B0609020204030204" pitchFamily="49" charset="0"/>
              </a:rPr>
              <a:t>endl</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随机访问</a:t>
            </a:r>
            <a:endParaRPr lang="zh-CN" altLang="en-US" sz="2000" b="0" dirty="0">
              <a:solidFill>
                <a:srgbClr val="000000"/>
              </a:solidFill>
              <a:effectLst/>
              <a:latin typeface="Consolas" panose="020B0609020204030204" pitchFamily="49" charset="0"/>
            </a:endParaRPr>
          </a:p>
        </p:txBody>
      </p:sp>
      <p:grpSp>
        <p:nvGrpSpPr>
          <p:cNvPr id="20" name="组合 19"/>
          <p:cNvGrpSpPr/>
          <p:nvPr/>
        </p:nvGrpSpPr>
        <p:grpSpPr>
          <a:xfrm>
            <a:off x="6867076" y="1681726"/>
            <a:ext cx="5179149" cy="3110549"/>
            <a:chOff x="219974" y="2000284"/>
            <a:chExt cx="8704052" cy="7280167"/>
          </a:xfrm>
        </p:grpSpPr>
        <p:grpSp>
          <p:nvGrpSpPr>
            <p:cNvPr id="21" name="组合 20"/>
            <p:cNvGrpSpPr/>
            <p:nvPr/>
          </p:nvGrpSpPr>
          <p:grpSpPr>
            <a:xfrm>
              <a:off x="219974" y="2014513"/>
              <a:ext cx="8704052" cy="4231680"/>
              <a:chOff x="219974" y="1283819"/>
              <a:chExt cx="8704052" cy="3946170"/>
            </a:xfrm>
            <a:effectLst>
              <a:outerShdw blurRad="50800" dist="69850" dir="2700000" algn="tl" rotWithShape="0">
                <a:prstClr val="black">
                  <a:alpha val="40000"/>
                </a:prstClr>
              </a:outerShdw>
            </a:effectLst>
          </p:grpSpPr>
          <p:sp>
            <p:nvSpPr>
              <p:cNvPr id="24" name="矩形: 圆角 23"/>
              <p:cNvSpPr/>
              <p:nvPr/>
            </p:nvSpPr>
            <p:spPr>
              <a:xfrm>
                <a:off x="219974" y="1604512"/>
                <a:ext cx="8704052" cy="3625477"/>
              </a:xfrm>
              <a:prstGeom prst="roundRect">
                <a:avLst>
                  <a:gd name="adj" fmla="val 7211"/>
                </a:avLst>
              </a:prstGeom>
              <a:solidFill>
                <a:srgbClr val="FCF6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顶角 24"/>
              <p:cNvSpPr/>
              <p:nvPr/>
            </p:nvSpPr>
            <p:spPr>
              <a:xfrm>
                <a:off x="219974" y="1283819"/>
                <a:ext cx="8704052" cy="955492"/>
              </a:xfrm>
              <a:prstGeom prst="round2SameRect">
                <a:avLst>
                  <a:gd name="adj1" fmla="val 20076"/>
                  <a:gd name="adj2" fmla="val 0"/>
                </a:avLst>
              </a:prstGeom>
              <a:solidFill>
                <a:srgbClr val="E3A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21"/>
            <p:cNvSpPr/>
            <p:nvPr/>
          </p:nvSpPr>
          <p:spPr>
            <a:xfrm>
              <a:off x="319177" y="2000284"/>
              <a:ext cx="4571999" cy="487697"/>
            </a:xfrm>
            <a:prstGeom prst="rect">
              <a:avLst/>
            </a:prstGeom>
          </p:spPr>
          <p:txBody>
            <a:bodyPr>
              <a:spAutoFit/>
            </a:bodyPr>
            <a:lstStyle/>
            <a:p>
              <a:r>
                <a:rPr lang="zh-CN" altLang="en-US" sz="2400" dirty="0">
                  <a:solidFill>
                    <a:srgbClr val="FFFFFF"/>
                  </a:solidFill>
                  <a:latin typeface="MicrosoftYaHei"/>
                </a:rPr>
                <a:t>说明</a:t>
              </a:r>
              <a:endParaRPr lang="zh-CN" altLang="en-US" sz="2400" dirty="0"/>
            </a:p>
          </p:txBody>
        </p:sp>
        <p:sp>
          <p:nvSpPr>
            <p:cNvPr id="23" name="矩形 22"/>
            <p:cNvSpPr/>
            <p:nvPr/>
          </p:nvSpPr>
          <p:spPr>
            <a:xfrm>
              <a:off x="319177" y="2896104"/>
              <a:ext cx="8307238" cy="6384347"/>
            </a:xfrm>
            <a:prstGeom prst="rect">
              <a:avLst/>
            </a:prstGeom>
          </p:spPr>
          <p:txBody>
            <a:bodyPr wrap="square">
              <a:spAutoFit/>
            </a:bodyPr>
            <a:lstStyle/>
            <a:p>
              <a:pPr marL="285750" indent="-285750">
                <a:lnSpc>
                  <a:spcPct val="150000"/>
                </a:lnSpc>
                <a:buClr>
                  <a:srgbClr val="262686"/>
                </a:buClr>
                <a:buSzPct val="80000"/>
                <a:buFont typeface="Wingdings" panose="05000000000000000000" pitchFamily="2" charset="2"/>
                <a:buChar char="l"/>
              </a:pPr>
              <a:r>
                <a:rPr lang="zh-CN" altLang="en-US" sz="2000" dirty="0"/>
                <a:t>与 </a:t>
              </a:r>
              <a:r>
                <a:rPr lang="en-US" altLang="zh-CN" sz="2000" dirty="0"/>
                <a:t>vector </a:t>
              </a:r>
              <a:r>
                <a:rPr lang="zh-CN" altLang="en-US" sz="2000" dirty="0"/>
                <a:t>类似， </a:t>
              </a:r>
              <a:r>
                <a:rPr lang="en-US" altLang="zh-CN" sz="2000" dirty="0"/>
                <a:t>deque </a:t>
              </a:r>
              <a:r>
                <a:rPr lang="zh-CN" altLang="en-US" sz="2000" dirty="0"/>
                <a:t>支持随机迭代器</a:t>
              </a:r>
              <a:endParaRPr lang="en-US" altLang="zh-CN" sz="2000" dirty="0"/>
            </a:p>
            <a:p>
              <a:pPr marL="285750" indent="-285750">
                <a:lnSpc>
                  <a:spcPct val="150000"/>
                </a:lnSpc>
                <a:buClr>
                  <a:srgbClr val="262686"/>
                </a:buClr>
                <a:buSzPct val="80000"/>
                <a:buFont typeface="Wingdings" panose="05000000000000000000" pitchFamily="2" charset="2"/>
                <a:buChar char="l"/>
              </a:pPr>
              <a:r>
                <a:rPr lang="zh-CN" altLang="en-US" sz="2000" dirty="0"/>
                <a:t>与 </a:t>
              </a:r>
              <a:r>
                <a:rPr lang="en-US" altLang="zh-CN" sz="2000" dirty="0"/>
                <a:t>vector </a:t>
              </a:r>
              <a:r>
                <a:rPr lang="zh-CN" altLang="en-US" sz="2000" dirty="0"/>
                <a:t>不同的是，</a:t>
              </a:r>
              <a:r>
                <a:rPr lang="en-US" altLang="zh-CN" sz="2000" dirty="0"/>
                <a:t>deque </a:t>
              </a:r>
              <a:r>
                <a:rPr lang="zh-CN" altLang="en-US" sz="2000" dirty="0"/>
                <a:t>可以在</a:t>
              </a:r>
              <a:r>
                <a:rPr lang="zh-CN" altLang="en-US" sz="2000" dirty="0">
                  <a:solidFill>
                    <a:srgbClr val="FF0000"/>
                  </a:solidFill>
                </a:rPr>
                <a:t>首尾两端</a:t>
              </a:r>
              <a:r>
                <a:rPr lang="zh-CN" altLang="en-US" sz="2000" dirty="0"/>
                <a:t>进行快速地插入和删除操作 </a:t>
              </a:r>
              <a:br>
                <a:rPr lang="zh-CN" altLang="en-US" dirty="0"/>
              </a:br>
              <a:r>
                <a:rPr lang="zh-CN" altLang="en-US" dirty="0"/>
                <a:t> </a:t>
              </a:r>
              <a:br>
                <a:rPr lang="zh-CN" altLang="en-US" dirty="0"/>
              </a:br>
              <a:endParaRPr lang="zh-CN" altLang="en-US" dirty="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list</a:t>
            </a:r>
            <a:r>
              <a:rPr kumimoji="0" lang="zh-CN" altLang="en-US" sz="2800" dirty="0">
                <a:solidFill>
                  <a:srgbClr val="006600"/>
                </a:solidFill>
                <a:ea typeface="隶书" panose="02010509060101010101" pitchFamily="49" charset="-122"/>
              </a:rPr>
              <a:t>容器示例</a:t>
            </a: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11" name="图片 10"/>
          <p:cNvPicPr>
            <a:picLocks noChangeAspect="1"/>
          </p:cNvPicPr>
          <p:nvPr/>
        </p:nvPicPr>
        <p:blipFill>
          <a:blip r:embed="rId3"/>
          <a:stretch>
            <a:fillRect/>
          </a:stretch>
        </p:blipFill>
        <p:spPr>
          <a:xfrm>
            <a:off x="10840128" y="5894384"/>
            <a:ext cx="450873" cy="749339"/>
          </a:xfrm>
          <a:prstGeom prst="rect">
            <a:avLst/>
          </a:prstGeom>
        </p:spPr>
      </p:pic>
      <p:pic>
        <p:nvPicPr>
          <p:cNvPr id="3" name="图片 2"/>
          <p:cNvPicPr>
            <a:picLocks noChangeAspect="1"/>
          </p:cNvPicPr>
          <p:nvPr/>
        </p:nvPicPr>
        <p:blipFill rotWithShape="1">
          <a:blip r:embed="rId4"/>
          <a:srcRect t="28382"/>
          <a:stretch>
            <a:fillRect/>
          </a:stretch>
        </p:blipFill>
        <p:spPr>
          <a:xfrm>
            <a:off x="1658288" y="2439110"/>
            <a:ext cx="6102664" cy="2774280"/>
          </a:xfrm>
          <a:prstGeom prst="rect">
            <a:avLst/>
          </a:prstGeom>
        </p:spPr>
      </p:pic>
      <p:sp>
        <p:nvSpPr>
          <p:cNvPr id="16" name="文本框 15"/>
          <p:cNvSpPr txBox="1"/>
          <p:nvPr/>
        </p:nvSpPr>
        <p:spPr>
          <a:xfrm>
            <a:off x="1269723" y="1089967"/>
            <a:ext cx="9275693" cy="1200329"/>
          </a:xfrm>
          <a:prstGeom prst="rect">
            <a:avLst/>
          </a:prstGeom>
          <a:noFill/>
        </p:spPr>
        <p:txBody>
          <a:bodyPr wrap="square">
            <a:spAutoFit/>
          </a:bodyPr>
          <a:lstStyle/>
          <a:p>
            <a:pPr marL="342900" indent="-342900">
              <a:spcBef>
                <a:spcPct val="50000"/>
              </a:spcBef>
              <a:buFont typeface="Arial" panose="020B0604020202020204" pitchFamily="34" charset="0"/>
              <a:buChar char="•"/>
            </a:pPr>
            <a:r>
              <a:rPr kumimoji="0" lang="en-US" altLang="zh-CN" sz="1800" b="1" dirty="0">
                <a:latin typeface="宋体" panose="02010600030101010101" pitchFamily="2" charset="-122"/>
              </a:rPr>
              <a:t>list</a:t>
            </a:r>
            <a:r>
              <a:rPr kumimoji="0" lang="zh-CN" altLang="en-US" sz="1800" b="1" dirty="0">
                <a:latin typeface="宋体" panose="02010600030101010101" pitchFamily="2" charset="-122"/>
              </a:rPr>
              <a:t>容器是一个双向链表，不支持随机存取（双向迭代器），只能</a:t>
            </a:r>
            <a:r>
              <a:rPr kumimoji="0" lang="zh-CN" altLang="en-US" sz="1800" b="1" dirty="0">
                <a:solidFill>
                  <a:srgbClr val="FF0000"/>
                </a:solidFill>
                <a:latin typeface="宋体" panose="02010600030101010101" pitchFamily="2" charset="-122"/>
              </a:rPr>
              <a:t>顺序存取</a:t>
            </a:r>
            <a:r>
              <a:rPr kumimoji="0" lang="zh-CN" altLang="en-US" sz="1800" b="1" dirty="0">
                <a:latin typeface="宋体" panose="02010600030101010101" pitchFamily="2" charset="-122"/>
              </a:rPr>
              <a:t>；</a:t>
            </a:r>
            <a:endParaRPr kumimoji="0" lang="en-US" altLang="zh-CN" sz="1800" b="1" dirty="0">
              <a:latin typeface="宋体" panose="02010600030101010101" pitchFamily="2" charset="-122"/>
            </a:endParaRPr>
          </a:p>
          <a:p>
            <a:pPr marL="342900" indent="-342900">
              <a:spcBef>
                <a:spcPct val="50000"/>
              </a:spcBef>
              <a:buFont typeface="Arial" panose="020B0604020202020204" pitchFamily="34" charset="0"/>
              <a:buChar char="•"/>
            </a:pPr>
            <a:r>
              <a:rPr kumimoji="0" lang="zh-CN" altLang="en-US" sz="1800" b="1" dirty="0">
                <a:latin typeface="宋体" panose="02010600030101010101" pitchFamily="2" charset="-122"/>
              </a:rPr>
              <a:t>在</a:t>
            </a:r>
            <a:r>
              <a:rPr kumimoji="0" lang="en-US" altLang="zh-CN" sz="1800" b="1" dirty="0">
                <a:latin typeface="宋体" panose="02010600030101010101" pitchFamily="2" charset="-122"/>
              </a:rPr>
              <a:t>list</a:t>
            </a:r>
            <a:r>
              <a:rPr kumimoji="0" lang="zh-CN" altLang="en-US" sz="1800" b="1" dirty="0">
                <a:latin typeface="宋体" panose="02010600030101010101" pitchFamily="2" charset="-122"/>
              </a:rPr>
              <a:t>容器中任何位置的插入删除操作都是常数时间；</a:t>
            </a:r>
            <a:endParaRPr kumimoji="0" lang="en-US" altLang="zh-CN" sz="1800" b="1" dirty="0">
              <a:latin typeface="宋体" panose="02010600030101010101" pitchFamily="2" charset="-122"/>
            </a:endParaRPr>
          </a:p>
          <a:p>
            <a:pPr marL="342900" indent="-342900">
              <a:spcBef>
                <a:spcPct val="50000"/>
              </a:spcBef>
              <a:buFont typeface="Arial" panose="020B0604020202020204" pitchFamily="34" charset="0"/>
              <a:buChar char="•"/>
            </a:pPr>
            <a:r>
              <a:rPr kumimoji="0" lang="zh-CN" altLang="en-US" sz="1800" b="1" dirty="0">
                <a:latin typeface="宋体" panose="02010600030101010101" pitchFamily="2" charset="-122"/>
              </a:rPr>
              <a:t>除了具有前述顺序容器的所有成员函数外，还包括以下成员函数：</a:t>
            </a:r>
            <a:endParaRPr kumimoji="0" lang="zh-CN" altLang="en-US" sz="1800" b="1" dirty="0">
              <a:latin typeface="宋体" panose="02010600030101010101" pitchFamily="2" charset="-122"/>
            </a:endParaRPr>
          </a:p>
        </p:txBody>
      </p:sp>
      <p:pic>
        <p:nvPicPr>
          <p:cNvPr id="7" name="图片 6"/>
          <p:cNvPicPr>
            <a:picLocks noChangeAspect="1"/>
          </p:cNvPicPr>
          <p:nvPr/>
        </p:nvPicPr>
        <p:blipFill>
          <a:blip r:embed="rId5"/>
          <a:stretch>
            <a:fillRect/>
          </a:stretch>
        </p:blipFill>
        <p:spPr>
          <a:xfrm>
            <a:off x="1658288" y="5213390"/>
            <a:ext cx="6343976" cy="685835"/>
          </a:xfrm>
          <a:prstGeom prst="rect">
            <a:avLst/>
          </a:prstGeom>
        </p:spPr>
      </p:pic>
      <p:pic>
        <p:nvPicPr>
          <p:cNvPr id="10" name="图片 9"/>
          <p:cNvPicPr>
            <a:picLocks noChangeAspect="1"/>
          </p:cNvPicPr>
          <p:nvPr/>
        </p:nvPicPr>
        <p:blipFill>
          <a:blip r:embed="rId6"/>
          <a:stretch>
            <a:fillRect/>
          </a:stretch>
        </p:blipFill>
        <p:spPr>
          <a:xfrm>
            <a:off x="7467171" y="5040102"/>
            <a:ext cx="438173" cy="196860"/>
          </a:xfrm>
          <a:prstGeom prst="rect">
            <a:avLst/>
          </a:prstGeom>
        </p:spPr>
      </p:pic>
      <p:pic>
        <p:nvPicPr>
          <p:cNvPr id="14" name="图片 13"/>
          <p:cNvPicPr>
            <a:picLocks noChangeAspect="1"/>
          </p:cNvPicPr>
          <p:nvPr/>
        </p:nvPicPr>
        <p:blipFill>
          <a:blip r:embed="rId6"/>
          <a:stretch>
            <a:fillRect/>
          </a:stretch>
        </p:blipFill>
        <p:spPr>
          <a:xfrm>
            <a:off x="7961243" y="5187267"/>
            <a:ext cx="438173" cy="82561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list</a:t>
            </a:r>
            <a:r>
              <a:rPr kumimoji="0" lang="zh-CN" altLang="en-US" sz="2800" dirty="0">
                <a:solidFill>
                  <a:srgbClr val="006600"/>
                </a:solidFill>
                <a:ea typeface="隶书" panose="02010509060101010101" pitchFamily="49" charset="-122"/>
              </a:rPr>
              <a:t>容器示例</a:t>
            </a: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11" name="图片 10"/>
          <p:cNvPicPr>
            <a:picLocks noChangeAspect="1"/>
          </p:cNvPicPr>
          <p:nvPr/>
        </p:nvPicPr>
        <p:blipFill>
          <a:blip r:embed="rId3"/>
          <a:stretch>
            <a:fillRect/>
          </a:stretch>
        </p:blipFill>
        <p:spPr>
          <a:xfrm>
            <a:off x="10840128" y="5894384"/>
            <a:ext cx="450873" cy="749339"/>
          </a:xfrm>
          <a:prstGeom prst="rect">
            <a:avLst/>
          </a:prstGeom>
        </p:spPr>
      </p:pic>
      <p:sp>
        <p:nvSpPr>
          <p:cNvPr id="16" name="文本框 15"/>
          <p:cNvSpPr txBox="1"/>
          <p:nvPr/>
        </p:nvSpPr>
        <p:spPr>
          <a:xfrm>
            <a:off x="1269723" y="1089967"/>
            <a:ext cx="9275693" cy="461665"/>
          </a:xfrm>
          <a:prstGeom prst="rect">
            <a:avLst/>
          </a:prstGeom>
          <a:noFill/>
        </p:spPr>
        <p:txBody>
          <a:bodyPr wrap="square">
            <a:spAutoFit/>
          </a:bodyPr>
          <a:lstStyle/>
          <a:p>
            <a:r>
              <a:rPr lang="zh-CN" altLang="en-US" sz="2400" b="1" dirty="0"/>
              <a:t>使用 </a:t>
            </a:r>
            <a:r>
              <a:rPr lang="en-US" altLang="zh-CN" sz="2400" b="1" dirty="0"/>
              <a:t>list</a:t>
            </a:r>
            <a:endParaRPr lang="zh-CN" altLang="en-US" sz="2400" b="1" dirty="0"/>
          </a:p>
        </p:txBody>
      </p:sp>
      <p:pic>
        <p:nvPicPr>
          <p:cNvPr id="10" name="图片 9"/>
          <p:cNvPicPr>
            <a:picLocks noChangeAspect="1"/>
          </p:cNvPicPr>
          <p:nvPr/>
        </p:nvPicPr>
        <p:blipFill>
          <a:blip r:embed="rId4"/>
          <a:stretch>
            <a:fillRect/>
          </a:stretch>
        </p:blipFill>
        <p:spPr>
          <a:xfrm>
            <a:off x="7467171" y="5040102"/>
            <a:ext cx="438173" cy="196860"/>
          </a:xfrm>
          <a:prstGeom prst="rect">
            <a:avLst/>
          </a:prstGeom>
        </p:spPr>
      </p:pic>
      <p:pic>
        <p:nvPicPr>
          <p:cNvPr id="14" name="图片 13"/>
          <p:cNvPicPr>
            <a:picLocks noChangeAspect="1"/>
          </p:cNvPicPr>
          <p:nvPr/>
        </p:nvPicPr>
        <p:blipFill>
          <a:blip r:embed="rId4"/>
          <a:stretch>
            <a:fillRect/>
          </a:stretch>
        </p:blipFill>
        <p:spPr>
          <a:xfrm>
            <a:off x="7961243" y="5187267"/>
            <a:ext cx="438173" cy="825612"/>
          </a:xfrm>
          <a:prstGeom prst="rect">
            <a:avLst/>
          </a:prstGeom>
        </p:spPr>
      </p:pic>
      <p:sp>
        <p:nvSpPr>
          <p:cNvPr id="13" name="文本框 12"/>
          <p:cNvSpPr txBox="1"/>
          <p:nvPr/>
        </p:nvSpPr>
        <p:spPr>
          <a:xfrm>
            <a:off x="3958778" y="4732640"/>
            <a:ext cx="6000909" cy="968791"/>
          </a:xfrm>
          <a:prstGeom prst="rect">
            <a:avLst/>
          </a:prstGeom>
          <a:noFill/>
        </p:spPr>
        <p:txBody>
          <a:bodyPr wrap="square">
            <a:spAutoFit/>
          </a:bodyPr>
          <a:lstStyle/>
          <a:p>
            <a:pPr marL="285750" indent="-285750">
              <a:lnSpc>
                <a:spcPct val="150000"/>
              </a:lnSpc>
              <a:buClr>
                <a:srgbClr val="262686"/>
              </a:buClr>
              <a:buSzPct val="80000"/>
              <a:buFont typeface="Wingdings" panose="05000000000000000000" pitchFamily="2" charset="2"/>
              <a:buChar char="l"/>
            </a:pPr>
            <a:r>
              <a:rPr lang="en-US" altLang="zh-CN" sz="2000" b="1" dirty="0"/>
              <a:t>splice </a:t>
            </a:r>
            <a:r>
              <a:rPr lang="zh-CN" altLang="en-US" sz="2000" b="1" dirty="0"/>
              <a:t>成员函数将一个 </a:t>
            </a:r>
            <a:r>
              <a:rPr lang="en-US" altLang="zh-CN" sz="2000" b="1" dirty="0"/>
              <a:t>lst2 </a:t>
            </a:r>
            <a:r>
              <a:rPr lang="zh-CN" altLang="en-US" sz="2000" b="1" dirty="0"/>
              <a:t>中的元素</a:t>
            </a:r>
            <a:r>
              <a:rPr lang="zh-CN" altLang="en-US" sz="2000" b="1" dirty="0">
                <a:solidFill>
                  <a:srgbClr val="FF0000"/>
                </a:solidFill>
              </a:rPr>
              <a:t>转移</a:t>
            </a:r>
            <a:r>
              <a:rPr lang="zh-CN" altLang="en-US" sz="2000" b="1" dirty="0"/>
              <a:t>到 </a:t>
            </a:r>
            <a:r>
              <a:rPr lang="en-US" altLang="zh-CN" sz="2000" b="1" dirty="0"/>
              <a:t>lst1 </a:t>
            </a:r>
            <a:r>
              <a:rPr lang="zh-CN" altLang="en-US" sz="2000" b="1" dirty="0"/>
              <a:t>中，</a:t>
            </a:r>
            <a:r>
              <a:rPr lang="en-US" altLang="zh-CN" sz="2000" b="1" dirty="0"/>
              <a:t>splice </a:t>
            </a:r>
            <a:r>
              <a:rPr lang="zh-CN" altLang="en-US" sz="2000" b="1" dirty="0"/>
              <a:t>函数调用执行完后， </a:t>
            </a:r>
            <a:r>
              <a:rPr lang="en-US" altLang="zh-CN" sz="2000" b="1" dirty="0"/>
              <a:t>lst2 </a:t>
            </a:r>
            <a:r>
              <a:rPr lang="zh-CN" altLang="en-US" sz="2000" b="1" dirty="0"/>
              <a:t>变为空列表</a:t>
            </a:r>
            <a:endParaRPr lang="zh-CN" altLang="en-US" sz="2000" b="1" dirty="0"/>
          </a:p>
        </p:txBody>
      </p:sp>
      <p:sp>
        <p:nvSpPr>
          <p:cNvPr id="15" name="矩形 14"/>
          <p:cNvSpPr/>
          <p:nvPr/>
        </p:nvSpPr>
        <p:spPr>
          <a:xfrm>
            <a:off x="1240077" y="1778005"/>
            <a:ext cx="9825487" cy="2554545"/>
          </a:xfrm>
          <a:prstGeom prst="rect">
            <a:avLst/>
          </a:prstGeom>
        </p:spPr>
        <p:txBody>
          <a:bodyPr wrap="square">
            <a:spAutoFit/>
          </a:bodyPr>
          <a:lstStyle/>
          <a:p>
            <a:r>
              <a:rPr lang="en-US" altLang="zh-CN" sz="2000" dirty="0">
                <a:solidFill>
                  <a:srgbClr val="000000"/>
                </a:solidFill>
                <a:latin typeface="Consolas" panose="020B0609020204030204" pitchFamily="49" charset="0"/>
              </a:rPr>
              <a:t>list&lt;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lst1 = {</a:t>
            </a:r>
            <a:r>
              <a:rPr lang="en-US" altLang="zh-CN" sz="2000" dirty="0">
                <a:solidFill>
                  <a:srgbClr val="09885A"/>
                </a:solidFill>
                <a:latin typeface="Consolas" panose="020B0609020204030204" pitchFamily="49" charset="0"/>
              </a:rPr>
              <a:t>2</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3</a:t>
            </a:r>
            <a:r>
              <a:rPr lang="en-US" altLang="zh-CN" sz="2000" dirty="0">
                <a:solidFill>
                  <a:srgbClr val="000000"/>
                </a:solidFill>
                <a:latin typeface="Consolas" panose="020B0609020204030204" pitchFamily="49" charset="0"/>
              </a:rPr>
              <a:t>}, lst2 = {</a:t>
            </a:r>
            <a:r>
              <a:rPr lang="en-US" altLang="zh-CN" sz="2000" dirty="0">
                <a:solidFill>
                  <a:srgbClr val="09885A"/>
                </a:solidFill>
                <a:latin typeface="Consolas" panose="020B0609020204030204" pitchFamily="49" charset="0"/>
              </a:rPr>
              <a:t>1</a:t>
            </a:r>
            <a:r>
              <a:rPr lang="en-US" altLang="zh-CN" sz="2000" dirty="0">
                <a:solidFill>
                  <a:srgbClr val="000000"/>
                </a:solidFill>
                <a:latin typeface="Consolas" panose="020B0609020204030204" pitchFamily="49" charset="0"/>
              </a:rPr>
              <a:t>};</a:t>
            </a:r>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lst1.</a:t>
            </a:r>
            <a:r>
              <a:rPr lang="en-US" altLang="zh-CN" sz="2000" dirty="0">
                <a:solidFill>
                  <a:srgbClr val="795E26"/>
                </a:solidFill>
                <a:latin typeface="Consolas" panose="020B0609020204030204" pitchFamily="49" charset="0"/>
              </a:rPr>
              <a:t>push_back</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5</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在</a:t>
            </a:r>
            <a:r>
              <a:rPr lang="en-US" altLang="zh-CN" sz="2000" dirty="0">
                <a:solidFill>
                  <a:srgbClr val="008000"/>
                </a:solidFill>
                <a:latin typeface="Consolas" panose="020B0609020204030204" pitchFamily="49" charset="0"/>
              </a:rPr>
              <a:t>lst1</a:t>
            </a:r>
            <a:r>
              <a:rPr lang="zh-CN" altLang="en-US" sz="2000" dirty="0">
                <a:solidFill>
                  <a:srgbClr val="008000"/>
                </a:solidFill>
                <a:latin typeface="Consolas" panose="020B0609020204030204" pitchFamily="49" charset="0"/>
              </a:rPr>
              <a:t>的尾部插入元素</a:t>
            </a:r>
            <a:r>
              <a:rPr lang="en-US" altLang="zh-CN" sz="2000" dirty="0">
                <a:solidFill>
                  <a:srgbClr val="008000"/>
                </a:solidFill>
                <a:latin typeface="Consolas" panose="020B0609020204030204" pitchFamily="49" charset="0"/>
              </a:rPr>
              <a:t>5</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lst2.</a:t>
            </a:r>
            <a:r>
              <a:rPr lang="en-US" altLang="zh-CN" sz="2000" dirty="0">
                <a:solidFill>
                  <a:srgbClr val="795E26"/>
                </a:solidFill>
                <a:latin typeface="Consolas" panose="020B0609020204030204" pitchFamily="49" charset="0"/>
              </a:rPr>
              <a:t>push_front</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0</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在</a:t>
            </a:r>
            <a:r>
              <a:rPr lang="en-US" altLang="zh-CN" sz="2000" dirty="0">
                <a:solidFill>
                  <a:srgbClr val="008000"/>
                </a:solidFill>
                <a:latin typeface="Consolas" panose="020B0609020204030204" pitchFamily="49" charset="0"/>
              </a:rPr>
              <a:t>lst2</a:t>
            </a:r>
            <a:r>
              <a:rPr lang="zh-CN" altLang="en-US" sz="2000" dirty="0">
                <a:solidFill>
                  <a:srgbClr val="008000"/>
                </a:solidFill>
                <a:latin typeface="Consolas" panose="020B0609020204030204" pitchFamily="49" charset="0"/>
              </a:rPr>
              <a:t>的首部插入元素</a:t>
            </a:r>
            <a:r>
              <a:rPr lang="en-US" altLang="zh-CN" sz="2000" dirty="0">
                <a:solidFill>
                  <a:srgbClr val="008000"/>
                </a:solidFill>
                <a:latin typeface="Consolas" panose="020B0609020204030204" pitchFamily="49" charset="0"/>
              </a:rPr>
              <a:t>0</a:t>
            </a:r>
            <a:endParaRPr lang="zh-CN" altLang="en-US" sz="2000" dirty="0">
              <a:solidFill>
                <a:srgbClr val="000000"/>
              </a:solidFill>
              <a:latin typeface="Consolas" panose="020B0609020204030204" pitchFamily="49" charset="0"/>
            </a:endParaRPr>
          </a:p>
          <a:p>
            <a:r>
              <a:rPr lang="en-US" altLang="zh-CN" sz="2000" dirty="0">
                <a:solidFill>
                  <a:srgbClr val="0000FF"/>
                </a:solidFill>
                <a:latin typeface="Consolas" panose="020B0609020204030204" pitchFamily="49" charset="0"/>
              </a:rPr>
              <a:t>auto</a:t>
            </a:r>
            <a:r>
              <a:rPr lang="en-US" altLang="zh-CN" sz="2000" dirty="0">
                <a:solidFill>
                  <a:srgbClr val="000000"/>
                </a:solidFill>
                <a:latin typeface="Consolas" panose="020B0609020204030204" pitchFamily="49" charset="0"/>
              </a:rPr>
              <a:t> pos = </a:t>
            </a:r>
            <a:r>
              <a:rPr lang="en-US" altLang="zh-CN" sz="2000" dirty="0">
                <a:solidFill>
                  <a:srgbClr val="795E26"/>
                </a:solidFill>
                <a:latin typeface="Consolas" panose="020B0609020204030204" pitchFamily="49" charset="0"/>
              </a:rPr>
              <a:t>find</a:t>
            </a:r>
            <a:r>
              <a:rPr lang="en-US" altLang="zh-CN" sz="2000" dirty="0">
                <a:solidFill>
                  <a:srgbClr val="000000"/>
                </a:solidFill>
                <a:latin typeface="Consolas" panose="020B0609020204030204" pitchFamily="49" charset="0"/>
              </a:rPr>
              <a:t>(lst1.</a:t>
            </a:r>
            <a:r>
              <a:rPr lang="en-US" altLang="zh-CN" sz="2000" dirty="0">
                <a:solidFill>
                  <a:srgbClr val="795E26"/>
                </a:solidFill>
                <a:latin typeface="Consolas" panose="020B0609020204030204" pitchFamily="49" charset="0"/>
              </a:rPr>
              <a:t>begin</a:t>
            </a:r>
            <a:r>
              <a:rPr lang="en-US" altLang="zh-CN" sz="2000" dirty="0">
                <a:solidFill>
                  <a:srgbClr val="000000"/>
                </a:solidFill>
                <a:latin typeface="Consolas" panose="020B0609020204030204" pitchFamily="49" charset="0"/>
              </a:rPr>
              <a:t>(),lst1.</a:t>
            </a:r>
            <a:r>
              <a:rPr lang="en-US" altLang="zh-CN" sz="2000" dirty="0">
                <a:solidFill>
                  <a:srgbClr val="795E26"/>
                </a:solidFill>
                <a:latin typeface="Consolas" panose="020B0609020204030204" pitchFamily="49" charset="0"/>
              </a:rPr>
              <a:t>end</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5</a:t>
            </a:r>
            <a:r>
              <a:rPr lang="en-US" altLang="zh-CN" sz="2000" dirty="0">
                <a:solidFill>
                  <a:srgbClr val="000000"/>
                </a:solidFill>
                <a:latin typeface="Consolas" panose="020B0609020204030204" pitchFamily="49" charset="0"/>
              </a:rPr>
              <a:t>);</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找到指向元素</a:t>
            </a:r>
            <a:r>
              <a:rPr lang="en-US" altLang="zh-CN" sz="2000" dirty="0">
                <a:solidFill>
                  <a:srgbClr val="008000"/>
                </a:solidFill>
                <a:latin typeface="Consolas" panose="020B0609020204030204" pitchFamily="49" charset="0"/>
              </a:rPr>
              <a:t>5</a:t>
            </a:r>
            <a:r>
              <a:rPr lang="zh-CN" altLang="en-US" sz="2000" dirty="0">
                <a:solidFill>
                  <a:srgbClr val="008000"/>
                </a:solidFill>
                <a:latin typeface="Consolas" panose="020B0609020204030204" pitchFamily="49" charset="0"/>
              </a:rPr>
              <a:t>的迭代器</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lst1.</a:t>
            </a:r>
            <a:r>
              <a:rPr lang="en-US" altLang="zh-CN" sz="2000" dirty="0">
                <a:solidFill>
                  <a:srgbClr val="795E26"/>
                </a:solidFill>
                <a:latin typeface="Consolas" panose="020B0609020204030204" pitchFamily="49" charset="0"/>
              </a:rPr>
              <a:t>insert</a:t>
            </a:r>
            <a:r>
              <a:rPr lang="en-US" altLang="zh-CN" sz="2000" dirty="0">
                <a:solidFill>
                  <a:srgbClr val="000000"/>
                </a:solidFill>
                <a:latin typeface="Consolas" panose="020B0609020204030204" pitchFamily="49" charset="0"/>
              </a:rPr>
              <a:t>(pos, </a:t>
            </a:r>
            <a:r>
              <a:rPr lang="en-US" altLang="zh-CN" sz="2000" dirty="0">
                <a:solidFill>
                  <a:srgbClr val="09885A"/>
                </a:solidFill>
                <a:latin typeface="Consolas" panose="020B0609020204030204" pitchFamily="49" charset="0"/>
              </a:rPr>
              <a:t>4</a:t>
            </a:r>
            <a:r>
              <a:rPr lang="en-US" altLang="zh-CN" sz="2000" dirty="0">
                <a:solidFill>
                  <a:srgbClr val="000000"/>
                </a:solidFill>
                <a:latin typeface="Consolas" panose="020B0609020204030204" pitchFamily="49" charset="0"/>
              </a:rPr>
              <a:t>);</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在此位置插入元素</a:t>
            </a:r>
            <a:r>
              <a:rPr lang="en-US" altLang="zh-CN" sz="2000" dirty="0">
                <a:solidFill>
                  <a:srgbClr val="008000"/>
                </a:solidFill>
                <a:latin typeface="Consolas" panose="020B0609020204030204" pitchFamily="49" charset="0"/>
              </a:rPr>
              <a:t>4</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lst1.</a:t>
            </a:r>
            <a:r>
              <a:rPr lang="en-US" altLang="zh-CN" sz="2000" dirty="0">
                <a:solidFill>
                  <a:srgbClr val="795E26"/>
                </a:solidFill>
                <a:latin typeface="Consolas" panose="020B0609020204030204" pitchFamily="49" charset="0"/>
              </a:rPr>
              <a:t>splice</a:t>
            </a:r>
            <a:r>
              <a:rPr lang="en-US" altLang="zh-CN" sz="2000" dirty="0">
                <a:solidFill>
                  <a:srgbClr val="000000"/>
                </a:solidFill>
                <a:latin typeface="Consolas" panose="020B0609020204030204" pitchFamily="49" charset="0"/>
              </a:rPr>
              <a:t>(lst1.</a:t>
            </a:r>
            <a:r>
              <a:rPr lang="en-US" altLang="zh-CN" sz="2000" dirty="0">
                <a:solidFill>
                  <a:srgbClr val="795E26"/>
                </a:solidFill>
                <a:latin typeface="Consolas" panose="020B0609020204030204" pitchFamily="49" charset="0"/>
              </a:rPr>
              <a:t>begin</a:t>
            </a:r>
            <a:r>
              <a:rPr lang="en-US" altLang="zh-CN" sz="2000" dirty="0">
                <a:solidFill>
                  <a:srgbClr val="000000"/>
                </a:solidFill>
                <a:latin typeface="Consolas" panose="020B0609020204030204" pitchFamily="49" charset="0"/>
              </a:rPr>
              <a:t>(), lst2);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将</a:t>
            </a:r>
            <a:r>
              <a:rPr lang="en-US" altLang="zh-CN" sz="2000" dirty="0">
                <a:solidFill>
                  <a:srgbClr val="008000"/>
                </a:solidFill>
                <a:latin typeface="Consolas" panose="020B0609020204030204" pitchFamily="49" charset="0"/>
              </a:rPr>
              <a:t>lst2</a:t>
            </a:r>
            <a:r>
              <a:rPr lang="zh-CN" altLang="en-US" sz="2000" dirty="0">
                <a:solidFill>
                  <a:srgbClr val="008000"/>
                </a:solidFill>
                <a:latin typeface="Consolas" panose="020B0609020204030204" pitchFamily="49" charset="0"/>
              </a:rPr>
              <a:t>插入到</a:t>
            </a:r>
            <a:r>
              <a:rPr lang="en-US" altLang="zh-CN" sz="2000" dirty="0">
                <a:solidFill>
                  <a:srgbClr val="008000"/>
                </a:solidFill>
                <a:latin typeface="Consolas" panose="020B0609020204030204" pitchFamily="49" charset="0"/>
              </a:rPr>
              <a:t>lst1</a:t>
            </a:r>
            <a:r>
              <a:rPr lang="zh-CN" altLang="en-US" sz="2000" dirty="0">
                <a:solidFill>
                  <a:srgbClr val="008000"/>
                </a:solidFill>
                <a:latin typeface="Consolas" panose="020B0609020204030204" pitchFamily="49" charset="0"/>
              </a:rPr>
              <a:t>中第</a:t>
            </a:r>
            <a:r>
              <a:rPr lang="en-US" altLang="zh-CN" sz="2000" dirty="0">
                <a:solidFill>
                  <a:srgbClr val="008000"/>
                </a:solidFill>
                <a:latin typeface="Consolas" panose="020B0609020204030204" pitchFamily="49" charset="0"/>
              </a:rPr>
              <a:t>1</a:t>
            </a:r>
            <a:r>
              <a:rPr lang="zh-CN" altLang="en-US" sz="2000" dirty="0">
                <a:solidFill>
                  <a:srgbClr val="008000"/>
                </a:solidFill>
                <a:latin typeface="Consolas" panose="020B0609020204030204" pitchFamily="49" charset="0"/>
              </a:rPr>
              <a:t>个元素位置</a:t>
            </a:r>
            <a:endParaRPr lang="zh-CN" altLang="en-US" sz="2000" dirty="0">
              <a:solidFill>
                <a:srgbClr val="000000"/>
              </a:solidFill>
              <a:latin typeface="Consolas" panose="020B0609020204030204" pitchFamily="49" charset="0"/>
            </a:endParaRPr>
          </a:p>
          <a:p>
            <a:r>
              <a:rPr lang="en-US" altLang="zh-CN" sz="2000" dirty="0">
                <a:solidFill>
                  <a:srgbClr val="AF00DB"/>
                </a:solidFill>
                <a:latin typeface="Consolas" panose="020B0609020204030204" pitchFamily="49" charset="0"/>
              </a:rPr>
              <a:t>for</a:t>
            </a:r>
            <a:r>
              <a:rPr lang="en-US" altLang="zh-CN" sz="2000" dirty="0">
                <a:solidFill>
                  <a:srgbClr val="000000"/>
                </a:solidFill>
                <a:latin typeface="Consolas" panose="020B0609020204030204" pitchFamily="49" charset="0"/>
              </a:rPr>
              <a:t> (</a:t>
            </a:r>
            <a:r>
              <a:rPr lang="en-US" altLang="zh-CN" sz="2000" dirty="0">
                <a:solidFill>
                  <a:srgbClr val="0000FF"/>
                </a:solidFill>
                <a:latin typeface="Consolas" panose="020B0609020204030204" pitchFamily="49" charset="0"/>
              </a:rPr>
              <a:t>auto</a:t>
            </a:r>
            <a:r>
              <a:rPr lang="en-US" altLang="zh-CN" sz="2000" dirty="0">
                <a:solidFill>
                  <a:srgbClr val="000000"/>
                </a:solidFill>
                <a:latin typeface="Consolas" panose="020B0609020204030204" pitchFamily="49" charset="0"/>
              </a:rPr>
              <a:t> it = lst1.</a:t>
            </a:r>
            <a:r>
              <a:rPr lang="en-US" altLang="zh-CN" sz="2000" dirty="0">
                <a:solidFill>
                  <a:srgbClr val="795E26"/>
                </a:solidFill>
                <a:latin typeface="Consolas" panose="020B0609020204030204" pitchFamily="49" charset="0"/>
              </a:rPr>
              <a:t>begin</a:t>
            </a:r>
            <a:r>
              <a:rPr lang="en-US" altLang="zh-CN" sz="2000" dirty="0">
                <a:solidFill>
                  <a:srgbClr val="000000"/>
                </a:solidFill>
                <a:latin typeface="Consolas" panose="020B0609020204030204" pitchFamily="49" charset="0"/>
              </a:rPr>
              <a:t>(); it != lst1.</a:t>
            </a:r>
            <a:r>
              <a:rPr lang="en-US" altLang="zh-CN" sz="2000" dirty="0">
                <a:solidFill>
                  <a:srgbClr val="795E26"/>
                </a:solidFill>
                <a:latin typeface="Consolas" panose="020B0609020204030204" pitchFamily="49" charset="0"/>
              </a:rPr>
              <a:t>end</a:t>
            </a:r>
            <a:r>
              <a:rPr lang="en-US" altLang="zh-CN" sz="2000" dirty="0">
                <a:solidFill>
                  <a:srgbClr val="000000"/>
                </a:solidFill>
                <a:latin typeface="Consolas" panose="020B0609020204030204" pitchFamily="49" charset="0"/>
              </a:rPr>
              <a:t>(); ++it)</a:t>
            </a:r>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*it &lt;&lt; </a:t>
            </a:r>
            <a:r>
              <a:rPr lang="en-US" altLang="zh-CN" sz="2000" dirty="0">
                <a:solidFill>
                  <a:srgbClr val="A31515"/>
                </a:solidFill>
                <a:latin typeface="Consolas" panose="020B0609020204030204" pitchFamily="49" charset="0"/>
              </a:rPr>
              <a:t>" "</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打印输出：</a:t>
            </a:r>
            <a:r>
              <a:rPr lang="en-US" altLang="zh-CN" sz="2000" dirty="0">
                <a:solidFill>
                  <a:srgbClr val="008000"/>
                </a:solidFill>
                <a:latin typeface="Consolas" panose="020B0609020204030204" pitchFamily="49" charset="0"/>
              </a:rPr>
              <a:t>0 1 2 3 4 5</a:t>
            </a:r>
            <a:endParaRPr lang="zh-CN" altLang="en-US" sz="2000" b="0" dirty="0">
              <a:solidFill>
                <a:srgbClr val="000000"/>
              </a:solidFill>
              <a:effectLst/>
              <a:latin typeface="Consolas" panose="020B0609020204030204"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list</a:t>
            </a:r>
            <a:r>
              <a:rPr kumimoji="0" lang="zh-CN" altLang="en-US" sz="2800" dirty="0">
                <a:solidFill>
                  <a:srgbClr val="006600"/>
                </a:solidFill>
                <a:ea typeface="隶书" panose="02010509060101010101" pitchFamily="49" charset="-122"/>
              </a:rPr>
              <a:t>容器示例</a:t>
            </a: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11" name="图片 10"/>
          <p:cNvPicPr>
            <a:picLocks noChangeAspect="1"/>
          </p:cNvPicPr>
          <p:nvPr/>
        </p:nvPicPr>
        <p:blipFill>
          <a:blip r:embed="rId3"/>
          <a:stretch>
            <a:fillRect/>
          </a:stretch>
        </p:blipFill>
        <p:spPr>
          <a:xfrm>
            <a:off x="10840128" y="5894384"/>
            <a:ext cx="450873" cy="749339"/>
          </a:xfrm>
          <a:prstGeom prst="rect">
            <a:avLst/>
          </a:prstGeom>
        </p:spPr>
      </p:pic>
      <p:pic>
        <p:nvPicPr>
          <p:cNvPr id="10" name="图片 9"/>
          <p:cNvPicPr>
            <a:picLocks noChangeAspect="1"/>
          </p:cNvPicPr>
          <p:nvPr/>
        </p:nvPicPr>
        <p:blipFill>
          <a:blip r:embed="rId4"/>
          <a:stretch>
            <a:fillRect/>
          </a:stretch>
        </p:blipFill>
        <p:spPr>
          <a:xfrm>
            <a:off x="7467171" y="5040102"/>
            <a:ext cx="438173" cy="196860"/>
          </a:xfrm>
          <a:prstGeom prst="rect">
            <a:avLst/>
          </a:prstGeom>
        </p:spPr>
      </p:pic>
      <p:pic>
        <p:nvPicPr>
          <p:cNvPr id="14" name="图片 13"/>
          <p:cNvPicPr>
            <a:picLocks noChangeAspect="1"/>
          </p:cNvPicPr>
          <p:nvPr/>
        </p:nvPicPr>
        <p:blipFill>
          <a:blip r:embed="rId4"/>
          <a:stretch>
            <a:fillRect/>
          </a:stretch>
        </p:blipFill>
        <p:spPr>
          <a:xfrm>
            <a:off x="7961243" y="5187267"/>
            <a:ext cx="438173" cy="825612"/>
          </a:xfrm>
          <a:prstGeom prst="rect">
            <a:avLst/>
          </a:prstGeom>
        </p:spPr>
      </p:pic>
      <p:pic>
        <p:nvPicPr>
          <p:cNvPr id="3" name="图片 2"/>
          <p:cNvPicPr>
            <a:picLocks noChangeAspect="1"/>
          </p:cNvPicPr>
          <p:nvPr/>
        </p:nvPicPr>
        <p:blipFill rotWithShape="1">
          <a:blip r:embed="rId5"/>
          <a:srcRect t="2193"/>
          <a:stretch>
            <a:fillRect/>
          </a:stretch>
        </p:blipFill>
        <p:spPr>
          <a:xfrm>
            <a:off x="354720" y="1739348"/>
            <a:ext cx="6386167" cy="4387446"/>
          </a:xfrm>
          <a:prstGeom prst="rect">
            <a:avLst/>
          </a:prstGeom>
        </p:spPr>
      </p:pic>
      <p:pic>
        <p:nvPicPr>
          <p:cNvPr id="6" name="图片 5"/>
          <p:cNvPicPr>
            <a:picLocks noChangeAspect="1"/>
          </p:cNvPicPr>
          <p:nvPr/>
        </p:nvPicPr>
        <p:blipFill>
          <a:blip r:embed="rId6"/>
          <a:stretch>
            <a:fillRect/>
          </a:stretch>
        </p:blipFill>
        <p:spPr>
          <a:xfrm>
            <a:off x="5881497" y="417933"/>
            <a:ext cx="5579603" cy="41237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list</a:t>
            </a:r>
            <a:r>
              <a:rPr kumimoji="0" lang="zh-CN" altLang="en-US" sz="2800" dirty="0">
                <a:solidFill>
                  <a:srgbClr val="006600"/>
                </a:solidFill>
                <a:ea typeface="隶书" panose="02010509060101010101" pitchFamily="49" charset="-122"/>
              </a:rPr>
              <a:t>容器示例</a:t>
            </a: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4431323" y="679543"/>
            <a:ext cx="667450" cy="1258308"/>
          </a:xfrm>
          <a:prstGeom prst="rect">
            <a:avLst/>
          </a:prstGeom>
        </p:spPr>
      </p:pic>
      <p:pic>
        <p:nvPicPr>
          <p:cNvPr id="11" name="图片 10"/>
          <p:cNvPicPr>
            <a:picLocks noChangeAspect="1"/>
          </p:cNvPicPr>
          <p:nvPr/>
        </p:nvPicPr>
        <p:blipFill>
          <a:blip r:embed="rId3"/>
          <a:stretch>
            <a:fillRect/>
          </a:stretch>
        </p:blipFill>
        <p:spPr>
          <a:xfrm>
            <a:off x="10840128" y="5894384"/>
            <a:ext cx="450873" cy="749339"/>
          </a:xfrm>
          <a:prstGeom prst="rect">
            <a:avLst/>
          </a:prstGeom>
        </p:spPr>
      </p:pic>
      <p:pic>
        <p:nvPicPr>
          <p:cNvPr id="10" name="图片 9"/>
          <p:cNvPicPr>
            <a:picLocks noChangeAspect="1"/>
          </p:cNvPicPr>
          <p:nvPr/>
        </p:nvPicPr>
        <p:blipFill>
          <a:blip r:embed="rId4"/>
          <a:stretch>
            <a:fillRect/>
          </a:stretch>
        </p:blipFill>
        <p:spPr>
          <a:xfrm>
            <a:off x="7467171" y="5040102"/>
            <a:ext cx="438173" cy="196860"/>
          </a:xfrm>
          <a:prstGeom prst="rect">
            <a:avLst/>
          </a:prstGeom>
        </p:spPr>
      </p:pic>
      <p:pic>
        <p:nvPicPr>
          <p:cNvPr id="14" name="图片 13"/>
          <p:cNvPicPr>
            <a:picLocks noChangeAspect="1"/>
          </p:cNvPicPr>
          <p:nvPr/>
        </p:nvPicPr>
        <p:blipFill>
          <a:blip r:embed="rId4"/>
          <a:stretch>
            <a:fillRect/>
          </a:stretch>
        </p:blipFill>
        <p:spPr>
          <a:xfrm>
            <a:off x="7961243" y="5187267"/>
            <a:ext cx="438173" cy="825612"/>
          </a:xfrm>
          <a:prstGeom prst="rect">
            <a:avLst/>
          </a:prstGeom>
        </p:spPr>
      </p:pic>
      <p:pic>
        <p:nvPicPr>
          <p:cNvPr id="5" name="图片 4"/>
          <p:cNvPicPr>
            <a:picLocks noChangeAspect="1"/>
          </p:cNvPicPr>
          <p:nvPr/>
        </p:nvPicPr>
        <p:blipFill>
          <a:blip r:embed="rId5"/>
          <a:stretch>
            <a:fillRect/>
          </a:stretch>
        </p:blipFill>
        <p:spPr>
          <a:xfrm>
            <a:off x="409884" y="1099505"/>
            <a:ext cx="5486682" cy="4229317"/>
          </a:xfrm>
          <a:prstGeom prst="rect">
            <a:avLst/>
          </a:prstGeom>
        </p:spPr>
      </p:pic>
      <p:pic>
        <p:nvPicPr>
          <p:cNvPr id="15" name="图片 14"/>
          <p:cNvPicPr>
            <a:picLocks noChangeAspect="1"/>
          </p:cNvPicPr>
          <p:nvPr/>
        </p:nvPicPr>
        <p:blipFill>
          <a:blip r:embed="rId6"/>
          <a:stretch>
            <a:fillRect/>
          </a:stretch>
        </p:blipFill>
        <p:spPr>
          <a:xfrm>
            <a:off x="5896566" y="829615"/>
            <a:ext cx="6295434" cy="4976706"/>
          </a:xfrm>
          <a:prstGeom prst="rect">
            <a:avLst/>
          </a:prstGeom>
        </p:spPr>
      </p:pic>
      <p:pic>
        <p:nvPicPr>
          <p:cNvPr id="17" name="图片 16"/>
          <p:cNvPicPr>
            <a:picLocks noChangeAspect="1"/>
          </p:cNvPicPr>
          <p:nvPr/>
        </p:nvPicPr>
        <p:blipFill>
          <a:blip r:embed="rId7"/>
          <a:stretch>
            <a:fillRect/>
          </a:stretch>
        </p:blipFill>
        <p:spPr>
          <a:xfrm>
            <a:off x="11693518" y="500239"/>
            <a:ext cx="498481" cy="1023908"/>
          </a:xfrm>
          <a:prstGeom prst="rect">
            <a:avLst/>
          </a:prstGeom>
        </p:spPr>
      </p:pic>
      <p:pic>
        <p:nvPicPr>
          <p:cNvPr id="18" name="图片 17"/>
          <p:cNvPicPr>
            <a:picLocks noChangeAspect="1"/>
          </p:cNvPicPr>
          <p:nvPr/>
        </p:nvPicPr>
        <p:blipFill>
          <a:blip r:embed="rId7"/>
          <a:stretch>
            <a:fillRect/>
          </a:stretch>
        </p:blipFill>
        <p:spPr>
          <a:xfrm>
            <a:off x="5752094" y="1112903"/>
            <a:ext cx="417837" cy="4693417"/>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list</a:t>
            </a:r>
            <a:r>
              <a:rPr kumimoji="0" lang="zh-CN" altLang="en-US" sz="2800" dirty="0">
                <a:solidFill>
                  <a:srgbClr val="006600"/>
                </a:solidFill>
                <a:ea typeface="隶书" panose="02010509060101010101" pitchFamily="49" charset="-122"/>
              </a:rPr>
              <a:t>容器示例</a:t>
            </a: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4431323" y="679543"/>
            <a:ext cx="667450" cy="1258308"/>
          </a:xfrm>
          <a:prstGeom prst="rect">
            <a:avLst/>
          </a:prstGeom>
        </p:spPr>
      </p:pic>
      <p:pic>
        <p:nvPicPr>
          <p:cNvPr id="11" name="图片 10"/>
          <p:cNvPicPr>
            <a:picLocks noChangeAspect="1"/>
          </p:cNvPicPr>
          <p:nvPr/>
        </p:nvPicPr>
        <p:blipFill>
          <a:blip r:embed="rId3"/>
          <a:stretch>
            <a:fillRect/>
          </a:stretch>
        </p:blipFill>
        <p:spPr>
          <a:xfrm>
            <a:off x="10840128" y="5894384"/>
            <a:ext cx="450873" cy="749339"/>
          </a:xfrm>
          <a:prstGeom prst="rect">
            <a:avLst/>
          </a:prstGeom>
        </p:spPr>
      </p:pic>
      <p:pic>
        <p:nvPicPr>
          <p:cNvPr id="10" name="图片 9"/>
          <p:cNvPicPr>
            <a:picLocks noChangeAspect="1"/>
          </p:cNvPicPr>
          <p:nvPr/>
        </p:nvPicPr>
        <p:blipFill>
          <a:blip r:embed="rId4"/>
          <a:stretch>
            <a:fillRect/>
          </a:stretch>
        </p:blipFill>
        <p:spPr>
          <a:xfrm>
            <a:off x="7467171" y="5040102"/>
            <a:ext cx="438173" cy="196860"/>
          </a:xfrm>
          <a:prstGeom prst="rect">
            <a:avLst/>
          </a:prstGeom>
        </p:spPr>
      </p:pic>
      <p:pic>
        <p:nvPicPr>
          <p:cNvPr id="14" name="图片 13"/>
          <p:cNvPicPr>
            <a:picLocks noChangeAspect="1"/>
          </p:cNvPicPr>
          <p:nvPr/>
        </p:nvPicPr>
        <p:blipFill>
          <a:blip r:embed="rId4"/>
          <a:stretch>
            <a:fillRect/>
          </a:stretch>
        </p:blipFill>
        <p:spPr>
          <a:xfrm>
            <a:off x="7961243" y="5187267"/>
            <a:ext cx="438173" cy="825612"/>
          </a:xfrm>
          <a:prstGeom prst="rect">
            <a:avLst/>
          </a:prstGeom>
        </p:spPr>
      </p:pic>
      <p:pic>
        <p:nvPicPr>
          <p:cNvPr id="17" name="图片 16"/>
          <p:cNvPicPr>
            <a:picLocks noChangeAspect="1"/>
          </p:cNvPicPr>
          <p:nvPr/>
        </p:nvPicPr>
        <p:blipFill>
          <a:blip r:embed="rId5"/>
          <a:stretch>
            <a:fillRect/>
          </a:stretch>
        </p:blipFill>
        <p:spPr>
          <a:xfrm>
            <a:off x="11693518" y="500239"/>
            <a:ext cx="498481" cy="1023908"/>
          </a:xfrm>
          <a:prstGeom prst="rect">
            <a:avLst/>
          </a:prstGeom>
        </p:spPr>
      </p:pic>
      <p:pic>
        <p:nvPicPr>
          <p:cNvPr id="18" name="图片 17"/>
          <p:cNvPicPr>
            <a:picLocks noChangeAspect="1"/>
          </p:cNvPicPr>
          <p:nvPr/>
        </p:nvPicPr>
        <p:blipFill>
          <a:blip r:embed="rId5"/>
          <a:stretch>
            <a:fillRect/>
          </a:stretch>
        </p:blipFill>
        <p:spPr>
          <a:xfrm>
            <a:off x="5752094" y="1112903"/>
            <a:ext cx="417837" cy="4693417"/>
          </a:xfrm>
          <a:prstGeom prst="rect">
            <a:avLst/>
          </a:prstGeom>
        </p:spPr>
      </p:pic>
      <p:pic>
        <p:nvPicPr>
          <p:cNvPr id="3" name="图片 2"/>
          <p:cNvPicPr>
            <a:picLocks noChangeAspect="1"/>
          </p:cNvPicPr>
          <p:nvPr/>
        </p:nvPicPr>
        <p:blipFill>
          <a:blip r:embed="rId6"/>
          <a:stretch>
            <a:fillRect/>
          </a:stretch>
        </p:blipFill>
        <p:spPr>
          <a:xfrm>
            <a:off x="835739" y="1112903"/>
            <a:ext cx="5174644" cy="4344064"/>
          </a:xfrm>
          <a:prstGeom prst="rect">
            <a:avLst/>
          </a:prstGeom>
        </p:spPr>
      </p:pic>
      <p:pic>
        <p:nvPicPr>
          <p:cNvPr id="7" name="图片 6"/>
          <p:cNvPicPr>
            <a:picLocks noChangeAspect="1"/>
          </p:cNvPicPr>
          <p:nvPr/>
        </p:nvPicPr>
        <p:blipFill>
          <a:blip r:embed="rId7"/>
          <a:stretch>
            <a:fillRect/>
          </a:stretch>
        </p:blipFill>
        <p:spPr>
          <a:xfrm>
            <a:off x="6166681" y="1080413"/>
            <a:ext cx="5327924" cy="371494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list</a:t>
            </a:r>
            <a:r>
              <a:rPr kumimoji="0" lang="zh-CN" altLang="en-US" sz="2800" dirty="0">
                <a:solidFill>
                  <a:srgbClr val="006600"/>
                </a:solidFill>
                <a:ea typeface="隶书" panose="02010509060101010101" pitchFamily="49" charset="-122"/>
              </a:rPr>
              <a:t>容器示例</a:t>
            </a: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4431323" y="679543"/>
            <a:ext cx="667450" cy="1258308"/>
          </a:xfrm>
          <a:prstGeom prst="rect">
            <a:avLst/>
          </a:prstGeom>
        </p:spPr>
      </p:pic>
      <p:pic>
        <p:nvPicPr>
          <p:cNvPr id="11" name="图片 10"/>
          <p:cNvPicPr>
            <a:picLocks noChangeAspect="1"/>
          </p:cNvPicPr>
          <p:nvPr/>
        </p:nvPicPr>
        <p:blipFill>
          <a:blip r:embed="rId3"/>
          <a:stretch>
            <a:fillRect/>
          </a:stretch>
        </p:blipFill>
        <p:spPr>
          <a:xfrm>
            <a:off x="10840128" y="5894384"/>
            <a:ext cx="450873" cy="749339"/>
          </a:xfrm>
          <a:prstGeom prst="rect">
            <a:avLst/>
          </a:prstGeom>
        </p:spPr>
      </p:pic>
      <p:pic>
        <p:nvPicPr>
          <p:cNvPr id="10" name="图片 9"/>
          <p:cNvPicPr>
            <a:picLocks noChangeAspect="1"/>
          </p:cNvPicPr>
          <p:nvPr/>
        </p:nvPicPr>
        <p:blipFill>
          <a:blip r:embed="rId4"/>
          <a:stretch>
            <a:fillRect/>
          </a:stretch>
        </p:blipFill>
        <p:spPr>
          <a:xfrm>
            <a:off x="7467171" y="5040102"/>
            <a:ext cx="438173" cy="196860"/>
          </a:xfrm>
          <a:prstGeom prst="rect">
            <a:avLst/>
          </a:prstGeom>
        </p:spPr>
      </p:pic>
      <p:pic>
        <p:nvPicPr>
          <p:cNvPr id="14" name="图片 13"/>
          <p:cNvPicPr>
            <a:picLocks noChangeAspect="1"/>
          </p:cNvPicPr>
          <p:nvPr/>
        </p:nvPicPr>
        <p:blipFill>
          <a:blip r:embed="rId4"/>
          <a:stretch>
            <a:fillRect/>
          </a:stretch>
        </p:blipFill>
        <p:spPr>
          <a:xfrm>
            <a:off x="7961243" y="5187267"/>
            <a:ext cx="438173" cy="825612"/>
          </a:xfrm>
          <a:prstGeom prst="rect">
            <a:avLst/>
          </a:prstGeom>
        </p:spPr>
      </p:pic>
      <p:pic>
        <p:nvPicPr>
          <p:cNvPr id="17" name="图片 16"/>
          <p:cNvPicPr>
            <a:picLocks noChangeAspect="1"/>
          </p:cNvPicPr>
          <p:nvPr/>
        </p:nvPicPr>
        <p:blipFill>
          <a:blip r:embed="rId5"/>
          <a:stretch>
            <a:fillRect/>
          </a:stretch>
        </p:blipFill>
        <p:spPr>
          <a:xfrm>
            <a:off x="11693518" y="500239"/>
            <a:ext cx="498481" cy="1023908"/>
          </a:xfrm>
          <a:prstGeom prst="rect">
            <a:avLst/>
          </a:prstGeom>
        </p:spPr>
      </p:pic>
      <p:pic>
        <p:nvPicPr>
          <p:cNvPr id="18" name="图片 17"/>
          <p:cNvPicPr>
            <a:picLocks noChangeAspect="1"/>
          </p:cNvPicPr>
          <p:nvPr/>
        </p:nvPicPr>
        <p:blipFill>
          <a:blip r:embed="rId5"/>
          <a:stretch>
            <a:fillRect/>
          </a:stretch>
        </p:blipFill>
        <p:spPr>
          <a:xfrm>
            <a:off x="5752094" y="1112903"/>
            <a:ext cx="417837" cy="4693417"/>
          </a:xfrm>
          <a:prstGeom prst="rect">
            <a:avLst/>
          </a:prstGeom>
        </p:spPr>
      </p:pic>
      <p:pic>
        <p:nvPicPr>
          <p:cNvPr id="5" name="图片 4"/>
          <p:cNvPicPr>
            <a:picLocks noChangeAspect="1"/>
          </p:cNvPicPr>
          <p:nvPr/>
        </p:nvPicPr>
        <p:blipFill>
          <a:blip r:embed="rId6"/>
          <a:stretch>
            <a:fillRect/>
          </a:stretch>
        </p:blipFill>
        <p:spPr>
          <a:xfrm>
            <a:off x="2119447" y="1152788"/>
            <a:ext cx="2736991" cy="48643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Rot="1" noChangeArrowheads="1"/>
          </p:cNvSpPr>
          <p:nvPr/>
        </p:nvSpPr>
        <p:spPr>
          <a:xfrm>
            <a:off x="1495700" y="92369"/>
            <a:ext cx="8280400" cy="982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4000" b="1" dirty="0">
                <a:effectLst>
                  <a:outerShdw blurRad="38100" dist="38100" dir="2700000" algn="tl">
                    <a:srgbClr val="C0C0C0"/>
                  </a:outerShdw>
                </a:effectLst>
              </a:rPr>
              <a:t>11.6 </a:t>
            </a:r>
            <a:r>
              <a:rPr lang="zh-CN" altLang="en-US" sz="4000" b="1" dirty="0">
                <a:effectLst>
                  <a:outerShdw blurRad="38100" dist="38100" dir="2700000" algn="tl">
                    <a:srgbClr val="C0C0C0"/>
                  </a:outerShdw>
                </a:effectLst>
              </a:rPr>
              <a:t>函数对象</a:t>
            </a:r>
            <a:endParaRPr lang="zh-CN" altLang="en-US" sz="4000" b="1" dirty="0"/>
          </a:p>
        </p:txBody>
      </p:sp>
      <p:sp>
        <p:nvSpPr>
          <p:cNvPr id="4" name="Text Box 10"/>
          <p:cNvSpPr txBox="1">
            <a:spLocks noChangeArrowheads="1"/>
          </p:cNvSpPr>
          <p:nvPr/>
        </p:nvSpPr>
        <p:spPr bwMode="auto">
          <a:xfrm>
            <a:off x="1495700" y="92889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sp>
        <p:nvSpPr>
          <p:cNvPr id="13" name="文本框 12"/>
          <p:cNvSpPr txBox="1"/>
          <p:nvPr/>
        </p:nvSpPr>
        <p:spPr>
          <a:xfrm>
            <a:off x="1303284" y="1488137"/>
            <a:ext cx="10005848" cy="1169551"/>
          </a:xfrm>
          <a:prstGeom prst="rect">
            <a:avLst/>
          </a:prstGeom>
          <a:noFill/>
        </p:spPr>
        <p:txBody>
          <a:bodyPr wrap="square">
            <a:spAutoFit/>
          </a:bodyPr>
          <a:lstStyle/>
          <a:p>
            <a:pPr marL="342900" indent="-342900" eaLnBrk="1" hangingPunct="1">
              <a:spcBef>
                <a:spcPct val="50000"/>
              </a:spcBef>
              <a:buFont typeface="Arial" panose="020B0604020202020204" pitchFamily="34" charset="0"/>
              <a:buChar char="•"/>
            </a:pPr>
            <a:r>
              <a:rPr lang="zh-CN" altLang="en-US" sz="2000" b="1" dirty="0"/>
              <a:t>函数对象是一个特殊</a:t>
            </a:r>
            <a:r>
              <a:rPr lang="zh-CN" altLang="en-US" sz="2000" b="1" dirty="0">
                <a:solidFill>
                  <a:srgbClr val="006600"/>
                </a:solidFill>
              </a:rPr>
              <a:t>类对象，它的类定义通常仅有一个成员函数，该函数</a:t>
            </a:r>
            <a:r>
              <a:rPr lang="zh-CN" altLang="en-US" sz="2000" b="1" dirty="0">
                <a:solidFill>
                  <a:srgbClr val="FF0000"/>
                </a:solidFill>
              </a:rPr>
              <a:t>重载了函数调用操作符</a:t>
            </a:r>
            <a:r>
              <a:rPr lang="zh-CN" altLang="en-US" sz="2000" b="1" dirty="0">
                <a:solidFill>
                  <a:srgbClr val="006600"/>
                </a:solidFill>
              </a:rPr>
              <a:t>（</a:t>
            </a:r>
            <a:r>
              <a:rPr lang="en-US" altLang="zh-CN" sz="2000" b="1" dirty="0">
                <a:solidFill>
                  <a:srgbClr val="006600"/>
                </a:solidFill>
              </a:rPr>
              <a:t>operator()</a:t>
            </a:r>
            <a:r>
              <a:rPr lang="zh-CN" altLang="en-US" sz="2000" b="1" dirty="0">
                <a:solidFill>
                  <a:srgbClr val="006600"/>
                </a:solidFill>
              </a:rPr>
              <a:t>）。</a:t>
            </a:r>
            <a:r>
              <a:rPr lang="zh-CN" altLang="en-US" sz="2000" b="1" dirty="0"/>
              <a:t>该操作符封装了应该被实现为一个函数的操作。</a:t>
            </a:r>
            <a:endParaRPr lang="en-US" altLang="zh-CN" sz="2000" b="1" dirty="0"/>
          </a:p>
          <a:p>
            <a:pPr marL="342900" indent="-342900">
              <a:spcBef>
                <a:spcPct val="50000"/>
              </a:spcBef>
              <a:buFont typeface="Arial" panose="020B0604020202020204" pitchFamily="34" charset="0"/>
              <a:buChar char="•"/>
            </a:pPr>
            <a:r>
              <a:rPr lang="zh-CN" altLang="en-US" sz="2000" b="1" dirty="0">
                <a:solidFill>
                  <a:srgbClr val="660066"/>
                </a:solidFill>
              </a:rPr>
              <a:t>和“引用”一样，“函数对象”很少独立使用。</a:t>
            </a:r>
            <a:r>
              <a:rPr lang="zh-CN" altLang="en-US" sz="2000" b="1" dirty="0"/>
              <a:t>函数对象通常被作为实参传递给泛型算法。</a:t>
            </a:r>
            <a:endParaRPr lang="zh-CN" altLang="en-US" sz="2000" b="1" dirty="0"/>
          </a:p>
        </p:txBody>
      </p:sp>
      <p:pic>
        <p:nvPicPr>
          <p:cNvPr id="16" name="图片 15"/>
          <p:cNvPicPr>
            <a:picLocks noChangeAspect="1"/>
          </p:cNvPicPr>
          <p:nvPr/>
        </p:nvPicPr>
        <p:blipFill>
          <a:blip r:embed="rId3"/>
          <a:stretch>
            <a:fillRect/>
          </a:stretch>
        </p:blipFill>
        <p:spPr>
          <a:xfrm>
            <a:off x="2517228" y="2842629"/>
            <a:ext cx="7157544" cy="322411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233694" y="876338"/>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函数对象与函数指针的比较</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sp>
        <p:nvSpPr>
          <p:cNvPr id="9" name="Text Box 4"/>
          <p:cNvSpPr txBox="1">
            <a:spLocks noChangeArrowheads="1"/>
          </p:cNvSpPr>
          <p:nvPr/>
        </p:nvSpPr>
        <p:spPr bwMode="auto">
          <a:xfrm>
            <a:off x="1204583" y="1566654"/>
            <a:ext cx="1001572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marL="342900" indent="-342900" eaLnBrk="1" hangingPunct="1">
              <a:buFont typeface="Arial" panose="020B0604020202020204" pitchFamily="34" charset="0"/>
              <a:buChar char="•"/>
            </a:pPr>
            <a:r>
              <a:rPr lang="zh-CN" altLang="en-US" sz="2400" dirty="0"/>
              <a:t>函数指针是间接引用，不能作为内联函数，而函数对象可以，这样速度更快；</a:t>
            </a:r>
            <a:endParaRPr lang="en-US" altLang="zh-CN" sz="2400" dirty="0"/>
          </a:p>
          <a:p>
            <a:pPr marL="342900" indent="-342900" eaLnBrk="1" hangingPunct="1">
              <a:buFont typeface="Arial" panose="020B0604020202020204" pitchFamily="34" charset="0"/>
              <a:buChar char="•"/>
            </a:pPr>
            <a:r>
              <a:rPr lang="zh-CN" altLang="en-US" sz="2400" dirty="0"/>
              <a:t>函数对象可以拥有任意数量的额外数据，用这些数据可以用来缓冲当前数据和结果，提高运行质量；</a:t>
            </a:r>
            <a:endParaRPr lang="en-US" altLang="zh-CN" sz="2400" dirty="0"/>
          </a:p>
          <a:p>
            <a:pPr marL="342900" indent="-342900" eaLnBrk="1" hangingPunct="1">
              <a:buFont typeface="Arial" panose="020B0604020202020204" pitchFamily="34" charset="0"/>
              <a:buChar char="•"/>
            </a:pPr>
            <a:r>
              <a:rPr lang="zh-CN" altLang="en-US" sz="2400" dirty="0"/>
              <a:t>编译时对函数对象作类型检查；</a:t>
            </a:r>
            <a:endParaRPr lang="zh-CN" altLang="en-US" sz="2400" dirty="0"/>
          </a:p>
        </p:txBody>
      </p:sp>
      <p:sp>
        <p:nvSpPr>
          <p:cNvPr id="10" name="Text Box 9"/>
          <p:cNvSpPr txBox="1">
            <a:spLocks noChangeArrowheads="1"/>
          </p:cNvSpPr>
          <p:nvPr/>
        </p:nvSpPr>
        <p:spPr bwMode="auto">
          <a:xfrm>
            <a:off x="1338798" y="3630015"/>
            <a:ext cx="10015727" cy="236988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kumimoji="0" lang="zh-CN" altLang="en-US" sz="2800" b="0" dirty="0">
                <a:solidFill>
                  <a:srgbClr val="006600"/>
                </a:solidFill>
                <a:latin typeface="Times New Roman" panose="02020603050405020304" pitchFamily="18" charset="0"/>
                <a:ea typeface="隶书" panose="02010509060101010101" pitchFamily="49" charset="-122"/>
              </a:rPr>
              <a:t>函数对象来源</a:t>
            </a:r>
            <a:endParaRPr kumimoji="0" lang="zh-CN" altLang="en-US" sz="2800" b="0" dirty="0">
              <a:solidFill>
                <a:srgbClr val="006600"/>
              </a:solidFill>
              <a:latin typeface="Times New Roman" panose="02020603050405020304" pitchFamily="18" charset="0"/>
              <a:ea typeface="隶书" panose="02010509060101010101" pitchFamily="49" charset="-122"/>
            </a:endParaRPr>
          </a:p>
          <a:p>
            <a:pPr marL="342900" indent="-342900" eaLnBrk="1" hangingPunct="1">
              <a:buFont typeface="Arial" panose="020B0604020202020204" pitchFamily="34" charset="0"/>
              <a:buChar char="•"/>
            </a:pPr>
            <a:r>
              <a:rPr lang="zh-CN" altLang="en-US" sz="2400" dirty="0"/>
              <a:t>标准库预定义的一组算术，关系和逻辑函数对象类模板；</a:t>
            </a:r>
            <a:r>
              <a:rPr lang="en-US" altLang="zh-CN" sz="2400" dirty="0"/>
              <a:t>#inclue&lt;</a:t>
            </a:r>
            <a:r>
              <a:rPr lang="en-US" altLang="zh-CN" sz="2400" dirty="0">
                <a:solidFill>
                  <a:srgbClr val="FF0000"/>
                </a:solidFill>
              </a:rPr>
              <a:t>functional</a:t>
            </a:r>
            <a:r>
              <a:rPr lang="en-US" altLang="zh-CN" sz="2400" dirty="0"/>
              <a:t>&gt;</a:t>
            </a:r>
            <a:endParaRPr lang="zh-CN" altLang="en-US" sz="2400" dirty="0"/>
          </a:p>
          <a:p>
            <a:pPr marL="342900" indent="-342900" eaLnBrk="1" hangingPunct="1">
              <a:buFont typeface="Arial" panose="020B0604020202020204" pitchFamily="34" charset="0"/>
              <a:buChar char="•"/>
            </a:pPr>
            <a:r>
              <a:rPr lang="zh-CN" altLang="en-US" sz="2400" dirty="0"/>
              <a:t>预定义的一组函数适配器，允许对预定义的函数对象进行特殊化或扩展；</a:t>
            </a:r>
            <a:endParaRPr lang="zh-CN" altLang="en-US" sz="2400" dirty="0"/>
          </a:p>
          <a:p>
            <a:pPr marL="342900" indent="-342900" eaLnBrk="1" hangingPunct="1">
              <a:buFont typeface="Arial" panose="020B0604020202020204" pitchFamily="34" charset="0"/>
              <a:buChar char="•"/>
            </a:pPr>
            <a:r>
              <a:rPr lang="zh-CN" altLang="en-US" sz="2400" dirty="0"/>
              <a:t>自定义函数对象。</a:t>
            </a:r>
            <a:endParaRPr lang="zh-CN"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Text Box 5"/>
          <p:cNvSpPr txBox="1">
            <a:spLocks noChangeArrowheads="1"/>
          </p:cNvSpPr>
          <p:nvPr/>
        </p:nvSpPr>
        <p:spPr bwMode="auto">
          <a:xfrm>
            <a:off x="1228287" y="258544"/>
            <a:ext cx="8642350" cy="62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lang="zh-CN" altLang="en-US" sz="2800" b="0" dirty="0">
                <a:solidFill>
                  <a:srgbClr val="008000"/>
                </a:solidFill>
                <a:ea typeface="隶书" panose="02010509060101010101" pitchFamily="49" charset="-122"/>
              </a:rPr>
              <a:t>算术函数对象类模板</a:t>
            </a:r>
            <a:endParaRPr lang="zh-CN" altLang="en-US" sz="2800" b="0" dirty="0">
              <a:solidFill>
                <a:srgbClr val="008000"/>
              </a:solidFill>
              <a:ea typeface="隶书" panose="02010509060101010101" pitchFamily="49" charset="-122"/>
            </a:endParaRPr>
          </a:p>
          <a:p>
            <a:pPr eaLnBrk="1" hangingPunct="1"/>
            <a:r>
              <a:rPr lang="zh-CN" altLang="en-US" sz="2200" dirty="0">
                <a:latin typeface="+mn-lt"/>
              </a:rPr>
              <a:t>加法：</a:t>
            </a:r>
            <a:endParaRPr lang="en-US" altLang="zh-CN" sz="2200" dirty="0">
              <a:latin typeface="+mn-lt"/>
            </a:endParaRPr>
          </a:p>
          <a:p>
            <a:pPr eaLnBrk="1" hangingPunct="1"/>
            <a:r>
              <a:rPr lang="en-US" altLang="zh-CN" sz="2200" dirty="0">
                <a:latin typeface="+mn-lt"/>
              </a:rPr>
              <a:t>plus&lt;Type&gt;</a:t>
            </a:r>
            <a:endParaRPr lang="en-US" altLang="zh-CN" sz="2200" dirty="0">
              <a:latin typeface="+mn-lt"/>
            </a:endParaRPr>
          </a:p>
          <a:p>
            <a:pPr eaLnBrk="1" hangingPunct="1"/>
            <a:r>
              <a:rPr lang="en-US" altLang="zh-CN" sz="2200" dirty="0">
                <a:latin typeface="+mn-lt"/>
              </a:rPr>
              <a:t>plus&lt;</a:t>
            </a:r>
            <a:r>
              <a:rPr lang="en-US" altLang="zh-CN" sz="2200" dirty="0">
                <a:solidFill>
                  <a:srgbClr val="0000CC"/>
                </a:solidFill>
                <a:latin typeface="+mn-lt"/>
              </a:rPr>
              <a:t>int</a:t>
            </a:r>
            <a:r>
              <a:rPr lang="en-US" altLang="zh-CN" sz="2200" dirty="0">
                <a:latin typeface="+mn-lt"/>
              </a:rPr>
              <a:t>&gt;</a:t>
            </a:r>
            <a:r>
              <a:rPr lang="en-US" altLang="zh-CN" sz="2200" dirty="0" err="1">
                <a:latin typeface="+mn-lt"/>
              </a:rPr>
              <a:t>intPlus</a:t>
            </a:r>
            <a:r>
              <a:rPr lang="en-US" altLang="zh-CN" sz="2200" dirty="0">
                <a:latin typeface="+mn-lt"/>
              </a:rPr>
              <a:t>; </a:t>
            </a:r>
            <a:r>
              <a:rPr lang="en-US" altLang="zh-CN" sz="2200" dirty="0" err="1">
                <a:latin typeface="+mn-lt"/>
              </a:rPr>
              <a:t>ires</a:t>
            </a:r>
            <a:r>
              <a:rPr lang="en-US" altLang="zh-CN" sz="2200" dirty="0">
                <a:latin typeface="+mn-lt"/>
              </a:rPr>
              <a:t>=</a:t>
            </a:r>
            <a:r>
              <a:rPr lang="en-US" altLang="zh-CN" sz="2200" dirty="0" err="1">
                <a:latin typeface="+mn-lt"/>
              </a:rPr>
              <a:t>intPlus</a:t>
            </a:r>
            <a:r>
              <a:rPr lang="en-US" altLang="zh-CN" sz="2200" dirty="0">
                <a:latin typeface="+mn-lt"/>
              </a:rPr>
              <a:t>(ival1,ival2);</a:t>
            </a:r>
            <a:endParaRPr lang="en-US" altLang="zh-CN" sz="2200" dirty="0">
              <a:latin typeface="+mn-lt"/>
            </a:endParaRPr>
          </a:p>
          <a:p>
            <a:pPr eaLnBrk="1" hangingPunct="1"/>
            <a:r>
              <a:rPr lang="en-US" altLang="zh-CN" sz="2200" dirty="0" err="1">
                <a:latin typeface="+mn-lt"/>
              </a:rPr>
              <a:t>dres</a:t>
            </a:r>
            <a:r>
              <a:rPr lang="en-US" altLang="zh-CN" sz="2200" dirty="0">
                <a:latin typeface="+mn-lt"/>
              </a:rPr>
              <a:t>=</a:t>
            </a:r>
            <a:r>
              <a:rPr lang="en-US" altLang="zh-CN" sz="2200" dirty="0" err="1">
                <a:latin typeface="+mn-lt"/>
              </a:rPr>
              <a:t>BinaryFunc</a:t>
            </a:r>
            <a:r>
              <a:rPr lang="en-US" altLang="zh-CN" sz="2200" dirty="0">
                <a:latin typeface="+mn-lt"/>
              </a:rPr>
              <a:t>(plus&lt;</a:t>
            </a:r>
            <a:r>
              <a:rPr lang="en-US" altLang="zh-CN" sz="2200" dirty="0">
                <a:solidFill>
                  <a:srgbClr val="0000CC"/>
                </a:solidFill>
                <a:latin typeface="+mn-lt"/>
              </a:rPr>
              <a:t>double</a:t>
            </a:r>
            <a:r>
              <a:rPr lang="en-US" altLang="zh-CN" sz="2200" dirty="0">
                <a:latin typeface="+mn-lt"/>
              </a:rPr>
              <a:t>&gt;(),dval1,dval2);</a:t>
            </a:r>
            <a:endParaRPr lang="en-US" altLang="zh-CN" sz="2200" dirty="0">
              <a:latin typeface="+mn-lt"/>
            </a:endParaRPr>
          </a:p>
          <a:p>
            <a:pPr eaLnBrk="1" hangingPunct="1"/>
            <a:r>
              <a:rPr lang="en-US" altLang="zh-CN" sz="2200" dirty="0" err="1">
                <a:latin typeface="+mn-lt"/>
              </a:rPr>
              <a:t>sres</a:t>
            </a:r>
            <a:r>
              <a:rPr lang="en-US" altLang="zh-CN" sz="2200" dirty="0">
                <a:latin typeface="+mn-lt"/>
              </a:rPr>
              <a:t>=</a:t>
            </a:r>
            <a:r>
              <a:rPr lang="en-US" altLang="zh-CN" sz="2200" dirty="0" err="1">
                <a:latin typeface="+mn-lt"/>
              </a:rPr>
              <a:t>BinaryFunc</a:t>
            </a:r>
            <a:r>
              <a:rPr lang="en-US" altLang="zh-CN" sz="2200" dirty="0">
                <a:latin typeface="+mn-lt"/>
              </a:rPr>
              <a:t>(plus&lt;string&gt;(),sval1,sval2);</a:t>
            </a:r>
            <a:endParaRPr lang="en-US" altLang="zh-CN" sz="2200" dirty="0">
              <a:latin typeface="+mn-lt"/>
            </a:endParaRPr>
          </a:p>
          <a:p>
            <a:pPr eaLnBrk="1" hangingPunct="1"/>
            <a:r>
              <a:rPr lang="zh-CN" altLang="en-US" sz="2200" dirty="0">
                <a:latin typeface="+mn-lt"/>
              </a:rPr>
              <a:t>减法：</a:t>
            </a:r>
            <a:r>
              <a:rPr lang="en-US" altLang="zh-CN" sz="2200" dirty="0">
                <a:latin typeface="+mn-lt"/>
              </a:rPr>
              <a:t>minus&lt;Type&gt; </a:t>
            </a:r>
            <a:r>
              <a:rPr lang="en-US" altLang="zh-CN" sz="2200" dirty="0">
                <a:solidFill>
                  <a:srgbClr val="006600"/>
                </a:solidFill>
                <a:latin typeface="+mn-lt"/>
              </a:rPr>
              <a:t>//</a:t>
            </a:r>
            <a:r>
              <a:rPr lang="zh-CN" altLang="en-US" sz="2200" dirty="0">
                <a:solidFill>
                  <a:srgbClr val="006600"/>
                </a:solidFill>
                <a:latin typeface="+mn-lt"/>
              </a:rPr>
              <a:t>同加法</a:t>
            </a:r>
            <a:endParaRPr lang="zh-CN" altLang="en-US" sz="2200" dirty="0">
              <a:solidFill>
                <a:srgbClr val="006600"/>
              </a:solidFill>
              <a:latin typeface="+mn-lt"/>
            </a:endParaRPr>
          </a:p>
          <a:p>
            <a:pPr eaLnBrk="1" hangingPunct="1"/>
            <a:r>
              <a:rPr lang="zh-CN" altLang="en-US" sz="2200" dirty="0">
                <a:latin typeface="+mn-lt"/>
              </a:rPr>
              <a:t>乘法：</a:t>
            </a:r>
            <a:r>
              <a:rPr lang="en-US" altLang="zh-CN" sz="2200" dirty="0">
                <a:latin typeface="+mn-lt"/>
              </a:rPr>
              <a:t>multiplies&lt;Type&gt; </a:t>
            </a:r>
            <a:r>
              <a:rPr lang="en-US" altLang="zh-CN" sz="2200" dirty="0">
                <a:solidFill>
                  <a:srgbClr val="006600"/>
                </a:solidFill>
                <a:latin typeface="+mn-lt"/>
              </a:rPr>
              <a:t>//</a:t>
            </a:r>
            <a:r>
              <a:rPr lang="zh-CN" altLang="en-US" sz="2200" dirty="0">
                <a:solidFill>
                  <a:srgbClr val="006600"/>
                </a:solidFill>
                <a:latin typeface="+mn-lt"/>
              </a:rPr>
              <a:t>不能用串，可用于复数和浮点数等</a:t>
            </a:r>
            <a:endParaRPr lang="zh-CN" altLang="en-US" sz="2200" dirty="0">
              <a:solidFill>
                <a:srgbClr val="006600"/>
              </a:solidFill>
              <a:latin typeface="+mn-lt"/>
            </a:endParaRPr>
          </a:p>
          <a:p>
            <a:pPr eaLnBrk="1" hangingPunct="1"/>
            <a:r>
              <a:rPr lang="en-US" altLang="zh-CN" sz="2200" dirty="0">
                <a:latin typeface="+mn-lt"/>
              </a:rPr>
              <a:t>multiplies&lt;</a:t>
            </a:r>
            <a:r>
              <a:rPr lang="en-US" altLang="zh-CN" sz="2200" dirty="0">
                <a:solidFill>
                  <a:srgbClr val="0000CC"/>
                </a:solidFill>
                <a:latin typeface="+mn-lt"/>
              </a:rPr>
              <a:t>int</a:t>
            </a:r>
            <a:r>
              <a:rPr lang="en-US" altLang="zh-CN" sz="2200" dirty="0">
                <a:latin typeface="+mn-lt"/>
              </a:rPr>
              <a:t>&gt; </a:t>
            </a:r>
            <a:r>
              <a:rPr lang="en-US" altLang="zh-CN" sz="2200" dirty="0" err="1">
                <a:latin typeface="+mn-lt"/>
              </a:rPr>
              <a:t>intMulti;ires</a:t>
            </a:r>
            <a:r>
              <a:rPr lang="en-US" altLang="zh-CN" sz="2200" dirty="0">
                <a:latin typeface="+mn-lt"/>
              </a:rPr>
              <a:t>= </a:t>
            </a:r>
            <a:r>
              <a:rPr lang="en-US" altLang="zh-CN" sz="2200" dirty="0" err="1">
                <a:latin typeface="+mn-lt"/>
              </a:rPr>
              <a:t>intMulti</a:t>
            </a:r>
            <a:r>
              <a:rPr lang="en-US" altLang="zh-CN" sz="2200" dirty="0">
                <a:latin typeface="+mn-lt"/>
              </a:rPr>
              <a:t>(ival1,ival2);</a:t>
            </a:r>
            <a:endParaRPr lang="en-US" altLang="zh-CN" sz="2200" dirty="0">
              <a:latin typeface="+mn-lt"/>
            </a:endParaRPr>
          </a:p>
          <a:p>
            <a:pPr eaLnBrk="1" hangingPunct="1"/>
            <a:r>
              <a:rPr lang="en-US" altLang="zh-CN" sz="2200" dirty="0" err="1">
                <a:latin typeface="+mn-lt"/>
              </a:rPr>
              <a:t>cres</a:t>
            </a:r>
            <a:r>
              <a:rPr lang="en-US" altLang="zh-CN" sz="2200" dirty="0">
                <a:latin typeface="+mn-lt"/>
              </a:rPr>
              <a:t>=</a:t>
            </a:r>
            <a:r>
              <a:rPr lang="en-US" altLang="zh-CN" sz="2200" dirty="0" err="1">
                <a:latin typeface="+mn-lt"/>
              </a:rPr>
              <a:t>BinaryFunc</a:t>
            </a:r>
            <a:r>
              <a:rPr lang="en-US" altLang="zh-CN" sz="2200" dirty="0">
                <a:latin typeface="+mn-lt"/>
              </a:rPr>
              <a:t>(multiplies&lt;complex&gt;(),cal1,cal2);</a:t>
            </a:r>
            <a:endParaRPr lang="en-US" altLang="zh-CN" sz="2200" dirty="0">
              <a:latin typeface="+mn-lt"/>
            </a:endParaRPr>
          </a:p>
          <a:p>
            <a:pPr eaLnBrk="1" hangingPunct="1"/>
            <a:r>
              <a:rPr lang="en-US" altLang="zh-CN" sz="2200" dirty="0" err="1">
                <a:latin typeface="+mn-lt"/>
              </a:rPr>
              <a:t>dres</a:t>
            </a:r>
            <a:r>
              <a:rPr lang="en-US" altLang="zh-CN" sz="2200" dirty="0">
                <a:latin typeface="+mn-lt"/>
              </a:rPr>
              <a:t>=</a:t>
            </a:r>
            <a:r>
              <a:rPr lang="en-US" altLang="zh-CN" sz="2200" dirty="0" err="1">
                <a:latin typeface="+mn-lt"/>
              </a:rPr>
              <a:t>BinaryFunc</a:t>
            </a:r>
            <a:r>
              <a:rPr lang="en-US" altLang="zh-CN" sz="2200" dirty="0">
                <a:latin typeface="+mn-lt"/>
              </a:rPr>
              <a:t>(multiplies&lt;double&gt;(),dval1,dval2);</a:t>
            </a:r>
            <a:endParaRPr lang="en-US" altLang="zh-CN" sz="2200" dirty="0">
              <a:latin typeface="+mn-lt"/>
            </a:endParaRPr>
          </a:p>
          <a:p>
            <a:pPr eaLnBrk="1" hangingPunct="1"/>
            <a:r>
              <a:rPr lang="zh-CN" altLang="en-US" sz="2200" dirty="0">
                <a:latin typeface="+mn-lt"/>
              </a:rPr>
              <a:t>除法：</a:t>
            </a:r>
            <a:r>
              <a:rPr lang="en-US" altLang="zh-CN" sz="2200" dirty="0">
                <a:latin typeface="+mn-lt"/>
              </a:rPr>
              <a:t>divides&lt;Type&gt; </a:t>
            </a:r>
            <a:r>
              <a:rPr lang="en-US" altLang="zh-CN" sz="2200" dirty="0">
                <a:solidFill>
                  <a:srgbClr val="336600"/>
                </a:solidFill>
                <a:latin typeface="+mn-lt"/>
              </a:rPr>
              <a:t>//</a:t>
            </a:r>
            <a:r>
              <a:rPr lang="zh-CN" altLang="en-US" sz="2200" dirty="0">
                <a:solidFill>
                  <a:srgbClr val="336600"/>
                </a:solidFill>
                <a:latin typeface="+mn-lt"/>
              </a:rPr>
              <a:t>同乘法</a:t>
            </a:r>
            <a:endParaRPr lang="zh-CN" altLang="en-US" sz="2200" dirty="0">
              <a:solidFill>
                <a:srgbClr val="336600"/>
              </a:solidFill>
              <a:latin typeface="+mn-lt"/>
            </a:endParaRPr>
          </a:p>
          <a:p>
            <a:pPr eaLnBrk="1" hangingPunct="1"/>
            <a:r>
              <a:rPr lang="zh-CN" altLang="en-US" sz="2200" dirty="0">
                <a:latin typeface="+mn-lt"/>
              </a:rPr>
              <a:t>求余：</a:t>
            </a:r>
            <a:r>
              <a:rPr lang="en-US" altLang="zh-CN" sz="2200" dirty="0">
                <a:latin typeface="+mn-lt"/>
              </a:rPr>
              <a:t>modulus&lt;Type&gt; </a:t>
            </a:r>
            <a:r>
              <a:rPr lang="en-US" altLang="zh-CN" sz="2200" dirty="0">
                <a:solidFill>
                  <a:srgbClr val="006600"/>
                </a:solidFill>
                <a:latin typeface="+mn-lt"/>
              </a:rPr>
              <a:t>//</a:t>
            </a:r>
            <a:r>
              <a:rPr lang="zh-CN" altLang="en-US" sz="2200" dirty="0">
                <a:solidFill>
                  <a:srgbClr val="006600"/>
                </a:solidFill>
                <a:latin typeface="+mn-lt"/>
              </a:rPr>
              <a:t>不能用于复数</a:t>
            </a:r>
            <a:r>
              <a:rPr lang="en-US" altLang="zh-CN" sz="2200" dirty="0">
                <a:solidFill>
                  <a:srgbClr val="006600"/>
                </a:solidFill>
                <a:latin typeface="+mn-lt"/>
              </a:rPr>
              <a:t>,</a:t>
            </a:r>
            <a:r>
              <a:rPr lang="zh-CN" altLang="en-US" sz="2200" dirty="0">
                <a:solidFill>
                  <a:srgbClr val="006600"/>
                </a:solidFill>
                <a:latin typeface="+mn-lt"/>
              </a:rPr>
              <a:t>浮点数</a:t>
            </a:r>
            <a:r>
              <a:rPr lang="en-US" altLang="zh-CN" sz="2200" dirty="0">
                <a:solidFill>
                  <a:srgbClr val="006600"/>
                </a:solidFill>
                <a:latin typeface="+mn-lt"/>
              </a:rPr>
              <a:t>,</a:t>
            </a:r>
            <a:r>
              <a:rPr lang="zh-CN" altLang="en-US" sz="2200" dirty="0">
                <a:solidFill>
                  <a:srgbClr val="006600"/>
                </a:solidFill>
                <a:latin typeface="+mn-lt"/>
              </a:rPr>
              <a:t>只能用于整数</a:t>
            </a:r>
            <a:endParaRPr lang="zh-CN" altLang="en-US" sz="2200" dirty="0">
              <a:solidFill>
                <a:srgbClr val="006600"/>
              </a:solidFill>
              <a:latin typeface="+mn-lt"/>
            </a:endParaRPr>
          </a:p>
          <a:p>
            <a:pPr eaLnBrk="1" hangingPunct="1"/>
            <a:r>
              <a:rPr lang="en-US" altLang="zh-CN" sz="2200" dirty="0">
                <a:latin typeface="+mn-lt"/>
              </a:rPr>
              <a:t>modulus&lt;Int&gt;</a:t>
            </a:r>
            <a:r>
              <a:rPr lang="en-US" altLang="zh-CN" sz="2200" dirty="0" err="1">
                <a:latin typeface="+mn-lt"/>
              </a:rPr>
              <a:t>IntModulus</a:t>
            </a:r>
            <a:r>
              <a:rPr lang="en-US" altLang="zh-CN" sz="2200" dirty="0">
                <a:latin typeface="+mn-lt"/>
              </a:rPr>
              <a:t>; </a:t>
            </a:r>
            <a:r>
              <a:rPr lang="en-US" altLang="zh-CN" sz="2200" dirty="0">
                <a:solidFill>
                  <a:srgbClr val="006600"/>
                </a:solidFill>
                <a:latin typeface="+mn-lt"/>
              </a:rPr>
              <a:t>//Int </a:t>
            </a:r>
            <a:r>
              <a:rPr lang="zh-CN" altLang="en-US" sz="2200" dirty="0">
                <a:solidFill>
                  <a:srgbClr val="006600"/>
                </a:solidFill>
                <a:latin typeface="+mn-lt"/>
              </a:rPr>
              <a:t>自定义类型</a:t>
            </a:r>
            <a:endParaRPr lang="zh-CN" altLang="en-US" sz="2200" dirty="0">
              <a:solidFill>
                <a:srgbClr val="006600"/>
              </a:solidFill>
              <a:latin typeface="+mn-lt"/>
            </a:endParaRPr>
          </a:p>
          <a:p>
            <a:pPr eaLnBrk="1" hangingPunct="1"/>
            <a:r>
              <a:rPr lang="en-US" altLang="zh-CN" sz="2200" dirty="0" err="1">
                <a:latin typeface="+mn-lt"/>
              </a:rPr>
              <a:t>Ires</a:t>
            </a:r>
            <a:r>
              <a:rPr lang="en-US" altLang="zh-CN" sz="2200" dirty="0">
                <a:latin typeface="+mn-lt"/>
              </a:rPr>
              <a:t>=</a:t>
            </a:r>
            <a:r>
              <a:rPr lang="en-US" altLang="zh-CN" sz="2200" dirty="0" err="1">
                <a:latin typeface="+mn-lt"/>
              </a:rPr>
              <a:t>IntModulus</a:t>
            </a:r>
            <a:r>
              <a:rPr lang="en-US" altLang="zh-CN" sz="2200" dirty="0">
                <a:latin typeface="+mn-lt"/>
              </a:rPr>
              <a:t>(Ival1,Ival2);</a:t>
            </a:r>
            <a:endParaRPr lang="en-US" altLang="zh-CN" sz="2200" dirty="0">
              <a:latin typeface="+mn-lt"/>
            </a:endParaRPr>
          </a:p>
          <a:p>
            <a:pPr eaLnBrk="1" hangingPunct="1"/>
            <a:r>
              <a:rPr lang="en-US" altLang="zh-CN" sz="2200" dirty="0" err="1">
                <a:latin typeface="+mn-lt"/>
              </a:rPr>
              <a:t>ires</a:t>
            </a:r>
            <a:r>
              <a:rPr lang="en-US" altLang="zh-CN" sz="2200" dirty="0">
                <a:latin typeface="+mn-lt"/>
              </a:rPr>
              <a:t>=</a:t>
            </a:r>
            <a:r>
              <a:rPr lang="en-US" altLang="zh-CN" sz="2200" dirty="0" err="1">
                <a:latin typeface="+mn-lt"/>
              </a:rPr>
              <a:t>BinaryFunc</a:t>
            </a:r>
            <a:r>
              <a:rPr lang="en-US" altLang="zh-CN" sz="2200" dirty="0">
                <a:latin typeface="+mn-lt"/>
              </a:rPr>
              <a:t>(modulus&lt;</a:t>
            </a:r>
            <a:r>
              <a:rPr lang="en-US" altLang="zh-CN" sz="2200" dirty="0">
                <a:solidFill>
                  <a:srgbClr val="0000CC"/>
                </a:solidFill>
                <a:latin typeface="+mn-lt"/>
              </a:rPr>
              <a:t>int</a:t>
            </a:r>
            <a:r>
              <a:rPr lang="en-US" altLang="zh-CN" sz="2200" dirty="0">
                <a:latin typeface="+mn-lt"/>
              </a:rPr>
              <a:t>&gt;(),ival1,ival2);</a:t>
            </a:r>
            <a:endParaRPr lang="en-US" altLang="zh-CN" sz="2200" dirty="0">
              <a:latin typeface="+mn-lt"/>
            </a:endParaRPr>
          </a:p>
          <a:p>
            <a:pPr eaLnBrk="1" hangingPunct="1"/>
            <a:r>
              <a:rPr lang="zh-CN" altLang="en-US" sz="2200" dirty="0">
                <a:latin typeface="+mn-lt"/>
              </a:rPr>
              <a:t>取反：</a:t>
            </a:r>
            <a:r>
              <a:rPr lang="en-US" altLang="zh-CN" sz="2200" dirty="0">
                <a:latin typeface="+mn-lt"/>
              </a:rPr>
              <a:t>negate&lt;Type&gt; </a:t>
            </a:r>
            <a:r>
              <a:rPr lang="en-US" altLang="zh-CN" sz="2200" dirty="0">
                <a:solidFill>
                  <a:srgbClr val="006600"/>
                </a:solidFill>
                <a:latin typeface="+mn-lt"/>
              </a:rPr>
              <a:t>//</a:t>
            </a:r>
            <a:r>
              <a:rPr lang="zh-CN" altLang="en-US" sz="2200" dirty="0">
                <a:solidFill>
                  <a:srgbClr val="006600"/>
                </a:solidFill>
                <a:latin typeface="+mn-lt"/>
              </a:rPr>
              <a:t>同取余</a:t>
            </a:r>
            <a:r>
              <a:rPr lang="en-US" altLang="zh-CN" sz="2200" dirty="0">
                <a:solidFill>
                  <a:srgbClr val="006600"/>
                </a:solidFill>
                <a:latin typeface="+mn-lt"/>
              </a:rPr>
              <a:t>,</a:t>
            </a:r>
            <a:r>
              <a:rPr lang="zh-CN" altLang="en-US" sz="2200" dirty="0">
                <a:solidFill>
                  <a:srgbClr val="006600"/>
                </a:solidFill>
                <a:latin typeface="+mn-lt"/>
              </a:rPr>
              <a:t>但为单参数</a:t>
            </a:r>
            <a:endParaRPr lang="zh-CN" altLang="en-US" sz="2200" dirty="0">
              <a:solidFill>
                <a:srgbClr val="006600"/>
              </a:solidFill>
              <a:latin typeface="+mn-lt"/>
            </a:endParaRPr>
          </a:p>
          <a:p>
            <a:pPr eaLnBrk="1" hangingPunct="1"/>
            <a:r>
              <a:rPr lang="en-US" altLang="zh-CN" sz="2200" dirty="0" err="1">
                <a:latin typeface="+mn-lt"/>
              </a:rPr>
              <a:t>ires</a:t>
            </a:r>
            <a:r>
              <a:rPr lang="en-US" altLang="zh-CN" sz="2200" dirty="0">
                <a:latin typeface="+mn-lt"/>
              </a:rPr>
              <a:t>=</a:t>
            </a:r>
            <a:r>
              <a:rPr lang="en-US" altLang="zh-CN" sz="2200" dirty="0" err="1">
                <a:latin typeface="+mn-lt"/>
              </a:rPr>
              <a:t>UnaryFunc</a:t>
            </a:r>
            <a:r>
              <a:rPr lang="en-US" altLang="zh-CN" sz="2200" dirty="0">
                <a:latin typeface="+mn-lt"/>
              </a:rPr>
              <a:t>(negate&lt;Int&gt;(),Ival1);</a:t>
            </a:r>
            <a:endParaRPr lang="en-US" altLang="zh-CN" sz="2200" dirty="0">
              <a:latin typeface="+mn-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p:cNvSpPr txBox="1">
            <a:spLocks noChangeArrowheads="1"/>
          </p:cNvSpPr>
          <p:nvPr/>
        </p:nvSpPr>
        <p:spPr bwMode="auto">
          <a:xfrm>
            <a:off x="1820069" y="759401"/>
            <a:ext cx="8353425"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lang="zh-CN" altLang="en-US" sz="2800" b="0" dirty="0">
                <a:solidFill>
                  <a:srgbClr val="008000"/>
                </a:solidFill>
                <a:ea typeface="隶书" panose="02010509060101010101" pitchFamily="49" charset="-122"/>
              </a:rPr>
              <a:t>逻辑函数对象类模板</a:t>
            </a:r>
            <a:endParaRPr lang="en-US" altLang="zh-CN" sz="2800" b="0" dirty="0">
              <a:solidFill>
                <a:srgbClr val="008000"/>
              </a:solidFill>
              <a:ea typeface="隶书" panose="02010509060101010101" pitchFamily="49" charset="-122"/>
            </a:endParaRPr>
          </a:p>
          <a:p>
            <a:pPr eaLnBrk="1" hangingPunct="1"/>
            <a:r>
              <a:rPr lang="en-US" altLang="zh-CN" sz="2200" dirty="0">
                <a:latin typeface="+mn-lt"/>
              </a:rPr>
              <a:t>Type</a:t>
            </a:r>
            <a:r>
              <a:rPr lang="zh-CN" altLang="en-US" sz="2200" dirty="0">
                <a:latin typeface="+mn-lt"/>
              </a:rPr>
              <a:t>必须支持逻辑运算，有两个参数。</a:t>
            </a:r>
            <a:endParaRPr lang="zh-CN" altLang="en-US" sz="2200" dirty="0">
              <a:latin typeface="+mn-lt"/>
            </a:endParaRPr>
          </a:p>
          <a:p>
            <a:pPr eaLnBrk="1" hangingPunct="1"/>
            <a:r>
              <a:rPr lang="zh-CN" altLang="en-US" sz="2200" dirty="0">
                <a:latin typeface="+mn-lt"/>
              </a:rPr>
              <a:t>逻辑与：</a:t>
            </a:r>
            <a:r>
              <a:rPr lang="en-US" altLang="zh-CN" sz="2200" dirty="0" err="1">
                <a:latin typeface="+mn-lt"/>
              </a:rPr>
              <a:t>logical_and</a:t>
            </a:r>
            <a:r>
              <a:rPr lang="en-US" altLang="zh-CN" sz="2200" dirty="0">
                <a:latin typeface="+mn-lt"/>
              </a:rPr>
              <a:t>&lt;Type&gt; </a:t>
            </a:r>
            <a:r>
              <a:rPr lang="en-US" altLang="zh-CN" sz="2200" dirty="0">
                <a:solidFill>
                  <a:srgbClr val="006600"/>
                </a:solidFill>
                <a:latin typeface="+mn-lt"/>
              </a:rPr>
              <a:t>//</a:t>
            </a:r>
            <a:r>
              <a:rPr lang="zh-CN" altLang="en-US" sz="2200" dirty="0">
                <a:solidFill>
                  <a:srgbClr val="006600"/>
                </a:solidFill>
                <a:latin typeface="+mn-lt"/>
              </a:rPr>
              <a:t>对应</a:t>
            </a:r>
            <a:r>
              <a:rPr lang="en-US" altLang="zh-CN" sz="2200" dirty="0">
                <a:solidFill>
                  <a:srgbClr val="006600"/>
                </a:solidFill>
                <a:latin typeface="+mn-lt"/>
              </a:rPr>
              <a:t>&amp;&amp;</a:t>
            </a:r>
            <a:endParaRPr lang="en-US" altLang="zh-CN" sz="2200" dirty="0">
              <a:solidFill>
                <a:srgbClr val="006600"/>
              </a:solidFill>
              <a:latin typeface="+mn-lt"/>
            </a:endParaRPr>
          </a:p>
          <a:p>
            <a:pPr eaLnBrk="1" hangingPunct="1"/>
            <a:r>
              <a:rPr lang="zh-CN" altLang="en-US" sz="2200" dirty="0">
                <a:latin typeface="+mn-lt"/>
              </a:rPr>
              <a:t>逻辑或：</a:t>
            </a:r>
            <a:r>
              <a:rPr lang="en-US" altLang="zh-CN" sz="2200" dirty="0" err="1">
                <a:latin typeface="+mn-lt"/>
              </a:rPr>
              <a:t>logical_or</a:t>
            </a:r>
            <a:r>
              <a:rPr lang="en-US" altLang="zh-CN" sz="2200" dirty="0">
                <a:latin typeface="+mn-lt"/>
              </a:rPr>
              <a:t>&lt;Type&gt; </a:t>
            </a:r>
            <a:r>
              <a:rPr lang="en-US" altLang="zh-CN" sz="2200" dirty="0">
                <a:solidFill>
                  <a:srgbClr val="006600"/>
                </a:solidFill>
                <a:latin typeface="+mn-lt"/>
              </a:rPr>
              <a:t>//</a:t>
            </a:r>
            <a:r>
              <a:rPr lang="zh-CN" altLang="en-US" sz="2200" dirty="0">
                <a:solidFill>
                  <a:srgbClr val="006600"/>
                </a:solidFill>
                <a:latin typeface="+mn-lt"/>
              </a:rPr>
              <a:t>对应</a:t>
            </a:r>
            <a:r>
              <a:rPr lang="en-US" altLang="zh-CN" sz="2200" dirty="0">
                <a:solidFill>
                  <a:srgbClr val="006600"/>
                </a:solidFill>
                <a:latin typeface="+mn-lt"/>
              </a:rPr>
              <a:t>||</a:t>
            </a:r>
            <a:endParaRPr lang="en-US" altLang="zh-CN" sz="2200" dirty="0">
              <a:solidFill>
                <a:srgbClr val="006600"/>
              </a:solidFill>
              <a:latin typeface="+mn-lt"/>
            </a:endParaRPr>
          </a:p>
          <a:p>
            <a:pPr eaLnBrk="1" hangingPunct="1"/>
            <a:r>
              <a:rPr lang="zh-CN" altLang="en-US" sz="2200" dirty="0">
                <a:latin typeface="+mn-lt"/>
              </a:rPr>
              <a:t>逻辑非：</a:t>
            </a:r>
            <a:r>
              <a:rPr lang="en-US" altLang="zh-CN" sz="2200" dirty="0" err="1">
                <a:latin typeface="+mn-lt"/>
              </a:rPr>
              <a:t>logical_not</a:t>
            </a:r>
            <a:r>
              <a:rPr lang="en-US" altLang="zh-CN" sz="2200" dirty="0">
                <a:latin typeface="+mn-lt"/>
              </a:rPr>
              <a:t>&lt;Type&gt; </a:t>
            </a:r>
            <a:r>
              <a:rPr lang="en-US" altLang="zh-CN" sz="2200" dirty="0">
                <a:solidFill>
                  <a:srgbClr val="006600"/>
                </a:solidFill>
                <a:latin typeface="+mn-lt"/>
              </a:rPr>
              <a:t>//</a:t>
            </a:r>
            <a:r>
              <a:rPr lang="zh-CN" altLang="en-US" sz="2200" dirty="0">
                <a:solidFill>
                  <a:srgbClr val="006600"/>
                </a:solidFill>
                <a:latin typeface="+mn-lt"/>
              </a:rPr>
              <a:t>对应</a:t>
            </a:r>
            <a:r>
              <a:rPr lang="en-US" altLang="zh-CN" sz="2200" dirty="0">
                <a:solidFill>
                  <a:srgbClr val="006600"/>
                </a:solidFill>
                <a:latin typeface="+mn-lt"/>
              </a:rPr>
              <a:t>!</a:t>
            </a:r>
            <a:endParaRPr lang="en-US" altLang="zh-CN" sz="2200" dirty="0">
              <a:solidFill>
                <a:srgbClr val="006600"/>
              </a:solidFill>
              <a:latin typeface="+mn-lt"/>
            </a:endParaRPr>
          </a:p>
        </p:txBody>
      </p:sp>
      <p:sp>
        <p:nvSpPr>
          <p:cNvPr id="44042" name="Text Box 10"/>
          <p:cNvSpPr txBox="1">
            <a:spLocks noChangeArrowheads="1"/>
          </p:cNvSpPr>
          <p:nvPr/>
        </p:nvSpPr>
        <p:spPr bwMode="auto">
          <a:xfrm>
            <a:off x="1820069" y="2636838"/>
            <a:ext cx="8661400" cy="28931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lang="zh-CN" altLang="en-US" sz="2800" b="0" dirty="0">
                <a:solidFill>
                  <a:srgbClr val="008000"/>
                </a:solidFill>
                <a:ea typeface="隶书" panose="02010509060101010101" pitchFamily="49" charset="-122"/>
              </a:rPr>
              <a:t>关系函数对象类模板</a:t>
            </a:r>
            <a:endParaRPr lang="zh-CN" altLang="en-US" sz="2800" b="0" dirty="0">
              <a:solidFill>
                <a:srgbClr val="008000"/>
              </a:solidFill>
              <a:ea typeface="隶书" panose="02010509060101010101" pitchFamily="49" charset="-122"/>
            </a:endParaRPr>
          </a:p>
          <a:p>
            <a:pPr eaLnBrk="1" hangingPunct="1"/>
            <a:r>
              <a:rPr lang="zh-CN" altLang="en-US" sz="2200" dirty="0">
                <a:latin typeface="+mn-lt"/>
              </a:rPr>
              <a:t>关系函数对象返回值为布尔量，两个参数，第一参数和第二参数相比：</a:t>
            </a:r>
            <a:endParaRPr lang="zh-CN" altLang="en-US" sz="2200" dirty="0">
              <a:latin typeface="+mn-lt"/>
            </a:endParaRPr>
          </a:p>
          <a:p>
            <a:pPr eaLnBrk="1" hangingPunct="1"/>
            <a:r>
              <a:rPr lang="zh-CN" altLang="en-US" sz="2200" dirty="0">
                <a:latin typeface="+mn-lt"/>
              </a:rPr>
              <a:t>等于：</a:t>
            </a:r>
            <a:r>
              <a:rPr lang="en-US" altLang="zh-CN" sz="2200" dirty="0" err="1">
                <a:solidFill>
                  <a:srgbClr val="FF0000"/>
                </a:solidFill>
                <a:latin typeface="+mn-lt"/>
              </a:rPr>
              <a:t>equal_to</a:t>
            </a:r>
            <a:r>
              <a:rPr lang="en-US" altLang="zh-CN" sz="2200" dirty="0">
                <a:latin typeface="+mn-lt"/>
              </a:rPr>
              <a:t>&lt;Type&gt;</a:t>
            </a:r>
            <a:endParaRPr lang="en-US" altLang="zh-CN" sz="2200" dirty="0">
              <a:latin typeface="+mn-lt"/>
            </a:endParaRPr>
          </a:p>
          <a:p>
            <a:pPr eaLnBrk="1" hangingPunct="1"/>
            <a:r>
              <a:rPr lang="zh-CN" altLang="en-US" sz="2200" dirty="0">
                <a:latin typeface="+mn-lt"/>
              </a:rPr>
              <a:t>不等于：</a:t>
            </a:r>
            <a:r>
              <a:rPr lang="en-US" altLang="zh-CN" sz="2200" dirty="0" err="1">
                <a:latin typeface="+mn-lt"/>
              </a:rPr>
              <a:t>not_equal_to</a:t>
            </a:r>
            <a:r>
              <a:rPr lang="en-US" altLang="zh-CN" sz="2200" dirty="0">
                <a:latin typeface="+mn-lt"/>
              </a:rPr>
              <a:t>&lt;Type&gt;</a:t>
            </a:r>
            <a:endParaRPr lang="en-US" altLang="zh-CN" sz="2200" dirty="0">
              <a:latin typeface="+mn-lt"/>
            </a:endParaRPr>
          </a:p>
          <a:p>
            <a:pPr eaLnBrk="1" hangingPunct="1"/>
            <a:r>
              <a:rPr lang="zh-CN" altLang="en-US" sz="2200" dirty="0">
                <a:latin typeface="+mn-lt"/>
              </a:rPr>
              <a:t>大于：</a:t>
            </a:r>
            <a:r>
              <a:rPr lang="en-US" altLang="zh-CN" sz="2200" dirty="0">
                <a:solidFill>
                  <a:srgbClr val="FF0000"/>
                </a:solidFill>
                <a:latin typeface="+mn-lt"/>
              </a:rPr>
              <a:t>greater</a:t>
            </a:r>
            <a:r>
              <a:rPr lang="en-US" altLang="zh-CN" sz="2200" dirty="0">
                <a:latin typeface="+mn-lt"/>
              </a:rPr>
              <a:t>&lt;Type&gt;</a:t>
            </a:r>
            <a:endParaRPr lang="en-US" altLang="zh-CN" sz="2200" dirty="0">
              <a:latin typeface="+mn-lt"/>
            </a:endParaRPr>
          </a:p>
          <a:p>
            <a:pPr eaLnBrk="1" hangingPunct="1"/>
            <a:r>
              <a:rPr lang="zh-CN" altLang="en-US" sz="2200" dirty="0">
                <a:latin typeface="+mn-lt"/>
              </a:rPr>
              <a:t>大于等于：</a:t>
            </a:r>
            <a:r>
              <a:rPr lang="en-US" altLang="zh-CN" sz="2200" dirty="0" err="1">
                <a:latin typeface="+mn-lt"/>
              </a:rPr>
              <a:t>great_equal</a:t>
            </a:r>
            <a:r>
              <a:rPr lang="en-US" altLang="zh-CN" sz="2200" dirty="0">
                <a:latin typeface="+mn-lt"/>
              </a:rPr>
              <a:t>&lt;Type&gt;</a:t>
            </a:r>
            <a:endParaRPr lang="en-US" altLang="zh-CN" sz="2200" dirty="0">
              <a:latin typeface="+mn-lt"/>
            </a:endParaRPr>
          </a:p>
          <a:p>
            <a:pPr eaLnBrk="1" hangingPunct="1"/>
            <a:r>
              <a:rPr lang="zh-CN" altLang="en-US" sz="2200" dirty="0">
                <a:latin typeface="+mn-lt"/>
              </a:rPr>
              <a:t>小于：</a:t>
            </a:r>
            <a:r>
              <a:rPr lang="en-US" altLang="zh-CN" sz="2200" dirty="0">
                <a:solidFill>
                  <a:srgbClr val="FF0000"/>
                </a:solidFill>
                <a:latin typeface="+mn-lt"/>
              </a:rPr>
              <a:t>less</a:t>
            </a:r>
            <a:r>
              <a:rPr lang="en-US" altLang="zh-CN" sz="2200" dirty="0">
                <a:latin typeface="+mn-lt"/>
              </a:rPr>
              <a:t>&lt;Type&gt;</a:t>
            </a:r>
            <a:endParaRPr lang="en-US" altLang="zh-CN" sz="2200" dirty="0">
              <a:latin typeface="+mn-lt"/>
            </a:endParaRPr>
          </a:p>
          <a:p>
            <a:pPr eaLnBrk="1" hangingPunct="1"/>
            <a:r>
              <a:rPr lang="zh-CN" altLang="en-US" sz="2200" dirty="0">
                <a:latin typeface="+mn-lt"/>
              </a:rPr>
              <a:t>小于等于：</a:t>
            </a:r>
            <a:r>
              <a:rPr lang="en-US" altLang="zh-CN" sz="2200" dirty="0" err="1">
                <a:latin typeface="+mn-lt"/>
              </a:rPr>
              <a:t>less_equal</a:t>
            </a:r>
            <a:r>
              <a:rPr lang="en-US" altLang="zh-CN" sz="2200" dirty="0">
                <a:latin typeface="+mn-lt"/>
              </a:rPr>
              <a:t>&lt;Type&gt;</a:t>
            </a:r>
            <a:endParaRPr lang="en-US" altLang="zh-CN" sz="2200" dirty="0">
              <a:latin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780075" y="315755"/>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函数对象的应用</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3" name="图片 2"/>
          <p:cNvPicPr>
            <a:picLocks noChangeAspect="1"/>
          </p:cNvPicPr>
          <p:nvPr/>
        </p:nvPicPr>
        <p:blipFill>
          <a:blip r:embed="rId3"/>
          <a:stretch>
            <a:fillRect/>
          </a:stretch>
        </p:blipFill>
        <p:spPr>
          <a:xfrm>
            <a:off x="780075" y="865311"/>
            <a:ext cx="5715294" cy="3105310"/>
          </a:xfrm>
          <a:prstGeom prst="rect">
            <a:avLst/>
          </a:prstGeom>
        </p:spPr>
      </p:pic>
      <p:pic>
        <p:nvPicPr>
          <p:cNvPr id="9" name="图片 8"/>
          <p:cNvPicPr>
            <a:picLocks noChangeAspect="1"/>
          </p:cNvPicPr>
          <p:nvPr/>
        </p:nvPicPr>
        <p:blipFill>
          <a:blip r:embed="rId4"/>
          <a:stretch>
            <a:fillRect/>
          </a:stretch>
        </p:blipFill>
        <p:spPr>
          <a:xfrm>
            <a:off x="5664779" y="2270118"/>
            <a:ext cx="6407479" cy="353713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函数对象的应用</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7" name="图片 6"/>
          <p:cNvPicPr>
            <a:picLocks noChangeAspect="1"/>
          </p:cNvPicPr>
          <p:nvPr/>
        </p:nvPicPr>
        <p:blipFill rotWithShape="1">
          <a:blip r:embed="rId3"/>
          <a:srcRect r="26637" b="85598"/>
          <a:stretch>
            <a:fillRect/>
          </a:stretch>
        </p:blipFill>
        <p:spPr>
          <a:xfrm>
            <a:off x="1156536" y="996935"/>
            <a:ext cx="4747308" cy="442643"/>
          </a:xfrm>
          <a:prstGeom prst="rect">
            <a:avLst/>
          </a:prstGeom>
        </p:spPr>
      </p:pic>
      <p:pic>
        <p:nvPicPr>
          <p:cNvPr id="3" name="图片 2"/>
          <p:cNvPicPr>
            <a:picLocks noChangeAspect="1"/>
          </p:cNvPicPr>
          <p:nvPr/>
        </p:nvPicPr>
        <p:blipFill rotWithShape="1">
          <a:blip r:embed="rId4"/>
          <a:srcRect t="11482"/>
          <a:stretch>
            <a:fillRect/>
          </a:stretch>
        </p:blipFill>
        <p:spPr>
          <a:xfrm>
            <a:off x="1156536" y="1439578"/>
            <a:ext cx="8349931" cy="332489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函数对象应用示例</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10" name="图片 9"/>
          <p:cNvPicPr>
            <a:picLocks noChangeAspect="1"/>
          </p:cNvPicPr>
          <p:nvPr/>
        </p:nvPicPr>
        <p:blipFill>
          <a:blip r:embed="rId3"/>
          <a:stretch>
            <a:fillRect/>
          </a:stretch>
        </p:blipFill>
        <p:spPr>
          <a:xfrm>
            <a:off x="1005137" y="1009525"/>
            <a:ext cx="3721291" cy="4838949"/>
          </a:xfrm>
          <a:prstGeom prst="rect">
            <a:avLst/>
          </a:prstGeom>
        </p:spPr>
      </p:pic>
      <p:pic>
        <p:nvPicPr>
          <p:cNvPr id="13" name="图片 12"/>
          <p:cNvPicPr>
            <a:picLocks noChangeAspect="1"/>
          </p:cNvPicPr>
          <p:nvPr/>
        </p:nvPicPr>
        <p:blipFill>
          <a:blip r:embed="rId4"/>
          <a:stretch>
            <a:fillRect/>
          </a:stretch>
        </p:blipFill>
        <p:spPr>
          <a:xfrm>
            <a:off x="5354434" y="1009525"/>
            <a:ext cx="5213618" cy="434362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函数对象应用示例</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3" name="图片 2"/>
          <p:cNvPicPr>
            <a:picLocks noChangeAspect="1"/>
          </p:cNvPicPr>
          <p:nvPr/>
        </p:nvPicPr>
        <p:blipFill>
          <a:blip r:embed="rId3"/>
          <a:stretch>
            <a:fillRect/>
          </a:stretch>
        </p:blipFill>
        <p:spPr>
          <a:xfrm>
            <a:off x="1271503" y="1137213"/>
            <a:ext cx="6356015" cy="4583573"/>
          </a:xfrm>
          <a:prstGeom prst="rect">
            <a:avLst/>
          </a:prstGeom>
        </p:spPr>
      </p:pic>
      <p:pic>
        <p:nvPicPr>
          <p:cNvPr id="6" name="图片 5"/>
          <p:cNvPicPr>
            <a:picLocks noChangeAspect="1"/>
          </p:cNvPicPr>
          <p:nvPr/>
        </p:nvPicPr>
        <p:blipFill>
          <a:blip r:embed="rId4"/>
          <a:stretch>
            <a:fillRect/>
          </a:stretch>
        </p:blipFill>
        <p:spPr>
          <a:xfrm>
            <a:off x="7425625" y="4138213"/>
            <a:ext cx="220676" cy="1601871"/>
          </a:xfrm>
          <a:prstGeom prst="rect">
            <a:avLst/>
          </a:prstGeom>
        </p:spPr>
      </p:pic>
      <p:pic>
        <p:nvPicPr>
          <p:cNvPr id="9" name="图片 8"/>
          <p:cNvPicPr>
            <a:picLocks noChangeAspect="1"/>
          </p:cNvPicPr>
          <p:nvPr/>
        </p:nvPicPr>
        <p:blipFill>
          <a:blip r:embed="rId5"/>
          <a:stretch>
            <a:fillRect/>
          </a:stretch>
        </p:blipFill>
        <p:spPr>
          <a:xfrm>
            <a:off x="7961243" y="3942695"/>
            <a:ext cx="2463927" cy="177809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函数对象实例化过程</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6" name="图片 5"/>
          <p:cNvPicPr>
            <a:picLocks noChangeAspect="1"/>
          </p:cNvPicPr>
          <p:nvPr/>
        </p:nvPicPr>
        <p:blipFill>
          <a:blip r:embed="rId3"/>
          <a:stretch>
            <a:fillRect/>
          </a:stretch>
        </p:blipFill>
        <p:spPr>
          <a:xfrm>
            <a:off x="7425625" y="4138213"/>
            <a:ext cx="220676" cy="1601871"/>
          </a:xfrm>
          <a:prstGeom prst="rect">
            <a:avLst/>
          </a:prstGeom>
        </p:spPr>
      </p:pic>
      <p:pic>
        <p:nvPicPr>
          <p:cNvPr id="10" name="图片 9"/>
          <p:cNvPicPr>
            <a:picLocks noChangeAspect="1"/>
          </p:cNvPicPr>
          <p:nvPr/>
        </p:nvPicPr>
        <p:blipFill>
          <a:blip r:embed="rId4"/>
          <a:stretch>
            <a:fillRect/>
          </a:stretch>
        </p:blipFill>
        <p:spPr>
          <a:xfrm>
            <a:off x="1118013" y="1067127"/>
            <a:ext cx="5846420" cy="3622460"/>
          </a:xfrm>
          <a:prstGeom prst="rect">
            <a:avLst/>
          </a:prstGeom>
        </p:spPr>
      </p:pic>
      <p:pic>
        <p:nvPicPr>
          <p:cNvPr id="13" name="图片 12"/>
          <p:cNvPicPr>
            <a:picLocks noChangeAspect="1"/>
          </p:cNvPicPr>
          <p:nvPr/>
        </p:nvPicPr>
        <p:blipFill>
          <a:blip r:embed="rId5"/>
          <a:stretch>
            <a:fillRect/>
          </a:stretch>
        </p:blipFill>
        <p:spPr>
          <a:xfrm>
            <a:off x="5854006" y="2975092"/>
            <a:ext cx="5846421" cy="360461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函数对象应用示例</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3" name="图片 2"/>
          <p:cNvPicPr>
            <a:picLocks noChangeAspect="1"/>
          </p:cNvPicPr>
          <p:nvPr/>
        </p:nvPicPr>
        <p:blipFill>
          <a:blip r:embed="rId3"/>
          <a:stretch>
            <a:fillRect/>
          </a:stretch>
        </p:blipFill>
        <p:spPr>
          <a:xfrm>
            <a:off x="745435" y="1127577"/>
            <a:ext cx="5300431" cy="4159746"/>
          </a:xfrm>
          <a:prstGeom prst="rect">
            <a:avLst/>
          </a:prstGeom>
        </p:spPr>
      </p:pic>
      <p:pic>
        <p:nvPicPr>
          <p:cNvPr id="6" name="图片 5"/>
          <p:cNvPicPr>
            <a:picLocks noChangeAspect="1"/>
          </p:cNvPicPr>
          <p:nvPr/>
        </p:nvPicPr>
        <p:blipFill>
          <a:blip r:embed="rId4"/>
          <a:stretch>
            <a:fillRect/>
          </a:stretch>
        </p:blipFill>
        <p:spPr>
          <a:xfrm>
            <a:off x="4159599" y="506337"/>
            <a:ext cx="2521080" cy="279414"/>
          </a:xfrm>
          <a:prstGeom prst="rect">
            <a:avLst/>
          </a:prstGeom>
        </p:spPr>
      </p:pic>
      <p:pic>
        <p:nvPicPr>
          <p:cNvPr id="9" name="图片 8"/>
          <p:cNvPicPr>
            <a:picLocks noChangeAspect="1"/>
          </p:cNvPicPr>
          <p:nvPr/>
        </p:nvPicPr>
        <p:blipFill>
          <a:blip r:embed="rId5"/>
          <a:stretch>
            <a:fillRect/>
          </a:stretch>
        </p:blipFill>
        <p:spPr>
          <a:xfrm>
            <a:off x="6356804" y="1343906"/>
            <a:ext cx="5689892" cy="187334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函数对象应用示例</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6" name="图片 5"/>
          <p:cNvPicPr>
            <a:picLocks noChangeAspect="1"/>
          </p:cNvPicPr>
          <p:nvPr/>
        </p:nvPicPr>
        <p:blipFill>
          <a:blip r:embed="rId3"/>
          <a:stretch>
            <a:fillRect/>
          </a:stretch>
        </p:blipFill>
        <p:spPr>
          <a:xfrm>
            <a:off x="4159599" y="506337"/>
            <a:ext cx="2521080" cy="279414"/>
          </a:xfrm>
          <a:prstGeom prst="rect">
            <a:avLst/>
          </a:prstGeom>
        </p:spPr>
      </p:pic>
      <p:pic>
        <p:nvPicPr>
          <p:cNvPr id="5" name="图片 4"/>
          <p:cNvPicPr>
            <a:picLocks noChangeAspect="1"/>
          </p:cNvPicPr>
          <p:nvPr/>
        </p:nvPicPr>
        <p:blipFill>
          <a:blip r:embed="rId4"/>
          <a:stretch>
            <a:fillRect/>
          </a:stretch>
        </p:blipFill>
        <p:spPr>
          <a:xfrm>
            <a:off x="369554" y="1096463"/>
            <a:ext cx="5678557" cy="3079315"/>
          </a:xfrm>
          <a:prstGeom prst="rect">
            <a:avLst/>
          </a:prstGeom>
        </p:spPr>
      </p:pic>
      <p:pic>
        <p:nvPicPr>
          <p:cNvPr id="10" name="图片 9"/>
          <p:cNvPicPr>
            <a:picLocks noChangeAspect="1"/>
          </p:cNvPicPr>
          <p:nvPr/>
        </p:nvPicPr>
        <p:blipFill>
          <a:blip r:embed="rId5"/>
          <a:stretch>
            <a:fillRect/>
          </a:stretch>
        </p:blipFill>
        <p:spPr>
          <a:xfrm>
            <a:off x="6376083" y="1016950"/>
            <a:ext cx="5258070" cy="4890571"/>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引入函数对象后重新理解</a:t>
            </a:r>
            <a:r>
              <a:rPr kumimoji="0" lang="en-US" altLang="zh-CN" sz="2800" dirty="0">
                <a:solidFill>
                  <a:srgbClr val="006600"/>
                </a:solidFill>
                <a:ea typeface="隶书" panose="02010509060101010101" pitchFamily="49" charset="-122"/>
              </a:rPr>
              <a:t>STL</a:t>
            </a:r>
            <a:r>
              <a:rPr kumimoji="0" lang="zh-CN" altLang="en-US" sz="2800" dirty="0">
                <a:solidFill>
                  <a:srgbClr val="006600"/>
                </a:solidFill>
                <a:ea typeface="隶书" panose="02010509060101010101" pitchFamily="49" charset="-122"/>
              </a:rPr>
              <a:t>中的“大”和“小”</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15" name="图片 14"/>
          <p:cNvPicPr>
            <a:picLocks noChangeAspect="1"/>
          </p:cNvPicPr>
          <p:nvPr/>
        </p:nvPicPr>
        <p:blipFill>
          <a:blip r:embed="rId3"/>
          <a:stretch>
            <a:fillRect/>
          </a:stretch>
        </p:blipFill>
        <p:spPr>
          <a:xfrm>
            <a:off x="1618628" y="1228961"/>
            <a:ext cx="8092736" cy="2487906"/>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示例：引入函数对象后重新理解</a:t>
            </a:r>
            <a:r>
              <a:rPr kumimoji="0" lang="en-US" altLang="zh-CN" sz="2800" dirty="0">
                <a:solidFill>
                  <a:srgbClr val="006600"/>
                </a:solidFill>
                <a:ea typeface="隶书" panose="02010509060101010101" pitchFamily="49" charset="-122"/>
              </a:rPr>
              <a:t>STL</a:t>
            </a:r>
            <a:r>
              <a:rPr kumimoji="0" lang="zh-CN" altLang="en-US" sz="2800" dirty="0">
                <a:solidFill>
                  <a:srgbClr val="006600"/>
                </a:solidFill>
                <a:ea typeface="隶书" panose="02010509060101010101" pitchFamily="49" charset="-122"/>
              </a:rPr>
              <a:t>中的“大”和“小”</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6" name="图片 5"/>
          <p:cNvPicPr/>
          <p:nvPr/>
        </p:nvPicPr>
        <p:blipFill>
          <a:blip r:embed="rId3"/>
          <a:stretch>
            <a:fillRect/>
          </a:stretch>
        </p:blipFill>
        <p:spPr>
          <a:xfrm>
            <a:off x="1410684" y="989908"/>
            <a:ext cx="3969578" cy="5410891"/>
          </a:xfrm>
          <a:prstGeom prst="rect">
            <a:avLst/>
          </a:prstGeom>
        </p:spPr>
      </p:pic>
      <p:pic>
        <p:nvPicPr>
          <p:cNvPr id="7" name="图片 6"/>
          <p:cNvPicPr/>
          <p:nvPr/>
        </p:nvPicPr>
        <p:blipFill rotWithShape="1">
          <a:blip r:embed="rId4"/>
          <a:srcRect b="1480"/>
          <a:stretch>
            <a:fillRect/>
          </a:stretch>
        </p:blipFill>
        <p:spPr>
          <a:xfrm>
            <a:off x="6080327" y="989907"/>
            <a:ext cx="4993660" cy="396971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1118013" y="362360"/>
            <a:ext cx="972461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示例：引入函数对象后重新理解</a:t>
            </a:r>
            <a:r>
              <a:rPr kumimoji="0" lang="en-US" altLang="zh-CN" sz="2800" dirty="0">
                <a:solidFill>
                  <a:srgbClr val="006600"/>
                </a:solidFill>
                <a:ea typeface="隶书" panose="02010509060101010101" pitchFamily="49" charset="-122"/>
              </a:rPr>
              <a:t>STL</a:t>
            </a:r>
            <a:r>
              <a:rPr kumimoji="0" lang="zh-CN" altLang="en-US" sz="2800" dirty="0">
                <a:solidFill>
                  <a:srgbClr val="006600"/>
                </a:solidFill>
                <a:ea typeface="隶书" panose="02010509060101010101" pitchFamily="49" charset="-122"/>
              </a:rPr>
              <a:t>中的“大”和“小”</a:t>
            </a:r>
            <a:endParaRPr kumimoji="0" lang="zh-CN" altLang="en-US" sz="2800" dirty="0">
              <a:solidFill>
                <a:srgbClr val="006600"/>
              </a:solidFill>
              <a:ea typeface="隶书" panose="02010509060101010101" pitchFamily="49" charset="-122"/>
            </a:endParaRPr>
          </a:p>
          <a:p>
            <a:pPr marL="0" indent="0">
              <a:spcBef>
                <a:spcPct val="50000"/>
              </a:spcBef>
            </a:pPr>
            <a:endParaRPr kumimoji="0" lang="zh-CN" altLang="en-US" b="1" dirty="0">
              <a:latin typeface="宋体" panose="02010600030101010101" pitchFamily="2" charset="-122"/>
            </a:endParaRPr>
          </a:p>
        </p:txBody>
      </p:sp>
      <p:pic>
        <p:nvPicPr>
          <p:cNvPr id="8" name="图片 7"/>
          <p:cNvPicPr>
            <a:picLocks noChangeAspect="1"/>
          </p:cNvPicPr>
          <p:nvPr/>
        </p:nvPicPr>
        <p:blipFill>
          <a:blip r:embed="rId1"/>
          <a:stretch>
            <a:fillRect/>
          </a:stretch>
        </p:blipFill>
        <p:spPr>
          <a:xfrm>
            <a:off x="3153225" y="3214164"/>
            <a:ext cx="484497" cy="281684"/>
          </a:xfrm>
          <a:prstGeom prst="rect">
            <a:avLst/>
          </a:prstGeom>
        </p:spPr>
      </p:pic>
      <p:pic>
        <p:nvPicPr>
          <p:cNvPr id="12" name="图片 11"/>
          <p:cNvPicPr>
            <a:picLocks noChangeAspect="1"/>
          </p:cNvPicPr>
          <p:nvPr/>
        </p:nvPicPr>
        <p:blipFill>
          <a:blip r:embed="rId2"/>
          <a:stretch>
            <a:fillRect/>
          </a:stretch>
        </p:blipFill>
        <p:spPr>
          <a:xfrm>
            <a:off x="7293793" y="1640964"/>
            <a:ext cx="667450" cy="1258308"/>
          </a:xfrm>
          <a:prstGeom prst="rect">
            <a:avLst/>
          </a:prstGeom>
        </p:spPr>
      </p:pic>
      <p:pic>
        <p:nvPicPr>
          <p:cNvPr id="9" name="图片 8"/>
          <p:cNvPicPr/>
          <p:nvPr/>
        </p:nvPicPr>
        <p:blipFill>
          <a:blip r:embed="rId3"/>
          <a:stretch>
            <a:fillRect/>
          </a:stretch>
        </p:blipFill>
        <p:spPr>
          <a:xfrm>
            <a:off x="3251752" y="1439578"/>
            <a:ext cx="4510709" cy="340077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47827" y="733686"/>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 </a:t>
            </a:r>
            <a:r>
              <a:rPr kumimoji="0" lang="en-US" altLang="zh-CN" sz="2800" dirty="0">
                <a:solidFill>
                  <a:srgbClr val="FF0000"/>
                </a:solidFill>
                <a:ea typeface="隶书" panose="02010509060101010101" pitchFamily="49" charset="-122"/>
              </a:rPr>
              <a:t>pair</a:t>
            </a:r>
            <a:r>
              <a:rPr kumimoji="0" lang="zh-CN" altLang="en-US" sz="2800" dirty="0">
                <a:solidFill>
                  <a:srgbClr val="FF0000"/>
                </a:solidFill>
                <a:ea typeface="隶书" panose="02010509060101010101" pitchFamily="49" charset="-122"/>
              </a:rPr>
              <a:t>模板</a:t>
            </a:r>
            <a:endParaRPr kumimoji="0" lang="en-US" altLang="zh-CN" sz="2800" dirty="0">
              <a:solidFill>
                <a:srgbClr val="FF00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2646604"/>
            <a:ext cx="484497" cy="281684"/>
          </a:xfrm>
          <a:prstGeom prst="rect">
            <a:avLst/>
          </a:prstGeom>
        </p:spPr>
      </p:pic>
      <p:pic>
        <p:nvPicPr>
          <p:cNvPr id="11" name="图片 10"/>
          <p:cNvPicPr>
            <a:picLocks noChangeAspect="1"/>
          </p:cNvPicPr>
          <p:nvPr/>
        </p:nvPicPr>
        <p:blipFill>
          <a:blip r:embed="rId2"/>
          <a:stretch>
            <a:fillRect/>
          </a:stretch>
        </p:blipFill>
        <p:spPr>
          <a:xfrm>
            <a:off x="10840128" y="5326824"/>
            <a:ext cx="450873" cy="749339"/>
          </a:xfrm>
          <a:prstGeom prst="rect">
            <a:avLst/>
          </a:prstGeom>
        </p:spPr>
      </p:pic>
      <p:pic>
        <p:nvPicPr>
          <p:cNvPr id="17" name="图片 16"/>
          <p:cNvPicPr>
            <a:picLocks noChangeAspect="1"/>
          </p:cNvPicPr>
          <p:nvPr/>
        </p:nvPicPr>
        <p:blipFill>
          <a:blip r:embed="rId3"/>
          <a:stretch>
            <a:fillRect/>
          </a:stretch>
        </p:blipFill>
        <p:spPr>
          <a:xfrm>
            <a:off x="11693518" y="500239"/>
            <a:ext cx="498481" cy="1023908"/>
          </a:xfrm>
          <a:prstGeom prst="rect">
            <a:avLst/>
          </a:prstGeom>
        </p:spPr>
      </p:pic>
      <p:pic>
        <p:nvPicPr>
          <p:cNvPr id="3" name="图片 2"/>
          <p:cNvPicPr>
            <a:picLocks noChangeAspect="1"/>
          </p:cNvPicPr>
          <p:nvPr/>
        </p:nvPicPr>
        <p:blipFill>
          <a:blip r:embed="rId4"/>
          <a:stretch>
            <a:fillRect/>
          </a:stretch>
        </p:blipFill>
        <p:spPr>
          <a:xfrm>
            <a:off x="466386" y="2153860"/>
            <a:ext cx="5373677" cy="4517432"/>
          </a:xfrm>
          <a:prstGeom prst="rect">
            <a:avLst/>
          </a:prstGeom>
        </p:spPr>
      </p:pic>
      <p:sp>
        <p:nvSpPr>
          <p:cNvPr id="25" name="文本框 24"/>
          <p:cNvSpPr txBox="1"/>
          <p:nvPr/>
        </p:nvSpPr>
        <p:spPr>
          <a:xfrm>
            <a:off x="1000583" y="1204707"/>
            <a:ext cx="9275693" cy="1353185"/>
          </a:xfrm>
          <a:prstGeom prst="rect">
            <a:avLst/>
          </a:prstGeom>
          <a:noFill/>
        </p:spPr>
        <p:txBody>
          <a:bodyPr wrap="square">
            <a:spAutoFit/>
          </a:bodyPr>
          <a:lstStyle/>
          <a:p>
            <a:pPr marL="342900" indent="-342900">
              <a:lnSpc>
                <a:spcPct val="70000"/>
              </a:lnSpc>
              <a:spcBef>
                <a:spcPct val="50000"/>
              </a:spcBef>
              <a:buFont typeface="Arial" panose="020B0604020202020204" pitchFamily="34" charset="0"/>
              <a:buChar char="•"/>
            </a:pPr>
            <a:r>
              <a:rPr lang="en-US" altLang="zh-CN" sz="2000" b="1" dirty="0">
                <a:solidFill>
                  <a:srgbClr val="000000"/>
                </a:solidFill>
                <a:latin typeface="Arial" panose="020B0604020202020204" pitchFamily="34" charset="0"/>
                <a:cs typeface="Arial" panose="020B0604020202020204" pitchFamily="34" charset="0"/>
              </a:rPr>
              <a:t>map</a:t>
            </a:r>
            <a:r>
              <a:rPr lang="zh-CN" altLang="en-US" sz="2000" b="1" dirty="0">
                <a:solidFill>
                  <a:srgbClr val="000000"/>
                </a:solidFill>
                <a:latin typeface="Arial" panose="020B0604020202020204" pitchFamily="34" charset="0"/>
                <a:cs typeface="Arial" panose="020B0604020202020204" pitchFamily="34" charset="0"/>
              </a:rPr>
              <a:t>和</a:t>
            </a:r>
            <a:r>
              <a:rPr lang="en-US" altLang="zh-CN" sz="2000" b="1" dirty="0">
                <a:solidFill>
                  <a:srgbClr val="000000"/>
                </a:solidFill>
                <a:latin typeface="Arial" panose="020B0604020202020204" pitchFamily="34" charset="0"/>
                <a:cs typeface="Arial" panose="020B0604020202020204" pitchFamily="34" charset="0"/>
              </a:rPr>
              <a:t>multimap</a:t>
            </a:r>
            <a:r>
              <a:rPr lang="zh-CN" altLang="en-US" sz="2000" b="1" dirty="0">
                <a:solidFill>
                  <a:srgbClr val="000000"/>
                </a:solidFill>
                <a:latin typeface="Arial" panose="020B0604020202020204" pitchFamily="34" charset="0"/>
                <a:cs typeface="Arial" panose="020B0604020202020204" pitchFamily="34" charset="0"/>
              </a:rPr>
              <a:t>容器中存放的都是</a:t>
            </a:r>
            <a:r>
              <a:rPr lang="en-US" altLang="zh-CN" sz="2000" b="1" dirty="0">
                <a:solidFill>
                  <a:srgbClr val="000000"/>
                </a:solidFill>
                <a:latin typeface="Arial" panose="020B0604020202020204" pitchFamily="34" charset="0"/>
                <a:cs typeface="Arial" panose="020B0604020202020204" pitchFamily="34" charset="0"/>
              </a:rPr>
              <a:t>pair</a:t>
            </a:r>
            <a:r>
              <a:rPr lang="zh-CN" altLang="en-US" sz="2000" b="1" dirty="0">
                <a:solidFill>
                  <a:srgbClr val="000000"/>
                </a:solidFill>
                <a:latin typeface="Arial" panose="020B0604020202020204" pitchFamily="34" charset="0"/>
                <a:cs typeface="Arial" panose="020B0604020202020204" pitchFamily="34" charset="0"/>
              </a:rPr>
              <a:t>类模板对象，并且按从</a:t>
            </a:r>
            <a:r>
              <a:rPr lang="en-US" altLang="zh-CN" sz="2000" b="1" dirty="0">
                <a:solidFill>
                  <a:srgbClr val="000000"/>
                </a:solidFill>
                <a:latin typeface="Arial" panose="020B0604020202020204" pitchFamily="34" charset="0"/>
                <a:cs typeface="Arial" panose="020B0604020202020204" pitchFamily="34" charset="0"/>
              </a:rPr>
              <a:t>first</a:t>
            </a:r>
            <a:r>
              <a:rPr lang="zh-CN" altLang="en-US" sz="2000" b="1" dirty="0">
                <a:solidFill>
                  <a:srgbClr val="000000"/>
                </a:solidFill>
                <a:latin typeface="Arial" panose="020B0604020202020204" pitchFamily="34" charset="0"/>
                <a:cs typeface="Arial" panose="020B0604020202020204" pitchFamily="34" charset="0"/>
              </a:rPr>
              <a:t>值小到大排序；</a:t>
            </a:r>
            <a:endParaRPr lang="en-US" altLang="zh-CN" sz="2000" b="1" dirty="0">
              <a:solidFill>
                <a:srgbClr val="000000"/>
              </a:solidFill>
              <a:latin typeface="Arial" panose="020B0604020202020204" pitchFamily="34" charset="0"/>
              <a:cs typeface="Arial" panose="020B0604020202020204" pitchFamily="34" charset="0"/>
            </a:endParaRPr>
          </a:p>
          <a:p>
            <a:pPr marL="342900" indent="-342900">
              <a:lnSpc>
                <a:spcPct val="70000"/>
              </a:lnSpc>
              <a:spcBef>
                <a:spcPct val="50000"/>
              </a:spcBef>
              <a:buFont typeface="Arial" panose="020B0604020202020204" pitchFamily="34" charset="0"/>
              <a:buChar char="•"/>
            </a:pPr>
            <a:r>
              <a:rPr lang="en-US" altLang="zh-CN" sz="2000" b="1" dirty="0">
                <a:latin typeface="Arial" panose="020B0604020202020204" pitchFamily="34" charset="0"/>
                <a:cs typeface="Arial" panose="020B0604020202020204" pitchFamily="34" charset="0"/>
              </a:rPr>
              <a:t>pair</a:t>
            </a:r>
            <a:r>
              <a:rPr lang="zh-CN" altLang="en-US" sz="2000" b="1" dirty="0">
                <a:latin typeface="Arial" panose="020B0604020202020204" pitchFamily="34" charset="0"/>
                <a:cs typeface="Arial" panose="020B0604020202020204" pitchFamily="34" charset="0"/>
              </a:rPr>
              <a:t>模板包含两部分数据成员，</a:t>
            </a:r>
            <a:r>
              <a:rPr lang="en-US" altLang="zh-CN" sz="2000" b="1" dirty="0">
                <a:solidFill>
                  <a:srgbClr val="0066FF"/>
                </a:solidFill>
                <a:latin typeface="Arial" panose="020B0604020202020204" pitchFamily="34" charset="0"/>
                <a:cs typeface="Arial" panose="020B0604020202020204" pitchFamily="34" charset="0"/>
              </a:rPr>
              <a:t>#</a:t>
            </a:r>
            <a:r>
              <a:rPr lang="en-US" altLang="zh-CN" sz="2000" b="1" dirty="0" err="1">
                <a:solidFill>
                  <a:srgbClr val="0066FF"/>
                </a:solidFill>
                <a:latin typeface="Arial" panose="020B0604020202020204" pitchFamily="34" charset="0"/>
                <a:cs typeface="Arial" panose="020B0604020202020204" pitchFamily="34" charset="0"/>
              </a:rPr>
              <a:t>inlclude</a:t>
            </a:r>
            <a:r>
              <a:rPr lang="en-US" altLang="zh-CN" sz="2000" b="1" dirty="0">
                <a:solidFill>
                  <a:srgbClr val="FF0000"/>
                </a:solidFill>
                <a:latin typeface="Arial" panose="020B0604020202020204" pitchFamily="34" charset="0"/>
                <a:cs typeface="Arial" panose="020B0604020202020204" pitchFamily="34" charset="0"/>
              </a:rPr>
              <a:t>&lt;utility&gt;</a:t>
            </a:r>
            <a:endParaRPr lang="zh-CN" altLang="en-US" sz="2000" b="1" dirty="0">
              <a:latin typeface="Arial" panose="020B0604020202020204" pitchFamily="34" charset="0"/>
              <a:cs typeface="Arial" panose="020B0604020202020204" pitchFamily="34" charset="0"/>
            </a:endParaRPr>
          </a:p>
          <a:p>
            <a:pPr marL="342900" indent="-342900">
              <a:spcBef>
                <a:spcPct val="50000"/>
              </a:spcBef>
              <a:buFont typeface="Arial" panose="020B0604020202020204" pitchFamily="34" charset="0"/>
              <a:buChar char="•"/>
            </a:pPr>
            <a:endParaRPr lang="en-US" altLang="zh-CN" sz="2000" b="1" dirty="0">
              <a:solidFill>
                <a:srgbClr val="000000"/>
              </a:solidFill>
              <a:latin typeface="Arial" panose="020B0604020202020204" pitchFamily="34" charset="0"/>
              <a:cs typeface="Arial" panose="020B0604020202020204" pitchFamily="34" charset="0"/>
            </a:endParaRPr>
          </a:p>
        </p:txBody>
      </p:sp>
      <p:pic>
        <p:nvPicPr>
          <p:cNvPr id="7" name="图片 6"/>
          <p:cNvPicPr>
            <a:picLocks noChangeAspect="1"/>
          </p:cNvPicPr>
          <p:nvPr/>
        </p:nvPicPr>
        <p:blipFill>
          <a:blip r:embed="rId5"/>
          <a:stretch>
            <a:fillRect/>
          </a:stretch>
        </p:blipFill>
        <p:spPr>
          <a:xfrm>
            <a:off x="6165600" y="5163393"/>
            <a:ext cx="4531953" cy="1085717"/>
          </a:xfrm>
          <a:prstGeom prst="rect">
            <a:avLst/>
          </a:prstGeom>
        </p:spPr>
      </p:pic>
      <p:sp>
        <p:nvSpPr>
          <p:cNvPr id="30" name="文本框 29"/>
          <p:cNvSpPr txBox="1"/>
          <p:nvPr/>
        </p:nvSpPr>
        <p:spPr>
          <a:xfrm>
            <a:off x="6165600" y="6249110"/>
            <a:ext cx="7194330" cy="369332"/>
          </a:xfrm>
          <a:prstGeom prst="rect">
            <a:avLst/>
          </a:prstGeom>
          <a:noFill/>
        </p:spPr>
        <p:txBody>
          <a:bodyPr wrap="square">
            <a:spAutoFit/>
          </a:bodyPr>
          <a:lstStyle/>
          <a:p>
            <a:r>
              <a:rPr lang="en-US" altLang="zh-CN" sz="1800" dirty="0">
                <a:solidFill>
                  <a:srgbClr val="00B050"/>
                </a:solidFill>
                <a:latin typeface="Consolas" panose="020B0609020204030204" pitchFamily="49" charset="0"/>
              </a:rPr>
              <a:t>//</a:t>
            </a:r>
            <a:r>
              <a:rPr lang="en-US" altLang="zh-CN" sz="1800" dirty="0" err="1">
                <a:solidFill>
                  <a:srgbClr val="00B050"/>
                </a:solidFill>
                <a:latin typeface="Consolas" panose="020B0609020204030204" pitchFamily="49" charset="0"/>
              </a:rPr>
              <a:t>p.</a:t>
            </a:r>
            <a:r>
              <a:rPr lang="en-US" altLang="zh-CN" sz="1800" dirty="0" err="1">
                <a:solidFill>
                  <a:srgbClr val="FF0000"/>
                </a:solidFill>
                <a:latin typeface="Consolas" panose="020B0609020204030204" pitchFamily="49" charset="0"/>
              </a:rPr>
              <a:t>first</a:t>
            </a:r>
            <a:r>
              <a:rPr lang="en-US" altLang="zh-CN" sz="1800" dirty="0">
                <a:solidFill>
                  <a:srgbClr val="00B050"/>
                </a:solidFill>
                <a:latin typeface="Consolas" panose="020B0609020204030204" pitchFamily="49" charset="0"/>
              </a:rPr>
              <a:t>=5,p.</a:t>
            </a:r>
            <a:r>
              <a:rPr lang="en-US" altLang="zh-CN" sz="1800" dirty="0">
                <a:solidFill>
                  <a:srgbClr val="FF0000"/>
                </a:solidFill>
                <a:latin typeface="Consolas" panose="020B0609020204030204" pitchFamily="49" charset="0"/>
              </a:rPr>
              <a:t>second</a:t>
            </a:r>
            <a:r>
              <a:rPr lang="en-US" altLang="zh-CN" sz="1800" dirty="0">
                <a:solidFill>
                  <a:srgbClr val="00B050"/>
                </a:solidFill>
                <a:latin typeface="Consolas" panose="020B0609020204030204" pitchFamily="49" charset="0"/>
              </a:rPr>
              <a:t>=4</a:t>
            </a:r>
            <a:endParaRPr lang="zh-CN" altLang="en-US" dirty="0"/>
          </a:p>
        </p:txBody>
      </p:sp>
      <p:sp>
        <p:nvSpPr>
          <p:cNvPr id="12" name="Rectangle 2"/>
          <p:cNvSpPr txBox="1">
            <a:spLocks noRot="1" noChangeArrowheads="1"/>
          </p:cNvSpPr>
          <p:nvPr/>
        </p:nvSpPr>
        <p:spPr>
          <a:xfrm>
            <a:off x="947827" y="-34027"/>
            <a:ext cx="8280400" cy="9826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4000" b="1" dirty="0">
                <a:effectLst>
                  <a:outerShdw blurRad="38100" dist="38100" dir="2700000" algn="tl">
                    <a:srgbClr val="C0C0C0"/>
                  </a:outerShdw>
                </a:effectLst>
              </a:rPr>
              <a:t>11.7 </a:t>
            </a:r>
            <a:r>
              <a:rPr lang="zh-CN" altLang="en-US" sz="4000" b="1" dirty="0">
                <a:effectLst>
                  <a:outerShdw blurRad="38100" dist="38100" dir="2700000" algn="tl">
                    <a:srgbClr val="C0C0C0"/>
                  </a:outerShdw>
                </a:effectLst>
              </a:rPr>
              <a:t>关联容器示例</a:t>
            </a:r>
            <a:endParaRPr lang="zh-CN" altLang="en-US" sz="4000" b="1" dirty="0"/>
          </a:p>
        </p:txBody>
      </p:sp>
      <p:pic>
        <p:nvPicPr>
          <p:cNvPr id="2" name="图片 1"/>
          <p:cNvPicPr>
            <a:picLocks noChangeAspect="1"/>
          </p:cNvPicPr>
          <p:nvPr/>
        </p:nvPicPr>
        <p:blipFill>
          <a:blip r:embed="rId6"/>
          <a:stretch>
            <a:fillRect/>
          </a:stretch>
        </p:blipFill>
        <p:spPr>
          <a:xfrm>
            <a:off x="5810132" y="2032351"/>
            <a:ext cx="5676472" cy="3001927"/>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841745" y="427417"/>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 </a:t>
            </a:r>
            <a:r>
              <a:rPr kumimoji="0" lang="en-US" altLang="zh-CN" sz="2800" dirty="0">
                <a:solidFill>
                  <a:srgbClr val="FF0000"/>
                </a:solidFill>
                <a:ea typeface="隶书" panose="02010509060101010101" pitchFamily="49" charset="-122"/>
              </a:rPr>
              <a:t>pair</a:t>
            </a:r>
            <a:r>
              <a:rPr kumimoji="0" lang="zh-CN" altLang="en-US" sz="2800" dirty="0">
                <a:solidFill>
                  <a:srgbClr val="FF0000"/>
                </a:solidFill>
                <a:ea typeface="隶书" panose="02010509060101010101" pitchFamily="49" charset="-122"/>
              </a:rPr>
              <a:t>模板</a:t>
            </a:r>
            <a:endParaRPr kumimoji="0" lang="en-US" altLang="zh-CN" sz="2800" dirty="0">
              <a:solidFill>
                <a:srgbClr val="FF00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2646604"/>
            <a:ext cx="484497" cy="281684"/>
          </a:xfrm>
          <a:prstGeom prst="rect">
            <a:avLst/>
          </a:prstGeom>
        </p:spPr>
      </p:pic>
      <p:pic>
        <p:nvPicPr>
          <p:cNvPr id="11" name="图片 10"/>
          <p:cNvPicPr>
            <a:picLocks noChangeAspect="1"/>
          </p:cNvPicPr>
          <p:nvPr/>
        </p:nvPicPr>
        <p:blipFill>
          <a:blip r:embed="rId2"/>
          <a:stretch>
            <a:fillRect/>
          </a:stretch>
        </p:blipFill>
        <p:spPr>
          <a:xfrm>
            <a:off x="10840128" y="5326824"/>
            <a:ext cx="450873" cy="749339"/>
          </a:xfrm>
          <a:prstGeom prst="rect">
            <a:avLst/>
          </a:prstGeom>
        </p:spPr>
      </p:pic>
      <p:pic>
        <p:nvPicPr>
          <p:cNvPr id="17" name="图片 16"/>
          <p:cNvPicPr>
            <a:picLocks noChangeAspect="1"/>
          </p:cNvPicPr>
          <p:nvPr/>
        </p:nvPicPr>
        <p:blipFill>
          <a:blip r:embed="rId3"/>
          <a:stretch>
            <a:fillRect/>
          </a:stretch>
        </p:blipFill>
        <p:spPr>
          <a:xfrm>
            <a:off x="11693518" y="500239"/>
            <a:ext cx="498481" cy="1023908"/>
          </a:xfrm>
          <a:prstGeom prst="rect">
            <a:avLst/>
          </a:prstGeom>
        </p:spPr>
      </p:pic>
      <p:pic>
        <p:nvPicPr>
          <p:cNvPr id="13" name="图片 12"/>
          <p:cNvPicPr>
            <a:picLocks noChangeAspect="1"/>
          </p:cNvPicPr>
          <p:nvPr/>
        </p:nvPicPr>
        <p:blipFill>
          <a:blip r:embed="rId4"/>
          <a:stretch>
            <a:fillRect/>
          </a:stretch>
        </p:blipFill>
        <p:spPr>
          <a:xfrm>
            <a:off x="5704051" y="1282383"/>
            <a:ext cx="6014446" cy="3653512"/>
          </a:xfrm>
          <a:prstGeom prst="rect">
            <a:avLst/>
          </a:prstGeom>
        </p:spPr>
      </p:pic>
      <p:sp>
        <p:nvSpPr>
          <p:cNvPr id="18" name="矩形 17"/>
          <p:cNvSpPr/>
          <p:nvPr/>
        </p:nvSpPr>
        <p:spPr>
          <a:xfrm>
            <a:off x="172304" y="1623536"/>
            <a:ext cx="8221352" cy="2246769"/>
          </a:xfrm>
          <a:prstGeom prst="rect">
            <a:avLst/>
          </a:prstGeom>
        </p:spPr>
        <p:txBody>
          <a:bodyPr wrap="square">
            <a:spAutoFit/>
          </a:bodyPr>
          <a:lstStyle/>
          <a:p>
            <a:r>
              <a:rPr lang="zh-CN" altLang="en-US" sz="2000" dirty="0">
                <a:solidFill>
                  <a:srgbClr val="00B050"/>
                </a:solidFill>
                <a:latin typeface="Consolas" panose="020B0609020204030204" pitchFamily="49" charset="0"/>
              </a:rPr>
              <a:t>例：</a:t>
            </a:r>
            <a:r>
              <a:rPr lang="zh-CN" altLang="en-US" sz="2000" dirty="0">
                <a:latin typeface="Consolas" panose="020B0609020204030204" pitchFamily="49" charset="0"/>
              </a:rPr>
              <a:t>使用</a:t>
            </a:r>
            <a:r>
              <a:rPr lang="en-US" altLang="zh-CN" sz="2000" dirty="0">
                <a:latin typeface="Consolas" panose="020B0609020204030204" pitchFamily="49" charset="0"/>
              </a:rPr>
              <a:t>pair</a:t>
            </a:r>
            <a:endParaRPr lang="en-US" altLang="zh-CN" sz="2000" dirty="0">
              <a:latin typeface="Consolas" panose="020B0609020204030204" pitchFamily="49" charset="0"/>
            </a:endParaRPr>
          </a:p>
          <a:p>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pair&lt;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 </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p1; </a:t>
            </a:r>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pair&lt;string, </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p2 = {</a:t>
            </a:r>
            <a:r>
              <a:rPr lang="en-US" altLang="zh-CN" sz="2000" dirty="0">
                <a:solidFill>
                  <a:srgbClr val="A31515"/>
                </a:solidFill>
                <a:latin typeface="Consolas" panose="020B0609020204030204" pitchFamily="49" charset="0"/>
              </a:rPr>
              <a:t>"Hello"</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0</a:t>
            </a:r>
            <a:r>
              <a:rPr lang="en-US" altLang="zh-CN" sz="2000" dirty="0">
                <a:solidFill>
                  <a:srgbClr val="000000"/>
                </a:solidFill>
                <a:latin typeface="Consolas" panose="020B0609020204030204" pitchFamily="49" charset="0"/>
              </a:rPr>
              <a:t>}; </a:t>
            </a:r>
            <a:endParaRPr lang="zh-CN" altLang="en-US" sz="2000" dirty="0">
              <a:solidFill>
                <a:srgbClr val="000000"/>
              </a:solidFill>
              <a:latin typeface="Consolas" panose="020B0609020204030204" pitchFamily="49" charset="0"/>
            </a:endParaRPr>
          </a:p>
          <a:p>
            <a:r>
              <a:rPr lang="en-US" altLang="zh-CN" sz="2000" dirty="0">
                <a:solidFill>
                  <a:srgbClr val="0000FF"/>
                </a:solidFill>
                <a:latin typeface="Consolas" panose="020B0609020204030204" pitchFamily="49" charset="0"/>
              </a:rPr>
              <a:t>auto</a:t>
            </a:r>
            <a:r>
              <a:rPr lang="en-US" altLang="zh-CN" sz="2000" dirty="0">
                <a:solidFill>
                  <a:srgbClr val="000000"/>
                </a:solidFill>
                <a:latin typeface="Consolas" panose="020B0609020204030204" pitchFamily="49" charset="0"/>
              </a:rPr>
              <a:t> p3 = </a:t>
            </a:r>
            <a:r>
              <a:rPr lang="en-US" altLang="zh-CN" sz="2000" dirty="0" err="1">
                <a:solidFill>
                  <a:srgbClr val="FF0000"/>
                </a:solidFill>
                <a:latin typeface="Consolas" panose="020B0609020204030204" pitchFamily="49" charset="0"/>
              </a:rPr>
              <a:t>make_pair</a:t>
            </a:r>
            <a:r>
              <a:rPr lang="en-US" altLang="zh-CN" sz="2000" dirty="0">
                <a:solidFill>
                  <a:srgbClr val="000000"/>
                </a:solidFill>
                <a:latin typeface="Consolas" panose="020B0609020204030204" pitchFamily="49" charset="0"/>
              </a:rPr>
              <a:t>(</a:t>
            </a:r>
            <a:r>
              <a:rPr lang="en-US" altLang="zh-CN" sz="2000" dirty="0">
                <a:solidFill>
                  <a:srgbClr val="A31515"/>
                </a:solidFill>
                <a:latin typeface="Consolas" panose="020B0609020204030204" pitchFamily="49" charset="0"/>
              </a:rPr>
              <a:t>"Hello"</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1</a:t>
            </a:r>
            <a:r>
              <a:rPr lang="en-US" altLang="zh-CN" sz="2000" dirty="0">
                <a:solidFill>
                  <a:srgbClr val="000000"/>
                </a:solidFill>
                <a:latin typeface="Consolas" panose="020B0609020204030204" pitchFamily="49" charset="0"/>
              </a:rPr>
              <a:t>); </a:t>
            </a:r>
            <a:endParaRPr lang="en-US" altLang="zh-CN" sz="2000" dirty="0">
              <a:solidFill>
                <a:srgbClr val="000000"/>
              </a:solidFill>
              <a:latin typeface="Consolas" panose="020B0609020204030204" pitchFamily="49" charset="0"/>
            </a:endParaRPr>
          </a:p>
          <a:p>
            <a:r>
              <a:rPr lang="en-US" altLang="zh-CN" sz="2000" dirty="0">
                <a:solidFill>
                  <a:srgbClr val="008000"/>
                </a:solidFill>
                <a:latin typeface="Consolas" panose="020B0609020204030204" pitchFamily="49" charset="0"/>
              </a:rPr>
              <a:t>//</a:t>
            </a:r>
            <a:r>
              <a:rPr lang="en-US" altLang="zh-CN" sz="2000" dirty="0" err="1">
                <a:solidFill>
                  <a:srgbClr val="008000"/>
                </a:solidFill>
                <a:latin typeface="Consolas" panose="020B0609020204030204" pitchFamily="49" charset="0"/>
              </a:rPr>
              <a:t>make_pair</a:t>
            </a:r>
            <a:r>
              <a:rPr lang="zh-CN" altLang="en-US" sz="2000" dirty="0">
                <a:solidFill>
                  <a:srgbClr val="008000"/>
                </a:solidFill>
                <a:latin typeface="Consolas" panose="020B0609020204030204" pitchFamily="49" charset="0"/>
              </a:rPr>
              <a:t>函数返回一个</a:t>
            </a:r>
            <a:r>
              <a:rPr lang="en-US" altLang="zh-CN" sz="2000" dirty="0">
                <a:solidFill>
                  <a:srgbClr val="008000"/>
                </a:solidFill>
                <a:latin typeface="Consolas" panose="020B0609020204030204" pitchFamily="49" charset="0"/>
              </a:rPr>
              <a:t>pair</a:t>
            </a:r>
            <a:r>
              <a:rPr lang="zh-CN" altLang="en-US" sz="2000" dirty="0">
                <a:solidFill>
                  <a:srgbClr val="008000"/>
                </a:solidFill>
                <a:latin typeface="Consolas" panose="020B0609020204030204" pitchFamily="49" charset="0"/>
              </a:rPr>
              <a:t>对象</a:t>
            </a:r>
            <a:endParaRPr lang="zh-CN" altLang="en-US" sz="2000" dirty="0">
              <a:solidFill>
                <a:srgbClr val="000000"/>
              </a:solidFill>
              <a:latin typeface="Consolas" panose="020B0609020204030204" pitchFamily="49" charset="0"/>
            </a:endParaRPr>
          </a:p>
          <a:p>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p2.</a:t>
            </a:r>
            <a:r>
              <a:rPr lang="en-US" altLang="zh-CN" sz="2000" dirty="0">
                <a:solidFill>
                  <a:srgbClr val="001080"/>
                </a:solidFill>
                <a:latin typeface="Consolas" panose="020B0609020204030204" pitchFamily="49" charset="0"/>
              </a:rPr>
              <a:t>first</a:t>
            </a:r>
            <a:r>
              <a:rPr lang="en-US" altLang="zh-CN" sz="2000" dirty="0">
                <a:solidFill>
                  <a:srgbClr val="000000"/>
                </a:solidFill>
                <a:latin typeface="Consolas" panose="020B0609020204030204" pitchFamily="49" charset="0"/>
              </a:rPr>
              <a:t> &lt;&lt; p2.</a:t>
            </a:r>
            <a:r>
              <a:rPr lang="en-US" altLang="zh-CN" sz="2000" dirty="0">
                <a:solidFill>
                  <a:srgbClr val="001080"/>
                </a:solidFill>
                <a:latin typeface="Consolas" panose="020B0609020204030204" pitchFamily="49" charset="0"/>
              </a:rPr>
              <a:t>second</a:t>
            </a:r>
            <a:r>
              <a:rPr lang="en-US" altLang="zh-CN" sz="2000" dirty="0">
                <a:solidFill>
                  <a:srgbClr val="000000"/>
                </a:solidFill>
                <a:latin typeface="Consolas" panose="020B0609020204030204" pitchFamily="49" charset="0"/>
              </a:rPr>
              <a:t> &lt;&lt; </a:t>
            </a:r>
            <a:r>
              <a:rPr lang="en-US" altLang="zh-CN" sz="2000" dirty="0" err="1">
                <a:solidFill>
                  <a:srgbClr val="000000"/>
                </a:solidFill>
                <a:latin typeface="Consolas" panose="020B0609020204030204" pitchFamily="49" charset="0"/>
              </a:rPr>
              <a:t>endl</a:t>
            </a:r>
            <a:r>
              <a:rPr lang="en-US" altLang="zh-CN" sz="2000" dirty="0">
                <a:solidFill>
                  <a:srgbClr val="000000"/>
                </a:solidFill>
                <a:latin typeface="Consolas" panose="020B0609020204030204" pitchFamily="49" charset="0"/>
              </a:rPr>
              <a:t>; </a:t>
            </a:r>
            <a:endParaRPr lang="zh-CN" altLang="en-US" sz="2000" b="0" dirty="0">
              <a:solidFill>
                <a:srgbClr val="000000"/>
              </a:solidFill>
              <a:effectLst/>
              <a:latin typeface="Consolas" panose="020B0609020204030204" pitchFamily="49" charset="0"/>
            </a:endParaRPr>
          </a:p>
        </p:txBody>
      </p:sp>
      <p:pic>
        <p:nvPicPr>
          <p:cNvPr id="3" name="图片 2"/>
          <p:cNvPicPr>
            <a:picLocks noChangeAspect="1"/>
          </p:cNvPicPr>
          <p:nvPr/>
        </p:nvPicPr>
        <p:blipFill rotWithShape="1">
          <a:blip r:embed="rId5"/>
          <a:srcRect t="8820" r="6862"/>
          <a:stretch>
            <a:fillRect/>
          </a:stretch>
        </p:blipFill>
        <p:spPr>
          <a:xfrm>
            <a:off x="4810358" y="5171405"/>
            <a:ext cx="7193095" cy="90475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—map</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5" name="图片 4"/>
          <p:cNvPicPr>
            <a:picLocks noChangeAspect="1"/>
          </p:cNvPicPr>
          <p:nvPr/>
        </p:nvPicPr>
        <p:blipFill>
          <a:blip r:embed="rId2"/>
          <a:stretch>
            <a:fillRect/>
          </a:stretch>
        </p:blipFill>
        <p:spPr>
          <a:xfrm>
            <a:off x="1192696" y="1002708"/>
            <a:ext cx="5843549" cy="2285627"/>
          </a:xfrm>
          <a:prstGeom prst="rect">
            <a:avLst/>
          </a:prstGeom>
        </p:spPr>
      </p:pic>
      <p:pic>
        <p:nvPicPr>
          <p:cNvPr id="7" name="图片 6"/>
          <p:cNvPicPr>
            <a:picLocks noChangeAspect="1"/>
          </p:cNvPicPr>
          <p:nvPr/>
        </p:nvPicPr>
        <p:blipFill>
          <a:blip r:embed="rId3"/>
          <a:stretch>
            <a:fillRect/>
          </a:stretch>
        </p:blipFill>
        <p:spPr>
          <a:xfrm>
            <a:off x="1192696" y="3304395"/>
            <a:ext cx="6318575" cy="723937"/>
          </a:xfrm>
          <a:prstGeom prst="rect">
            <a:avLst/>
          </a:prstGeom>
        </p:spPr>
      </p:pic>
      <p:pic>
        <p:nvPicPr>
          <p:cNvPr id="10" name="图片 9"/>
          <p:cNvPicPr>
            <a:picLocks noChangeAspect="1"/>
          </p:cNvPicPr>
          <p:nvPr/>
        </p:nvPicPr>
        <p:blipFill>
          <a:blip r:embed="rId4"/>
          <a:stretch>
            <a:fillRect/>
          </a:stretch>
        </p:blipFill>
        <p:spPr>
          <a:xfrm>
            <a:off x="7323199" y="3208952"/>
            <a:ext cx="368319" cy="241312"/>
          </a:xfrm>
          <a:prstGeom prst="rect">
            <a:avLst/>
          </a:prstGeom>
        </p:spPr>
      </p:pic>
      <p:pic>
        <p:nvPicPr>
          <p:cNvPr id="12" name="图片 11"/>
          <p:cNvPicPr>
            <a:picLocks noChangeAspect="1"/>
          </p:cNvPicPr>
          <p:nvPr/>
        </p:nvPicPr>
        <p:blipFill>
          <a:blip r:embed="rId4"/>
          <a:stretch>
            <a:fillRect/>
          </a:stretch>
        </p:blipFill>
        <p:spPr>
          <a:xfrm>
            <a:off x="7382832" y="3686029"/>
            <a:ext cx="668138" cy="43774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23138" y="883699"/>
            <a:ext cx="10546994" cy="5090601"/>
          </a:xfrm>
          <a:prstGeom prst="rect">
            <a:avLst/>
          </a:prstGeom>
        </p:spPr>
      </p:pic>
      <p:pic>
        <p:nvPicPr>
          <p:cNvPr id="6" name="图片 5"/>
          <p:cNvPicPr>
            <a:picLocks noChangeAspect="1"/>
          </p:cNvPicPr>
          <p:nvPr/>
        </p:nvPicPr>
        <p:blipFill>
          <a:blip r:embed="rId2"/>
          <a:stretch>
            <a:fillRect/>
          </a:stretch>
        </p:blipFill>
        <p:spPr>
          <a:xfrm>
            <a:off x="10899573" y="5459924"/>
            <a:ext cx="469924" cy="514376"/>
          </a:xfrm>
          <a:prstGeom prst="rect">
            <a:avLst/>
          </a:prstGeom>
        </p:spPr>
      </p:pic>
      <p:pic>
        <p:nvPicPr>
          <p:cNvPr id="8" name="图片 7"/>
          <p:cNvPicPr>
            <a:picLocks noChangeAspect="1"/>
          </p:cNvPicPr>
          <p:nvPr/>
        </p:nvPicPr>
        <p:blipFill>
          <a:blip r:embed="rId2"/>
          <a:stretch>
            <a:fillRect/>
          </a:stretch>
        </p:blipFill>
        <p:spPr>
          <a:xfrm>
            <a:off x="1480931" y="4652742"/>
            <a:ext cx="208456" cy="514376"/>
          </a:xfrm>
          <a:prstGeom prst="rect">
            <a:avLst/>
          </a:prstGeom>
        </p:spPr>
      </p:pic>
      <p:sp>
        <p:nvSpPr>
          <p:cNvPr id="2" name="矩形 1"/>
          <p:cNvSpPr/>
          <p:nvPr/>
        </p:nvSpPr>
        <p:spPr>
          <a:xfrm>
            <a:off x="5592445" y="2070735"/>
            <a:ext cx="2608580" cy="361315"/>
          </a:xfrm>
          <a:prstGeom prst="rect">
            <a:avLst/>
          </a:prstGeom>
          <a:noFill/>
          <a:ln w="381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nvSpPr>
        <p:spPr>
          <a:xfrm>
            <a:off x="7821295" y="4253865"/>
            <a:ext cx="2595245" cy="398780"/>
          </a:xfrm>
          <a:prstGeom prst="rect">
            <a:avLst/>
          </a:prstGeom>
          <a:noFill/>
          <a:ln w="28575" cmpd="sng">
            <a:solidFill>
              <a:srgbClr val="FF0000"/>
            </a:solidFill>
            <a:prstDash val="solid"/>
          </a:ln>
        </p:spPr>
        <p:txBody>
          <a:bodyPr wrap="square" rtlCol="0">
            <a:spAutoFit/>
          </a:bodyPr>
          <a:p>
            <a:r>
              <a:rPr lang="en-US" altLang="zh-CN" sz="2000" b="1">
                <a:solidFill>
                  <a:srgbClr val="0066FF"/>
                </a:solidFill>
              </a:rPr>
              <a:t>second</a:t>
            </a:r>
            <a:r>
              <a:rPr lang="zh-CN" altLang="en-US" sz="2000" b="1">
                <a:solidFill>
                  <a:srgbClr val="0066FF"/>
                </a:solidFill>
              </a:rPr>
              <a:t>成员变量的值</a:t>
            </a:r>
            <a:endParaRPr lang="zh-CN" altLang="en-US" sz="2000" b="1">
              <a:solidFill>
                <a:srgbClr val="0066FF"/>
              </a:solidFill>
            </a:endParaRPr>
          </a:p>
        </p:txBody>
      </p:sp>
      <p:sp>
        <p:nvSpPr>
          <p:cNvPr id="7" name="下箭头 6"/>
          <p:cNvSpPr/>
          <p:nvPr/>
        </p:nvSpPr>
        <p:spPr>
          <a:xfrm>
            <a:off x="9046210" y="4639945"/>
            <a:ext cx="146050" cy="4298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下箭头 8"/>
          <p:cNvSpPr/>
          <p:nvPr/>
        </p:nvSpPr>
        <p:spPr>
          <a:xfrm>
            <a:off x="8549640" y="4695190"/>
            <a:ext cx="137160" cy="9480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23138" y="883699"/>
            <a:ext cx="10546994" cy="5090601"/>
          </a:xfrm>
          <a:prstGeom prst="rect">
            <a:avLst/>
          </a:prstGeom>
        </p:spPr>
      </p:pic>
      <p:pic>
        <p:nvPicPr>
          <p:cNvPr id="6" name="图片 5"/>
          <p:cNvPicPr>
            <a:picLocks noChangeAspect="1"/>
          </p:cNvPicPr>
          <p:nvPr/>
        </p:nvPicPr>
        <p:blipFill>
          <a:blip r:embed="rId2"/>
          <a:stretch>
            <a:fillRect/>
          </a:stretch>
        </p:blipFill>
        <p:spPr>
          <a:xfrm>
            <a:off x="10899573" y="5459924"/>
            <a:ext cx="469924" cy="514376"/>
          </a:xfrm>
          <a:prstGeom prst="rect">
            <a:avLst/>
          </a:prstGeom>
        </p:spPr>
      </p:pic>
      <p:pic>
        <p:nvPicPr>
          <p:cNvPr id="8" name="图片 7"/>
          <p:cNvPicPr>
            <a:picLocks noChangeAspect="1"/>
          </p:cNvPicPr>
          <p:nvPr/>
        </p:nvPicPr>
        <p:blipFill>
          <a:blip r:embed="rId2"/>
          <a:stretch>
            <a:fillRect/>
          </a:stretch>
        </p:blipFill>
        <p:spPr>
          <a:xfrm>
            <a:off x="1480931" y="4652742"/>
            <a:ext cx="208456" cy="514376"/>
          </a:xfrm>
          <a:prstGeom prst="rect">
            <a:avLst/>
          </a:prstGeom>
        </p:spPr>
      </p:pic>
      <p:sp>
        <p:nvSpPr>
          <p:cNvPr id="2" name="矩形 1"/>
          <p:cNvSpPr/>
          <p:nvPr/>
        </p:nvSpPr>
        <p:spPr>
          <a:xfrm>
            <a:off x="5592445" y="2070735"/>
            <a:ext cx="2608580" cy="361315"/>
          </a:xfrm>
          <a:prstGeom prst="rect">
            <a:avLst/>
          </a:prstGeom>
          <a:noFill/>
          <a:ln w="381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nvSpPr>
        <p:spPr>
          <a:xfrm>
            <a:off x="7821295" y="4253865"/>
            <a:ext cx="2595245" cy="398780"/>
          </a:xfrm>
          <a:prstGeom prst="rect">
            <a:avLst/>
          </a:prstGeom>
          <a:noFill/>
          <a:ln w="28575" cmpd="sng">
            <a:solidFill>
              <a:srgbClr val="FF0000"/>
            </a:solidFill>
            <a:prstDash val="solid"/>
          </a:ln>
        </p:spPr>
        <p:txBody>
          <a:bodyPr wrap="square" rtlCol="0">
            <a:spAutoFit/>
          </a:bodyPr>
          <a:p>
            <a:r>
              <a:rPr lang="en-US" altLang="zh-CN" sz="2000" b="1">
                <a:solidFill>
                  <a:srgbClr val="0066FF"/>
                </a:solidFill>
              </a:rPr>
              <a:t>second</a:t>
            </a:r>
            <a:r>
              <a:rPr lang="zh-CN" altLang="en-US" sz="2000" b="1">
                <a:solidFill>
                  <a:srgbClr val="0066FF"/>
                </a:solidFill>
              </a:rPr>
              <a:t>成员变量的值</a:t>
            </a:r>
            <a:endParaRPr lang="zh-CN" altLang="en-US" sz="2000" b="1">
              <a:solidFill>
                <a:srgbClr val="0066FF"/>
              </a:solidFill>
            </a:endParaRPr>
          </a:p>
        </p:txBody>
      </p:sp>
      <p:sp>
        <p:nvSpPr>
          <p:cNvPr id="7" name="下箭头 6"/>
          <p:cNvSpPr/>
          <p:nvPr/>
        </p:nvSpPr>
        <p:spPr>
          <a:xfrm>
            <a:off x="9046210" y="4639945"/>
            <a:ext cx="146050" cy="4298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下箭头 8"/>
          <p:cNvSpPr/>
          <p:nvPr/>
        </p:nvSpPr>
        <p:spPr>
          <a:xfrm>
            <a:off x="8549640" y="4695190"/>
            <a:ext cx="137160" cy="9480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a:t>
            </a:r>
            <a:r>
              <a:rPr kumimoji="0" lang="zh-CN" altLang="en-US" sz="2800" dirty="0">
                <a:solidFill>
                  <a:srgbClr val="006600"/>
                </a:solidFill>
                <a:ea typeface="隶书" panose="02010509060101010101" pitchFamily="49" charset="-122"/>
              </a:rPr>
              <a:t>使用</a:t>
            </a:r>
            <a:r>
              <a:rPr kumimoji="0" lang="en-US" altLang="zh-CN" sz="2800" dirty="0">
                <a:solidFill>
                  <a:srgbClr val="006600"/>
                </a:solidFill>
                <a:ea typeface="隶书" panose="02010509060101010101" pitchFamily="49" charset="-122"/>
              </a:rPr>
              <a:t>map</a:t>
            </a:r>
            <a:endParaRPr kumimoji="0" lang="en-US" altLang="zh-CN" sz="2800" dirty="0">
              <a:solidFill>
                <a:srgbClr val="FF00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2415379"/>
            <a:ext cx="484497" cy="281684"/>
          </a:xfrm>
          <a:prstGeom prst="rect">
            <a:avLst/>
          </a:prstGeom>
        </p:spPr>
      </p:pic>
      <p:pic>
        <p:nvPicPr>
          <p:cNvPr id="11" name="图片 10"/>
          <p:cNvPicPr>
            <a:picLocks noChangeAspect="1"/>
          </p:cNvPicPr>
          <p:nvPr/>
        </p:nvPicPr>
        <p:blipFill>
          <a:blip r:embed="rId2"/>
          <a:stretch>
            <a:fillRect/>
          </a:stretch>
        </p:blipFill>
        <p:spPr>
          <a:xfrm>
            <a:off x="10840128" y="5095599"/>
            <a:ext cx="450873" cy="749339"/>
          </a:xfrm>
          <a:prstGeom prst="rect">
            <a:avLst/>
          </a:prstGeom>
        </p:spPr>
      </p:pic>
      <p:pic>
        <p:nvPicPr>
          <p:cNvPr id="17" name="图片 16"/>
          <p:cNvPicPr>
            <a:picLocks noChangeAspect="1"/>
          </p:cNvPicPr>
          <p:nvPr/>
        </p:nvPicPr>
        <p:blipFill>
          <a:blip r:embed="rId3"/>
          <a:stretch>
            <a:fillRect/>
          </a:stretch>
        </p:blipFill>
        <p:spPr>
          <a:xfrm>
            <a:off x="11693518" y="500239"/>
            <a:ext cx="498481" cy="1023908"/>
          </a:xfrm>
          <a:prstGeom prst="rect">
            <a:avLst/>
          </a:prstGeom>
        </p:spPr>
      </p:pic>
      <p:sp>
        <p:nvSpPr>
          <p:cNvPr id="13" name="矩形 12"/>
          <p:cNvSpPr/>
          <p:nvPr/>
        </p:nvSpPr>
        <p:spPr>
          <a:xfrm>
            <a:off x="775335" y="1022985"/>
            <a:ext cx="11132185" cy="706755"/>
          </a:xfrm>
          <a:prstGeom prst="rect">
            <a:avLst/>
          </a:prstGeom>
        </p:spPr>
        <p:txBody>
          <a:bodyPr wrap="square">
            <a:spAutoFit/>
          </a:bodyPr>
          <a:lstStyle/>
          <a:p>
            <a:pPr marL="285750" indent="-285750">
              <a:buClr>
                <a:srgbClr val="262686"/>
              </a:buClr>
              <a:buSzPct val="80000"/>
              <a:buFont typeface="Wingdings" panose="05000000000000000000" pitchFamily="2" charset="2"/>
              <a:buChar char="l"/>
            </a:pPr>
            <a:r>
              <a:rPr lang="en-US" altLang="zh-CN" sz="2000" b="1" dirty="0"/>
              <a:t>map </a:t>
            </a:r>
            <a:r>
              <a:rPr lang="zh-CN" altLang="en-US" sz="2000" b="1" dirty="0"/>
              <a:t>与 </a:t>
            </a:r>
            <a:r>
              <a:rPr lang="en-US" altLang="zh-CN" sz="2000" b="1" dirty="0"/>
              <a:t>set </a:t>
            </a:r>
            <a:r>
              <a:rPr lang="zh-CN" altLang="en-US" sz="2000" b="1" dirty="0"/>
              <a:t>类似，都是有序容器</a:t>
            </a:r>
            <a:endParaRPr lang="en-US" altLang="zh-CN" sz="2000" b="1" dirty="0"/>
          </a:p>
          <a:p>
            <a:pPr marL="285750" indent="-285750">
              <a:buClr>
                <a:srgbClr val="262686"/>
              </a:buClr>
              <a:buSzPct val="80000"/>
              <a:buFont typeface="Wingdings" panose="05000000000000000000" pitchFamily="2" charset="2"/>
              <a:buChar char="l"/>
            </a:pPr>
            <a:r>
              <a:rPr lang="en-US" altLang="zh-CN" sz="2000" b="1" dirty="0">
                <a:solidFill>
                  <a:srgbClr val="000000"/>
                </a:solidFill>
                <a:latin typeface="MicrosoftYaHei"/>
              </a:rPr>
              <a:t>map</a:t>
            </a:r>
            <a:r>
              <a:rPr lang="zh-CN" altLang="en-US" sz="2000" b="1" dirty="0">
                <a:solidFill>
                  <a:srgbClr val="000000"/>
                </a:solidFill>
                <a:latin typeface="MicrosoftYaHei"/>
              </a:rPr>
              <a:t>和</a:t>
            </a:r>
            <a:r>
              <a:rPr lang="en-US" altLang="zh-CN" sz="2000" b="1" dirty="0">
                <a:solidFill>
                  <a:srgbClr val="000000"/>
                </a:solidFill>
                <a:latin typeface="MicrosoftYaHei"/>
              </a:rPr>
              <a:t>multimap</a:t>
            </a:r>
            <a:r>
              <a:rPr lang="zh-CN" altLang="en-US" sz="2000" b="1" dirty="0">
                <a:solidFill>
                  <a:srgbClr val="000000"/>
                </a:solidFill>
                <a:latin typeface="MicrosoftYaHei"/>
              </a:rPr>
              <a:t>容器中存放的都是</a:t>
            </a:r>
            <a:r>
              <a:rPr lang="en-US" altLang="zh-CN" sz="2000" b="1" dirty="0">
                <a:solidFill>
                  <a:srgbClr val="000000"/>
                </a:solidFill>
                <a:latin typeface="MicrosoftYaHei"/>
              </a:rPr>
              <a:t>pair</a:t>
            </a:r>
            <a:r>
              <a:rPr lang="zh-CN" altLang="en-US" sz="2000" b="1" dirty="0">
                <a:solidFill>
                  <a:srgbClr val="000000"/>
                </a:solidFill>
                <a:latin typeface="MicrosoftYaHei"/>
              </a:rPr>
              <a:t>类模板对象，且</a:t>
            </a:r>
            <a:r>
              <a:rPr lang="zh-CN" altLang="en-US" sz="2000" b="1" dirty="0">
                <a:solidFill>
                  <a:srgbClr val="0066FF"/>
                </a:solidFill>
                <a:latin typeface="MicrosoftYaHei"/>
              </a:rPr>
              <a:t>默认</a:t>
            </a:r>
            <a:r>
              <a:rPr lang="zh-CN" altLang="en-US" sz="2000" b="1" dirty="0">
                <a:solidFill>
                  <a:schemeClr val="tx1"/>
                </a:solidFill>
                <a:latin typeface="MicrosoftYaHei"/>
              </a:rPr>
              <a:t>按第一个成员</a:t>
            </a:r>
            <a:r>
              <a:rPr lang="en-US" altLang="zh-CN" sz="2000" b="1" dirty="0">
                <a:solidFill>
                  <a:srgbClr val="0066FF"/>
                </a:solidFill>
                <a:latin typeface="MicrosoftYaHei"/>
              </a:rPr>
              <a:t>first</a:t>
            </a:r>
            <a:r>
              <a:rPr lang="zh-CN" altLang="en-US" sz="2000" b="1" dirty="0">
                <a:solidFill>
                  <a:srgbClr val="0066FF"/>
                </a:solidFill>
                <a:latin typeface="MicrosoftYaHei"/>
              </a:rPr>
              <a:t>的值</a:t>
            </a:r>
            <a:r>
              <a:rPr lang="zh-CN" altLang="en-US" sz="2000" b="1" dirty="0">
                <a:solidFill>
                  <a:srgbClr val="FF0000"/>
                </a:solidFill>
                <a:latin typeface="MicrosoftYaHei"/>
              </a:rPr>
              <a:t>升序</a:t>
            </a:r>
            <a:r>
              <a:rPr lang="zh-CN" altLang="en-US" sz="2000" b="1" dirty="0">
                <a:solidFill>
                  <a:schemeClr val="tx1"/>
                </a:solidFill>
                <a:latin typeface="MicrosoftYaHei"/>
              </a:rPr>
              <a:t>排序</a:t>
            </a:r>
            <a:endParaRPr lang="zh-CN" altLang="en-US" sz="2000" b="1" dirty="0">
              <a:solidFill>
                <a:schemeClr val="tx1"/>
              </a:solidFill>
              <a:latin typeface="MicrosoftYaHei"/>
            </a:endParaRPr>
          </a:p>
        </p:txBody>
      </p:sp>
      <p:sp>
        <p:nvSpPr>
          <p:cNvPr id="14" name="矩形 13"/>
          <p:cNvSpPr/>
          <p:nvPr/>
        </p:nvSpPr>
        <p:spPr>
          <a:xfrm>
            <a:off x="1075665" y="1879637"/>
            <a:ext cx="6711351" cy="400110"/>
          </a:xfrm>
          <a:prstGeom prst="rect">
            <a:avLst/>
          </a:prstGeom>
        </p:spPr>
        <p:txBody>
          <a:bodyPr wrap="square">
            <a:spAutoFit/>
          </a:bodyPr>
          <a:lstStyle/>
          <a:p>
            <a:pPr>
              <a:buClr>
                <a:srgbClr val="262686"/>
              </a:buClr>
              <a:buSzPct val="80000"/>
            </a:pPr>
            <a:r>
              <a:rPr lang="zh-CN" altLang="en-US" sz="2000" b="1" dirty="0">
                <a:solidFill>
                  <a:srgbClr val="00B050"/>
                </a:solidFill>
              </a:rPr>
              <a:t>例：</a:t>
            </a:r>
            <a:r>
              <a:rPr lang="zh-CN" altLang="en-US" sz="2000" dirty="0"/>
              <a:t>统计输入的一组数字中每个数字出现的次数 </a:t>
            </a:r>
            <a:endParaRPr lang="zh-CN" altLang="en-US" sz="2000" dirty="0"/>
          </a:p>
        </p:txBody>
      </p:sp>
      <p:sp>
        <p:nvSpPr>
          <p:cNvPr id="15" name="矩形 14"/>
          <p:cNvSpPr/>
          <p:nvPr/>
        </p:nvSpPr>
        <p:spPr>
          <a:xfrm>
            <a:off x="986663" y="2499179"/>
            <a:ext cx="7352267" cy="1938992"/>
          </a:xfrm>
          <a:prstGeom prst="rect">
            <a:avLst/>
          </a:prstGeom>
        </p:spPr>
        <p:txBody>
          <a:bodyPr wrap="square">
            <a:spAutoFit/>
          </a:bodyPr>
          <a:lstStyle/>
          <a:p>
            <a:r>
              <a:rPr lang="en-US" altLang="zh-CN" sz="2000" dirty="0">
                <a:solidFill>
                  <a:srgbClr val="FF0000"/>
                </a:solidFill>
                <a:latin typeface="Consolas" panose="020B0609020204030204" pitchFamily="49" charset="0"/>
              </a:rPr>
              <a:t>map</a:t>
            </a:r>
            <a:r>
              <a:rPr lang="en-US" altLang="zh-CN" sz="2000" dirty="0">
                <a:solidFill>
                  <a:srgbClr val="000000"/>
                </a:solidFill>
                <a:latin typeface="Consolas" panose="020B0609020204030204" pitchFamily="49" charset="0"/>
              </a:rPr>
              <a:t>&lt;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 </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counter;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创建</a:t>
            </a:r>
            <a:r>
              <a:rPr lang="en-US" altLang="zh-CN" sz="2000" dirty="0">
                <a:solidFill>
                  <a:srgbClr val="008000"/>
                </a:solidFill>
                <a:latin typeface="Consolas" panose="020B0609020204030204" pitchFamily="49" charset="0"/>
              </a:rPr>
              <a:t>map</a:t>
            </a:r>
            <a:r>
              <a:rPr lang="zh-CN" altLang="en-US" sz="2000" dirty="0">
                <a:solidFill>
                  <a:srgbClr val="008000"/>
                </a:solidFill>
                <a:latin typeface="Consolas" panose="020B0609020204030204" pitchFamily="49" charset="0"/>
              </a:rPr>
              <a:t>对象</a:t>
            </a:r>
            <a:endParaRPr lang="zh-CN" altLang="en-US" sz="2000" dirty="0">
              <a:solidFill>
                <a:srgbClr val="000000"/>
              </a:solidFill>
              <a:latin typeface="Consolas" panose="020B0609020204030204" pitchFamily="49" charset="0"/>
            </a:endParaRPr>
          </a:p>
          <a:p>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 number;</a:t>
            </a:r>
            <a:endParaRPr lang="en-US" altLang="zh-CN" sz="2000" dirty="0">
              <a:solidFill>
                <a:srgbClr val="000000"/>
              </a:solidFill>
              <a:latin typeface="Consolas" panose="020B0609020204030204" pitchFamily="49" charset="0"/>
            </a:endParaRPr>
          </a:p>
          <a:p>
            <a:r>
              <a:rPr lang="en-US" altLang="zh-CN" sz="2000" dirty="0">
                <a:solidFill>
                  <a:srgbClr val="AF00DB"/>
                </a:solidFill>
                <a:latin typeface="Consolas" panose="020B0609020204030204" pitchFamily="49" charset="0"/>
              </a:rPr>
              <a:t>while</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cin</a:t>
            </a:r>
            <a:r>
              <a:rPr lang="en-US" altLang="zh-CN" sz="2000" dirty="0">
                <a:solidFill>
                  <a:srgbClr val="000000"/>
                </a:solidFill>
                <a:latin typeface="Consolas" panose="020B0609020204030204" pitchFamily="49" charset="0"/>
              </a:rPr>
              <a:t> &gt;&gt; number)</a:t>
            </a:r>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	++counter[number];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是成员函数，返回引用</a:t>
            </a:r>
            <a:endParaRPr lang="en-US" altLang="zh-CN" sz="2000" dirty="0">
              <a:solidFill>
                <a:srgbClr val="008000"/>
              </a:solidFill>
              <a:latin typeface="Consolas" panose="020B0609020204030204" pitchFamily="49" charset="0"/>
            </a:endParaRPr>
          </a:p>
          <a:p>
            <a:r>
              <a:rPr lang="en-US" altLang="zh-CN" sz="2000" dirty="0">
                <a:solidFill>
                  <a:srgbClr val="AF00DB"/>
                </a:solidFill>
                <a:latin typeface="Consolas" panose="020B0609020204030204" pitchFamily="49" charset="0"/>
              </a:rPr>
              <a:t>for</a:t>
            </a:r>
            <a:r>
              <a:rPr lang="en-US" altLang="zh-CN" sz="2000" dirty="0">
                <a:solidFill>
                  <a:srgbClr val="000000"/>
                </a:solidFill>
                <a:latin typeface="Consolas" panose="020B0609020204030204" pitchFamily="49" charset="0"/>
              </a:rPr>
              <a:t> (</a:t>
            </a:r>
            <a:r>
              <a:rPr lang="en-US" altLang="zh-CN" sz="2000" dirty="0">
                <a:solidFill>
                  <a:srgbClr val="0000FF"/>
                </a:solidFill>
                <a:latin typeface="Consolas" panose="020B0609020204030204" pitchFamily="49" charset="0"/>
              </a:rPr>
              <a:t>auto</a:t>
            </a:r>
            <a:r>
              <a:rPr lang="en-US" altLang="zh-CN" sz="2000" dirty="0">
                <a:solidFill>
                  <a:srgbClr val="000000"/>
                </a:solidFill>
                <a:latin typeface="Consolas" panose="020B0609020204030204" pitchFamily="49" charset="0"/>
              </a:rPr>
              <a:t> &amp;</a:t>
            </a:r>
            <a:r>
              <a:rPr lang="en-US" altLang="zh-CN" sz="2000" dirty="0" err="1">
                <a:solidFill>
                  <a:srgbClr val="000000"/>
                </a:solidFill>
                <a:latin typeface="Consolas" panose="020B0609020204030204" pitchFamily="49" charset="0"/>
              </a:rPr>
              <a:t>i</a:t>
            </a:r>
            <a:r>
              <a:rPr lang="en-US" altLang="zh-CN" sz="2000" dirty="0">
                <a:solidFill>
                  <a:srgbClr val="000000"/>
                </a:solidFill>
                <a:latin typeface="Consolas" panose="020B0609020204030204" pitchFamily="49" charset="0"/>
              </a:rPr>
              <a:t> : counter)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遍历</a:t>
            </a:r>
            <a:r>
              <a:rPr lang="en-US" altLang="zh-CN" sz="2000" dirty="0">
                <a:solidFill>
                  <a:srgbClr val="008000"/>
                </a:solidFill>
                <a:latin typeface="Consolas" panose="020B0609020204030204" pitchFamily="49" charset="0"/>
              </a:rPr>
              <a:t>map </a:t>
            </a:r>
            <a:r>
              <a:rPr lang="zh-CN" altLang="en-US" sz="2000" dirty="0">
                <a:solidFill>
                  <a:srgbClr val="008000"/>
                </a:solidFill>
                <a:latin typeface="Consolas" panose="020B0609020204030204" pitchFamily="49" charset="0"/>
              </a:rPr>
              <a:t>中每个元素</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a:t>
            </a:r>
            <a:r>
              <a:rPr lang="en-US" altLang="zh-CN" sz="2000" dirty="0" err="1">
                <a:solidFill>
                  <a:srgbClr val="000000"/>
                </a:solidFill>
                <a:latin typeface="Consolas" panose="020B0609020204030204" pitchFamily="49" charset="0"/>
              </a:rPr>
              <a:t>i.</a:t>
            </a:r>
            <a:r>
              <a:rPr lang="en-US" altLang="zh-CN" sz="2000" dirty="0" err="1">
                <a:solidFill>
                  <a:srgbClr val="001080"/>
                </a:solidFill>
                <a:latin typeface="Consolas" panose="020B0609020204030204" pitchFamily="49" charset="0"/>
              </a:rPr>
              <a:t>first</a:t>
            </a:r>
            <a:r>
              <a:rPr lang="en-US" altLang="zh-CN" sz="2000" dirty="0">
                <a:solidFill>
                  <a:srgbClr val="000000"/>
                </a:solidFill>
                <a:latin typeface="Consolas" panose="020B0609020204030204" pitchFamily="49" charset="0"/>
              </a:rPr>
              <a:t> &lt;&lt; </a:t>
            </a:r>
            <a:r>
              <a:rPr lang="en-US" altLang="zh-CN" sz="2000" dirty="0">
                <a:solidFill>
                  <a:srgbClr val="A31515"/>
                </a:solidFill>
                <a:latin typeface="Consolas" panose="020B0609020204030204" pitchFamily="49" charset="0"/>
              </a:rPr>
              <a:t>": "</a:t>
            </a:r>
            <a:r>
              <a:rPr lang="en-US" altLang="zh-CN" sz="2000" dirty="0">
                <a:solidFill>
                  <a:srgbClr val="000000"/>
                </a:solidFill>
                <a:latin typeface="Consolas" panose="020B0609020204030204" pitchFamily="49" charset="0"/>
              </a:rPr>
              <a:t> &lt;&lt; </a:t>
            </a:r>
            <a:r>
              <a:rPr lang="en-US" altLang="zh-CN" sz="2000" dirty="0" err="1">
                <a:solidFill>
                  <a:srgbClr val="000000"/>
                </a:solidFill>
                <a:latin typeface="Consolas" panose="020B0609020204030204" pitchFamily="49" charset="0"/>
              </a:rPr>
              <a:t>i.</a:t>
            </a:r>
            <a:r>
              <a:rPr lang="en-US" altLang="zh-CN" sz="2000" dirty="0" err="1">
                <a:solidFill>
                  <a:srgbClr val="001080"/>
                </a:solidFill>
                <a:latin typeface="Consolas" panose="020B0609020204030204" pitchFamily="49" charset="0"/>
              </a:rPr>
              <a:t>second</a:t>
            </a:r>
            <a:r>
              <a:rPr lang="en-US" altLang="zh-CN" sz="2000" dirty="0">
                <a:solidFill>
                  <a:srgbClr val="000000"/>
                </a:solidFill>
                <a:latin typeface="Consolas" panose="020B0609020204030204" pitchFamily="49" charset="0"/>
              </a:rPr>
              <a:t> &lt;&lt; </a:t>
            </a:r>
            <a:r>
              <a:rPr lang="en-US" altLang="zh-CN" sz="2000" dirty="0" err="1">
                <a:solidFill>
                  <a:srgbClr val="000000"/>
                </a:solidFill>
                <a:latin typeface="Consolas" panose="020B0609020204030204" pitchFamily="49" charset="0"/>
              </a:rPr>
              <a:t>endl</a:t>
            </a:r>
            <a:r>
              <a:rPr lang="en-US" altLang="zh-CN" sz="2000" dirty="0">
                <a:solidFill>
                  <a:srgbClr val="000000"/>
                </a:solidFill>
                <a:latin typeface="Consolas" panose="020B0609020204030204" pitchFamily="49" charset="0"/>
              </a:rPr>
              <a:t>; </a:t>
            </a:r>
            <a:endParaRPr lang="en-US" altLang="zh-CN" sz="2000" dirty="0">
              <a:solidFill>
                <a:srgbClr val="000000"/>
              </a:solidFill>
              <a:latin typeface="Consolas" panose="020B0609020204030204" pitchFamily="49" charset="0"/>
            </a:endParaRPr>
          </a:p>
        </p:txBody>
      </p:sp>
      <p:sp>
        <p:nvSpPr>
          <p:cNvPr id="16" name="矩形 15"/>
          <p:cNvSpPr/>
          <p:nvPr/>
        </p:nvSpPr>
        <p:spPr>
          <a:xfrm>
            <a:off x="1015718" y="4438171"/>
            <a:ext cx="4132752" cy="1938992"/>
          </a:xfrm>
          <a:prstGeom prst="rect">
            <a:avLst/>
          </a:prstGeom>
        </p:spPr>
        <p:txBody>
          <a:bodyPr wrap="square">
            <a:spAutoFit/>
          </a:bodyPr>
          <a:lstStyle/>
          <a:p>
            <a:r>
              <a:rPr lang="zh-CN" altLang="en-US" sz="2000" dirty="0">
                <a:solidFill>
                  <a:srgbClr val="000000"/>
                </a:solidFill>
                <a:latin typeface="Consolas" panose="020B0609020204030204" pitchFamily="49" charset="0"/>
              </a:rPr>
              <a:t>输入：</a:t>
            </a:r>
            <a:r>
              <a:rPr lang="en-US" altLang="zh-CN" sz="2000" dirty="0">
                <a:solidFill>
                  <a:srgbClr val="09885A"/>
                </a:solidFill>
                <a:latin typeface="Consolas" panose="020B0609020204030204" pitchFamily="49" charset="0"/>
              </a:rPr>
              <a:t>1</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2</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4</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4</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5</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3</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2</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4</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7</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0</a:t>
            </a:r>
            <a:r>
              <a:rPr lang="zh-CN" altLang="en-US"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2</a:t>
            </a:r>
            <a:endParaRPr lang="zh-CN" altLang="en-US" sz="2000" dirty="0">
              <a:solidFill>
                <a:srgbClr val="000000"/>
              </a:solidFill>
              <a:latin typeface="Consolas" panose="020B0609020204030204" pitchFamily="49" charset="0"/>
            </a:endParaRPr>
          </a:p>
          <a:p>
            <a:r>
              <a:rPr lang="zh-CN" altLang="en-US" sz="2000" dirty="0">
                <a:solidFill>
                  <a:srgbClr val="000000"/>
                </a:solidFill>
                <a:latin typeface="Consolas" panose="020B0609020204030204" pitchFamily="49" charset="0"/>
              </a:rPr>
              <a:t>输出：</a:t>
            </a:r>
            <a:endParaRPr lang="zh-CN" altLang="en-US" sz="2000" dirty="0">
              <a:solidFill>
                <a:srgbClr val="000000"/>
              </a:solidFill>
              <a:latin typeface="Consolas" panose="020B0609020204030204" pitchFamily="49" charset="0"/>
            </a:endParaRPr>
          </a:p>
          <a:p>
            <a:r>
              <a:rPr lang="en-US" altLang="zh-CN" sz="2000" dirty="0">
                <a:solidFill>
                  <a:srgbClr val="09885A"/>
                </a:solidFill>
                <a:latin typeface="Consolas" panose="020B0609020204030204" pitchFamily="49" charset="0"/>
              </a:rPr>
              <a:t>0</a:t>
            </a:r>
            <a:r>
              <a:rPr lang="zh-CN" altLang="en-US"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1</a:t>
            </a:r>
            <a:endParaRPr lang="zh-CN" altLang="en-US" sz="2000" dirty="0">
              <a:solidFill>
                <a:srgbClr val="000000"/>
              </a:solidFill>
              <a:latin typeface="Consolas" panose="020B0609020204030204" pitchFamily="49" charset="0"/>
            </a:endParaRPr>
          </a:p>
          <a:p>
            <a:r>
              <a:rPr lang="en-US" altLang="zh-CN" sz="2000" dirty="0">
                <a:solidFill>
                  <a:srgbClr val="09885A"/>
                </a:solidFill>
                <a:latin typeface="Consolas" panose="020B0609020204030204" pitchFamily="49" charset="0"/>
              </a:rPr>
              <a:t>1</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1</a:t>
            </a:r>
            <a:endParaRPr lang="zh-CN" altLang="en-US" sz="2000" dirty="0">
              <a:solidFill>
                <a:srgbClr val="000000"/>
              </a:solidFill>
              <a:latin typeface="Consolas" panose="020B0609020204030204" pitchFamily="49" charset="0"/>
            </a:endParaRPr>
          </a:p>
          <a:p>
            <a:r>
              <a:rPr lang="en-US" altLang="zh-CN" sz="2000" dirty="0">
                <a:solidFill>
                  <a:srgbClr val="09885A"/>
                </a:solidFill>
                <a:latin typeface="Consolas" panose="020B0609020204030204" pitchFamily="49" charset="0"/>
              </a:rPr>
              <a:t>2</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3</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a:t>
            </a:r>
            <a:endParaRPr lang="zh-CN" altLang="en-US" sz="2000" dirty="0"/>
          </a:p>
        </p:txBody>
      </p:sp>
      <p:pic>
        <p:nvPicPr>
          <p:cNvPr id="3" name="图片 2"/>
          <p:cNvPicPr>
            <a:picLocks noChangeAspect="1"/>
          </p:cNvPicPr>
          <p:nvPr/>
        </p:nvPicPr>
        <p:blipFill>
          <a:blip r:embed="rId4"/>
          <a:stretch>
            <a:fillRect/>
          </a:stretch>
        </p:blipFill>
        <p:spPr>
          <a:xfrm>
            <a:off x="6640103" y="1673148"/>
            <a:ext cx="5551897" cy="1708840"/>
          </a:xfrm>
          <a:prstGeom prst="rect">
            <a:avLst/>
          </a:prstGeom>
        </p:spPr>
      </p:pic>
      <p:pic>
        <p:nvPicPr>
          <p:cNvPr id="5" name="图片 4"/>
          <p:cNvPicPr>
            <a:picLocks noChangeAspect="1"/>
          </p:cNvPicPr>
          <p:nvPr/>
        </p:nvPicPr>
        <p:blipFill>
          <a:blip r:embed="rId5"/>
          <a:stretch>
            <a:fillRect/>
          </a:stretch>
        </p:blipFill>
        <p:spPr>
          <a:xfrm>
            <a:off x="6767445" y="4425485"/>
            <a:ext cx="5060119" cy="2432515"/>
          </a:xfrm>
          <a:prstGeom prst="rect">
            <a:avLst/>
          </a:prstGeom>
        </p:spPr>
      </p:pic>
      <p:pic>
        <p:nvPicPr>
          <p:cNvPr id="2" name="图片 1"/>
          <p:cNvPicPr>
            <a:picLocks noChangeAspect="1"/>
          </p:cNvPicPr>
          <p:nvPr/>
        </p:nvPicPr>
        <p:blipFill>
          <a:blip r:embed="rId6"/>
          <a:stretch>
            <a:fillRect/>
          </a:stretch>
        </p:blipFill>
        <p:spPr>
          <a:xfrm>
            <a:off x="4936490" y="5024755"/>
            <a:ext cx="1303020" cy="123444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
          <p:cNvSpPr txBox="1">
            <a:spLocks noChangeArrowheads="1"/>
          </p:cNvSpPr>
          <p:nvPr/>
        </p:nvSpPr>
        <p:spPr bwMode="auto">
          <a:xfrm>
            <a:off x="688217" y="251240"/>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例：</a:t>
            </a:r>
            <a:r>
              <a:rPr kumimoji="0" lang="en-US" altLang="zh-CN" sz="2800" dirty="0">
                <a:solidFill>
                  <a:srgbClr val="006600"/>
                </a:solidFill>
                <a:ea typeface="隶书" panose="02010509060101010101" pitchFamily="49" charset="-122"/>
              </a:rPr>
              <a:t>map</a:t>
            </a:r>
            <a:r>
              <a:rPr kumimoji="0" lang="zh-CN" altLang="en-US" sz="2800" dirty="0">
                <a:solidFill>
                  <a:srgbClr val="006600"/>
                </a:solidFill>
                <a:ea typeface="隶书" panose="02010509060101010101" pitchFamily="49" charset="-122"/>
              </a:rPr>
              <a:t>容器存放我国部分省份与面积映射数据 </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sp>
        <p:nvSpPr>
          <p:cNvPr id="5" name="Text Box 3"/>
          <p:cNvSpPr txBox="1">
            <a:spLocks noChangeArrowheads="1"/>
          </p:cNvSpPr>
          <p:nvPr/>
        </p:nvSpPr>
        <p:spPr bwMode="auto">
          <a:xfrm>
            <a:off x="231017" y="807326"/>
            <a:ext cx="8964612"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lang="en-US" altLang="zh-CN" b="0" dirty="0">
                <a:solidFill>
                  <a:schemeClr val="accent2"/>
                </a:solidFill>
                <a:latin typeface="+mn-lt"/>
              </a:rPr>
              <a:t>typedef </a:t>
            </a:r>
            <a:r>
              <a:rPr lang="en-US" altLang="zh-CN" b="0" dirty="0">
                <a:latin typeface="+mn-lt"/>
              </a:rPr>
              <a:t>map&lt;</a:t>
            </a:r>
            <a:r>
              <a:rPr lang="en-US" altLang="zh-CN" b="0" dirty="0" err="1">
                <a:solidFill>
                  <a:schemeClr val="accent2"/>
                </a:solidFill>
                <a:latin typeface="+mn-lt"/>
              </a:rPr>
              <a:t>string</a:t>
            </a:r>
            <a:r>
              <a:rPr lang="en-US" altLang="zh-CN" b="0" dirty="0" err="1">
                <a:latin typeface="+mn-lt"/>
              </a:rPr>
              <a:t>,</a:t>
            </a:r>
            <a:r>
              <a:rPr lang="en-US" altLang="zh-CN" b="0" dirty="0" err="1">
                <a:solidFill>
                  <a:schemeClr val="accent2"/>
                </a:solidFill>
                <a:latin typeface="+mn-lt"/>
              </a:rPr>
              <a:t>double</a:t>
            </a:r>
            <a:r>
              <a:rPr lang="en-US" altLang="zh-CN" b="0" dirty="0" err="1">
                <a:latin typeface="+mn-lt"/>
              </a:rPr>
              <a:t>,</a:t>
            </a:r>
            <a:r>
              <a:rPr lang="en-US" altLang="zh-CN" b="0" dirty="0" err="1">
                <a:solidFill>
                  <a:srgbClr val="FF0000"/>
                </a:solidFill>
                <a:latin typeface="+mn-lt"/>
              </a:rPr>
              <a:t>less</a:t>
            </a:r>
            <a:r>
              <a:rPr lang="en-US" altLang="zh-CN" b="0" dirty="0">
                <a:solidFill>
                  <a:srgbClr val="FF0000"/>
                </a:solidFill>
                <a:latin typeface="+mn-lt"/>
              </a:rPr>
              <a:t>&lt;string&gt; </a:t>
            </a:r>
            <a:r>
              <a:rPr lang="en-US" altLang="zh-CN" b="0" dirty="0">
                <a:latin typeface="+mn-lt"/>
              </a:rPr>
              <a:t>&gt; </a:t>
            </a:r>
            <a:r>
              <a:rPr lang="en-US" altLang="zh-CN" b="0" dirty="0" err="1">
                <a:latin typeface="+mn-lt"/>
              </a:rPr>
              <a:t>mappro</a:t>
            </a:r>
            <a:r>
              <a:rPr lang="en-US" altLang="zh-CN" b="0" dirty="0">
                <a:latin typeface="+mn-lt"/>
              </a:rPr>
              <a:t>;  </a:t>
            </a:r>
            <a:r>
              <a:rPr lang="en-US" altLang="zh-CN" b="0" dirty="0">
                <a:solidFill>
                  <a:srgbClr val="006600"/>
                </a:solidFill>
                <a:latin typeface="+mn-lt"/>
              </a:rPr>
              <a:t>//&gt; &gt;</a:t>
            </a:r>
            <a:r>
              <a:rPr lang="zh-CN" altLang="en-US" b="0" dirty="0">
                <a:solidFill>
                  <a:srgbClr val="006600"/>
                </a:solidFill>
                <a:latin typeface="+mn-lt"/>
              </a:rPr>
              <a:t>之间必须有空格</a:t>
            </a:r>
            <a:endParaRPr lang="zh-CN" altLang="en-US" b="0" dirty="0">
              <a:solidFill>
                <a:srgbClr val="006600"/>
              </a:solidFill>
              <a:latin typeface="+mn-lt"/>
            </a:endParaRPr>
          </a:p>
          <a:p>
            <a:pPr eaLnBrk="1" hangingPunct="1"/>
            <a:r>
              <a:rPr lang="en-US" altLang="zh-CN" b="0" dirty="0">
                <a:solidFill>
                  <a:schemeClr val="accent2"/>
                </a:solidFill>
                <a:latin typeface="+mn-lt"/>
              </a:rPr>
              <a:t>int</a:t>
            </a:r>
            <a:r>
              <a:rPr lang="en-US" altLang="zh-CN" b="0" dirty="0">
                <a:latin typeface="+mn-lt"/>
              </a:rPr>
              <a:t> main(){</a:t>
            </a:r>
            <a:endParaRPr lang="en-US" altLang="zh-CN" b="0" dirty="0">
              <a:latin typeface="+mn-lt"/>
            </a:endParaRPr>
          </a:p>
          <a:p>
            <a:pPr eaLnBrk="1" hangingPunct="1"/>
            <a:r>
              <a:rPr lang="en-US" altLang="zh-CN" b="0" dirty="0">
                <a:solidFill>
                  <a:schemeClr val="accent2"/>
                </a:solidFill>
                <a:latin typeface="+mn-lt"/>
              </a:rPr>
              <a:t>    int</a:t>
            </a:r>
            <a:r>
              <a:rPr lang="en-US" altLang="zh-CN" b="0" dirty="0">
                <a:latin typeface="+mn-lt"/>
              </a:rPr>
              <a:t>  </a:t>
            </a:r>
            <a:r>
              <a:rPr lang="en-US" altLang="zh-CN" b="0" dirty="0" err="1">
                <a:latin typeface="+mn-lt"/>
              </a:rPr>
              <a:t>i</a:t>
            </a:r>
            <a:r>
              <a:rPr lang="en-US" altLang="zh-CN" b="0" dirty="0">
                <a:latin typeface="+mn-lt"/>
              </a:rPr>
              <a:t>;</a:t>
            </a:r>
            <a:endParaRPr lang="en-US" altLang="zh-CN" b="0" dirty="0">
              <a:latin typeface="+mn-lt"/>
            </a:endParaRPr>
          </a:p>
          <a:p>
            <a:pPr eaLnBrk="1" hangingPunct="1"/>
            <a:r>
              <a:rPr lang="en-US" altLang="zh-CN" b="0" dirty="0">
                <a:latin typeface="+mn-lt"/>
              </a:rPr>
              <a:t>    string provinces[]={"</a:t>
            </a:r>
            <a:r>
              <a:rPr lang="en-US" altLang="zh-CN" b="0" dirty="0" err="1">
                <a:latin typeface="+mn-lt"/>
              </a:rPr>
              <a:t>Jiangsu","Zhejiang","Anhui","Henan</a:t>
            </a:r>
            <a:r>
              <a:rPr lang="en-US" altLang="zh-CN" b="0" dirty="0">
                <a:latin typeface="+mn-lt"/>
              </a:rPr>
              <a:t>", </a:t>
            </a:r>
            <a:endParaRPr lang="en-US" altLang="zh-CN" b="0" dirty="0">
              <a:latin typeface="+mn-lt"/>
            </a:endParaRPr>
          </a:p>
          <a:p>
            <a:pPr eaLnBrk="1" hangingPunct="1"/>
            <a:r>
              <a:rPr lang="en-US" altLang="zh-CN" b="0" dirty="0">
                <a:latin typeface="+mn-lt"/>
              </a:rPr>
              <a:t>                                      "Xinjiang"};</a:t>
            </a:r>
            <a:endParaRPr lang="en-US" altLang="zh-CN" b="0" dirty="0">
              <a:latin typeface="+mn-lt"/>
            </a:endParaRPr>
          </a:p>
          <a:p>
            <a:pPr eaLnBrk="1" hangingPunct="1"/>
            <a:r>
              <a:rPr lang="en-US" altLang="zh-CN" b="0" dirty="0">
                <a:latin typeface="+mn-lt"/>
              </a:rPr>
              <a:t>    </a:t>
            </a:r>
            <a:r>
              <a:rPr lang="en-US" altLang="zh-CN" b="0" dirty="0">
                <a:solidFill>
                  <a:srgbClr val="0000CC"/>
                </a:solidFill>
                <a:latin typeface="+mn-lt"/>
              </a:rPr>
              <a:t>double</a:t>
            </a:r>
            <a:r>
              <a:rPr lang="en-US" altLang="zh-CN" b="0" dirty="0">
                <a:latin typeface="+mn-lt"/>
              </a:rPr>
              <a:t> areas[]={10.26,10.18,13.96,16.7,166};</a:t>
            </a:r>
            <a:endParaRPr lang="en-US" altLang="zh-CN" b="0" dirty="0">
              <a:latin typeface="+mn-lt"/>
            </a:endParaRPr>
          </a:p>
          <a:p>
            <a:pPr eaLnBrk="1" hangingPunct="1"/>
            <a:r>
              <a:rPr lang="en-US" altLang="zh-CN" b="0" dirty="0">
                <a:latin typeface="+mn-lt"/>
              </a:rPr>
              <a:t>    </a:t>
            </a:r>
            <a:r>
              <a:rPr lang="en-US" altLang="zh-CN" b="0" dirty="0" err="1">
                <a:latin typeface="+mn-lt"/>
              </a:rPr>
              <a:t>mappro</a:t>
            </a:r>
            <a:r>
              <a:rPr lang="en-US" altLang="zh-CN" b="0" dirty="0">
                <a:latin typeface="+mn-lt"/>
              </a:rPr>
              <a:t> </a:t>
            </a:r>
            <a:r>
              <a:rPr lang="en-US" altLang="zh-CN" b="0" dirty="0" err="1">
                <a:latin typeface="+mn-lt"/>
              </a:rPr>
              <a:t>mapprovinces</a:t>
            </a:r>
            <a:r>
              <a:rPr lang="en-US" altLang="zh-CN" b="0" dirty="0">
                <a:latin typeface="+mn-lt"/>
              </a:rPr>
              <a:t>;</a:t>
            </a:r>
            <a:endParaRPr lang="en-US" altLang="zh-CN" b="0" dirty="0">
              <a:latin typeface="+mn-lt"/>
            </a:endParaRPr>
          </a:p>
          <a:p>
            <a:pPr eaLnBrk="1" hangingPunct="1"/>
            <a:r>
              <a:rPr lang="en-US" altLang="zh-CN" b="0" dirty="0">
                <a:latin typeface="+mn-lt"/>
              </a:rPr>
              <a:t>    </a:t>
            </a:r>
            <a:r>
              <a:rPr lang="en-US" altLang="zh-CN" b="0" dirty="0" err="1">
                <a:latin typeface="+mn-lt"/>
              </a:rPr>
              <a:t>mappro</a:t>
            </a:r>
            <a:r>
              <a:rPr lang="en-US" altLang="zh-CN" b="0" dirty="0">
                <a:latin typeface="+mn-lt"/>
              </a:rPr>
              <a:t>::iterator </a:t>
            </a:r>
            <a:r>
              <a:rPr lang="en-US" altLang="zh-CN" b="0" dirty="0" err="1">
                <a:latin typeface="+mn-lt"/>
              </a:rPr>
              <a:t>iter</a:t>
            </a:r>
            <a:r>
              <a:rPr lang="en-US" altLang="zh-CN" b="0" dirty="0">
                <a:latin typeface="+mn-lt"/>
              </a:rPr>
              <a:t>;</a:t>
            </a:r>
            <a:endParaRPr lang="en-US" altLang="zh-CN" b="0" dirty="0">
              <a:latin typeface="+mn-lt"/>
            </a:endParaRPr>
          </a:p>
          <a:p>
            <a:pPr eaLnBrk="1" hangingPunct="1"/>
            <a:r>
              <a:rPr lang="en-US" altLang="zh-CN" b="0" dirty="0">
                <a:latin typeface="+mn-lt"/>
              </a:rPr>
              <a:t>    </a:t>
            </a:r>
            <a:r>
              <a:rPr lang="en-US" altLang="zh-CN" b="0" dirty="0">
                <a:solidFill>
                  <a:srgbClr val="0000CC"/>
                </a:solidFill>
                <a:latin typeface="+mn-lt"/>
              </a:rPr>
              <a:t>for</a:t>
            </a:r>
            <a:r>
              <a:rPr lang="en-US" altLang="zh-CN" b="0" dirty="0">
                <a:latin typeface="+mn-lt"/>
              </a:rPr>
              <a:t>(</a:t>
            </a:r>
            <a:r>
              <a:rPr lang="en-US" altLang="zh-CN" b="0" dirty="0" err="1">
                <a:latin typeface="+mn-lt"/>
              </a:rPr>
              <a:t>i</a:t>
            </a:r>
            <a:r>
              <a:rPr lang="en-US" altLang="zh-CN" b="0" dirty="0">
                <a:latin typeface="+mn-lt"/>
              </a:rPr>
              <a:t>=0;i&lt;5;i++) </a:t>
            </a:r>
            <a:r>
              <a:rPr lang="en-US" altLang="zh-CN" b="0" dirty="0" err="1">
                <a:latin typeface="+mn-lt"/>
              </a:rPr>
              <a:t>mapprovinces</a:t>
            </a:r>
            <a:r>
              <a:rPr lang="en-US" altLang="zh-CN" b="0" dirty="0">
                <a:latin typeface="+mn-lt"/>
              </a:rPr>
              <a:t>[provinces[</a:t>
            </a:r>
            <a:r>
              <a:rPr lang="en-US" altLang="zh-CN" b="0" dirty="0" err="1">
                <a:latin typeface="+mn-lt"/>
              </a:rPr>
              <a:t>i</a:t>
            </a:r>
            <a:r>
              <a:rPr lang="en-US" altLang="zh-CN" b="0" dirty="0">
                <a:latin typeface="+mn-lt"/>
              </a:rPr>
              <a:t>]]=areas[</a:t>
            </a:r>
            <a:r>
              <a:rPr lang="en-US" altLang="zh-CN" b="0" dirty="0" err="1">
                <a:latin typeface="+mn-lt"/>
              </a:rPr>
              <a:t>i</a:t>
            </a:r>
            <a:r>
              <a:rPr lang="en-US" altLang="zh-CN" b="0" dirty="0">
                <a:latin typeface="+mn-lt"/>
              </a:rPr>
              <a:t>];</a:t>
            </a:r>
            <a:endParaRPr lang="en-US" altLang="zh-CN" b="0" dirty="0">
              <a:latin typeface="+mn-lt"/>
            </a:endParaRPr>
          </a:p>
          <a:p>
            <a:pPr eaLnBrk="1" hangingPunct="1"/>
            <a:r>
              <a:rPr lang="en-US" altLang="zh-CN" b="0" dirty="0">
                <a:latin typeface="+mn-lt"/>
              </a:rPr>
              <a:t>    </a:t>
            </a:r>
            <a:r>
              <a:rPr lang="en-US" altLang="zh-CN" b="0" dirty="0" err="1">
                <a:latin typeface="+mn-lt"/>
              </a:rPr>
              <a:t>mapprovinces.insert</a:t>
            </a:r>
            <a:r>
              <a:rPr lang="en-US" altLang="zh-CN" b="0" dirty="0">
                <a:latin typeface="+mn-lt"/>
              </a:rPr>
              <a:t>(</a:t>
            </a:r>
            <a:r>
              <a:rPr lang="en-US" altLang="zh-CN" b="0" dirty="0" err="1">
                <a:latin typeface="+mn-lt"/>
              </a:rPr>
              <a:t>mappro</a:t>
            </a:r>
            <a:r>
              <a:rPr lang="en-US" altLang="zh-CN" b="0" dirty="0">
                <a:latin typeface="+mn-lt"/>
              </a:rPr>
              <a:t>::</a:t>
            </a:r>
            <a:r>
              <a:rPr lang="en-US" altLang="zh-CN" b="0" dirty="0" err="1">
                <a:solidFill>
                  <a:srgbClr val="FF0000"/>
                </a:solidFill>
                <a:latin typeface="+mn-lt"/>
              </a:rPr>
              <a:t>value_type</a:t>
            </a:r>
            <a:r>
              <a:rPr lang="en-US" altLang="zh-CN" b="0" dirty="0">
                <a:latin typeface="+mn-lt"/>
              </a:rPr>
              <a:t>("Guangdong",17.98));</a:t>
            </a:r>
            <a:endParaRPr lang="en-US" altLang="zh-CN" b="0" dirty="0">
              <a:latin typeface="+mn-lt"/>
            </a:endParaRPr>
          </a:p>
          <a:p>
            <a:pPr eaLnBrk="1" hangingPunct="1"/>
            <a:r>
              <a:rPr lang="en-US" altLang="zh-CN" b="0" dirty="0">
                <a:latin typeface="+mn-lt"/>
              </a:rPr>
              <a:t>    </a:t>
            </a:r>
            <a:r>
              <a:rPr lang="en-US" altLang="zh-CN" b="0" dirty="0" err="1">
                <a:latin typeface="+mn-lt"/>
              </a:rPr>
              <a:t>mapprovinces.insert</a:t>
            </a:r>
            <a:r>
              <a:rPr lang="en-US" altLang="zh-CN" b="0" dirty="0">
                <a:latin typeface="+mn-lt"/>
              </a:rPr>
              <a:t>(</a:t>
            </a:r>
            <a:r>
              <a:rPr lang="en-US" altLang="zh-CN" b="0" dirty="0" err="1">
                <a:latin typeface="+mn-lt"/>
              </a:rPr>
              <a:t>mappro</a:t>
            </a:r>
            <a:r>
              <a:rPr lang="en-US" altLang="zh-CN" b="0" dirty="0">
                <a:latin typeface="+mn-lt"/>
              </a:rPr>
              <a:t>::</a:t>
            </a:r>
            <a:r>
              <a:rPr lang="en-US" altLang="zh-CN" b="0" dirty="0" err="1">
                <a:solidFill>
                  <a:srgbClr val="FF0000"/>
                </a:solidFill>
                <a:latin typeface="+mn-lt"/>
              </a:rPr>
              <a:t>value_type</a:t>
            </a:r>
            <a:r>
              <a:rPr lang="en-US" altLang="zh-CN" b="0" dirty="0">
                <a:latin typeface="+mn-lt"/>
              </a:rPr>
              <a:t>("Shanxi",20.58));</a:t>
            </a:r>
            <a:endParaRPr lang="en-US" altLang="zh-CN" b="0" dirty="0">
              <a:latin typeface="+mn-lt"/>
            </a:endParaRPr>
          </a:p>
          <a:p>
            <a:pPr eaLnBrk="1" hangingPunct="1"/>
            <a:r>
              <a:rPr lang="en-US" altLang="zh-CN" b="0" dirty="0">
                <a:latin typeface="+mn-lt"/>
              </a:rPr>
              <a:t>    </a:t>
            </a:r>
            <a:r>
              <a:rPr lang="en-US" altLang="zh-CN" b="0" dirty="0" err="1">
                <a:latin typeface="+mn-lt"/>
              </a:rPr>
              <a:t>mapprovinces.insert</a:t>
            </a:r>
            <a:r>
              <a:rPr lang="en-US" altLang="zh-CN" b="0" dirty="0">
                <a:latin typeface="+mn-lt"/>
              </a:rPr>
              <a:t>(</a:t>
            </a:r>
            <a:r>
              <a:rPr lang="en-US" altLang="zh-CN" b="0" dirty="0" err="1">
                <a:latin typeface="+mn-lt"/>
              </a:rPr>
              <a:t>mappro</a:t>
            </a:r>
            <a:r>
              <a:rPr lang="en-US" altLang="zh-CN" b="0" dirty="0">
                <a:latin typeface="+mn-lt"/>
              </a:rPr>
              <a:t>::</a:t>
            </a:r>
            <a:r>
              <a:rPr lang="en-US" altLang="zh-CN" b="0" dirty="0" err="1">
                <a:solidFill>
                  <a:srgbClr val="FF0000"/>
                </a:solidFill>
                <a:latin typeface="+mn-lt"/>
              </a:rPr>
              <a:t>value_type</a:t>
            </a:r>
            <a:r>
              <a:rPr lang="en-US" altLang="zh-CN" b="0" dirty="0">
                <a:latin typeface="+mn-lt"/>
              </a:rPr>
              <a:t>("Heilongjiang",46));</a:t>
            </a:r>
            <a:endParaRPr lang="en-US" altLang="zh-CN" b="0" dirty="0">
              <a:latin typeface="+mn-lt"/>
            </a:endParaRPr>
          </a:p>
          <a:p>
            <a:pPr eaLnBrk="1" hangingPunct="1"/>
            <a:r>
              <a:rPr lang="en-US" altLang="zh-CN" b="0" dirty="0">
                <a:latin typeface="+mn-lt"/>
              </a:rPr>
              <a:t>    </a:t>
            </a:r>
            <a:r>
              <a:rPr lang="en-US" altLang="zh-CN" b="0" dirty="0" err="1">
                <a:latin typeface="+mn-lt"/>
              </a:rPr>
              <a:t>mapprovinces.insert</a:t>
            </a:r>
            <a:r>
              <a:rPr lang="en-US" altLang="zh-CN" b="0" dirty="0">
                <a:latin typeface="+mn-lt"/>
              </a:rPr>
              <a:t>(</a:t>
            </a:r>
            <a:r>
              <a:rPr lang="en-US" altLang="zh-CN" b="0" dirty="0" err="1">
                <a:latin typeface="+mn-lt"/>
              </a:rPr>
              <a:t>mappro</a:t>
            </a:r>
            <a:r>
              <a:rPr lang="en-US" altLang="zh-CN" b="0" dirty="0">
                <a:latin typeface="+mn-lt"/>
              </a:rPr>
              <a:t>::</a:t>
            </a:r>
            <a:r>
              <a:rPr lang="en-US" altLang="zh-CN" b="0" dirty="0" err="1">
                <a:solidFill>
                  <a:srgbClr val="FF0000"/>
                </a:solidFill>
                <a:latin typeface="+mn-lt"/>
              </a:rPr>
              <a:t>value_type</a:t>
            </a:r>
            <a:r>
              <a:rPr lang="en-US" altLang="zh-CN" b="0" dirty="0">
                <a:latin typeface="+mn-lt"/>
              </a:rPr>
              <a:t>("Taiwan",3.6));</a:t>
            </a:r>
            <a:endParaRPr lang="en-US" altLang="zh-CN" b="0" dirty="0">
              <a:latin typeface="+mn-lt"/>
            </a:endParaRPr>
          </a:p>
          <a:p>
            <a:pPr eaLnBrk="1" hangingPunct="1"/>
            <a:r>
              <a:rPr lang="en-US" altLang="zh-CN" b="0" dirty="0">
                <a:latin typeface="+mn-lt"/>
              </a:rPr>
              <a:t>    </a:t>
            </a:r>
            <a:r>
              <a:rPr lang="en-US" altLang="zh-CN" b="0" dirty="0" err="1">
                <a:latin typeface="+mn-lt"/>
              </a:rPr>
              <a:t>mapprovinces.insert</a:t>
            </a:r>
            <a:r>
              <a:rPr lang="en-US" altLang="zh-CN" b="0" dirty="0">
                <a:latin typeface="+mn-lt"/>
              </a:rPr>
              <a:t>(</a:t>
            </a:r>
            <a:r>
              <a:rPr lang="en-US" altLang="zh-CN" b="0" dirty="0" err="1">
                <a:latin typeface="+mn-lt"/>
              </a:rPr>
              <a:t>mappro</a:t>
            </a:r>
            <a:r>
              <a:rPr lang="en-US" altLang="zh-CN" b="0" dirty="0">
                <a:latin typeface="+mn-lt"/>
              </a:rPr>
              <a:t>::</a:t>
            </a:r>
            <a:r>
              <a:rPr lang="en-US" altLang="zh-CN" b="0" dirty="0" err="1">
                <a:solidFill>
                  <a:srgbClr val="FF0000"/>
                </a:solidFill>
                <a:latin typeface="+mn-lt"/>
              </a:rPr>
              <a:t>value_type</a:t>
            </a:r>
            <a:r>
              <a:rPr lang="en-US" altLang="zh-CN" b="0" dirty="0">
                <a:latin typeface="+mn-lt"/>
              </a:rPr>
              <a:t>("Yunnan",39.4));</a:t>
            </a:r>
            <a:endParaRPr lang="en-US" altLang="zh-CN" b="0" dirty="0">
              <a:latin typeface="+mn-lt"/>
            </a:endParaRPr>
          </a:p>
          <a:p>
            <a:pPr eaLnBrk="1" hangingPunct="1"/>
            <a:r>
              <a:rPr lang="en-US" altLang="zh-CN" b="0" dirty="0">
                <a:latin typeface="+mn-lt"/>
              </a:rPr>
              <a:t>    </a:t>
            </a:r>
            <a:r>
              <a:rPr lang="en-US" altLang="zh-CN" b="0" dirty="0">
                <a:solidFill>
                  <a:srgbClr val="0000CC"/>
                </a:solidFill>
                <a:latin typeface="+mn-lt"/>
              </a:rPr>
              <a:t>for</a:t>
            </a:r>
            <a:r>
              <a:rPr lang="en-US" altLang="zh-CN" b="0" dirty="0">
                <a:latin typeface="+mn-lt"/>
              </a:rPr>
              <a:t>(</a:t>
            </a:r>
            <a:r>
              <a:rPr lang="en-US" altLang="zh-CN" b="0" dirty="0" err="1">
                <a:latin typeface="+mn-lt"/>
              </a:rPr>
              <a:t>iter</a:t>
            </a:r>
            <a:r>
              <a:rPr lang="en-US" altLang="zh-CN" b="0" dirty="0">
                <a:latin typeface="+mn-lt"/>
              </a:rPr>
              <a:t>=</a:t>
            </a:r>
            <a:r>
              <a:rPr lang="en-US" altLang="zh-CN" b="0" dirty="0" err="1">
                <a:latin typeface="+mn-lt"/>
              </a:rPr>
              <a:t>mapprovinces.</a:t>
            </a:r>
            <a:r>
              <a:rPr lang="en-US" altLang="zh-CN" b="0" dirty="0" err="1">
                <a:solidFill>
                  <a:srgbClr val="FF0000"/>
                </a:solidFill>
                <a:latin typeface="+mn-lt"/>
              </a:rPr>
              <a:t>begin</a:t>
            </a:r>
            <a:r>
              <a:rPr lang="en-US" altLang="zh-CN" b="0" dirty="0">
                <a:solidFill>
                  <a:srgbClr val="FF0000"/>
                </a:solidFill>
                <a:latin typeface="+mn-lt"/>
              </a:rPr>
              <a:t>();</a:t>
            </a:r>
            <a:r>
              <a:rPr lang="en-US" altLang="zh-CN" b="0" dirty="0" err="1">
                <a:latin typeface="+mn-lt"/>
              </a:rPr>
              <a:t>iter</a:t>
            </a:r>
            <a:r>
              <a:rPr lang="en-US" altLang="zh-CN" b="0" dirty="0">
                <a:latin typeface="+mn-lt"/>
              </a:rPr>
              <a:t>!= </a:t>
            </a:r>
            <a:r>
              <a:rPr lang="en-US" altLang="zh-CN" b="0" dirty="0" err="1">
                <a:latin typeface="+mn-lt"/>
              </a:rPr>
              <a:t>mapprovinces.</a:t>
            </a:r>
            <a:r>
              <a:rPr lang="en-US" altLang="zh-CN" b="0" dirty="0" err="1">
                <a:solidFill>
                  <a:srgbClr val="FF0000"/>
                </a:solidFill>
                <a:latin typeface="+mn-lt"/>
              </a:rPr>
              <a:t>end</a:t>
            </a:r>
            <a:r>
              <a:rPr lang="en-US" altLang="zh-CN" b="0" dirty="0">
                <a:solidFill>
                  <a:srgbClr val="FF0000"/>
                </a:solidFill>
                <a:latin typeface="+mn-lt"/>
              </a:rPr>
              <a:t>();</a:t>
            </a:r>
            <a:r>
              <a:rPr lang="en-US" altLang="zh-CN" b="0" dirty="0" err="1">
                <a:latin typeface="+mn-lt"/>
              </a:rPr>
              <a:t>iter</a:t>
            </a:r>
            <a:r>
              <a:rPr lang="en-US" altLang="zh-CN" b="0" dirty="0">
                <a:latin typeface="+mn-lt"/>
              </a:rPr>
              <a:t>++)</a:t>
            </a:r>
            <a:endParaRPr lang="en-US" altLang="zh-CN" b="0" dirty="0">
              <a:latin typeface="+mn-lt"/>
            </a:endParaRPr>
          </a:p>
          <a:p>
            <a:pPr eaLnBrk="1" hangingPunct="1"/>
            <a:r>
              <a:rPr lang="en-US" altLang="zh-CN" b="0" dirty="0">
                <a:latin typeface="+mn-lt"/>
              </a:rPr>
              <a:t>         </a:t>
            </a:r>
            <a:r>
              <a:rPr lang="en-US" altLang="zh-CN" b="0" dirty="0" err="1">
                <a:latin typeface="+mn-lt"/>
              </a:rPr>
              <a:t>cout</a:t>
            </a:r>
            <a:r>
              <a:rPr lang="en-US" altLang="zh-CN" b="0" dirty="0">
                <a:latin typeface="+mn-lt"/>
              </a:rPr>
              <a:t>&lt;&lt;</a:t>
            </a:r>
            <a:r>
              <a:rPr lang="en-US" altLang="zh-CN" b="0" dirty="0" err="1">
                <a:latin typeface="+mn-lt"/>
              </a:rPr>
              <a:t>iter</a:t>
            </a:r>
            <a:r>
              <a:rPr lang="en-US" altLang="zh-CN" b="0" dirty="0">
                <a:latin typeface="+mn-lt"/>
              </a:rPr>
              <a:t>-&gt;first&lt;&lt;'\t'&lt;&lt;</a:t>
            </a:r>
            <a:r>
              <a:rPr lang="en-US" altLang="zh-CN" b="0" dirty="0" err="1">
                <a:latin typeface="+mn-lt"/>
              </a:rPr>
              <a:t>iter</a:t>
            </a:r>
            <a:r>
              <a:rPr lang="en-US" altLang="zh-CN" b="0" dirty="0">
                <a:latin typeface="+mn-lt"/>
              </a:rPr>
              <a:t>-&gt;second&lt;&lt;'\n';</a:t>
            </a:r>
            <a:endParaRPr lang="en-US" altLang="zh-CN" b="0" dirty="0">
              <a:latin typeface="+mn-lt"/>
            </a:endParaRPr>
          </a:p>
          <a:p>
            <a:pPr eaLnBrk="1" hangingPunct="1"/>
            <a:r>
              <a:rPr lang="en-US" altLang="zh-CN" b="0" dirty="0">
                <a:latin typeface="+mn-lt"/>
              </a:rPr>
              <a:t>   </a:t>
            </a:r>
            <a:r>
              <a:rPr lang="en-US" altLang="zh-CN" b="0" dirty="0">
                <a:solidFill>
                  <a:srgbClr val="0000CC"/>
                </a:solidFill>
                <a:latin typeface="+mn-lt"/>
              </a:rPr>
              <a:t> return </a:t>
            </a:r>
            <a:r>
              <a:rPr lang="en-US" altLang="zh-CN" b="0" dirty="0">
                <a:latin typeface="+mn-lt"/>
              </a:rPr>
              <a:t>0;</a:t>
            </a:r>
            <a:endParaRPr lang="en-US" altLang="zh-CN" b="0" dirty="0">
              <a:latin typeface="+mn-lt"/>
            </a:endParaRPr>
          </a:p>
          <a:p>
            <a:pPr eaLnBrk="1" hangingPunct="1"/>
            <a:r>
              <a:rPr lang="en-US" altLang="zh-CN" b="0" dirty="0">
                <a:latin typeface="+mn-lt"/>
              </a:rPr>
              <a:t>}</a:t>
            </a:r>
            <a:endParaRPr lang="en-US" altLang="zh-CN" b="0" dirty="0">
              <a:latin typeface="+mn-lt"/>
            </a:endParaRPr>
          </a:p>
        </p:txBody>
      </p:sp>
      <p:pic>
        <p:nvPicPr>
          <p:cNvPr id="3" name="图片 2"/>
          <p:cNvPicPr>
            <a:picLocks noChangeAspect="1"/>
          </p:cNvPicPr>
          <p:nvPr/>
        </p:nvPicPr>
        <p:blipFill rotWithShape="1">
          <a:blip r:embed="rId1"/>
          <a:srcRect r="6227"/>
          <a:stretch>
            <a:fillRect/>
          </a:stretch>
        </p:blipFill>
        <p:spPr>
          <a:xfrm>
            <a:off x="7407422" y="1237735"/>
            <a:ext cx="4698439" cy="3905451"/>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例：关联容器示例</a:t>
            </a:r>
            <a:r>
              <a:rPr kumimoji="0" lang="en-US" altLang="zh-CN" sz="2800" dirty="0">
                <a:solidFill>
                  <a:srgbClr val="006600"/>
                </a:solidFill>
                <a:ea typeface="隶书" panose="02010509060101010101" pitchFamily="49" charset="-122"/>
              </a:rPr>
              <a:t>—map</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6" name="图片 5"/>
          <p:cNvPicPr>
            <a:picLocks noChangeAspect="1"/>
          </p:cNvPicPr>
          <p:nvPr/>
        </p:nvPicPr>
        <p:blipFill>
          <a:blip r:embed="rId2"/>
          <a:stretch>
            <a:fillRect/>
          </a:stretch>
        </p:blipFill>
        <p:spPr>
          <a:xfrm>
            <a:off x="900998" y="914400"/>
            <a:ext cx="8055431" cy="4235669"/>
          </a:xfrm>
          <a:prstGeom prst="rect">
            <a:avLst/>
          </a:prstGeom>
        </p:spPr>
      </p:pic>
      <p:pic>
        <p:nvPicPr>
          <p:cNvPr id="14" name="图片 13"/>
          <p:cNvPicPr>
            <a:picLocks noChangeAspect="1"/>
          </p:cNvPicPr>
          <p:nvPr/>
        </p:nvPicPr>
        <p:blipFill>
          <a:blip r:embed="rId3"/>
          <a:stretch>
            <a:fillRect/>
          </a:stretch>
        </p:blipFill>
        <p:spPr>
          <a:xfrm>
            <a:off x="2960947" y="4233034"/>
            <a:ext cx="552478" cy="304816"/>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—map</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14" name="图片 13"/>
          <p:cNvPicPr>
            <a:picLocks noChangeAspect="1"/>
          </p:cNvPicPr>
          <p:nvPr/>
        </p:nvPicPr>
        <p:blipFill>
          <a:blip r:embed="rId2"/>
          <a:stretch>
            <a:fillRect/>
          </a:stretch>
        </p:blipFill>
        <p:spPr>
          <a:xfrm>
            <a:off x="2960947" y="4233034"/>
            <a:ext cx="552478" cy="304816"/>
          </a:xfrm>
          <a:prstGeom prst="rect">
            <a:avLst/>
          </a:prstGeom>
        </p:spPr>
      </p:pic>
      <p:pic>
        <p:nvPicPr>
          <p:cNvPr id="3" name="图片 2"/>
          <p:cNvPicPr>
            <a:picLocks noChangeAspect="1"/>
          </p:cNvPicPr>
          <p:nvPr/>
        </p:nvPicPr>
        <p:blipFill>
          <a:blip r:embed="rId3"/>
          <a:stretch>
            <a:fillRect/>
          </a:stretch>
        </p:blipFill>
        <p:spPr>
          <a:xfrm>
            <a:off x="1148024" y="1002708"/>
            <a:ext cx="7012002" cy="4580004"/>
          </a:xfrm>
          <a:prstGeom prst="rect">
            <a:avLst/>
          </a:prstGeom>
        </p:spPr>
      </p:pic>
      <p:pic>
        <p:nvPicPr>
          <p:cNvPr id="9" name="图片 8"/>
          <p:cNvPicPr>
            <a:picLocks noChangeAspect="1"/>
          </p:cNvPicPr>
          <p:nvPr/>
        </p:nvPicPr>
        <p:blipFill>
          <a:blip r:embed="rId4"/>
          <a:stretch>
            <a:fillRect/>
          </a:stretch>
        </p:blipFill>
        <p:spPr>
          <a:xfrm>
            <a:off x="8455472" y="3826752"/>
            <a:ext cx="2210574" cy="1780502"/>
          </a:xfrm>
          <a:prstGeom prst="rect">
            <a:avLst/>
          </a:prstGeom>
        </p:spPr>
      </p:pic>
      <p:sp>
        <p:nvSpPr>
          <p:cNvPr id="5" name="文本框 4"/>
          <p:cNvSpPr txBox="1"/>
          <p:nvPr/>
        </p:nvSpPr>
        <p:spPr>
          <a:xfrm>
            <a:off x="5927725" y="3205480"/>
            <a:ext cx="2001520" cy="922020"/>
          </a:xfrm>
          <a:prstGeom prst="rect">
            <a:avLst/>
          </a:prstGeom>
          <a:noFill/>
        </p:spPr>
        <p:txBody>
          <a:bodyPr wrap="square" rtlCol="0">
            <a:spAutoFit/>
          </a:bodyPr>
          <a:p>
            <a:r>
              <a:rPr lang="en-US" altLang="zh-CN" b="1">
                <a:solidFill>
                  <a:srgbClr val="00B050"/>
                </a:solidFill>
              </a:rPr>
              <a:t>//map</a:t>
            </a:r>
            <a:r>
              <a:rPr lang="zh-CN" altLang="en-US" b="1">
                <a:solidFill>
                  <a:srgbClr val="00B050"/>
                </a:solidFill>
              </a:rPr>
              <a:t>容器中不允</a:t>
            </a:r>
            <a:r>
              <a:rPr lang="en-US" altLang="zh-CN" b="1">
                <a:solidFill>
                  <a:srgbClr val="00B050"/>
                </a:solidFill>
              </a:rPr>
              <a:t>//</a:t>
            </a:r>
            <a:r>
              <a:rPr lang="zh-CN" altLang="en-US" b="1">
                <a:solidFill>
                  <a:srgbClr val="00B050"/>
                </a:solidFill>
              </a:rPr>
              <a:t>许插入</a:t>
            </a:r>
            <a:r>
              <a:rPr lang="en-US" altLang="zh-CN" b="1">
                <a:solidFill>
                  <a:srgbClr val="00B050"/>
                </a:solidFill>
              </a:rPr>
              <a:t>first</a:t>
            </a:r>
            <a:r>
              <a:rPr lang="zh-CN" altLang="en-US" b="1">
                <a:solidFill>
                  <a:srgbClr val="00B050"/>
                </a:solidFill>
              </a:rPr>
              <a:t>值相</a:t>
            </a:r>
            <a:r>
              <a:rPr lang="en-US" altLang="zh-CN" b="1">
                <a:solidFill>
                  <a:srgbClr val="00B050"/>
                </a:solidFill>
              </a:rPr>
              <a:t>//</a:t>
            </a:r>
            <a:r>
              <a:rPr lang="zh-CN" altLang="en-US" b="1">
                <a:solidFill>
                  <a:srgbClr val="00B050"/>
                </a:solidFill>
              </a:rPr>
              <a:t>同的对象</a:t>
            </a:r>
            <a:endParaRPr lang="en-US" altLang="zh-CN" b="1">
              <a:solidFill>
                <a:srgbClr val="00B05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5" name="图片 4"/>
          <p:cNvPicPr>
            <a:picLocks noChangeAspect="1"/>
          </p:cNvPicPr>
          <p:nvPr/>
        </p:nvPicPr>
        <p:blipFill>
          <a:blip r:embed="rId2"/>
          <a:stretch>
            <a:fillRect/>
          </a:stretch>
        </p:blipFill>
        <p:spPr>
          <a:xfrm>
            <a:off x="1566390" y="1012193"/>
            <a:ext cx="6724445" cy="4225744"/>
          </a:xfrm>
          <a:prstGeom prst="rect">
            <a:avLst/>
          </a:prstGeom>
        </p:spPr>
      </p:pic>
      <p:pic>
        <p:nvPicPr>
          <p:cNvPr id="8" name="图片 7"/>
          <p:cNvPicPr>
            <a:picLocks noChangeAspect="1"/>
          </p:cNvPicPr>
          <p:nvPr/>
        </p:nvPicPr>
        <p:blipFill>
          <a:blip r:embed="rId3"/>
          <a:stretch>
            <a:fillRect/>
          </a:stretch>
        </p:blipFill>
        <p:spPr>
          <a:xfrm>
            <a:off x="8531921" y="3153691"/>
            <a:ext cx="2577072" cy="2084246"/>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—multimap</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5" name="图片 4"/>
          <p:cNvPicPr>
            <a:picLocks noChangeAspect="1"/>
          </p:cNvPicPr>
          <p:nvPr/>
        </p:nvPicPr>
        <p:blipFill>
          <a:blip r:embed="rId2"/>
          <a:stretch>
            <a:fillRect/>
          </a:stretch>
        </p:blipFill>
        <p:spPr>
          <a:xfrm>
            <a:off x="1023731" y="1002708"/>
            <a:ext cx="5921565" cy="2495866"/>
          </a:xfrm>
          <a:prstGeom prst="rect">
            <a:avLst/>
          </a:prstGeom>
        </p:spPr>
      </p:pic>
      <p:pic>
        <p:nvPicPr>
          <p:cNvPr id="7" name="图片 6"/>
          <p:cNvPicPr>
            <a:picLocks noChangeAspect="1"/>
          </p:cNvPicPr>
          <p:nvPr/>
        </p:nvPicPr>
        <p:blipFill>
          <a:blip r:embed="rId3"/>
          <a:stretch>
            <a:fillRect/>
          </a:stretch>
        </p:blipFill>
        <p:spPr>
          <a:xfrm>
            <a:off x="1023731" y="3498574"/>
            <a:ext cx="8660436" cy="599374"/>
          </a:xfrm>
          <a:prstGeom prst="rect">
            <a:avLst/>
          </a:prstGeom>
        </p:spPr>
      </p:pic>
      <p:pic>
        <p:nvPicPr>
          <p:cNvPr id="9" name="图片 8"/>
          <p:cNvPicPr>
            <a:picLocks noChangeAspect="1"/>
          </p:cNvPicPr>
          <p:nvPr/>
        </p:nvPicPr>
        <p:blipFill>
          <a:blip r:embed="rId4"/>
          <a:stretch>
            <a:fillRect/>
          </a:stretch>
        </p:blipFill>
        <p:spPr>
          <a:xfrm>
            <a:off x="6945296" y="1002708"/>
            <a:ext cx="2738871" cy="2495867"/>
          </a:xfrm>
          <a:prstGeom prst="rect">
            <a:avLst/>
          </a:prstGeom>
        </p:spPr>
      </p:pic>
      <p:pic>
        <p:nvPicPr>
          <p:cNvPr id="11" name="图片 10"/>
          <p:cNvPicPr>
            <a:picLocks noChangeAspect="1"/>
          </p:cNvPicPr>
          <p:nvPr/>
        </p:nvPicPr>
        <p:blipFill>
          <a:blip r:embed="rId5"/>
          <a:stretch>
            <a:fillRect/>
          </a:stretch>
        </p:blipFill>
        <p:spPr>
          <a:xfrm>
            <a:off x="1035191" y="4080115"/>
            <a:ext cx="8648976" cy="577620"/>
          </a:xfrm>
          <a:prstGeom prst="rect">
            <a:avLst/>
          </a:prstGeom>
        </p:spPr>
      </p:pic>
      <p:pic>
        <p:nvPicPr>
          <p:cNvPr id="13" name="图片 12"/>
          <p:cNvPicPr>
            <a:picLocks noChangeAspect="1"/>
          </p:cNvPicPr>
          <p:nvPr/>
        </p:nvPicPr>
        <p:blipFill>
          <a:blip r:embed="rId6"/>
          <a:stretch>
            <a:fillRect/>
          </a:stretch>
        </p:blipFill>
        <p:spPr>
          <a:xfrm>
            <a:off x="8962739" y="4368926"/>
            <a:ext cx="278676" cy="28881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—multimap</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3" name="图片 2"/>
          <p:cNvPicPr>
            <a:picLocks noChangeAspect="1"/>
          </p:cNvPicPr>
          <p:nvPr/>
        </p:nvPicPr>
        <p:blipFill>
          <a:blip r:embed="rId2"/>
          <a:stretch>
            <a:fillRect/>
          </a:stretch>
        </p:blipFill>
        <p:spPr>
          <a:xfrm>
            <a:off x="1042502" y="1012193"/>
            <a:ext cx="9234557" cy="4475878"/>
          </a:xfrm>
          <a:prstGeom prst="rect">
            <a:avLst/>
          </a:prstGeom>
        </p:spPr>
      </p:pic>
      <p:pic>
        <p:nvPicPr>
          <p:cNvPr id="8" name="图片 7"/>
          <p:cNvPicPr>
            <a:picLocks noChangeAspect="1"/>
          </p:cNvPicPr>
          <p:nvPr/>
        </p:nvPicPr>
        <p:blipFill>
          <a:blip r:embed="rId3"/>
          <a:stretch>
            <a:fillRect/>
          </a:stretch>
        </p:blipFill>
        <p:spPr>
          <a:xfrm>
            <a:off x="9896471" y="5271200"/>
            <a:ext cx="171459" cy="234962"/>
          </a:xfrm>
          <a:prstGeom prst="rect">
            <a:avLst/>
          </a:prstGeom>
        </p:spPr>
      </p:pic>
      <p:pic>
        <p:nvPicPr>
          <p:cNvPr id="6" name="图片 5"/>
          <p:cNvPicPr>
            <a:picLocks noChangeAspect="1"/>
          </p:cNvPicPr>
          <p:nvPr/>
        </p:nvPicPr>
        <p:blipFill>
          <a:blip r:embed="rId4"/>
          <a:stretch>
            <a:fillRect/>
          </a:stretch>
        </p:blipFill>
        <p:spPr>
          <a:xfrm>
            <a:off x="5986670" y="515509"/>
            <a:ext cx="5551897" cy="1708840"/>
          </a:xfrm>
          <a:prstGeom prst="rect">
            <a:avLst/>
          </a:prstGeom>
        </p:spPr>
      </p:pic>
      <p:sp>
        <p:nvSpPr>
          <p:cNvPr id="5" name="文本框 4"/>
          <p:cNvSpPr txBox="1"/>
          <p:nvPr/>
        </p:nvSpPr>
        <p:spPr>
          <a:xfrm>
            <a:off x="6058535" y="4040505"/>
            <a:ext cx="5015230" cy="368300"/>
          </a:xfrm>
          <a:prstGeom prst="rect">
            <a:avLst/>
          </a:prstGeom>
          <a:noFill/>
        </p:spPr>
        <p:txBody>
          <a:bodyPr wrap="square" rtlCol="0">
            <a:spAutoFit/>
          </a:bodyPr>
          <a:p>
            <a:r>
              <a:rPr lang="en-US" altLang="zh-CN" b="1">
                <a:solidFill>
                  <a:srgbClr val="00B050"/>
                </a:solidFill>
              </a:rPr>
              <a:t>//multimap</a:t>
            </a:r>
            <a:r>
              <a:rPr lang="zh-CN" altLang="en-US" b="1">
                <a:solidFill>
                  <a:srgbClr val="00B050"/>
                </a:solidFill>
              </a:rPr>
              <a:t>容器中允许插入</a:t>
            </a:r>
            <a:r>
              <a:rPr lang="en-US" altLang="zh-CN" b="1">
                <a:solidFill>
                  <a:srgbClr val="00B050"/>
                </a:solidFill>
              </a:rPr>
              <a:t>first</a:t>
            </a:r>
            <a:r>
              <a:rPr lang="zh-CN" altLang="en-US" b="1">
                <a:solidFill>
                  <a:srgbClr val="00B050"/>
                </a:solidFill>
              </a:rPr>
              <a:t>值相同的对象</a:t>
            </a:r>
            <a:endParaRPr lang="en-US" altLang="zh-CN" b="1">
              <a:solidFill>
                <a:srgbClr val="00B05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—multimap</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8" name="图片 7"/>
          <p:cNvPicPr>
            <a:picLocks noChangeAspect="1"/>
          </p:cNvPicPr>
          <p:nvPr/>
        </p:nvPicPr>
        <p:blipFill>
          <a:blip r:embed="rId2"/>
          <a:stretch>
            <a:fillRect/>
          </a:stretch>
        </p:blipFill>
        <p:spPr>
          <a:xfrm>
            <a:off x="9896471" y="5271200"/>
            <a:ext cx="171459" cy="234962"/>
          </a:xfrm>
          <a:prstGeom prst="rect">
            <a:avLst/>
          </a:prstGeom>
        </p:spPr>
      </p:pic>
      <p:pic>
        <p:nvPicPr>
          <p:cNvPr id="5" name="图片 4"/>
          <p:cNvPicPr>
            <a:picLocks noChangeAspect="1"/>
          </p:cNvPicPr>
          <p:nvPr/>
        </p:nvPicPr>
        <p:blipFill rotWithShape="1">
          <a:blip r:embed="rId3"/>
          <a:srcRect l="1450" r="6267"/>
          <a:stretch>
            <a:fillRect/>
          </a:stretch>
        </p:blipFill>
        <p:spPr>
          <a:xfrm>
            <a:off x="1411357" y="920736"/>
            <a:ext cx="7603435" cy="2584292"/>
          </a:xfrm>
          <a:prstGeom prst="rect">
            <a:avLst/>
          </a:prstGeom>
        </p:spPr>
      </p:pic>
      <p:pic>
        <p:nvPicPr>
          <p:cNvPr id="7" name="图片 6"/>
          <p:cNvPicPr>
            <a:picLocks noChangeAspect="1"/>
          </p:cNvPicPr>
          <p:nvPr/>
        </p:nvPicPr>
        <p:blipFill>
          <a:blip r:embed="rId4"/>
          <a:stretch>
            <a:fillRect/>
          </a:stretch>
        </p:blipFill>
        <p:spPr>
          <a:xfrm>
            <a:off x="1868556" y="3792401"/>
            <a:ext cx="6863447" cy="159628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例：利用</a:t>
            </a:r>
            <a:r>
              <a:rPr kumimoji="0" lang="en-US" altLang="zh-CN" sz="2800" dirty="0">
                <a:solidFill>
                  <a:srgbClr val="006600"/>
                </a:solidFill>
                <a:ea typeface="隶书" panose="02010509060101010101" pitchFamily="49" charset="-122"/>
              </a:rPr>
              <a:t>multimap</a:t>
            </a:r>
            <a:r>
              <a:rPr kumimoji="0" lang="zh-CN" altLang="en-US" sz="2800" dirty="0">
                <a:solidFill>
                  <a:srgbClr val="006600"/>
                </a:solidFill>
                <a:ea typeface="隶书" panose="02010509060101010101" pitchFamily="49" charset="-122"/>
              </a:rPr>
              <a:t>实现的学生信息管理程序</a:t>
            </a:r>
            <a:endParaRPr kumimoji="0" lang="zh-CN" altLang="en-US" sz="2800" dirty="0">
              <a:solidFill>
                <a:srgbClr val="006600"/>
              </a:solidFill>
              <a:ea typeface="隶书" panose="02010509060101010101" pitchFamily="49" charset="-122"/>
            </a:endParaRPr>
          </a:p>
          <a:p>
            <a:pPr marL="0" indent="0">
              <a:spcBef>
                <a:spcPct val="50000"/>
              </a:spcBef>
            </a:pP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8" name="图片 7"/>
          <p:cNvPicPr>
            <a:picLocks noChangeAspect="1"/>
          </p:cNvPicPr>
          <p:nvPr/>
        </p:nvPicPr>
        <p:blipFill>
          <a:blip r:embed="rId2"/>
          <a:stretch>
            <a:fillRect/>
          </a:stretch>
        </p:blipFill>
        <p:spPr>
          <a:xfrm>
            <a:off x="9896471" y="5271200"/>
            <a:ext cx="171459" cy="234962"/>
          </a:xfrm>
          <a:prstGeom prst="rect">
            <a:avLst/>
          </a:prstGeom>
        </p:spPr>
      </p:pic>
      <p:pic>
        <p:nvPicPr>
          <p:cNvPr id="3" name="图片 2"/>
          <p:cNvPicPr>
            <a:picLocks noChangeAspect="1"/>
          </p:cNvPicPr>
          <p:nvPr/>
        </p:nvPicPr>
        <p:blipFill rotWithShape="1">
          <a:blip r:embed="rId3"/>
          <a:srcRect t="59653"/>
          <a:stretch>
            <a:fillRect/>
          </a:stretch>
        </p:blipFill>
        <p:spPr>
          <a:xfrm>
            <a:off x="1566390" y="1301794"/>
            <a:ext cx="6070912" cy="581614"/>
          </a:xfrm>
          <a:prstGeom prst="rect">
            <a:avLst/>
          </a:prstGeom>
        </p:spPr>
      </p:pic>
      <p:sp>
        <p:nvSpPr>
          <p:cNvPr id="6" name="文本框 5"/>
          <p:cNvSpPr txBox="1"/>
          <p:nvPr/>
        </p:nvSpPr>
        <p:spPr>
          <a:xfrm>
            <a:off x="1566390" y="901684"/>
            <a:ext cx="6808305" cy="400110"/>
          </a:xfrm>
          <a:prstGeom prst="rect">
            <a:avLst/>
          </a:prstGeom>
          <a:noFill/>
        </p:spPr>
        <p:txBody>
          <a:bodyPr wrap="square" rtlCol="0">
            <a:spAutoFit/>
          </a:bodyPr>
          <a:lstStyle/>
          <a:p>
            <a:r>
              <a:rPr lang="zh-CN" altLang="en-US" sz="2000" dirty="0"/>
              <a:t>设有一个学生成绩录入和查询系统，接受以下两种输入方式：</a:t>
            </a:r>
            <a:endParaRPr lang="zh-CN" altLang="en-US" sz="2000" dirty="0"/>
          </a:p>
        </p:txBody>
      </p:sp>
      <p:pic>
        <p:nvPicPr>
          <p:cNvPr id="10" name="图片 9"/>
          <p:cNvPicPr>
            <a:picLocks noChangeAspect="1"/>
          </p:cNvPicPr>
          <p:nvPr/>
        </p:nvPicPr>
        <p:blipFill>
          <a:blip r:embed="rId4"/>
          <a:stretch>
            <a:fillRect/>
          </a:stretch>
        </p:blipFill>
        <p:spPr>
          <a:xfrm>
            <a:off x="1656086" y="2071235"/>
            <a:ext cx="6236020" cy="2419474"/>
          </a:xfrm>
          <a:prstGeom prst="rect">
            <a:avLst/>
          </a:prstGeom>
        </p:spPr>
      </p:pic>
      <p:pic>
        <p:nvPicPr>
          <p:cNvPr id="12" name="图片 11"/>
          <p:cNvPicPr>
            <a:picLocks noChangeAspect="1"/>
          </p:cNvPicPr>
          <p:nvPr/>
        </p:nvPicPr>
        <p:blipFill>
          <a:blip r:embed="rId5"/>
          <a:stretch>
            <a:fillRect/>
          </a:stretch>
        </p:blipFill>
        <p:spPr>
          <a:xfrm>
            <a:off x="1656086" y="4490709"/>
            <a:ext cx="5848651" cy="571529"/>
          </a:xfrm>
          <a:prstGeom prst="rect">
            <a:avLst/>
          </a:prstGeom>
        </p:spPr>
      </p:pic>
      <p:pic>
        <p:nvPicPr>
          <p:cNvPr id="14" name="图片 13"/>
          <p:cNvPicPr>
            <a:picLocks noChangeAspect="1"/>
          </p:cNvPicPr>
          <p:nvPr/>
        </p:nvPicPr>
        <p:blipFill>
          <a:blip r:embed="rId6"/>
          <a:stretch>
            <a:fillRect/>
          </a:stretch>
        </p:blipFill>
        <p:spPr>
          <a:xfrm>
            <a:off x="9040086" y="926475"/>
            <a:ext cx="1759040" cy="3245017"/>
          </a:xfrm>
          <a:prstGeom prst="rect">
            <a:avLst/>
          </a:prstGeom>
        </p:spPr>
      </p:pic>
      <p:pic>
        <p:nvPicPr>
          <p:cNvPr id="16" name="图片 15"/>
          <p:cNvPicPr>
            <a:picLocks noChangeAspect="1"/>
          </p:cNvPicPr>
          <p:nvPr/>
        </p:nvPicPr>
        <p:blipFill rotWithShape="1">
          <a:blip r:embed="rId7"/>
          <a:srcRect t="18010"/>
          <a:stretch>
            <a:fillRect/>
          </a:stretch>
        </p:blipFill>
        <p:spPr>
          <a:xfrm>
            <a:off x="9079842" y="4580644"/>
            <a:ext cx="1378021" cy="1515138"/>
          </a:xfrm>
          <a:prstGeom prst="rect">
            <a:avLst/>
          </a:prstGeom>
        </p:spPr>
      </p:pic>
      <p:sp>
        <p:nvSpPr>
          <p:cNvPr id="18" name="文本框 17"/>
          <p:cNvSpPr txBox="1"/>
          <p:nvPr/>
        </p:nvSpPr>
        <p:spPr>
          <a:xfrm>
            <a:off x="8984986" y="4129335"/>
            <a:ext cx="2127653" cy="400110"/>
          </a:xfrm>
          <a:prstGeom prst="rect">
            <a:avLst/>
          </a:prstGeom>
          <a:noFill/>
        </p:spPr>
        <p:txBody>
          <a:bodyPr wrap="square" rtlCol="0">
            <a:spAutoFit/>
          </a:bodyPr>
          <a:lstStyle/>
          <a:p>
            <a:r>
              <a:rPr lang="zh-CN" altLang="en-US" sz="2000" b="1" dirty="0"/>
              <a:t>输出样例：</a:t>
            </a:r>
            <a:endParaRPr lang="zh-CN" altLang="en-US" sz="20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8" name="图片 7"/>
          <p:cNvPicPr>
            <a:picLocks noChangeAspect="1"/>
          </p:cNvPicPr>
          <p:nvPr/>
        </p:nvPicPr>
        <p:blipFill>
          <a:blip r:embed="rId2"/>
          <a:stretch>
            <a:fillRect/>
          </a:stretch>
        </p:blipFill>
        <p:spPr>
          <a:xfrm>
            <a:off x="9896471" y="5271200"/>
            <a:ext cx="171459" cy="234962"/>
          </a:xfrm>
          <a:prstGeom prst="rect">
            <a:avLst/>
          </a:prstGeom>
        </p:spPr>
      </p:pic>
      <p:sp>
        <p:nvSpPr>
          <p:cNvPr id="6" name="文本框 5"/>
          <p:cNvSpPr txBox="1"/>
          <p:nvPr/>
        </p:nvSpPr>
        <p:spPr>
          <a:xfrm>
            <a:off x="47215" y="332377"/>
            <a:ext cx="6808305" cy="5324535"/>
          </a:xfrm>
          <a:prstGeom prst="rect">
            <a:avLst/>
          </a:prstGeom>
          <a:noFill/>
        </p:spPr>
        <p:txBody>
          <a:bodyPr wrap="square" rtlCol="0">
            <a:spAutoFit/>
          </a:bodyPr>
          <a:lstStyle/>
          <a:p>
            <a:r>
              <a:rPr lang="en-US" altLang="zh-CN" sz="2000" b="1" dirty="0"/>
              <a:t>#include &lt;iostream&gt;</a:t>
            </a:r>
            <a:endParaRPr lang="en-US" altLang="zh-CN" sz="2000" b="1" dirty="0"/>
          </a:p>
          <a:p>
            <a:r>
              <a:rPr lang="en-US" altLang="zh-CN" sz="2000" b="1" dirty="0"/>
              <a:t>#include &lt;</a:t>
            </a:r>
            <a:r>
              <a:rPr lang="en-US" altLang="zh-CN" sz="2000" b="1" dirty="0">
                <a:solidFill>
                  <a:srgbClr val="FF0000"/>
                </a:solidFill>
              </a:rPr>
              <a:t>map</a:t>
            </a:r>
            <a:r>
              <a:rPr lang="en-US" altLang="zh-CN" sz="2000" b="1" dirty="0"/>
              <a:t>&gt; </a:t>
            </a:r>
            <a:endParaRPr lang="en-US" altLang="zh-CN" sz="2000" b="1" dirty="0"/>
          </a:p>
          <a:p>
            <a:r>
              <a:rPr lang="en-US" altLang="zh-CN" sz="2000" b="1" dirty="0"/>
              <a:t>#include &lt;string&gt;</a:t>
            </a:r>
            <a:endParaRPr lang="en-US" altLang="zh-CN" sz="2000" b="1" dirty="0"/>
          </a:p>
          <a:p>
            <a:r>
              <a:rPr lang="en-US" altLang="zh-CN" sz="2000" b="1" dirty="0"/>
              <a:t>using namespace std;</a:t>
            </a:r>
            <a:endParaRPr lang="en-US" altLang="zh-CN" sz="2000" b="1" dirty="0"/>
          </a:p>
          <a:p>
            <a:r>
              <a:rPr lang="en-US" altLang="zh-CN" sz="2000" b="1" dirty="0"/>
              <a:t>class </a:t>
            </a:r>
            <a:r>
              <a:rPr lang="en-US" altLang="zh-CN" sz="2000" b="1" dirty="0" err="1"/>
              <a:t>CStudent</a:t>
            </a:r>
            <a:endParaRPr lang="en-US" altLang="zh-CN" sz="2000" b="1" dirty="0"/>
          </a:p>
          <a:p>
            <a:r>
              <a:rPr lang="en-US" altLang="zh-CN" sz="2000" b="1" dirty="0"/>
              <a:t>{</a:t>
            </a:r>
            <a:endParaRPr lang="en-US" altLang="zh-CN" sz="2000" b="1" dirty="0"/>
          </a:p>
          <a:p>
            <a:r>
              <a:rPr lang="en-US" altLang="zh-CN" sz="2000" b="1" dirty="0"/>
              <a:t>public:	</a:t>
            </a:r>
            <a:endParaRPr lang="en-US" altLang="zh-CN" sz="2000" b="1" dirty="0"/>
          </a:p>
          <a:p>
            <a:r>
              <a:rPr lang="en-US" altLang="zh-CN" sz="2000" b="1" dirty="0"/>
              <a:t>		struct </a:t>
            </a:r>
            <a:r>
              <a:rPr lang="en-US" altLang="zh-CN" sz="2000" b="1" dirty="0" err="1"/>
              <a:t>CInfo</a:t>
            </a:r>
            <a:r>
              <a:rPr lang="en-US" altLang="zh-CN" sz="2000" b="1" dirty="0"/>
              <a:t> </a:t>
            </a:r>
            <a:r>
              <a:rPr lang="en-US" altLang="zh-CN" sz="1600" b="1" dirty="0">
                <a:solidFill>
                  <a:srgbClr val="00B050"/>
                </a:solidFill>
              </a:rPr>
              <a:t>//</a:t>
            </a:r>
            <a:r>
              <a:rPr lang="zh-CN" altLang="en-US" sz="1600" b="1" dirty="0">
                <a:solidFill>
                  <a:srgbClr val="00B050"/>
                </a:solidFill>
              </a:rPr>
              <a:t>类的内部还可以定义类</a:t>
            </a:r>
            <a:endParaRPr lang="zh-CN" altLang="en-US" sz="2000" b="1" dirty="0">
              <a:solidFill>
                <a:srgbClr val="00B050"/>
              </a:solidFill>
            </a:endParaRPr>
          </a:p>
          <a:p>
            <a:r>
              <a:rPr lang="zh-CN" altLang="en-US" sz="2000" b="1" dirty="0"/>
              <a:t>		</a:t>
            </a:r>
            <a:r>
              <a:rPr lang="en-US" altLang="zh-CN" sz="2000" b="1" dirty="0"/>
              <a:t>{</a:t>
            </a:r>
            <a:endParaRPr lang="en-US" altLang="zh-CN" sz="2000" b="1" dirty="0"/>
          </a:p>
          <a:p>
            <a:r>
              <a:rPr lang="en-US" altLang="zh-CN" sz="2000" b="1" dirty="0"/>
              <a:t>			int id;</a:t>
            </a:r>
            <a:endParaRPr lang="en-US" altLang="zh-CN" sz="2000" b="1" dirty="0"/>
          </a:p>
          <a:p>
            <a:r>
              <a:rPr lang="en-US" altLang="zh-CN" sz="2000" b="1" dirty="0"/>
              <a:t>			string name;</a:t>
            </a:r>
            <a:endParaRPr lang="en-US" altLang="zh-CN" sz="2000" b="1" dirty="0"/>
          </a:p>
          <a:p>
            <a:r>
              <a:rPr lang="en-US" altLang="zh-CN" sz="2000" b="1" dirty="0"/>
              <a:t>		};</a:t>
            </a:r>
            <a:endParaRPr lang="en-US" altLang="zh-CN" sz="2000" b="1" dirty="0"/>
          </a:p>
          <a:p>
            <a:r>
              <a:rPr lang="en-US" altLang="zh-CN" sz="2000" b="1" dirty="0"/>
              <a:t>		int score;</a:t>
            </a:r>
            <a:endParaRPr lang="en-US" altLang="zh-CN" sz="2000" b="1" dirty="0"/>
          </a:p>
          <a:p>
            <a:r>
              <a:rPr lang="en-US" altLang="zh-CN" sz="2000" b="1" dirty="0"/>
              <a:t>		</a:t>
            </a:r>
            <a:r>
              <a:rPr lang="en-US" altLang="zh-CN" sz="2000" b="1" dirty="0" err="1"/>
              <a:t>CInfo</a:t>
            </a:r>
            <a:r>
              <a:rPr lang="en-US" altLang="zh-CN" sz="2000" b="1" dirty="0"/>
              <a:t> info; </a:t>
            </a:r>
            <a:r>
              <a:rPr lang="en-US" altLang="zh-CN" sz="1600" b="1" dirty="0">
                <a:solidFill>
                  <a:srgbClr val="00B050"/>
                </a:solidFill>
              </a:rPr>
              <a:t>//</a:t>
            </a:r>
            <a:r>
              <a:rPr lang="zh-CN" altLang="en-US" sz="1600" b="1" dirty="0">
                <a:solidFill>
                  <a:srgbClr val="00B050"/>
                </a:solidFill>
              </a:rPr>
              <a:t>学生的其他信息</a:t>
            </a:r>
            <a:endParaRPr lang="zh-CN" altLang="en-US" sz="2000" b="1" dirty="0">
              <a:solidFill>
                <a:srgbClr val="00B050"/>
              </a:solidFill>
            </a:endParaRPr>
          </a:p>
          <a:p>
            <a:r>
              <a:rPr lang="en-US" altLang="zh-CN" sz="2000" b="1" dirty="0"/>
              <a:t>};</a:t>
            </a:r>
            <a:endParaRPr lang="en-US" altLang="zh-CN" sz="2000" b="1" dirty="0"/>
          </a:p>
          <a:p>
            <a:r>
              <a:rPr lang="en-US" altLang="zh-CN" sz="2000" b="1" dirty="0"/>
              <a:t>typedef multimap&lt;</a:t>
            </a:r>
            <a:r>
              <a:rPr lang="en-US" altLang="zh-CN" sz="2000" b="1" dirty="0" err="1"/>
              <a:t>int,CStudent</a:t>
            </a:r>
            <a:r>
              <a:rPr lang="en-US" altLang="zh-CN" sz="2000" b="1" dirty="0"/>
              <a:t>::</a:t>
            </a:r>
            <a:r>
              <a:rPr lang="en-US" altLang="zh-CN" sz="2000" b="1" dirty="0" err="1"/>
              <a:t>CInfo</a:t>
            </a:r>
            <a:r>
              <a:rPr lang="en-US" altLang="zh-CN" sz="2000" b="1" dirty="0"/>
              <a:t>&gt; MAP_STD;</a:t>
            </a:r>
            <a:endParaRPr lang="en-US" altLang="zh-CN" sz="2000" b="1" dirty="0"/>
          </a:p>
          <a:p>
            <a:endParaRPr lang="en-US" altLang="zh-CN" sz="2000" b="1" dirty="0"/>
          </a:p>
        </p:txBody>
      </p:sp>
      <p:sp>
        <p:nvSpPr>
          <p:cNvPr id="13" name="文本框 12"/>
          <p:cNvSpPr txBox="1"/>
          <p:nvPr/>
        </p:nvSpPr>
        <p:spPr>
          <a:xfrm>
            <a:off x="6096000" y="146310"/>
            <a:ext cx="6097656" cy="6524863"/>
          </a:xfrm>
          <a:prstGeom prst="rect">
            <a:avLst/>
          </a:prstGeom>
          <a:noFill/>
        </p:spPr>
        <p:txBody>
          <a:bodyPr wrap="square">
            <a:spAutoFit/>
          </a:bodyPr>
          <a:lstStyle/>
          <a:p>
            <a:r>
              <a:rPr lang="en-US" altLang="zh-CN" sz="2000" b="1" dirty="0"/>
              <a:t>int main()    </a:t>
            </a:r>
            <a:endParaRPr lang="en-US" altLang="zh-CN" sz="2000" b="1" dirty="0"/>
          </a:p>
          <a:p>
            <a:r>
              <a:rPr lang="en-US" altLang="zh-CN" sz="2000" b="1" dirty="0"/>
              <a:t>{</a:t>
            </a:r>
            <a:endParaRPr lang="en-US" altLang="zh-CN" sz="2000" b="1" dirty="0"/>
          </a:p>
          <a:p>
            <a:r>
              <a:rPr lang="en-US" altLang="zh-CN" sz="2000" b="1" dirty="0"/>
              <a:t>	</a:t>
            </a:r>
            <a:endParaRPr lang="en-US" altLang="zh-CN" sz="2000" b="1" dirty="0"/>
          </a:p>
          <a:p>
            <a:r>
              <a:rPr lang="en-US" altLang="zh-CN" sz="2000" b="1" dirty="0"/>
              <a:t>	MAP_STD </a:t>
            </a:r>
            <a:r>
              <a:rPr lang="en-US" altLang="zh-CN" sz="2000" b="1" dirty="0" err="1"/>
              <a:t>mp</a:t>
            </a:r>
            <a:r>
              <a:rPr lang="en-US" altLang="zh-CN" sz="2000" b="1" dirty="0"/>
              <a:t>;</a:t>
            </a:r>
            <a:endParaRPr lang="en-US" altLang="zh-CN" sz="2000" b="1" dirty="0"/>
          </a:p>
          <a:p>
            <a:r>
              <a:rPr lang="en-US" altLang="zh-CN" sz="2000" b="1" dirty="0"/>
              <a:t>	</a:t>
            </a:r>
            <a:r>
              <a:rPr lang="en-US" altLang="zh-CN" sz="2000" b="1" dirty="0" err="1"/>
              <a:t>CStudent</a:t>
            </a:r>
            <a:r>
              <a:rPr lang="en-US" altLang="zh-CN" sz="2000" b="1" dirty="0"/>
              <a:t> </a:t>
            </a:r>
            <a:r>
              <a:rPr lang="en-US" altLang="zh-CN" sz="2000" b="1" dirty="0" err="1"/>
              <a:t>st</a:t>
            </a:r>
            <a:r>
              <a:rPr lang="en-US" altLang="zh-CN" sz="2000" b="1" dirty="0"/>
              <a:t>;</a:t>
            </a:r>
            <a:endParaRPr lang="en-US" altLang="zh-CN" sz="2000" b="1" dirty="0"/>
          </a:p>
          <a:p>
            <a:r>
              <a:rPr lang="en-US" altLang="zh-CN" sz="2000" b="1" dirty="0"/>
              <a:t>	string </a:t>
            </a:r>
            <a:r>
              <a:rPr lang="en-US" altLang="zh-CN" sz="2000" b="1" dirty="0" err="1"/>
              <a:t>cmd</a:t>
            </a:r>
            <a:r>
              <a:rPr lang="en-US" altLang="zh-CN" sz="2000" b="1" dirty="0"/>
              <a:t>;</a:t>
            </a:r>
            <a:endParaRPr lang="en-US" altLang="zh-CN" sz="2000" b="1" dirty="0"/>
          </a:p>
          <a:p>
            <a:r>
              <a:rPr lang="en-US" altLang="zh-CN" sz="2000" b="1" dirty="0"/>
              <a:t>	while( </a:t>
            </a:r>
            <a:r>
              <a:rPr lang="en-US" altLang="zh-CN" sz="2000" b="1" dirty="0" err="1"/>
              <a:t>cin</a:t>
            </a:r>
            <a:r>
              <a:rPr lang="en-US" altLang="zh-CN" sz="2000" b="1" dirty="0"/>
              <a:t> &gt;&gt; </a:t>
            </a:r>
            <a:r>
              <a:rPr lang="en-US" altLang="zh-CN" sz="2000" b="1" dirty="0" err="1"/>
              <a:t>cmd</a:t>
            </a:r>
            <a:r>
              <a:rPr lang="en-US" altLang="zh-CN" sz="2000" b="1" dirty="0"/>
              <a:t> ) {</a:t>
            </a:r>
            <a:endParaRPr lang="en-US" altLang="zh-CN" sz="2000" b="1" dirty="0"/>
          </a:p>
          <a:p>
            <a:r>
              <a:rPr lang="en-US" altLang="zh-CN" sz="2000" b="1" dirty="0"/>
              <a:t>		if( </a:t>
            </a:r>
            <a:r>
              <a:rPr lang="en-US" altLang="zh-CN" sz="2000" b="1" dirty="0" err="1"/>
              <a:t>cmd</a:t>
            </a:r>
            <a:r>
              <a:rPr lang="en-US" altLang="zh-CN" sz="2000" b="1" dirty="0"/>
              <a:t> == "Add") {</a:t>
            </a:r>
            <a:endParaRPr lang="en-US" altLang="zh-CN" sz="2000" b="1" dirty="0"/>
          </a:p>
          <a:p>
            <a:r>
              <a:rPr lang="en-US" altLang="zh-CN" sz="2000" b="1" dirty="0"/>
              <a:t>		</a:t>
            </a:r>
            <a:r>
              <a:rPr lang="en-US" altLang="zh-CN" sz="2000" b="1" dirty="0" err="1"/>
              <a:t>cin</a:t>
            </a:r>
            <a:r>
              <a:rPr lang="en-US" altLang="zh-CN" sz="2000" b="1" dirty="0"/>
              <a:t> &gt;&gt; st.info.name &gt;&gt; st.info.id &gt;&gt; </a:t>
            </a:r>
            <a:r>
              <a:rPr lang="en-US" altLang="zh-CN" sz="2000" b="1" dirty="0" err="1"/>
              <a:t>st.score</a:t>
            </a:r>
            <a:r>
              <a:rPr lang="en-US" altLang="zh-CN" sz="2000" b="1" dirty="0"/>
              <a:t> ;</a:t>
            </a:r>
            <a:endParaRPr lang="en-US" altLang="zh-CN" sz="2000" b="1" dirty="0"/>
          </a:p>
          <a:p>
            <a:r>
              <a:rPr lang="en-US" altLang="zh-CN" sz="2000" b="1" dirty="0"/>
              <a:t>			</a:t>
            </a:r>
            <a:r>
              <a:rPr lang="en-US" altLang="zh-CN" sz="2000" b="1" dirty="0" err="1"/>
              <a:t>mp.insert</a:t>
            </a:r>
            <a:r>
              <a:rPr lang="en-US" altLang="zh-CN" sz="2000" b="1" dirty="0"/>
              <a:t>(MAP_STD::</a:t>
            </a:r>
            <a:r>
              <a:rPr lang="en-US" altLang="zh-CN" sz="2000" b="1" dirty="0" err="1">
                <a:solidFill>
                  <a:srgbClr val="FF0000"/>
                </a:solidFill>
              </a:rPr>
              <a:t>value_type</a:t>
            </a:r>
            <a:r>
              <a:rPr lang="en-US" altLang="zh-CN" sz="2000" b="1" dirty="0"/>
              <a:t>(</a:t>
            </a:r>
            <a:r>
              <a:rPr lang="en-US" altLang="zh-CN" sz="2000" b="1" dirty="0" err="1"/>
              <a:t>st.score,st.info</a:t>
            </a:r>
            <a:r>
              <a:rPr lang="en-US" altLang="zh-CN" sz="2000" b="1" dirty="0"/>
              <a:t> ));</a:t>
            </a:r>
            <a:r>
              <a:rPr lang="en-US" altLang="zh-CN" sz="1600" b="1" dirty="0">
                <a:solidFill>
                  <a:srgbClr val="00B050"/>
                </a:solidFill>
              </a:rPr>
              <a:t>//</a:t>
            </a:r>
            <a:r>
              <a:rPr lang="zh-CN" altLang="en-US" sz="1600" b="1" dirty="0">
                <a:solidFill>
                  <a:srgbClr val="00B050"/>
                </a:solidFill>
              </a:rPr>
              <a:t>参考</a:t>
            </a:r>
            <a:r>
              <a:rPr lang="en-US" altLang="zh-CN" sz="1600" b="1" dirty="0">
                <a:solidFill>
                  <a:srgbClr val="00B050"/>
                </a:solidFill>
              </a:rPr>
              <a:t>multimap</a:t>
            </a:r>
            <a:r>
              <a:rPr lang="zh-CN" altLang="en-US" sz="1600" b="1" dirty="0">
                <a:solidFill>
                  <a:srgbClr val="00B050"/>
                </a:solidFill>
              </a:rPr>
              <a:t>的定义</a:t>
            </a:r>
            <a:endParaRPr lang="en-US" altLang="zh-CN" sz="2000" b="1" dirty="0">
              <a:solidFill>
                <a:srgbClr val="00B050"/>
              </a:solidFill>
            </a:endParaRPr>
          </a:p>
          <a:p>
            <a:r>
              <a:rPr lang="en-US" altLang="zh-CN" sz="1600" b="1" dirty="0">
                <a:solidFill>
                  <a:srgbClr val="00B050"/>
                </a:solidFill>
              </a:rPr>
              <a:t>//</a:t>
            </a:r>
            <a:r>
              <a:rPr lang="zh-CN" altLang="en-US" sz="1600" b="1" dirty="0">
                <a:solidFill>
                  <a:srgbClr val="00B050"/>
                </a:solidFill>
              </a:rPr>
              <a:t>等价于</a:t>
            </a:r>
            <a:r>
              <a:rPr lang="en-US" altLang="zh-CN" sz="1600" b="1" dirty="0" err="1">
                <a:solidFill>
                  <a:srgbClr val="00B050"/>
                </a:solidFill>
              </a:rPr>
              <a:t>mp.insert</a:t>
            </a:r>
            <a:r>
              <a:rPr lang="en-US" altLang="zh-CN" sz="1600" b="1" dirty="0">
                <a:solidFill>
                  <a:srgbClr val="00B050"/>
                </a:solidFill>
              </a:rPr>
              <a:t>(</a:t>
            </a:r>
            <a:r>
              <a:rPr lang="en-US" altLang="zh-CN" sz="1600" b="1" dirty="0" err="1">
                <a:solidFill>
                  <a:srgbClr val="00B050"/>
                </a:solidFill>
              </a:rPr>
              <a:t>make_pair</a:t>
            </a:r>
            <a:r>
              <a:rPr lang="en-US" altLang="zh-CN" sz="1600" b="1" dirty="0">
                <a:solidFill>
                  <a:srgbClr val="00B050"/>
                </a:solidFill>
              </a:rPr>
              <a:t>(</a:t>
            </a:r>
            <a:r>
              <a:rPr lang="en-US" altLang="zh-CN" sz="1600" b="1" dirty="0" err="1">
                <a:solidFill>
                  <a:srgbClr val="00B050"/>
                </a:solidFill>
              </a:rPr>
              <a:t>st.score,st.info</a:t>
            </a:r>
            <a:r>
              <a:rPr lang="en-US" altLang="zh-CN" sz="1600" b="1" dirty="0">
                <a:solidFill>
                  <a:srgbClr val="00B050"/>
                </a:solidFill>
              </a:rPr>
              <a:t>))</a:t>
            </a:r>
            <a:endParaRPr lang="en-US" altLang="zh-CN" sz="1600" b="1" dirty="0">
              <a:solidFill>
                <a:srgbClr val="00B050"/>
              </a:solidFill>
            </a:endParaRPr>
          </a:p>
          <a:p>
            <a:r>
              <a:rPr lang="en-US" altLang="zh-CN" sz="2000" b="1" dirty="0"/>
              <a:t>		}</a:t>
            </a:r>
            <a:endParaRPr lang="en-US" altLang="zh-CN" sz="2000" b="1" dirty="0"/>
          </a:p>
          <a:p>
            <a:r>
              <a:rPr lang="en-US" altLang="zh-CN" sz="2000" b="1" dirty="0"/>
              <a:t>		else if( </a:t>
            </a:r>
            <a:r>
              <a:rPr lang="en-US" altLang="zh-CN" sz="2000" b="1" dirty="0" err="1"/>
              <a:t>cmd</a:t>
            </a:r>
            <a:r>
              <a:rPr lang="en-US" altLang="zh-CN" sz="2000" b="1" dirty="0"/>
              <a:t> == "Query" ){</a:t>
            </a:r>
            <a:endParaRPr lang="en-US" altLang="zh-CN" sz="2000" b="1" dirty="0"/>
          </a:p>
          <a:p>
            <a:r>
              <a:rPr lang="en-US" altLang="zh-CN" sz="2000" b="1" dirty="0"/>
              <a:t>			int score;</a:t>
            </a:r>
            <a:endParaRPr lang="en-US" altLang="zh-CN" sz="2000" b="1" dirty="0"/>
          </a:p>
          <a:p>
            <a:r>
              <a:rPr lang="en-US" altLang="zh-CN" sz="2000" b="1" dirty="0"/>
              <a:t>			</a:t>
            </a:r>
            <a:r>
              <a:rPr lang="en-US" altLang="zh-CN" sz="2000" b="1" dirty="0" err="1"/>
              <a:t>cin</a:t>
            </a:r>
            <a:r>
              <a:rPr lang="en-US" altLang="zh-CN" sz="2000" b="1" dirty="0"/>
              <a:t> &gt;&gt; score;</a:t>
            </a:r>
            <a:endParaRPr lang="en-US" altLang="zh-CN" sz="2000" b="1" dirty="0"/>
          </a:p>
          <a:p>
            <a:r>
              <a:rPr lang="en-US" altLang="zh-CN" sz="2000" b="1" dirty="0"/>
              <a:t>			MAP_STD::iterator p = </a:t>
            </a:r>
            <a:r>
              <a:rPr lang="en-US" altLang="zh-CN" sz="2000" b="1" dirty="0" err="1"/>
              <a:t>mp.lower_bound</a:t>
            </a:r>
            <a:r>
              <a:rPr lang="en-US" altLang="zh-CN" sz="2000" b="1" dirty="0"/>
              <a:t> (score);</a:t>
            </a:r>
            <a:endParaRPr lang="en-US" altLang="zh-CN" sz="2000" b="1" dirty="0"/>
          </a:p>
          <a:p>
            <a:r>
              <a:rPr lang="en-US" altLang="zh-CN" sz="2000" b="1" dirty="0"/>
              <a:t>			</a:t>
            </a:r>
            <a:endParaRPr lang="en-US" altLang="zh-CN" sz="2000" b="1" dirty="0"/>
          </a:p>
        </p:txBody>
      </p:sp>
      <p:pic>
        <p:nvPicPr>
          <p:cNvPr id="3" name="图片 2"/>
          <p:cNvPicPr>
            <a:picLocks noChangeAspect="1"/>
          </p:cNvPicPr>
          <p:nvPr/>
        </p:nvPicPr>
        <p:blipFill>
          <a:blip r:embed="rId3"/>
          <a:stretch>
            <a:fillRect/>
          </a:stretch>
        </p:blipFill>
        <p:spPr>
          <a:xfrm>
            <a:off x="8945324" y="3901044"/>
            <a:ext cx="3116703" cy="23496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0065434" y="5271200"/>
            <a:ext cx="171459" cy="234962"/>
          </a:xfrm>
          <a:prstGeom prst="rect">
            <a:avLst/>
          </a:prstGeom>
        </p:spPr>
      </p:pic>
      <p:sp>
        <p:nvSpPr>
          <p:cNvPr id="6" name="文本框 5"/>
          <p:cNvSpPr txBox="1"/>
          <p:nvPr/>
        </p:nvSpPr>
        <p:spPr>
          <a:xfrm>
            <a:off x="245995" y="332377"/>
            <a:ext cx="6808305" cy="6801862"/>
          </a:xfrm>
          <a:prstGeom prst="rect">
            <a:avLst/>
          </a:prstGeom>
          <a:noFill/>
        </p:spPr>
        <p:txBody>
          <a:bodyPr wrap="square" rtlCol="0">
            <a:spAutoFit/>
          </a:bodyPr>
          <a:lstStyle/>
          <a:p>
            <a:r>
              <a:rPr lang="en-US" altLang="zh-CN" sz="2000" b="1" dirty="0"/>
              <a:t>if( p!= </a:t>
            </a:r>
            <a:r>
              <a:rPr lang="en-US" altLang="zh-CN" sz="2000" b="1" dirty="0" err="1"/>
              <a:t>mp.begin</a:t>
            </a:r>
            <a:r>
              <a:rPr lang="en-US" altLang="zh-CN" sz="2000" b="1" dirty="0"/>
              <a:t>()) { </a:t>
            </a:r>
            <a:endParaRPr lang="en-US" altLang="zh-CN" sz="2000" b="1" dirty="0"/>
          </a:p>
          <a:p>
            <a:r>
              <a:rPr lang="en-US" altLang="zh-CN" sz="2000" b="1" dirty="0"/>
              <a:t>	--p;</a:t>
            </a:r>
            <a:endParaRPr lang="en-US" altLang="zh-CN" sz="2000" b="1" dirty="0"/>
          </a:p>
          <a:p>
            <a:r>
              <a:rPr lang="en-US" altLang="zh-CN" sz="2000" b="1" dirty="0"/>
              <a:t>	score = p-&gt;first; </a:t>
            </a:r>
            <a:r>
              <a:rPr lang="en-US" altLang="zh-CN" sz="1600" b="1" dirty="0">
                <a:solidFill>
                  <a:srgbClr val="00B050"/>
                </a:solidFill>
              </a:rPr>
              <a:t>//</a:t>
            </a:r>
            <a:r>
              <a:rPr lang="zh-CN" altLang="en-US" sz="1600" b="1" dirty="0">
                <a:solidFill>
                  <a:srgbClr val="00B050"/>
                </a:solidFill>
              </a:rPr>
              <a:t>比要查询分数低的最高分</a:t>
            </a:r>
            <a:endParaRPr lang="zh-CN" altLang="en-US" sz="1600" b="1" dirty="0">
              <a:solidFill>
                <a:srgbClr val="00B050"/>
              </a:solidFill>
            </a:endParaRPr>
          </a:p>
          <a:p>
            <a:r>
              <a:rPr lang="zh-CN" altLang="en-US" sz="2000" b="1" dirty="0"/>
              <a:t>             </a:t>
            </a:r>
            <a:r>
              <a:rPr lang="en-US" altLang="zh-CN" sz="2000" b="1" dirty="0"/>
              <a:t>MAP_STD::iterator </a:t>
            </a:r>
            <a:r>
              <a:rPr lang="en-US" altLang="zh-CN" sz="2000" b="1" dirty="0" err="1"/>
              <a:t>maxp</a:t>
            </a:r>
            <a:r>
              <a:rPr lang="en-US" altLang="zh-CN" sz="2000" b="1" dirty="0"/>
              <a:t> = p; </a:t>
            </a:r>
            <a:endParaRPr lang="en-US" altLang="zh-CN" sz="2000" b="1" dirty="0"/>
          </a:p>
          <a:p>
            <a:r>
              <a:rPr lang="en-US" altLang="zh-CN" sz="2000" b="1" dirty="0"/>
              <a:t>	int </a:t>
            </a:r>
            <a:r>
              <a:rPr lang="en-US" altLang="zh-CN" sz="2000" b="1" dirty="0" err="1"/>
              <a:t>maxId</a:t>
            </a:r>
            <a:r>
              <a:rPr lang="en-US" altLang="zh-CN" sz="2000" b="1" dirty="0"/>
              <a:t> = p-&gt;second.id; </a:t>
            </a:r>
            <a:endParaRPr lang="en-US" altLang="zh-CN" sz="2000" b="1" dirty="0"/>
          </a:p>
          <a:p>
            <a:r>
              <a:rPr lang="en-US" altLang="zh-CN" sz="2000" b="1" dirty="0"/>
              <a:t>	for( ; p != </a:t>
            </a:r>
            <a:r>
              <a:rPr lang="en-US" altLang="zh-CN" sz="2000" b="1" dirty="0" err="1"/>
              <a:t>mp.begin</a:t>
            </a:r>
            <a:r>
              <a:rPr lang="en-US" altLang="zh-CN" sz="2000" b="1" dirty="0"/>
              <a:t>() &amp;&amp; p-&gt;first == score; --p) {</a:t>
            </a:r>
            <a:endParaRPr lang="en-US" altLang="zh-CN" sz="2000" b="1" dirty="0"/>
          </a:p>
          <a:p>
            <a:r>
              <a:rPr lang="en-US" altLang="zh-CN" sz="2000" b="1" dirty="0"/>
              <a:t>	</a:t>
            </a:r>
            <a:r>
              <a:rPr lang="en-US" altLang="zh-CN" sz="1600" b="1" dirty="0">
                <a:solidFill>
                  <a:srgbClr val="00B050"/>
                </a:solidFill>
              </a:rPr>
              <a:t>//</a:t>
            </a:r>
            <a:r>
              <a:rPr lang="zh-CN" altLang="en-US" sz="1600" b="1" dirty="0">
                <a:solidFill>
                  <a:srgbClr val="00B050"/>
                </a:solidFill>
              </a:rPr>
              <a:t>遍历所有成绩和</a:t>
            </a:r>
            <a:r>
              <a:rPr lang="en-US" altLang="zh-CN" sz="1600" b="1" dirty="0">
                <a:solidFill>
                  <a:srgbClr val="00B050"/>
                </a:solidFill>
              </a:rPr>
              <a:t>score</a:t>
            </a:r>
            <a:r>
              <a:rPr lang="zh-CN" altLang="en-US" sz="1600" b="1" dirty="0">
                <a:solidFill>
                  <a:srgbClr val="00B050"/>
                </a:solidFill>
              </a:rPr>
              <a:t>相等的学生</a:t>
            </a:r>
            <a:endParaRPr lang="zh-CN" altLang="en-US" b="1" dirty="0">
              <a:solidFill>
                <a:srgbClr val="00B050"/>
              </a:solidFill>
            </a:endParaRPr>
          </a:p>
          <a:p>
            <a:r>
              <a:rPr lang="zh-CN" altLang="en-US" sz="2000" b="1" dirty="0"/>
              <a:t>	</a:t>
            </a:r>
            <a:r>
              <a:rPr lang="en-US" altLang="zh-CN" sz="2000" b="1" dirty="0"/>
              <a:t>if( p-&gt;second.id &gt; </a:t>
            </a:r>
            <a:r>
              <a:rPr lang="en-US" altLang="zh-CN" sz="2000" b="1" dirty="0" err="1"/>
              <a:t>maxId</a:t>
            </a:r>
            <a:r>
              <a:rPr lang="en-US" altLang="zh-CN" sz="2000" b="1" dirty="0"/>
              <a:t> ) {</a:t>
            </a:r>
            <a:endParaRPr lang="en-US" altLang="zh-CN" sz="2000" b="1" dirty="0"/>
          </a:p>
          <a:p>
            <a:r>
              <a:rPr lang="en-US" altLang="zh-CN" sz="2000" b="1" dirty="0"/>
              <a:t>	</a:t>
            </a:r>
            <a:r>
              <a:rPr lang="en-US" altLang="zh-CN" sz="2000" b="1" dirty="0" err="1"/>
              <a:t>maxp</a:t>
            </a:r>
            <a:r>
              <a:rPr lang="en-US" altLang="zh-CN" sz="2000" b="1" dirty="0"/>
              <a:t> = p;</a:t>
            </a:r>
            <a:endParaRPr lang="en-US" altLang="zh-CN" sz="2000" b="1" dirty="0"/>
          </a:p>
          <a:p>
            <a:r>
              <a:rPr lang="en-US" altLang="zh-CN" sz="2000" b="1" dirty="0"/>
              <a:t>	</a:t>
            </a:r>
            <a:r>
              <a:rPr lang="en-US" altLang="zh-CN" sz="2000" b="1" dirty="0" err="1"/>
              <a:t>maxId</a:t>
            </a:r>
            <a:r>
              <a:rPr lang="en-US" altLang="zh-CN" sz="2000" b="1" dirty="0"/>
              <a:t> = p-&gt;second.id ;</a:t>
            </a:r>
            <a:endParaRPr lang="en-US" altLang="zh-CN" sz="2000" b="1" dirty="0"/>
          </a:p>
          <a:p>
            <a:r>
              <a:rPr lang="en-US" altLang="zh-CN" sz="2000" b="1" dirty="0"/>
              <a:t>}</a:t>
            </a:r>
            <a:endParaRPr lang="en-US" altLang="zh-CN" sz="2000" b="1" dirty="0"/>
          </a:p>
          <a:p>
            <a:r>
              <a:rPr lang="en-US" altLang="zh-CN" sz="2000" b="1" dirty="0"/>
              <a:t>}</a:t>
            </a:r>
            <a:endParaRPr lang="en-US" altLang="zh-CN" sz="2000" b="1" dirty="0"/>
          </a:p>
          <a:p>
            <a:r>
              <a:rPr lang="en-US" altLang="zh-CN" sz="2000" b="1" dirty="0"/>
              <a:t>if( p-&gt;first == score) { </a:t>
            </a:r>
            <a:endParaRPr lang="en-US" altLang="zh-CN" sz="2000" b="1" dirty="0"/>
          </a:p>
          <a:p>
            <a:r>
              <a:rPr lang="en-US" altLang="zh-CN" sz="1600" b="1" dirty="0">
                <a:solidFill>
                  <a:srgbClr val="00B050"/>
                </a:solidFill>
              </a:rPr>
              <a:t>//</a:t>
            </a:r>
            <a:r>
              <a:rPr lang="zh-CN" altLang="en-US" sz="1600" b="1" dirty="0">
                <a:solidFill>
                  <a:srgbClr val="00B050"/>
                </a:solidFill>
              </a:rPr>
              <a:t>如果上面循环是因为 </a:t>
            </a:r>
            <a:r>
              <a:rPr lang="en-US" altLang="zh-CN" sz="1600" b="1" dirty="0">
                <a:solidFill>
                  <a:srgbClr val="00B050"/>
                </a:solidFill>
              </a:rPr>
              <a:t>p == </a:t>
            </a:r>
            <a:r>
              <a:rPr lang="en-US" altLang="zh-CN" sz="1600" b="1" dirty="0" err="1">
                <a:solidFill>
                  <a:srgbClr val="00B050"/>
                </a:solidFill>
              </a:rPr>
              <a:t>mp.begin</a:t>
            </a:r>
            <a:r>
              <a:rPr lang="en-US" altLang="zh-CN" sz="1600" b="1" dirty="0">
                <a:solidFill>
                  <a:srgbClr val="00B050"/>
                </a:solidFill>
              </a:rPr>
              <a:t>()</a:t>
            </a:r>
            <a:endParaRPr lang="en-US" altLang="zh-CN" sz="1600" b="1" dirty="0">
              <a:solidFill>
                <a:srgbClr val="00B050"/>
              </a:solidFill>
            </a:endParaRPr>
          </a:p>
          <a:p>
            <a:r>
              <a:rPr lang="en-US" altLang="zh-CN" sz="1600" b="1" dirty="0">
                <a:solidFill>
                  <a:srgbClr val="00B050"/>
                </a:solidFill>
              </a:rPr>
              <a:t>// </a:t>
            </a:r>
            <a:r>
              <a:rPr lang="zh-CN" altLang="en-US" sz="1600" b="1" dirty="0">
                <a:solidFill>
                  <a:srgbClr val="00B050"/>
                </a:solidFill>
              </a:rPr>
              <a:t>而终止，则</a:t>
            </a:r>
            <a:r>
              <a:rPr lang="en-US" altLang="zh-CN" sz="1600" b="1" dirty="0">
                <a:solidFill>
                  <a:srgbClr val="00B050"/>
                </a:solidFill>
              </a:rPr>
              <a:t>p</a:t>
            </a:r>
            <a:r>
              <a:rPr lang="zh-CN" altLang="en-US" sz="1600" b="1" dirty="0">
                <a:solidFill>
                  <a:srgbClr val="00B050"/>
                </a:solidFill>
              </a:rPr>
              <a:t>指向的元素还要处理</a:t>
            </a:r>
            <a:endParaRPr lang="zh-CN" altLang="en-US" sz="1600" b="1" dirty="0">
              <a:solidFill>
                <a:srgbClr val="00B050"/>
              </a:solidFill>
            </a:endParaRPr>
          </a:p>
          <a:p>
            <a:r>
              <a:rPr lang="en-US" altLang="zh-CN" sz="2000" b="1" dirty="0"/>
              <a:t>if( p-&gt;second.id  &gt; </a:t>
            </a:r>
            <a:r>
              <a:rPr lang="en-US" altLang="zh-CN" sz="2000" b="1" dirty="0" err="1"/>
              <a:t>maxId</a:t>
            </a:r>
            <a:r>
              <a:rPr lang="en-US" altLang="zh-CN" sz="2000" b="1" dirty="0"/>
              <a:t> ) {</a:t>
            </a:r>
            <a:endParaRPr lang="en-US" altLang="zh-CN" sz="2000" b="1" dirty="0"/>
          </a:p>
          <a:p>
            <a:r>
              <a:rPr lang="en-US" altLang="zh-CN" sz="2000" b="1" dirty="0"/>
              <a:t>	</a:t>
            </a:r>
            <a:r>
              <a:rPr lang="en-US" altLang="zh-CN" sz="2000" b="1" dirty="0" err="1"/>
              <a:t>maxp</a:t>
            </a:r>
            <a:r>
              <a:rPr lang="en-US" altLang="zh-CN" sz="2000" b="1" dirty="0"/>
              <a:t> = p;</a:t>
            </a:r>
            <a:endParaRPr lang="en-US" altLang="zh-CN" sz="2000" b="1" dirty="0"/>
          </a:p>
          <a:p>
            <a:r>
              <a:rPr lang="en-US" altLang="zh-CN" sz="2000" b="1" dirty="0"/>
              <a:t>	</a:t>
            </a:r>
            <a:r>
              <a:rPr lang="en-US" altLang="zh-CN" sz="2000" b="1" dirty="0" err="1"/>
              <a:t>maxId</a:t>
            </a:r>
            <a:r>
              <a:rPr lang="en-US" altLang="zh-CN" sz="2000" b="1" dirty="0"/>
              <a:t> = p-&gt;second.id ;</a:t>
            </a:r>
            <a:endParaRPr lang="en-US" altLang="zh-CN" sz="2000" b="1" dirty="0"/>
          </a:p>
          <a:p>
            <a:r>
              <a:rPr lang="en-US" altLang="zh-CN" sz="2000" b="1" dirty="0"/>
              <a:t>					}</a:t>
            </a:r>
            <a:endParaRPr lang="en-US" altLang="zh-CN" sz="2000" b="1" dirty="0"/>
          </a:p>
          <a:p>
            <a:r>
              <a:rPr lang="en-US" altLang="zh-CN" sz="2000" b="1" dirty="0"/>
              <a:t>				}</a:t>
            </a:r>
            <a:endParaRPr lang="en-US" altLang="zh-CN" sz="2000" b="1" dirty="0"/>
          </a:p>
          <a:p>
            <a:endParaRPr lang="en-US" altLang="zh-CN" sz="2000" b="1" dirty="0"/>
          </a:p>
        </p:txBody>
      </p:sp>
      <p:sp>
        <p:nvSpPr>
          <p:cNvPr id="7" name="文本框 6"/>
          <p:cNvSpPr txBox="1"/>
          <p:nvPr/>
        </p:nvSpPr>
        <p:spPr>
          <a:xfrm>
            <a:off x="6004127" y="2537940"/>
            <a:ext cx="6107594" cy="3170099"/>
          </a:xfrm>
          <a:prstGeom prst="rect">
            <a:avLst/>
          </a:prstGeom>
          <a:noFill/>
        </p:spPr>
        <p:txBody>
          <a:bodyPr wrap="square">
            <a:spAutoFit/>
          </a:bodyPr>
          <a:lstStyle/>
          <a:p>
            <a:r>
              <a:rPr lang="en-US" altLang="zh-CN" sz="2000" b="1" dirty="0" err="1"/>
              <a:t>cout</a:t>
            </a:r>
            <a:r>
              <a:rPr lang="en-US" altLang="zh-CN" sz="2000" b="1" dirty="0"/>
              <a:t> &lt;&lt; </a:t>
            </a:r>
            <a:r>
              <a:rPr lang="en-US" altLang="zh-CN" sz="2000" b="1" dirty="0" err="1"/>
              <a:t>maxp</a:t>
            </a:r>
            <a:r>
              <a:rPr lang="en-US" altLang="zh-CN" sz="2000" b="1" dirty="0"/>
              <a:t>-&gt;second.name &lt;&lt; " " &lt;&lt; </a:t>
            </a:r>
            <a:r>
              <a:rPr lang="en-US" altLang="zh-CN" sz="2000" b="1" dirty="0" err="1"/>
              <a:t>maxp</a:t>
            </a:r>
            <a:r>
              <a:rPr lang="en-US" altLang="zh-CN" sz="2000" b="1" dirty="0"/>
              <a:t>-&gt;</a:t>
            </a:r>
            <a:endParaRPr lang="en-US" altLang="zh-CN" sz="2000" b="1" dirty="0"/>
          </a:p>
          <a:p>
            <a:r>
              <a:rPr lang="en-US" altLang="zh-CN" sz="2000" b="1" dirty="0"/>
              <a:t>second.id &lt;&lt; " " &lt;&lt; </a:t>
            </a:r>
            <a:r>
              <a:rPr lang="en-US" altLang="zh-CN" sz="2000" b="1" dirty="0" err="1"/>
              <a:t>maxp</a:t>
            </a:r>
            <a:r>
              <a:rPr lang="en-US" altLang="zh-CN" sz="2000" b="1" dirty="0"/>
              <a:t>-&gt;first &lt;&lt; </a:t>
            </a:r>
            <a:r>
              <a:rPr lang="en-US" altLang="zh-CN" sz="2000" b="1" dirty="0" err="1"/>
              <a:t>endl</a:t>
            </a:r>
            <a:r>
              <a:rPr lang="en-US" altLang="zh-CN" sz="2000" b="1" dirty="0"/>
              <a:t>;</a:t>
            </a:r>
            <a:endParaRPr lang="en-US" altLang="zh-CN" sz="2000" b="1" dirty="0"/>
          </a:p>
          <a:p>
            <a:r>
              <a:rPr lang="en-US" altLang="zh-CN" sz="2000" b="1" dirty="0"/>
              <a:t>			}</a:t>
            </a:r>
            <a:endParaRPr lang="en-US" altLang="zh-CN" sz="2000" b="1" dirty="0"/>
          </a:p>
          <a:p>
            <a:r>
              <a:rPr lang="en-US" altLang="zh-CN" sz="2000" b="1" dirty="0"/>
              <a:t>Else</a:t>
            </a:r>
            <a:endParaRPr lang="en-US" altLang="zh-CN" sz="2000" b="1" dirty="0"/>
          </a:p>
          <a:p>
            <a:r>
              <a:rPr lang="en-US" altLang="zh-CN" sz="2000" b="1" dirty="0"/>
              <a:t> </a:t>
            </a:r>
            <a:r>
              <a:rPr lang="en-US" altLang="zh-CN" sz="1600" b="1" dirty="0">
                <a:solidFill>
                  <a:srgbClr val="00B050"/>
                </a:solidFill>
              </a:rPr>
              <a:t>//</a:t>
            </a:r>
            <a:r>
              <a:rPr lang="en-US" altLang="zh-CN" sz="1600" b="1" dirty="0" err="1">
                <a:solidFill>
                  <a:srgbClr val="00B050"/>
                </a:solidFill>
              </a:rPr>
              <a:t>lower_bound</a:t>
            </a:r>
            <a:r>
              <a:rPr lang="zh-CN" altLang="en-US" sz="1600" b="1" dirty="0">
                <a:solidFill>
                  <a:srgbClr val="00B050"/>
                </a:solidFill>
              </a:rPr>
              <a:t>的结果就是 </a:t>
            </a:r>
            <a:r>
              <a:rPr lang="en-US" altLang="zh-CN" sz="1600" b="1" dirty="0">
                <a:solidFill>
                  <a:srgbClr val="00B050"/>
                </a:solidFill>
              </a:rPr>
              <a:t>begin</a:t>
            </a:r>
            <a:r>
              <a:rPr lang="zh-CN" altLang="en-US" sz="1600" b="1" dirty="0">
                <a:solidFill>
                  <a:srgbClr val="00B050"/>
                </a:solidFill>
              </a:rPr>
              <a:t>，说明没人分数比查询分数低</a:t>
            </a:r>
            <a:endParaRPr lang="zh-CN" altLang="en-US" b="1" dirty="0">
              <a:solidFill>
                <a:srgbClr val="00B050"/>
              </a:solidFill>
            </a:endParaRPr>
          </a:p>
          <a:p>
            <a:r>
              <a:rPr lang="en-US" altLang="zh-CN" sz="2000" b="1" dirty="0" err="1"/>
              <a:t>cout</a:t>
            </a:r>
            <a:r>
              <a:rPr lang="en-US" altLang="zh-CN" sz="2000" b="1" dirty="0"/>
              <a:t> &lt;&lt; "Nobody" &lt;&lt; </a:t>
            </a:r>
            <a:r>
              <a:rPr lang="en-US" altLang="zh-CN" sz="2000" b="1" dirty="0" err="1"/>
              <a:t>endl</a:t>
            </a:r>
            <a:r>
              <a:rPr lang="en-US" altLang="zh-CN" sz="2000" b="1" dirty="0"/>
              <a:t>;</a:t>
            </a:r>
            <a:endParaRPr lang="en-US" altLang="zh-CN" sz="2000" b="1" dirty="0"/>
          </a:p>
          <a:p>
            <a:r>
              <a:rPr lang="en-US" altLang="zh-CN" sz="2000" b="1" dirty="0"/>
              <a:t>		}</a:t>
            </a:r>
            <a:endParaRPr lang="en-US" altLang="zh-CN" sz="2000" b="1" dirty="0"/>
          </a:p>
          <a:p>
            <a:r>
              <a:rPr lang="en-US" altLang="zh-CN" sz="2000" b="1" dirty="0"/>
              <a:t>	}</a:t>
            </a:r>
            <a:endParaRPr lang="en-US" altLang="zh-CN" sz="2000" b="1" dirty="0"/>
          </a:p>
          <a:p>
            <a:r>
              <a:rPr lang="en-US" altLang="zh-CN" sz="2000" b="1" dirty="0"/>
              <a:t>	return 0;</a:t>
            </a:r>
            <a:endParaRPr lang="en-US" altLang="zh-CN" sz="2000" b="1" dirty="0"/>
          </a:p>
          <a:p>
            <a:r>
              <a:rPr lang="en-US" altLang="zh-CN" sz="2000" b="1" dirty="0"/>
              <a:t>}</a:t>
            </a:r>
            <a:endParaRPr lang="zh-CN" alt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--set</a:t>
            </a:r>
            <a:endParaRPr kumimoji="0" lang="en-US" altLang="zh-CN"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sp>
        <p:nvSpPr>
          <p:cNvPr id="13" name="文本框 12"/>
          <p:cNvSpPr txBox="1"/>
          <p:nvPr/>
        </p:nvSpPr>
        <p:spPr>
          <a:xfrm>
            <a:off x="946486" y="1046717"/>
            <a:ext cx="9275693" cy="1169551"/>
          </a:xfrm>
          <a:prstGeom prst="rect">
            <a:avLst/>
          </a:prstGeom>
          <a:noFill/>
        </p:spPr>
        <p:txBody>
          <a:bodyPr wrap="square">
            <a:spAutoFit/>
          </a:bodyPr>
          <a:lstStyle/>
          <a:p>
            <a:pPr marL="342900" indent="-342900">
              <a:spcBef>
                <a:spcPct val="50000"/>
              </a:spcBef>
              <a:buFont typeface="Arial" panose="020B0604020202020204" pitchFamily="34" charset="0"/>
              <a:buChar char="•"/>
            </a:pPr>
            <a:r>
              <a:rPr lang="zh-CN" altLang="en-US" sz="2000" dirty="0">
                <a:solidFill>
                  <a:srgbClr val="000000"/>
                </a:solidFill>
                <a:latin typeface="MicrosoftYaHei"/>
              </a:rPr>
              <a:t>关联容器采用</a:t>
            </a:r>
            <a:r>
              <a:rPr lang="zh-CN" altLang="en-US" sz="2000" dirty="0">
                <a:solidFill>
                  <a:srgbClr val="FF0000"/>
                </a:solidFill>
                <a:latin typeface="MicrosoftYaHei"/>
              </a:rPr>
              <a:t>非线性</a:t>
            </a:r>
            <a:r>
              <a:rPr lang="zh-CN" altLang="en-US" sz="2000" dirty="0">
                <a:solidFill>
                  <a:srgbClr val="0066FF"/>
                </a:solidFill>
                <a:latin typeface="MicrosoftYaHei"/>
              </a:rPr>
              <a:t>逻辑结构</a:t>
            </a:r>
            <a:r>
              <a:rPr lang="zh-CN" altLang="en-US" sz="2000" dirty="0">
                <a:solidFill>
                  <a:srgbClr val="000000"/>
                </a:solidFill>
                <a:latin typeface="MicrosoftYaHei"/>
              </a:rPr>
              <a:t>。通常，关联容器是通过</a:t>
            </a:r>
            <a:r>
              <a:rPr lang="zh-CN" altLang="en-US" sz="2000" dirty="0">
                <a:solidFill>
                  <a:srgbClr val="FF0000"/>
                </a:solidFill>
                <a:latin typeface="MicrosoftYaHei"/>
              </a:rPr>
              <a:t>树结构</a:t>
            </a:r>
            <a:r>
              <a:rPr lang="zh-CN" altLang="en-US" sz="2000" dirty="0">
                <a:solidFill>
                  <a:srgbClr val="000000"/>
                </a:solidFill>
                <a:latin typeface="MicrosoftYaHei"/>
              </a:rPr>
              <a:t>实现，并通过</a:t>
            </a:r>
            <a:r>
              <a:rPr lang="zh-CN" altLang="en-US" sz="2000" dirty="0">
                <a:solidFill>
                  <a:srgbClr val="FF0000"/>
                </a:solidFill>
                <a:latin typeface="MicrosoftYaHei"/>
              </a:rPr>
              <a:t>关键字（</a:t>
            </a:r>
            <a:r>
              <a:rPr lang="en-US" altLang="zh-CN" sz="2000" dirty="0">
                <a:solidFill>
                  <a:srgbClr val="FF0000"/>
                </a:solidFill>
                <a:latin typeface="MicrosoftYaHei"/>
              </a:rPr>
              <a:t>key</a:t>
            </a:r>
            <a:r>
              <a:rPr lang="zh-CN" altLang="en-US" sz="2000" dirty="0">
                <a:solidFill>
                  <a:srgbClr val="FF0000"/>
                </a:solidFill>
                <a:latin typeface="MicrosoftYaHei"/>
              </a:rPr>
              <a:t>）</a:t>
            </a:r>
            <a:r>
              <a:rPr lang="zh-CN" altLang="en-US" sz="2000" dirty="0">
                <a:solidFill>
                  <a:srgbClr val="000000"/>
                </a:solidFill>
                <a:latin typeface="MicrosoftYaHei"/>
              </a:rPr>
              <a:t>来访问其元素。</a:t>
            </a:r>
            <a:endParaRPr lang="en-US" altLang="zh-CN" sz="2000" dirty="0">
              <a:solidFill>
                <a:srgbClr val="000000"/>
              </a:solidFill>
              <a:latin typeface="MicrosoftYaHei"/>
            </a:endParaRPr>
          </a:p>
          <a:p>
            <a:pPr marL="342900" indent="-342900">
              <a:spcBef>
                <a:spcPct val="50000"/>
              </a:spcBef>
              <a:buFont typeface="Arial" panose="020B0604020202020204" pitchFamily="34" charset="0"/>
              <a:buChar char="•"/>
            </a:pPr>
            <a:r>
              <a:rPr lang="zh-CN" altLang="en-US" sz="2000" dirty="0">
                <a:solidFill>
                  <a:srgbClr val="000000"/>
                </a:solidFill>
                <a:latin typeface="MicrosoftYaHei"/>
              </a:rPr>
              <a:t>关联容器除了各容器都有的成员函数，还包括以下成员函数：</a:t>
            </a:r>
            <a:endParaRPr kumimoji="0" lang="zh-CN" altLang="en-US" sz="2000" b="1" dirty="0">
              <a:latin typeface="宋体" panose="02010600030101010101" pitchFamily="2" charset="-122"/>
            </a:endParaRPr>
          </a:p>
        </p:txBody>
      </p:sp>
      <p:pic>
        <p:nvPicPr>
          <p:cNvPr id="7" name="图片 6"/>
          <p:cNvPicPr>
            <a:picLocks noChangeAspect="1"/>
          </p:cNvPicPr>
          <p:nvPr/>
        </p:nvPicPr>
        <p:blipFill>
          <a:blip r:embed="rId2"/>
          <a:stretch>
            <a:fillRect/>
          </a:stretch>
        </p:blipFill>
        <p:spPr>
          <a:xfrm>
            <a:off x="1355833" y="2216268"/>
            <a:ext cx="3914731" cy="1743535"/>
          </a:xfrm>
          <a:prstGeom prst="rect">
            <a:avLst/>
          </a:prstGeom>
        </p:spPr>
      </p:pic>
      <p:sp>
        <p:nvSpPr>
          <p:cNvPr id="25" name="矩形 24"/>
          <p:cNvSpPr/>
          <p:nvPr/>
        </p:nvSpPr>
        <p:spPr>
          <a:xfrm>
            <a:off x="672680" y="4082270"/>
            <a:ext cx="7840704" cy="1015663"/>
          </a:xfrm>
          <a:prstGeom prst="rect">
            <a:avLst/>
          </a:prstGeom>
          <a:ln w="3175">
            <a:solidFill>
              <a:schemeClr val="tx1"/>
            </a:solidFill>
          </a:ln>
        </p:spPr>
        <p:txBody>
          <a:bodyPr wrap="square">
            <a:spAutoFit/>
          </a:bodyPr>
          <a:lstStyle/>
          <a:p>
            <a:r>
              <a:rPr lang="en-US" altLang="zh-CN" sz="2000" dirty="0">
                <a:solidFill>
                  <a:srgbClr val="000000"/>
                </a:solidFill>
                <a:latin typeface="Consolas" panose="020B0609020204030204" pitchFamily="49" charset="0"/>
              </a:rPr>
              <a:t>vector&lt;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v = { </a:t>
            </a:r>
            <a:r>
              <a:rPr lang="en-US" altLang="zh-CN" sz="2000" dirty="0">
                <a:solidFill>
                  <a:srgbClr val="09885A"/>
                </a:solidFill>
                <a:latin typeface="Consolas" panose="020B0609020204030204" pitchFamily="49" charset="0"/>
              </a:rPr>
              <a:t>1</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8</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4</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2</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0</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1</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4</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3</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5</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4</a:t>
            </a:r>
            <a:r>
              <a:rPr lang="en-US" altLang="zh-CN" sz="2000" dirty="0">
                <a:solidFill>
                  <a:srgbClr val="000000"/>
                </a:solidFill>
                <a:latin typeface="Consolas" panose="020B0609020204030204" pitchFamily="49" charset="0"/>
              </a:rPr>
              <a:t>, </a:t>
            </a:r>
            <a:r>
              <a:rPr lang="en-US" altLang="zh-CN" sz="2000" dirty="0">
                <a:solidFill>
                  <a:srgbClr val="09885A"/>
                </a:solidFill>
                <a:latin typeface="Consolas" panose="020B0609020204030204" pitchFamily="49" charset="0"/>
              </a:rPr>
              <a:t>7</a:t>
            </a:r>
            <a:r>
              <a:rPr lang="en-US" altLang="zh-CN" sz="2000" dirty="0">
                <a:solidFill>
                  <a:srgbClr val="000000"/>
                </a:solidFill>
                <a:latin typeface="Consolas" panose="020B0609020204030204" pitchFamily="49" charset="0"/>
              </a:rPr>
              <a:t> };</a:t>
            </a:r>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set&lt;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a:t>
            </a:r>
            <a:r>
              <a:rPr lang="en-US" altLang="zh-CN" sz="2000" dirty="0">
                <a:solidFill>
                  <a:srgbClr val="795E26"/>
                </a:solidFill>
                <a:latin typeface="Consolas" panose="020B0609020204030204" pitchFamily="49" charset="0"/>
              </a:rPr>
              <a:t>s</a:t>
            </a:r>
            <a:r>
              <a:rPr lang="en-US" altLang="zh-CN" sz="2000" dirty="0">
                <a:solidFill>
                  <a:srgbClr val="000000"/>
                </a:solidFill>
                <a:latin typeface="Consolas" panose="020B0609020204030204" pitchFamily="49" charset="0"/>
              </a:rPr>
              <a:t>(</a:t>
            </a:r>
            <a:r>
              <a:rPr lang="en-US" altLang="zh-CN" sz="2000" dirty="0" err="1">
                <a:solidFill>
                  <a:srgbClr val="000000"/>
                </a:solidFill>
                <a:latin typeface="Consolas" panose="020B0609020204030204" pitchFamily="49" charset="0"/>
              </a:rPr>
              <a:t>v.</a:t>
            </a:r>
            <a:r>
              <a:rPr lang="en-US" altLang="zh-CN" sz="2000" dirty="0" err="1">
                <a:solidFill>
                  <a:srgbClr val="795E26"/>
                </a:solidFill>
                <a:latin typeface="Consolas" panose="020B0609020204030204" pitchFamily="49" charset="0"/>
              </a:rPr>
              <a:t>begin</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v.</a:t>
            </a:r>
            <a:r>
              <a:rPr lang="en-US" altLang="zh-CN" sz="2000" dirty="0" err="1">
                <a:solidFill>
                  <a:srgbClr val="795E26"/>
                </a:solidFill>
                <a:latin typeface="Consolas" panose="020B0609020204030204" pitchFamily="49" charset="0"/>
              </a:rPr>
              <a:t>end</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利用</a:t>
            </a:r>
            <a:r>
              <a:rPr lang="en-US" altLang="zh-CN" sz="2000" dirty="0">
                <a:solidFill>
                  <a:srgbClr val="008000"/>
                </a:solidFill>
                <a:latin typeface="Consolas" panose="020B0609020204030204" pitchFamily="49" charset="0"/>
              </a:rPr>
              <a:t>vector</a:t>
            </a:r>
            <a:r>
              <a:rPr lang="zh-CN" altLang="en-US" sz="2000" dirty="0">
                <a:solidFill>
                  <a:srgbClr val="008000"/>
                </a:solidFill>
                <a:latin typeface="Consolas" panose="020B0609020204030204" pitchFamily="49" charset="0"/>
              </a:rPr>
              <a:t>创建</a:t>
            </a:r>
            <a:r>
              <a:rPr lang="en-US" altLang="zh-CN" sz="2000" dirty="0">
                <a:solidFill>
                  <a:srgbClr val="008000"/>
                </a:solidFill>
                <a:latin typeface="Consolas" panose="020B0609020204030204" pitchFamily="49" charset="0"/>
              </a:rPr>
              <a:t>set</a:t>
            </a:r>
            <a:endParaRPr lang="en-US" altLang="zh-CN" sz="2000" dirty="0">
              <a:solidFill>
                <a:srgbClr val="000000"/>
              </a:solidFill>
              <a:latin typeface="Consolas" panose="020B0609020204030204" pitchFamily="49" charset="0"/>
            </a:endParaRPr>
          </a:p>
          <a:p>
            <a:r>
              <a:rPr lang="en-US" altLang="zh-CN" sz="2000" dirty="0">
                <a:solidFill>
                  <a:srgbClr val="0000FF"/>
                </a:solidFill>
                <a:latin typeface="Consolas" panose="020B0609020204030204" pitchFamily="49" charset="0"/>
              </a:rPr>
              <a:t>auto</a:t>
            </a:r>
            <a:r>
              <a:rPr lang="en-US" altLang="zh-CN" sz="2000" dirty="0">
                <a:solidFill>
                  <a:srgbClr val="000000"/>
                </a:solidFill>
                <a:latin typeface="Consolas" panose="020B0609020204030204" pitchFamily="49" charset="0"/>
              </a:rPr>
              <a:t> it = </a:t>
            </a:r>
            <a:r>
              <a:rPr lang="en-US" altLang="zh-CN" sz="2000" dirty="0" err="1">
                <a:solidFill>
                  <a:srgbClr val="000000"/>
                </a:solidFill>
                <a:latin typeface="Consolas" panose="020B0609020204030204" pitchFamily="49" charset="0"/>
              </a:rPr>
              <a:t>s.</a:t>
            </a:r>
            <a:r>
              <a:rPr lang="en-US" altLang="zh-CN" sz="2000" dirty="0" err="1">
                <a:solidFill>
                  <a:srgbClr val="795E26"/>
                </a:solidFill>
                <a:latin typeface="Consolas" panose="020B0609020204030204" pitchFamily="49" charset="0"/>
              </a:rPr>
              <a:t>find</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0</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查找关键字为</a:t>
            </a:r>
            <a:r>
              <a:rPr lang="en-US" altLang="zh-CN" sz="2000" dirty="0">
                <a:solidFill>
                  <a:srgbClr val="008000"/>
                </a:solidFill>
                <a:latin typeface="Consolas" panose="020B0609020204030204" pitchFamily="49" charset="0"/>
              </a:rPr>
              <a:t>0</a:t>
            </a:r>
            <a:r>
              <a:rPr lang="zh-CN" altLang="en-US" sz="2000" dirty="0">
                <a:solidFill>
                  <a:srgbClr val="008000"/>
                </a:solidFill>
                <a:latin typeface="Consolas" panose="020B0609020204030204" pitchFamily="49" charset="0"/>
              </a:rPr>
              <a:t>的元素</a:t>
            </a:r>
            <a:endParaRPr lang="zh-CN" altLang="en-US" sz="2000" b="0" dirty="0">
              <a:solidFill>
                <a:srgbClr val="000000"/>
              </a:solidFill>
              <a:effectLst/>
              <a:latin typeface="Consolas" panose="020B0609020204030204" pitchFamily="49" charset="0"/>
            </a:endParaRPr>
          </a:p>
        </p:txBody>
      </p:sp>
      <p:sp>
        <p:nvSpPr>
          <p:cNvPr id="26" name="矩形 25"/>
          <p:cNvSpPr/>
          <p:nvPr/>
        </p:nvSpPr>
        <p:spPr>
          <a:xfrm>
            <a:off x="698498" y="5318036"/>
            <a:ext cx="7840705" cy="1322070"/>
          </a:xfrm>
          <a:prstGeom prst="rect">
            <a:avLst/>
          </a:prstGeom>
          <a:ln w="3175">
            <a:solidFill>
              <a:schemeClr val="tx1"/>
            </a:solidFill>
          </a:ln>
        </p:spPr>
        <p:txBody>
          <a:bodyPr wrap="square">
            <a:spAutoFit/>
          </a:bodyPr>
          <a:lstStyle/>
          <a:p>
            <a:r>
              <a:rPr lang="en-US" altLang="zh-CN" sz="2000" dirty="0" err="1">
                <a:solidFill>
                  <a:srgbClr val="000000"/>
                </a:solidFill>
                <a:latin typeface="Consolas" panose="020B0609020204030204" pitchFamily="49" charset="0"/>
              </a:rPr>
              <a:t>s.</a:t>
            </a:r>
            <a:r>
              <a:rPr lang="en-US" altLang="zh-CN" sz="2000" dirty="0" err="1">
                <a:solidFill>
                  <a:srgbClr val="795E26"/>
                </a:solidFill>
                <a:latin typeface="Consolas" panose="020B0609020204030204" pitchFamily="49" charset="0"/>
              </a:rPr>
              <a:t>erase</a:t>
            </a:r>
            <a:r>
              <a:rPr lang="en-US" altLang="zh-CN" sz="2000" dirty="0">
                <a:solidFill>
                  <a:srgbClr val="000000"/>
                </a:solidFill>
                <a:latin typeface="Consolas" panose="020B0609020204030204" pitchFamily="49" charset="0"/>
              </a:rPr>
              <a:t>(it);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删除关键字为</a:t>
            </a:r>
            <a:r>
              <a:rPr lang="en-US" altLang="zh-CN" sz="2000" dirty="0">
                <a:solidFill>
                  <a:srgbClr val="008000"/>
                </a:solidFill>
                <a:latin typeface="Consolas" panose="020B0609020204030204" pitchFamily="49" charset="0"/>
              </a:rPr>
              <a:t>0</a:t>
            </a:r>
            <a:r>
              <a:rPr lang="zh-CN" altLang="en-US" sz="2000" dirty="0">
                <a:solidFill>
                  <a:srgbClr val="008000"/>
                </a:solidFill>
                <a:latin typeface="Consolas" panose="020B0609020204030204" pitchFamily="49" charset="0"/>
              </a:rPr>
              <a:t>的元素</a:t>
            </a:r>
            <a:endParaRPr lang="zh-CN" altLang="en-US" sz="2000" dirty="0">
              <a:solidFill>
                <a:srgbClr val="000000"/>
              </a:solidFill>
              <a:latin typeface="Consolas" panose="020B0609020204030204" pitchFamily="49" charset="0"/>
            </a:endParaRPr>
          </a:p>
          <a:p>
            <a:r>
              <a:rPr lang="en-US" altLang="zh-CN" sz="2000" dirty="0" err="1">
                <a:solidFill>
                  <a:srgbClr val="000000"/>
                </a:solidFill>
                <a:latin typeface="Consolas" panose="020B0609020204030204" pitchFamily="49" charset="0"/>
              </a:rPr>
              <a:t>s.</a:t>
            </a:r>
            <a:r>
              <a:rPr lang="en-US" altLang="zh-CN" sz="2000" dirty="0" err="1">
                <a:solidFill>
                  <a:srgbClr val="795E26"/>
                </a:solidFill>
                <a:latin typeface="Consolas" panose="020B0609020204030204" pitchFamily="49" charset="0"/>
              </a:rPr>
              <a:t>erase</a:t>
            </a:r>
            <a:r>
              <a:rPr lang="en-US" altLang="zh-CN" sz="2000" dirty="0">
                <a:solidFill>
                  <a:srgbClr val="000000"/>
                </a:solidFill>
                <a:latin typeface="Consolas" panose="020B0609020204030204" pitchFamily="49" charset="0"/>
              </a:rPr>
              <a:t>(</a:t>
            </a:r>
            <a:r>
              <a:rPr lang="en-US" altLang="zh-CN" sz="2000" dirty="0" err="1">
                <a:solidFill>
                  <a:srgbClr val="000000"/>
                </a:solidFill>
                <a:latin typeface="Consolas" panose="020B0609020204030204" pitchFamily="49" charset="0"/>
              </a:rPr>
              <a:t>s.</a:t>
            </a:r>
            <a:r>
              <a:rPr lang="en-US" altLang="zh-CN" sz="2000" dirty="0" err="1">
                <a:solidFill>
                  <a:srgbClr val="795E26"/>
                </a:solidFill>
                <a:latin typeface="Consolas" panose="020B0609020204030204" pitchFamily="49" charset="0"/>
              </a:rPr>
              <a:t>find</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3</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s.</a:t>
            </a:r>
            <a:r>
              <a:rPr lang="en-US" altLang="zh-CN" sz="2000" dirty="0" err="1">
                <a:solidFill>
                  <a:srgbClr val="795E26"/>
                </a:solidFill>
                <a:latin typeface="Consolas" panose="020B0609020204030204" pitchFamily="49" charset="0"/>
              </a:rPr>
              <a:t>find</a:t>
            </a:r>
            <a:r>
              <a:rPr lang="en-US" altLang="zh-CN" sz="2000" dirty="0">
                <a:solidFill>
                  <a:srgbClr val="000000"/>
                </a:solidFill>
                <a:latin typeface="Consolas" panose="020B0609020204030204" pitchFamily="49" charset="0"/>
              </a:rPr>
              <a:t>(</a:t>
            </a:r>
            <a:r>
              <a:rPr lang="en-US" altLang="zh-CN" sz="2000" dirty="0">
                <a:solidFill>
                  <a:srgbClr val="09885A"/>
                </a:solidFill>
                <a:latin typeface="Consolas" panose="020B0609020204030204" pitchFamily="49" charset="0"/>
              </a:rPr>
              <a:t>7</a:t>
            </a:r>
            <a:r>
              <a:rPr lang="en-US" altLang="zh-CN" sz="2000" dirty="0">
                <a:solidFill>
                  <a:srgbClr val="000000"/>
                </a:solidFill>
                <a:latin typeface="Consolas" panose="020B0609020204030204" pitchFamily="49" charset="0"/>
              </a:rPr>
              <a:t>));</a:t>
            </a:r>
            <a:endParaRPr lang="en-US" altLang="zh-CN" sz="2000" dirty="0">
              <a:solidFill>
                <a:srgbClr val="000000"/>
              </a:solidFill>
              <a:latin typeface="Consolas" panose="020B0609020204030204" pitchFamily="49" charset="0"/>
            </a:endParaRPr>
          </a:p>
          <a:p>
            <a:r>
              <a:rPr lang="en-US" altLang="zh-CN" sz="2000" dirty="0">
                <a:solidFill>
                  <a:srgbClr val="008000"/>
                </a:solidFill>
                <a:latin typeface="Consolas" panose="020B0609020204030204" pitchFamily="49" charset="0"/>
              </a:rPr>
              <a:t>				 //</a:t>
            </a:r>
            <a:r>
              <a:rPr lang="zh-CN" altLang="en-US" sz="2000" dirty="0">
                <a:solidFill>
                  <a:srgbClr val="008000"/>
                </a:solidFill>
                <a:latin typeface="Consolas" panose="020B0609020204030204" pitchFamily="49" charset="0"/>
              </a:rPr>
              <a:t>删除关键字在</a:t>
            </a:r>
            <a:r>
              <a:rPr lang="en-US" altLang="zh-CN" sz="2000" dirty="0">
                <a:solidFill>
                  <a:srgbClr val="008000"/>
                </a:solidFill>
                <a:latin typeface="Consolas" panose="020B0609020204030204" pitchFamily="49" charset="0"/>
              </a:rPr>
              <a:t>[3,7)</a:t>
            </a:r>
            <a:r>
              <a:rPr lang="zh-CN" altLang="en-US" sz="2000" dirty="0">
                <a:solidFill>
                  <a:srgbClr val="008000"/>
                </a:solidFill>
                <a:latin typeface="Consolas" panose="020B0609020204030204" pitchFamily="49" charset="0"/>
              </a:rPr>
              <a:t>内元素</a:t>
            </a:r>
            <a:endParaRPr lang="zh-CN" altLang="en-US" sz="2000" dirty="0">
              <a:solidFill>
                <a:srgbClr val="000000"/>
              </a:solidFill>
              <a:latin typeface="Consolas" panose="020B0609020204030204" pitchFamily="49" charset="0"/>
            </a:endParaRPr>
          </a:p>
          <a:p>
            <a:r>
              <a:rPr lang="en-US" altLang="zh-CN" sz="2000" dirty="0">
                <a:solidFill>
                  <a:srgbClr val="AF00DB"/>
                </a:solidFill>
                <a:latin typeface="Consolas" panose="020B0609020204030204" pitchFamily="49" charset="0"/>
              </a:rPr>
              <a:t>for</a:t>
            </a:r>
            <a:r>
              <a:rPr lang="en-US" altLang="zh-CN" sz="2000" dirty="0">
                <a:solidFill>
                  <a:srgbClr val="000000"/>
                </a:solidFill>
                <a:latin typeface="Consolas" panose="020B0609020204030204" pitchFamily="49" charset="0"/>
              </a:rPr>
              <a:t> (</a:t>
            </a:r>
            <a:r>
              <a:rPr lang="en-US" altLang="zh-CN" sz="2000" dirty="0">
                <a:solidFill>
                  <a:srgbClr val="0000FF"/>
                </a:solidFill>
                <a:latin typeface="Consolas" panose="020B0609020204030204" pitchFamily="49" charset="0"/>
              </a:rPr>
              <a:t>auto</a:t>
            </a:r>
            <a:r>
              <a:rPr lang="en-US" altLang="zh-CN" sz="2000" dirty="0">
                <a:solidFill>
                  <a:srgbClr val="000000"/>
                </a:solidFill>
                <a:latin typeface="Consolas" panose="020B0609020204030204" pitchFamily="49" charset="0"/>
              </a:rPr>
              <a:t> &amp;</a:t>
            </a:r>
            <a:r>
              <a:rPr lang="en-US" altLang="zh-CN" sz="2000" dirty="0" err="1">
                <a:solidFill>
                  <a:srgbClr val="000000"/>
                </a:solidFill>
                <a:latin typeface="Consolas" panose="020B0609020204030204" pitchFamily="49" charset="0"/>
              </a:rPr>
              <a:t>i</a:t>
            </a:r>
            <a:r>
              <a:rPr lang="en-US" altLang="zh-CN" sz="2000" dirty="0">
                <a:solidFill>
                  <a:srgbClr val="000000"/>
                </a:solidFill>
                <a:latin typeface="Consolas" panose="020B0609020204030204" pitchFamily="49" charset="0"/>
              </a:rPr>
              <a:t> : s) </a:t>
            </a:r>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a:t>
            </a:r>
            <a:r>
              <a:rPr lang="en-US" altLang="zh-CN" sz="2000" dirty="0" err="1">
                <a:solidFill>
                  <a:srgbClr val="000000"/>
                </a:solidFill>
                <a:latin typeface="Consolas" panose="020B0609020204030204" pitchFamily="49" charset="0"/>
              </a:rPr>
              <a:t>i</a:t>
            </a:r>
            <a:r>
              <a:rPr lang="en-US" altLang="zh-CN" sz="2000" dirty="0">
                <a:solidFill>
                  <a:srgbClr val="000000"/>
                </a:solidFill>
                <a:latin typeface="Consolas" panose="020B0609020204030204" pitchFamily="49" charset="0"/>
              </a:rPr>
              <a:t> &lt;&lt; </a:t>
            </a:r>
            <a:r>
              <a:rPr lang="en-US" altLang="zh-CN" sz="2000" dirty="0">
                <a:solidFill>
                  <a:srgbClr val="A31515"/>
                </a:solidFill>
                <a:latin typeface="Consolas" panose="020B0609020204030204" pitchFamily="49" charset="0"/>
              </a:rPr>
              <a:t>" "</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打印输出：</a:t>
            </a:r>
            <a:r>
              <a:rPr lang="en-US" altLang="zh-CN" sz="2000" dirty="0">
                <a:solidFill>
                  <a:srgbClr val="008000"/>
                </a:solidFill>
                <a:latin typeface="Consolas" panose="020B0609020204030204" pitchFamily="49" charset="0"/>
              </a:rPr>
              <a:t>1 2 7 8</a:t>
            </a:r>
            <a:endParaRPr lang="zh-CN" altLang="en-US" sz="2000" b="0" dirty="0">
              <a:solidFill>
                <a:srgbClr val="000000"/>
              </a:solidFill>
              <a:effectLst/>
              <a:latin typeface="Consolas" panose="020B0609020204030204" pitchFamily="49" charset="0"/>
            </a:endParaRPr>
          </a:p>
        </p:txBody>
      </p:sp>
      <p:grpSp>
        <p:nvGrpSpPr>
          <p:cNvPr id="27" name="组合 26"/>
          <p:cNvGrpSpPr/>
          <p:nvPr/>
        </p:nvGrpSpPr>
        <p:grpSpPr>
          <a:xfrm>
            <a:off x="8962714" y="4082270"/>
            <a:ext cx="2627124" cy="2331936"/>
            <a:chOff x="219974" y="2000284"/>
            <a:chExt cx="8704052" cy="2521412"/>
          </a:xfrm>
        </p:grpSpPr>
        <p:grpSp>
          <p:nvGrpSpPr>
            <p:cNvPr id="28" name="组合 27"/>
            <p:cNvGrpSpPr/>
            <p:nvPr/>
          </p:nvGrpSpPr>
          <p:grpSpPr>
            <a:xfrm>
              <a:off x="219974" y="2014515"/>
              <a:ext cx="8704052" cy="2507181"/>
              <a:chOff x="219974" y="1283821"/>
              <a:chExt cx="8704052" cy="2338023"/>
            </a:xfrm>
            <a:effectLst>
              <a:outerShdw blurRad="50800" dist="69850" dir="2700000" algn="tl" rotWithShape="0">
                <a:prstClr val="black">
                  <a:alpha val="40000"/>
                </a:prstClr>
              </a:outerShdw>
            </a:effectLst>
          </p:grpSpPr>
          <p:sp>
            <p:nvSpPr>
              <p:cNvPr id="30" name="矩形: 圆角 29"/>
              <p:cNvSpPr/>
              <p:nvPr/>
            </p:nvSpPr>
            <p:spPr>
              <a:xfrm>
                <a:off x="219974" y="1604512"/>
                <a:ext cx="8704052" cy="2017332"/>
              </a:xfrm>
              <a:prstGeom prst="roundRect">
                <a:avLst>
                  <a:gd name="adj" fmla="val 7211"/>
                </a:avLst>
              </a:prstGeom>
              <a:solidFill>
                <a:srgbClr val="FCF6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顶角 30"/>
              <p:cNvSpPr/>
              <p:nvPr/>
            </p:nvSpPr>
            <p:spPr>
              <a:xfrm>
                <a:off x="219974" y="1283821"/>
                <a:ext cx="8704052" cy="403431"/>
              </a:xfrm>
              <a:prstGeom prst="round2SameRect">
                <a:avLst>
                  <a:gd name="adj1" fmla="val 20076"/>
                  <a:gd name="adj2" fmla="val 0"/>
                </a:avLst>
              </a:prstGeom>
              <a:solidFill>
                <a:srgbClr val="E3A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29" name="矩形 28"/>
            <p:cNvSpPr/>
            <p:nvPr/>
          </p:nvSpPr>
          <p:spPr>
            <a:xfrm>
              <a:off x="319176" y="2000284"/>
              <a:ext cx="4571999" cy="432620"/>
            </a:xfrm>
            <a:prstGeom prst="rect">
              <a:avLst/>
            </a:prstGeom>
          </p:spPr>
          <p:txBody>
            <a:bodyPr>
              <a:spAutoFit/>
            </a:bodyPr>
            <a:lstStyle/>
            <a:p>
              <a:r>
                <a:rPr lang="zh-CN" altLang="en-US" sz="2000" dirty="0">
                  <a:solidFill>
                    <a:srgbClr val="FFFFFF"/>
                  </a:solidFill>
                  <a:latin typeface="MicrosoftYaHei"/>
                </a:rPr>
                <a:t>说明</a:t>
              </a:r>
              <a:endParaRPr lang="zh-CN" altLang="en-US" sz="2000" dirty="0"/>
            </a:p>
          </p:txBody>
        </p:sp>
      </p:grpSp>
      <p:sp>
        <p:nvSpPr>
          <p:cNvPr id="32" name="矩形 31"/>
          <p:cNvSpPr/>
          <p:nvPr/>
        </p:nvSpPr>
        <p:spPr>
          <a:xfrm>
            <a:off x="8962714" y="4586310"/>
            <a:ext cx="2545171" cy="2031325"/>
          </a:xfrm>
          <a:prstGeom prst="rect">
            <a:avLst/>
          </a:prstGeom>
        </p:spPr>
        <p:txBody>
          <a:bodyPr wrap="square">
            <a:spAutoFit/>
          </a:bodyPr>
          <a:lstStyle/>
          <a:p>
            <a:pPr marL="285750" indent="-285750" algn="just">
              <a:buClr>
                <a:srgbClr val="262686"/>
              </a:buClr>
              <a:buSzPct val="60000"/>
              <a:buFont typeface="Wingdings" panose="05000000000000000000" pitchFamily="2" charset="2"/>
              <a:buChar char="l"/>
            </a:pPr>
            <a:r>
              <a:rPr lang="zh-CN" altLang="en-US" dirty="0">
                <a:solidFill>
                  <a:srgbClr val="000000"/>
                </a:solidFill>
                <a:latin typeface="MicrosoftYaHei"/>
              </a:rPr>
              <a:t>待查找元素存在，返回该元素位置的迭代器</a:t>
            </a:r>
            <a:r>
              <a:rPr lang="en-US" altLang="zh-CN" dirty="0">
                <a:solidFill>
                  <a:srgbClr val="000000"/>
                </a:solidFill>
                <a:latin typeface="MicrosoftYaHei"/>
              </a:rPr>
              <a:t>;</a:t>
            </a:r>
            <a:r>
              <a:rPr lang="zh-CN" altLang="en-US" dirty="0">
                <a:solidFill>
                  <a:srgbClr val="000000"/>
                </a:solidFill>
                <a:latin typeface="MicrosoftYaHei"/>
              </a:rPr>
              <a:t>否则返回尾后迭代器</a:t>
            </a:r>
            <a:endParaRPr lang="en-US" altLang="zh-CN" dirty="0">
              <a:solidFill>
                <a:srgbClr val="000000"/>
              </a:solidFill>
              <a:latin typeface="MicrosoftYaHei"/>
            </a:endParaRPr>
          </a:p>
          <a:p>
            <a:pPr marL="285750" indent="-285750" algn="just">
              <a:buClr>
                <a:srgbClr val="262686"/>
              </a:buClr>
              <a:buSzPct val="60000"/>
              <a:buFont typeface="Wingdings" panose="05000000000000000000" pitchFamily="2" charset="2"/>
              <a:buChar char="l"/>
            </a:pPr>
            <a:r>
              <a:rPr lang="en-US" altLang="zh-CN" dirty="0">
                <a:solidFill>
                  <a:srgbClr val="000000"/>
                </a:solidFill>
                <a:latin typeface="MicrosoftYaHei"/>
              </a:rPr>
              <a:t>erase </a:t>
            </a:r>
            <a:r>
              <a:rPr lang="zh-CN" altLang="en-US" dirty="0">
                <a:solidFill>
                  <a:srgbClr val="000000"/>
                </a:solidFill>
                <a:latin typeface="MicrosoftYaHei"/>
              </a:rPr>
              <a:t>成员的迭代器范围为左闭合区间</a:t>
            </a:r>
            <a:endParaRPr lang="en-US" altLang="zh-CN" dirty="0">
              <a:solidFill>
                <a:srgbClr val="000000"/>
              </a:solidFill>
              <a:latin typeface="MicrosoftYaHei"/>
            </a:endParaRPr>
          </a:p>
          <a:p>
            <a:pPr marL="285750" indent="-285750" algn="just">
              <a:buClr>
                <a:srgbClr val="262686"/>
              </a:buClr>
              <a:buSzPct val="60000"/>
              <a:buFont typeface="Wingdings" panose="05000000000000000000" pitchFamily="2" charset="2"/>
              <a:buChar char="l"/>
            </a:pPr>
            <a:endParaRPr lang="en-US" altLang="zh-CN" dirty="0">
              <a:solidFill>
                <a:srgbClr val="000000"/>
              </a:solidFill>
              <a:latin typeface="MicrosoftYaHei"/>
            </a:endParaRPr>
          </a:p>
        </p:txBody>
      </p:sp>
      <p:sp>
        <p:nvSpPr>
          <p:cNvPr id="39" name="文本框 38"/>
          <p:cNvSpPr txBox="1"/>
          <p:nvPr/>
        </p:nvSpPr>
        <p:spPr>
          <a:xfrm>
            <a:off x="3300078" y="2192316"/>
            <a:ext cx="6096000" cy="338554"/>
          </a:xfrm>
          <a:prstGeom prst="rect">
            <a:avLst/>
          </a:prstGeom>
          <a:noFill/>
        </p:spPr>
        <p:txBody>
          <a:bodyPr wrap="square">
            <a:spAutoFit/>
          </a:bodyPr>
          <a:lstStyle/>
          <a:p>
            <a:r>
              <a:rPr lang="en-US" altLang="zh-CN" sz="1600" b="1" dirty="0">
                <a:solidFill>
                  <a:srgbClr val="008000"/>
                </a:solidFill>
                <a:latin typeface="Consolas" panose="020B0609020204030204" pitchFamily="49" charset="0"/>
              </a:rPr>
              <a:t>//y</a:t>
            </a:r>
            <a:r>
              <a:rPr lang="zh-CN" altLang="en-US" sz="1600" b="1" dirty="0">
                <a:solidFill>
                  <a:srgbClr val="008000"/>
                </a:solidFill>
                <a:latin typeface="Consolas" panose="020B0609020204030204" pitchFamily="49" charset="0"/>
              </a:rPr>
              <a:t>小于</a:t>
            </a:r>
            <a:r>
              <a:rPr lang="en-US" altLang="zh-CN" sz="1600" b="1" dirty="0">
                <a:solidFill>
                  <a:srgbClr val="008000"/>
                </a:solidFill>
                <a:latin typeface="Consolas" panose="020B0609020204030204" pitchFamily="49" charset="0"/>
              </a:rPr>
              <a:t>x</a:t>
            </a:r>
            <a:r>
              <a:rPr lang="zh-CN" altLang="en-US" sz="1600" b="1" dirty="0">
                <a:solidFill>
                  <a:srgbClr val="008000"/>
                </a:solidFill>
                <a:latin typeface="Consolas" panose="020B0609020204030204" pitchFamily="49" charset="0"/>
              </a:rPr>
              <a:t>和</a:t>
            </a:r>
            <a:r>
              <a:rPr lang="en-US" altLang="zh-CN" sz="1600" b="1" dirty="0">
                <a:solidFill>
                  <a:srgbClr val="008000"/>
                </a:solidFill>
                <a:latin typeface="Consolas" panose="020B0609020204030204" pitchFamily="49" charset="0"/>
              </a:rPr>
              <a:t>x</a:t>
            </a:r>
            <a:r>
              <a:rPr lang="zh-CN" altLang="en-US" sz="1600" b="1" dirty="0">
                <a:solidFill>
                  <a:srgbClr val="008000"/>
                </a:solidFill>
                <a:latin typeface="Consolas" panose="020B0609020204030204" pitchFamily="49" charset="0"/>
              </a:rPr>
              <a:t>小于</a:t>
            </a:r>
            <a:r>
              <a:rPr lang="en-US" altLang="zh-CN" sz="1600" b="1" dirty="0">
                <a:solidFill>
                  <a:srgbClr val="008000"/>
                </a:solidFill>
                <a:latin typeface="Consolas" panose="020B0609020204030204" pitchFamily="49" charset="0"/>
              </a:rPr>
              <a:t>y</a:t>
            </a:r>
            <a:r>
              <a:rPr lang="zh-CN" altLang="en-US" sz="1600" b="1" dirty="0">
                <a:solidFill>
                  <a:srgbClr val="008000"/>
                </a:solidFill>
                <a:latin typeface="Consolas" panose="020B0609020204030204" pitchFamily="49" charset="0"/>
              </a:rPr>
              <a:t>同时不成立即为相等</a:t>
            </a:r>
            <a:endParaRPr lang="zh-CN" altLang="en-US" b="1"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a:t>
            </a:r>
            <a:r>
              <a:rPr kumimoji="0" lang="zh-CN" altLang="en-US" sz="2800" dirty="0">
                <a:solidFill>
                  <a:srgbClr val="006600"/>
                </a:solidFill>
                <a:ea typeface="隶书" panose="02010509060101010101" pitchFamily="49" charset="-122"/>
              </a:rPr>
              <a:t>使用 </a:t>
            </a:r>
            <a:r>
              <a:rPr kumimoji="0" lang="en-US" altLang="zh-CN" sz="2800" dirty="0">
                <a:solidFill>
                  <a:srgbClr val="006600"/>
                </a:solidFill>
                <a:ea typeface="隶书" panose="02010509060101010101" pitchFamily="49" charset="-122"/>
              </a:rPr>
              <a:t>set</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8" name="图片 7"/>
          <p:cNvPicPr>
            <a:picLocks noChangeAspect="1"/>
          </p:cNvPicPr>
          <p:nvPr/>
        </p:nvPicPr>
        <p:blipFill>
          <a:blip r:embed="rId1"/>
          <a:stretch>
            <a:fillRect/>
          </a:stretch>
        </p:blipFill>
        <p:spPr>
          <a:xfrm>
            <a:off x="3153225" y="2534649"/>
            <a:ext cx="484497" cy="281684"/>
          </a:xfrm>
          <a:prstGeom prst="rect">
            <a:avLst/>
          </a:prstGeom>
        </p:spPr>
      </p:pic>
      <p:pic>
        <p:nvPicPr>
          <p:cNvPr id="11" name="图片 10"/>
          <p:cNvPicPr>
            <a:picLocks noChangeAspect="1"/>
          </p:cNvPicPr>
          <p:nvPr/>
        </p:nvPicPr>
        <p:blipFill>
          <a:blip r:embed="rId2"/>
          <a:stretch>
            <a:fillRect/>
          </a:stretch>
        </p:blipFill>
        <p:spPr>
          <a:xfrm>
            <a:off x="10840128" y="5214869"/>
            <a:ext cx="450873" cy="749339"/>
          </a:xfrm>
          <a:prstGeom prst="rect">
            <a:avLst/>
          </a:prstGeom>
        </p:spPr>
      </p:pic>
      <p:pic>
        <p:nvPicPr>
          <p:cNvPr id="10" name="图片 9"/>
          <p:cNvPicPr>
            <a:picLocks noChangeAspect="1"/>
          </p:cNvPicPr>
          <p:nvPr/>
        </p:nvPicPr>
        <p:blipFill>
          <a:blip r:embed="rId3"/>
          <a:stretch>
            <a:fillRect/>
          </a:stretch>
        </p:blipFill>
        <p:spPr>
          <a:xfrm>
            <a:off x="9733291" y="4360587"/>
            <a:ext cx="438173" cy="196860"/>
          </a:xfrm>
          <a:prstGeom prst="rect">
            <a:avLst/>
          </a:prstGeom>
        </p:spPr>
      </p:pic>
      <p:pic>
        <p:nvPicPr>
          <p:cNvPr id="14" name="图片 13"/>
          <p:cNvPicPr>
            <a:picLocks noChangeAspect="1"/>
          </p:cNvPicPr>
          <p:nvPr/>
        </p:nvPicPr>
        <p:blipFill>
          <a:blip r:embed="rId3"/>
          <a:stretch>
            <a:fillRect/>
          </a:stretch>
        </p:blipFill>
        <p:spPr>
          <a:xfrm>
            <a:off x="10227363" y="4507752"/>
            <a:ext cx="438173" cy="825612"/>
          </a:xfrm>
          <a:prstGeom prst="rect">
            <a:avLst/>
          </a:prstGeom>
        </p:spPr>
      </p:pic>
      <p:pic>
        <p:nvPicPr>
          <p:cNvPr id="17" name="图片 16"/>
          <p:cNvPicPr>
            <a:picLocks noChangeAspect="1"/>
          </p:cNvPicPr>
          <p:nvPr/>
        </p:nvPicPr>
        <p:blipFill>
          <a:blip r:embed="rId4"/>
          <a:stretch>
            <a:fillRect/>
          </a:stretch>
        </p:blipFill>
        <p:spPr>
          <a:xfrm>
            <a:off x="11693518" y="500239"/>
            <a:ext cx="498481" cy="1023908"/>
          </a:xfrm>
          <a:prstGeom prst="rect">
            <a:avLst/>
          </a:prstGeom>
        </p:spPr>
      </p:pic>
      <p:sp>
        <p:nvSpPr>
          <p:cNvPr id="13" name="文本框 12"/>
          <p:cNvSpPr txBox="1"/>
          <p:nvPr/>
        </p:nvSpPr>
        <p:spPr>
          <a:xfrm>
            <a:off x="1269723" y="1209237"/>
            <a:ext cx="9275693" cy="861774"/>
          </a:xfrm>
          <a:prstGeom prst="rect">
            <a:avLst/>
          </a:prstGeom>
          <a:noFill/>
        </p:spPr>
        <p:txBody>
          <a:bodyPr wrap="square">
            <a:spAutoFit/>
          </a:bodyPr>
          <a:lstStyle/>
          <a:p>
            <a:pPr>
              <a:spcBef>
                <a:spcPct val="50000"/>
              </a:spcBef>
            </a:pPr>
            <a:r>
              <a:rPr kumimoji="0" lang="zh-CN" altLang="en-US" sz="2000" b="1" dirty="0">
                <a:solidFill>
                  <a:srgbClr val="00B050"/>
                </a:solidFill>
                <a:latin typeface="MicrosoftYaHei"/>
              </a:rPr>
              <a:t>例：</a:t>
            </a:r>
            <a:r>
              <a:rPr lang="zh-CN" altLang="en-US" sz="2000" b="1" dirty="0"/>
              <a:t>统计输入的一组数字中不同数字的个数，并将它们排序输出 </a:t>
            </a:r>
            <a:endParaRPr lang="zh-CN" altLang="en-US" sz="2000" b="1" dirty="0"/>
          </a:p>
          <a:p>
            <a:pPr>
              <a:spcBef>
                <a:spcPct val="50000"/>
              </a:spcBef>
            </a:pPr>
            <a:endParaRPr kumimoji="0" lang="zh-CN" altLang="en-US" sz="2000" b="1" dirty="0">
              <a:latin typeface="宋体" panose="02010600030101010101" pitchFamily="2" charset="-122"/>
            </a:endParaRPr>
          </a:p>
        </p:txBody>
      </p:sp>
      <p:sp>
        <p:nvSpPr>
          <p:cNvPr id="15" name="文本框 14"/>
          <p:cNvSpPr txBox="1"/>
          <p:nvPr/>
        </p:nvSpPr>
        <p:spPr>
          <a:xfrm>
            <a:off x="1189529" y="1901373"/>
            <a:ext cx="7843634" cy="2554545"/>
          </a:xfrm>
          <a:prstGeom prst="rect">
            <a:avLst/>
          </a:prstGeom>
          <a:noFill/>
        </p:spPr>
        <p:txBody>
          <a:bodyPr wrap="square">
            <a:spAutoFit/>
          </a:bodyPr>
          <a:lstStyle/>
          <a:p>
            <a:r>
              <a:rPr lang="en-US" altLang="zh-CN" sz="2000" dirty="0">
                <a:solidFill>
                  <a:srgbClr val="000000"/>
                </a:solidFill>
                <a:latin typeface="Consolas" panose="020B0609020204030204" pitchFamily="49" charset="0"/>
              </a:rPr>
              <a:t>set&lt;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counter;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创建一个关键字类型为</a:t>
            </a:r>
            <a:r>
              <a:rPr lang="en-US" altLang="zh-CN" sz="2000" dirty="0">
                <a:solidFill>
                  <a:srgbClr val="008000"/>
                </a:solidFill>
                <a:latin typeface="Consolas" panose="020B0609020204030204" pitchFamily="49" charset="0"/>
              </a:rPr>
              <a:t>int</a:t>
            </a:r>
            <a:r>
              <a:rPr lang="zh-CN" altLang="en-US" sz="2000" dirty="0">
                <a:solidFill>
                  <a:srgbClr val="008000"/>
                </a:solidFill>
                <a:latin typeface="Consolas" panose="020B0609020204030204" pitchFamily="49" charset="0"/>
              </a:rPr>
              <a:t>的空</a:t>
            </a:r>
            <a:r>
              <a:rPr lang="en-US" altLang="zh-CN" sz="2000" dirty="0">
                <a:solidFill>
                  <a:srgbClr val="008000"/>
                </a:solidFill>
                <a:latin typeface="Consolas" panose="020B0609020204030204" pitchFamily="49" charset="0"/>
              </a:rPr>
              <a:t>set</a:t>
            </a:r>
            <a:r>
              <a:rPr lang="zh-CN" altLang="en-US" sz="2000" dirty="0">
                <a:solidFill>
                  <a:srgbClr val="008000"/>
                </a:solidFill>
                <a:latin typeface="Consolas" panose="020B0609020204030204" pitchFamily="49" charset="0"/>
              </a:rPr>
              <a:t>对象</a:t>
            </a:r>
            <a:endParaRPr lang="zh-CN" altLang="en-US" sz="2000" dirty="0">
              <a:solidFill>
                <a:srgbClr val="000000"/>
              </a:solidFill>
              <a:latin typeface="Consolas" panose="020B0609020204030204" pitchFamily="49" charset="0"/>
            </a:endParaRPr>
          </a:p>
          <a:p>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 number;</a:t>
            </a:r>
            <a:endParaRPr lang="en-US" altLang="zh-CN" sz="2000" dirty="0">
              <a:solidFill>
                <a:srgbClr val="000000"/>
              </a:solidFill>
              <a:latin typeface="Consolas" panose="020B0609020204030204" pitchFamily="49" charset="0"/>
            </a:endParaRPr>
          </a:p>
          <a:p>
            <a:r>
              <a:rPr lang="en-US" altLang="zh-CN" sz="2000" dirty="0">
                <a:solidFill>
                  <a:srgbClr val="AF00DB"/>
                </a:solidFill>
                <a:latin typeface="Consolas" panose="020B0609020204030204" pitchFamily="49" charset="0"/>
              </a:rPr>
              <a:t>while</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cin</a:t>
            </a:r>
            <a:r>
              <a:rPr lang="en-US" altLang="zh-CN" sz="2000" dirty="0">
                <a:solidFill>
                  <a:srgbClr val="000000"/>
                </a:solidFill>
                <a:latin typeface="Consolas" panose="020B0609020204030204" pitchFamily="49" charset="0"/>
              </a:rPr>
              <a:t>&gt;&gt;number)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输入数字</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counter.</a:t>
            </a:r>
            <a:r>
              <a:rPr lang="en-US" altLang="zh-CN" sz="2000" dirty="0" err="1">
                <a:solidFill>
                  <a:srgbClr val="795E26"/>
                </a:solidFill>
                <a:latin typeface="Consolas" panose="020B0609020204030204" pitchFamily="49" charset="0"/>
              </a:rPr>
              <a:t>insert</a:t>
            </a:r>
            <a:r>
              <a:rPr lang="en-US" altLang="zh-CN" sz="2000" dirty="0">
                <a:solidFill>
                  <a:srgbClr val="000000"/>
                </a:solidFill>
                <a:latin typeface="Consolas" panose="020B0609020204030204" pitchFamily="49" charset="0"/>
              </a:rPr>
              <a:t>(number);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将输入的数字插入到</a:t>
            </a:r>
            <a:r>
              <a:rPr lang="en-US" altLang="zh-CN" sz="2000" dirty="0">
                <a:solidFill>
                  <a:srgbClr val="008000"/>
                </a:solidFill>
                <a:latin typeface="Consolas" panose="020B0609020204030204" pitchFamily="49" charset="0"/>
              </a:rPr>
              <a:t>set</a:t>
            </a:r>
            <a:r>
              <a:rPr lang="zh-CN" altLang="en-US" sz="2000" dirty="0">
                <a:solidFill>
                  <a:srgbClr val="008000"/>
                </a:solidFill>
                <a:latin typeface="Consolas" panose="020B0609020204030204" pitchFamily="49" charset="0"/>
              </a:rPr>
              <a:t>中</a:t>
            </a:r>
            <a:endParaRPr lang="zh-CN" altLang="en-US" sz="2000" dirty="0">
              <a:solidFill>
                <a:srgbClr val="000000"/>
              </a:solidFill>
              <a:latin typeface="Consolas" panose="020B0609020204030204" pitchFamily="49" charset="0"/>
            </a:endParaRPr>
          </a:p>
          <a:p>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a:t>
            </a:r>
            <a:r>
              <a:rPr lang="en-US" altLang="zh-CN" sz="2000" dirty="0">
                <a:solidFill>
                  <a:srgbClr val="A31515"/>
                </a:solidFill>
                <a:latin typeface="Consolas" panose="020B0609020204030204" pitchFamily="49" charset="0"/>
              </a:rPr>
              <a:t>"</a:t>
            </a:r>
            <a:r>
              <a:rPr lang="zh-CN" altLang="en-US" sz="2000" dirty="0">
                <a:solidFill>
                  <a:srgbClr val="A31515"/>
                </a:solidFill>
                <a:latin typeface="Consolas" panose="020B0609020204030204" pitchFamily="49" charset="0"/>
              </a:rPr>
              <a:t>不同的数字的个数：</a:t>
            </a:r>
            <a:r>
              <a:rPr lang="en-US" altLang="zh-CN" sz="2000" dirty="0">
                <a:solidFill>
                  <a:srgbClr val="A31515"/>
                </a:solidFill>
                <a:latin typeface="Consolas" panose="020B0609020204030204" pitchFamily="49" charset="0"/>
              </a:rPr>
              <a:t>"</a:t>
            </a:r>
            <a:r>
              <a:rPr lang="zh-CN" altLang="en-US" sz="2000" dirty="0">
                <a:solidFill>
                  <a:srgbClr val="000000"/>
                </a:solidFill>
                <a:latin typeface="Consolas" panose="020B0609020204030204" pitchFamily="49" charset="0"/>
              </a:rPr>
              <a:t> </a:t>
            </a:r>
            <a:r>
              <a:rPr lang="en-US" altLang="zh-CN" sz="2000" dirty="0">
                <a:solidFill>
                  <a:srgbClr val="000000"/>
                </a:solidFill>
                <a:latin typeface="Consolas" panose="020B0609020204030204" pitchFamily="49" charset="0"/>
              </a:rPr>
              <a:t>&lt;&lt; </a:t>
            </a:r>
            <a:r>
              <a:rPr lang="en-US" altLang="zh-CN" sz="2000" dirty="0" err="1">
                <a:solidFill>
                  <a:srgbClr val="000000"/>
                </a:solidFill>
                <a:latin typeface="Consolas" panose="020B0609020204030204" pitchFamily="49" charset="0"/>
              </a:rPr>
              <a:t>counter.</a:t>
            </a:r>
            <a:r>
              <a:rPr lang="en-US" altLang="zh-CN" sz="2000" dirty="0" err="1">
                <a:solidFill>
                  <a:srgbClr val="795E26"/>
                </a:solidFill>
                <a:latin typeface="Consolas" panose="020B0609020204030204" pitchFamily="49" charset="0"/>
              </a:rPr>
              <a:t>size</a:t>
            </a:r>
            <a:r>
              <a:rPr lang="en-US" altLang="zh-CN" sz="2000" dirty="0">
                <a:solidFill>
                  <a:srgbClr val="000000"/>
                </a:solidFill>
                <a:latin typeface="Consolas" panose="020B0609020204030204" pitchFamily="49" charset="0"/>
              </a:rPr>
              <a:t>() &lt;&lt; </a:t>
            </a:r>
            <a:r>
              <a:rPr lang="en-US" altLang="zh-CN" sz="2000" dirty="0" err="1">
                <a:solidFill>
                  <a:srgbClr val="000000"/>
                </a:solidFill>
                <a:latin typeface="Consolas" panose="020B0609020204030204" pitchFamily="49" charset="0"/>
              </a:rPr>
              <a:t>endl</a:t>
            </a:r>
            <a:r>
              <a:rPr lang="en-US" altLang="zh-CN" sz="2000" dirty="0">
                <a:solidFill>
                  <a:srgbClr val="000000"/>
                </a:solidFill>
                <a:latin typeface="Consolas" panose="020B0609020204030204" pitchFamily="49" charset="0"/>
              </a:rPr>
              <a:t>;</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获取元素个数</a:t>
            </a:r>
            <a:endParaRPr lang="zh-CN" altLang="en-US" sz="2000" dirty="0">
              <a:solidFill>
                <a:srgbClr val="000000"/>
              </a:solidFill>
              <a:latin typeface="Consolas" panose="020B0609020204030204" pitchFamily="49" charset="0"/>
            </a:endParaRPr>
          </a:p>
          <a:p>
            <a:r>
              <a:rPr lang="en-US" altLang="zh-CN" sz="2000" dirty="0">
                <a:solidFill>
                  <a:srgbClr val="AF00DB"/>
                </a:solidFill>
                <a:latin typeface="Consolas" panose="020B0609020204030204" pitchFamily="49" charset="0"/>
              </a:rPr>
              <a:t>for</a:t>
            </a:r>
            <a:r>
              <a:rPr lang="en-US" altLang="zh-CN" sz="2000" dirty="0">
                <a:solidFill>
                  <a:srgbClr val="000000"/>
                </a:solidFill>
                <a:latin typeface="Consolas" panose="020B0609020204030204" pitchFamily="49" charset="0"/>
              </a:rPr>
              <a:t> (</a:t>
            </a:r>
            <a:r>
              <a:rPr lang="en-US" altLang="zh-CN" sz="2000" dirty="0">
                <a:solidFill>
                  <a:srgbClr val="0000FF"/>
                </a:solidFill>
                <a:latin typeface="Consolas" panose="020B0609020204030204" pitchFamily="49" charset="0"/>
              </a:rPr>
              <a:t>auto</a:t>
            </a:r>
            <a:r>
              <a:rPr lang="en-US" altLang="zh-CN" sz="2000" dirty="0">
                <a:solidFill>
                  <a:srgbClr val="000000"/>
                </a:solidFill>
                <a:latin typeface="Consolas" panose="020B0609020204030204" pitchFamily="49" charset="0"/>
              </a:rPr>
              <a:t> &amp;</a:t>
            </a:r>
            <a:r>
              <a:rPr lang="en-US" altLang="zh-CN" sz="2000" dirty="0" err="1">
                <a:solidFill>
                  <a:srgbClr val="000000"/>
                </a:solidFill>
                <a:latin typeface="Consolas" panose="020B0609020204030204" pitchFamily="49" charset="0"/>
              </a:rPr>
              <a:t>i</a:t>
            </a:r>
            <a:r>
              <a:rPr lang="en-US" altLang="zh-CN" sz="2000" dirty="0">
                <a:solidFill>
                  <a:srgbClr val="000000"/>
                </a:solidFill>
                <a:latin typeface="Consolas" panose="020B0609020204030204" pitchFamily="49" charset="0"/>
              </a:rPr>
              <a:t> : counter)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遍历每个元素</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a:t>
            </a:r>
            <a:r>
              <a:rPr lang="en-US" altLang="zh-CN" sz="2000" dirty="0" err="1">
                <a:solidFill>
                  <a:srgbClr val="000000"/>
                </a:solidFill>
                <a:latin typeface="Consolas" panose="020B0609020204030204" pitchFamily="49" charset="0"/>
              </a:rPr>
              <a:t>i</a:t>
            </a:r>
            <a:r>
              <a:rPr lang="en-US" altLang="zh-CN" sz="2000" dirty="0">
                <a:solidFill>
                  <a:srgbClr val="000000"/>
                </a:solidFill>
                <a:latin typeface="Consolas" panose="020B0609020204030204" pitchFamily="49" charset="0"/>
              </a:rPr>
              <a:t> &lt;&lt; </a:t>
            </a:r>
            <a:r>
              <a:rPr lang="en-US" altLang="zh-CN" sz="2000" dirty="0">
                <a:solidFill>
                  <a:srgbClr val="A31515"/>
                </a:solidFill>
                <a:latin typeface="Consolas" panose="020B0609020204030204" pitchFamily="49" charset="0"/>
              </a:rPr>
              <a:t>" "</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输出每个元素</a:t>
            </a:r>
            <a:endParaRPr lang="zh-CN" altLang="en-US" sz="2000" dirty="0"/>
          </a:p>
        </p:txBody>
      </p:sp>
      <p:grpSp>
        <p:nvGrpSpPr>
          <p:cNvPr id="16" name="组合 15"/>
          <p:cNvGrpSpPr/>
          <p:nvPr/>
        </p:nvGrpSpPr>
        <p:grpSpPr>
          <a:xfrm>
            <a:off x="8842493" y="3224088"/>
            <a:ext cx="2385560" cy="1550168"/>
            <a:chOff x="219974" y="2000284"/>
            <a:chExt cx="8704052" cy="2050191"/>
          </a:xfrm>
        </p:grpSpPr>
        <p:grpSp>
          <p:nvGrpSpPr>
            <p:cNvPr id="19" name="组合 18"/>
            <p:cNvGrpSpPr/>
            <p:nvPr/>
          </p:nvGrpSpPr>
          <p:grpSpPr>
            <a:xfrm>
              <a:off x="219974" y="2014515"/>
              <a:ext cx="8704052" cy="2035960"/>
              <a:chOff x="219974" y="1283821"/>
              <a:chExt cx="8704052" cy="1898595"/>
            </a:xfrm>
            <a:effectLst>
              <a:outerShdw blurRad="50800" dist="69850" dir="2700000" algn="tl" rotWithShape="0">
                <a:prstClr val="black">
                  <a:alpha val="40000"/>
                </a:prstClr>
              </a:outerShdw>
            </a:effectLst>
          </p:grpSpPr>
          <p:sp>
            <p:nvSpPr>
              <p:cNvPr id="21" name="矩形: 圆角 20"/>
              <p:cNvSpPr/>
              <p:nvPr/>
            </p:nvSpPr>
            <p:spPr>
              <a:xfrm>
                <a:off x="219974" y="1604512"/>
                <a:ext cx="8704052" cy="1577904"/>
              </a:xfrm>
              <a:prstGeom prst="roundRect">
                <a:avLst>
                  <a:gd name="adj" fmla="val 7211"/>
                </a:avLst>
              </a:prstGeom>
              <a:solidFill>
                <a:srgbClr val="FCF6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2" name="矩形: 圆顶角 21"/>
              <p:cNvSpPr/>
              <p:nvPr/>
            </p:nvSpPr>
            <p:spPr>
              <a:xfrm>
                <a:off x="219974" y="1283821"/>
                <a:ext cx="8704052" cy="441522"/>
              </a:xfrm>
              <a:prstGeom prst="round2SameRect">
                <a:avLst>
                  <a:gd name="adj1" fmla="val 20076"/>
                  <a:gd name="adj2" fmla="val 0"/>
                </a:avLst>
              </a:prstGeom>
              <a:solidFill>
                <a:srgbClr val="E3A8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19"/>
            <p:cNvSpPr/>
            <p:nvPr/>
          </p:nvSpPr>
          <p:spPr>
            <a:xfrm>
              <a:off x="319177" y="2000284"/>
              <a:ext cx="4571999" cy="615214"/>
            </a:xfrm>
            <a:prstGeom prst="rect">
              <a:avLst/>
            </a:prstGeom>
          </p:spPr>
          <p:txBody>
            <a:bodyPr>
              <a:spAutoFit/>
            </a:bodyPr>
            <a:lstStyle/>
            <a:p>
              <a:r>
                <a:rPr lang="zh-CN" altLang="en-US" sz="2000" dirty="0">
                  <a:solidFill>
                    <a:srgbClr val="FFFFFF"/>
                  </a:solidFill>
                  <a:latin typeface="MicrosoftYaHei"/>
                </a:rPr>
                <a:t>说明</a:t>
              </a:r>
              <a:endParaRPr lang="zh-CN" altLang="en-US" sz="2000" dirty="0"/>
            </a:p>
          </p:txBody>
        </p:sp>
      </p:grpSp>
      <p:sp>
        <p:nvSpPr>
          <p:cNvPr id="23" name="矩形 22"/>
          <p:cNvSpPr/>
          <p:nvPr/>
        </p:nvSpPr>
        <p:spPr>
          <a:xfrm>
            <a:off x="8855269" y="3573927"/>
            <a:ext cx="2359379" cy="1200329"/>
          </a:xfrm>
          <a:prstGeom prst="rect">
            <a:avLst/>
          </a:prstGeom>
        </p:spPr>
        <p:txBody>
          <a:bodyPr wrap="square">
            <a:spAutoFit/>
          </a:bodyPr>
          <a:lstStyle/>
          <a:p>
            <a:pPr marL="171450" indent="-171450">
              <a:buClr>
                <a:srgbClr val="262686"/>
              </a:buClr>
              <a:buSzPct val="60000"/>
              <a:buFont typeface="Wingdings" panose="05000000000000000000" pitchFamily="2" charset="2"/>
              <a:buChar char="l"/>
            </a:pPr>
            <a:r>
              <a:rPr lang="zh-CN" altLang="en-US" dirty="0"/>
              <a:t>向 </a:t>
            </a:r>
            <a:r>
              <a:rPr lang="en-US" altLang="zh-CN" dirty="0"/>
              <a:t>set </a:t>
            </a:r>
            <a:r>
              <a:rPr lang="zh-CN" altLang="en-US" dirty="0"/>
              <a:t>插入元素时，如果已存在，将其丢弃；否则按序将其插入</a:t>
            </a:r>
            <a:endParaRPr lang="en-US" altLang="zh-CN" dirty="0"/>
          </a:p>
        </p:txBody>
      </p:sp>
      <p:sp>
        <p:nvSpPr>
          <p:cNvPr id="24" name="文本框 23"/>
          <p:cNvSpPr txBox="1"/>
          <p:nvPr/>
        </p:nvSpPr>
        <p:spPr>
          <a:xfrm>
            <a:off x="1269723" y="4626853"/>
            <a:ext cx="7763440" cy="1200329"/>
          </a:xfrm>
          <a:prstGeom prst="rect">
            <a:avLst/>
          </a:prstGeom>
          <a:noFill/>
        </p:spPr>
        <p:txBody>
          <a:bodyPr wrap="square">
            <a:spAutoFit/>
          </a:bodyPr>
          <a:lstStyle/>
          <a:p>
            <a:pPr marL="171450" indent="-171450">
              <a:buClr>
                <a:srgbClr val="262686"/>
              </a:buClr>
              <a:buSzPct val="60000"/>
              <a:buFont typeface="Wingdings" panose="05000000000000000000" pitchFamily="2" charset="2"/>
              <a:buChar char="l"/>
            </a:pPr>
            <a:r>
              <a:rPr lang="zh-CN" altLang="en-US" sz="1800" b="1" dirty="0"/>
              <a:t>输入：</a:t>
            </a:r>
            <a:r>
              <a:rPr lang="en-US" altLang="zh-CN" sz="1800" b="1" dirty="0"/>
              <a:t>1 8 4 2 0 1 4 3 5 4</a:t>
            </a:r>
            <a:r>
              <a:rPr lang="zh-CN" altLang="en-US" sz="1800" b="1" dirty="0"/>
              <a:t>，</a:t>
            </a:r>
            <a:endParaRPr lang="en-US" altLang="zh-CN" sz="1800" b="1" dirty="0"/>
          </a:p>
          <a:p>
            <a:pPr marL="171450" indent="-171450">
              <a:buClr>
                <a:srgbClr val="262686"/>
              </a:buClr>
              <a:buSzPct val="60000"/>
              <a:buFont typeface="Wingdings" panose="05000000000000000000" pitchFamily="2" charset="2"/>
              <a:buChar char="l"/>
            </a:pPr>
            <a:r>
              <a:rPr lang="zh-CN" altLang="en-US" sz="1800" b="1" dirty="0"/>
              <a:t>输出：不同数字个数：</a:t>
            </a:r>
            <a:r>
              <a:rPr lang="en-US" altLang="zh-CN" sz="1800" b="1" dirty="0"/>
              <a:t>7</a:t>
            </a:r>
            <a:endParaRPr lang="en-US" altLang="zh-CN" sz="1800" b="1" dirty="0"/>
          </a:p>
          <a:p>
            <a:pPr>
              <a:buClr>
                <a:srgbClr val="262686"/>
              </a:buClr>
              <a:buSzPct val="60000"/>
            </a:pPr>
            <a:r>
              <a:rPr lang="en-US" altLang="zh-CN" sz="1800" b="1" dirty="0"/>
              <a:t>0 1 2 3 4 5 8                        </a:t>
            </a:r>
            <a:r>
              <a:rPr lang="en-US" altLang="zh-CN" sz="1600" dirty="0">
                <a:solidFill>
                  <a:srgbClr val="008000"/>
                </a:solidFill>
                <a:latin typeface="Consolas" panose="020B0609020204030204" pitchFamily="49" charset="0"/>
              </a:rPr>
              <a:t>//</a:t>
            </a:r>
            <a:r>
              <a:rPr lang="en-US" altLang="zh-CN" sz="1600" b="1" dirty="0"/>
              <a:t> </a:t>
            </a:r>
            <a:r>
              <a:rPr lang="zh-CN" altLang="en-US" sz="1600" dirty="0">
                <a:solidFill>
                  <a:srgbClr val="008000"/>
                </a:solidFill>
                <a:latin typeface="Consolas" panose="020B0609020204030204" pitchFamily="49" charset="0"/>
              </a:rPr>
              <a:t>重复元素被排除</a:t>
            </a:r>
            <a:r>
              <a:rPr lang="zh-CN" altLang="en-US" sz="1600" dirty="0"/>
              <a:t>，</a:t>
            </a:r>
            <a:r>
              <a:rPr lang="zh-CN" altLang="en-US" sz="1600" dirty="0">
                <a:solidFill>
                  <a:srgbClr val="008000"/>
                </a:solidFill>
                <a:latin typeface="Consolas" panose="020B0609020204030204" pitchFamily="49" charset="0"/>
              </a:rPr>
              <a:t>剩余元素按升序排列</a:t>
            </a:r>
            <a:endParaRPr lang="en-US" altLang="zh-CN" sz="1600" dirty="0">
              <a:solidFill>
                <a:srgbClr val="008000"/>
              </a:solidFill>
              <a:latin typeface="Consolas" panose="020B0609020204030204" pitchFamily="49" charset="0"/>
            </a:endParaRPr>
          </a:p>
          <a:p>
            <a:pPr>
              <a:buClr>
                <a:srgbClr val="262686"/>
              </a:buClr>
              <a:buSzPct val="60000"/>
            </a:pPr>
            <a:endParaRPr lang="en-US" altLang="zh-CN" sz="1800" b="1"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a:t>
            </a:r>
            <a:r>
              <a:rPr kumimoji="0" lang="zh-CN" altLang="en-US" sz="2800" dirty="0">
                <a:solidFill>
                  <a:srgbClr val="006600"/>
                </a:solidFill>
                <a:ea typeface="隶书" panose="02010509060101010101" pitchFamily="49" charset="-122"/>
              </a:rPr>
              <a:t>使用 </a:t>
            </a:r>
            <a:r>
              <a:rPr kumimoji="0" lang="en-US" altLang="zh-CN" sz="2800" dirty="0">
                <a:solidFill>
                  <a:srgbClr val="006600"/>
                </a:solidFill>
                <a:ea typeface="隶书" panose="02010509060101010101" pitchFamily="49" charset="-122"/>
              </a:rPr>
              <a:t>set</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sp>
        <p:nvSpPr>
          <p:cNvPr id="18" name="Text Box 8"/>
          <p:cNvSpPr txBox="1">
            <a:spLocks noChangeArrowheads="1"/>
          </p:cNvSpPr>
          <p:nvPr/>
        </p:nvSpPr>
        <p:spPr bwMode="auto">
          <a:xfrm>
            <a:off x="1189528" y="983364"/>
            <a:ext cx="105039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r>
              <a:rPr lang="en-US" altLang="zh-CN" dirty="0">
                <a:solidFill>
                  <a:srgbClr val="0000CC"/>
                </a:solidFill>
              </a:rPr>
              <a:t>template</a:t>
            </a:r>
            <a:r>
              <a:rPr lang="en-US" altLang="zh-CN" dirty="0"/>
              <a:t>&lt;</a:t>
            </a:r>
            <a:r>
              <a:rPr lang="en-US" altLang="zh-CN" dirty="0" err="1">
                <a:solidFill>
                  <a:srgbClr val="0000CC"/>
                </a:solidFill>
              </a:rPr>
              <a:t>typename</a:t>
            </a:r>
            <a:r>
              <a:rPr lang="en-US" altLang="zh-CN" dirty="0"/>
              <a:t> Key, </a:t>
            </a:r>
            <a:r>
              <a:rPr lang="en-US" altLang="zh-CN" dirty="0" err="1">
                <a:solidFill>
                  <a:srgbClr val="0000CC"/>
                </a:solidFill>
              </a:rPr>
              <a:t>typename</a:t>
            </a:r>
            <a:r>
              <a:rPr lang="en-US" altLang="zh-CN" dirty="0"/>
              <a:t> </a:t>
            </a:r>
            <a:r>
              <a:rPr lang="en-US" altLang="zh-CN" dirty="0" err="1"/>
              <a:t>Pred</a:t>
            </a:r>
            <a:r>
              <a:rPr lang="en-US" altLang="zh-CN" dirty="0"/>
              <a:t> = less&lt;Key&gt;, </a:t>
            </a:r>
            <a:r>
              <a:rPr lang="en-US" altLang="zh-CN" dirty="0" err="1">
                <a:solidFill>
                  <a:srgbClr val="0000CC"/>
                </a:solidFill>
              </a:rPr>
              <a:t>typename</a:t>
            </a:r>
            <a:r>
              <a:rPr lang="en-US" altLang="zh-CN" dirty="0"/>
              <a:t> A =allocator&lt;Key&gt; &gt;</a:t>
            </a:r>
            <a:endParaRPr lang="en-US" altLang="zh-CN" dirty="0"/>
          </a:p>
          <a:p>
            <a:r>
              <a:rPr lang="en-US" altLang="zh-CN" dirty="0">
                <a:solidFill>
                  <a:srgbClr val="0000CC"/>
                </a:solidFill>
              </a:rPr>
              <a:t>class</a:t>
            </a:r>
            <a:r>
              <a:rPr lang="en-US" altLang="zh-CN" dirty="0"/>
              <a:t> set{……}; </a:t>
            </a:r>
            <a:endParaRPr lang="zh-CN" altLang="en-US" dirty="0">
              <a:solidFill>
                <a:srgbClr val="006600"/>
              </a:solidFill>
            </a:endParaRPr>
          </a:p>
        </p:txBody>
      </p:sp>
      <p:sp>
        <p:nvSpPr>
          <p:cNvPr id="25" name="Text Box 6"/>
          <p:cNvSpPr txBox="1">
            <a:spLocks noChangeArrowheads="1"/>
          </p:cNvSpPr>
          <p:nvPr/>
        </p:nvSpPr>
        <p:spPr bwMode="auto">
          <a:xfrm>
            <a:off x="1189528" y="1774687"/>
            <a:ext cx="8496300" cy="230695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lang="en-US" altLang="zh-CN" sz="2400" b="0" dirty="0">
                <a:solidFill>
                  <a:srgbClr val="008000"/>
                </a:solidFill>
                <a:latin typeface="Times New Roman" panose="02020603050405020304" pitchFamily="18" charset="0"/>
                <a:ea typeface="隶书" panose="02010509060101010101" pitchFamily="49" charset="-122"/>
              </a:rPr>
              <a:t>set</a:t>
            </a:r>
            <a:r>
              <a:rPr lang="zh-CN" altLang="en-US" sz="2400" b="0" dirty="0">
                <a:solidFill>
                  <a:srgbClr val="008000"/>
                </a:solidFill>
                <a:latin typeface="Times New Roman" panose="02020603050405020304" pitchFamily="18" charset="0"/>
                <a:ea typeface="隶书" panose="02010509060101010101" pitchFamily="49" charset="-122"/>
              </a:rPr>
              <a:t>容器的构造函数：</a:t>
            </a:r>
            <a:endParaRPr lang="zh-CN" altLang="en-US" sz="2400" b="0" dirty="0">
              <a:solidFill>
                <a:srgbClr val="008000"/>
              </a:solidFill>
              <a:latin typeface="Times New Roman" panose="02020603050405020304" pitchFamily="18" charset="0"/>
              <a:ea typeface="隶书" panose="02010509060101010101" pitchFamily="49" charset="-122"/>
            </a:endParaRPr>
          </a:p>
          <a:p>
            <a:pPr eaLnBrk="1" hangingPunct="1"/>
            <a:r>
              <a:rPr lang="en-US" altLang="zh-CN" b="0" dirty="0"/>
              <a:t>set ();                  </a:t>
            </a:r>
            <a:r>
              <a:rPr lang="en-US" altLang="zh-CN" b="0" dirty="0">
                <a:solidFill>
                  <a:srgbClr val="006600"/>
                </a:solidFill>
              </a:rPr>
              <a:t>//</a:t>
            </a:r>
            <a:r>
              <a:rPr lang="zh-CN" altLang="en-US" b="0" dirty="0">
                <a:solidFill>
                  <a:srgbClr val="006600"/>
                </a:solidFill>
              </a:rPr>
              <a:t>构造一个空的按默认次序排列的集合</a:t>
            </a:r>
            <a:endParaRPr lang="zh-CN" altLang="en-US" b="0" dirty="0">
              <a:solidFill>
                <a:srgbClr val="006600"/>
              </a:solidFill>
            </a:endParaRPr>
          </a:p>
          <a:p>
            <a:pPr eaLnBrk="1" hangingPunct="1"/>
            <a:r>
              <a:rPr lang="en-US" altLang="zh-CN" b="0" dirty="0"/>
              <a:t>set (pr);               </a:t>
            </a:r>
            <a:r>
              <a:rPr lang="en-US" altLang="zh-CN" b="0" dirty="0">
                <a:solidFill>
                  <a:srgbClr val="006600"/>
                </a:solidFill>
              </a:rPr>
              <a:t>//</a:t>
            </a:r>
            <a:r>
              <a:rPr lang="zh-CN" altLang="en-US" b="0" dirty="0">
                <a:solidFill>
                  <a:srgbClr val="006600"/>
                </a:solidFill>
              </a:rPr>
              <a:t>构造一个空的按函数对象</a:t>
            </a:r>
            <a:r>
              <a:rPr lang="en-US" altLang="zh-CN" b="0" dirty="0">
                <a:solidFill>
                  <a:srgbClr val="006600"/>
                </a:solidFill>
              </a:rPr>
              <a:t>pr</a:t>
            </a:r>
            <a:r>
              <a:rPr lang="zh-CN" altLang="en-US" b="0" dirty="0">
                <a:solidFill>
                  <a:srgbClr val="006600"/>
                </a:solidFill>
              </a:rPr>
              <a:t>排序的集合</a:t>
            </a:r>
            <a:endParaRPr lang="zh-CN" altLang="en-US" b="0" dirty="0">
              <a:solidFill>
                <a:srgbClr val="006600"/>
              </a:solidFill>
            </a:endParaRPr>
          </a:p>
          <a:p>
            <a:pPr eaLnBrk="1" hangingPunct="1"/>
            <a:r>
              <a:rPr lang="en-US" altLang="zh-CN" b="0" dirty="0"/>
              <a:t>set (</a:t>
            </a:r>
            <a:r>
              <a:rPr lang="en-US" altLang="zh-CN" b="0" dirty="0" err="1"/>
              <a:t>first,last</a:t>
            </a:r>
            <a:r>
              <a:rPr lang="en-US" altLang="zh-CN" b="0" dirty="0"/>
              <a:t>);     </a:t>
            </a:r>
            <a:r>
              <a:rPr lang="en-US" altLang="zh-CN" b="0" dirty="0">
                <a:solidFill>
                  <a:srgbClr val="006600"/>
                </a:solidFill>
              </a:rPr>
              <a:t>//</a:t>
            </a:r>
            <a:r>
              <a:rPr lang="zh-CN" altLang="en-US" b="0" dirty="0">
                <a:solidFill>
                  <a:srgbClr val="006600"/>
                </a:solidFill>
              </a:rPr>
              <a:t>构造一个默认次序排列的集合，</a:t>
            </a:r>
            <a:endParaRPr lang="zh-CN" altLang="en-US" b="0" dirty="0">
              <a:solidFill>
                <a:srgbClr val="006600"/>
              </a:solidFill>
            </a:endParaRPr>
          </a:p>
          <a:p>
            <a:pPr eaLnBrk="1" hangingPunct="1"/>
            <a:r>
              <a:rPr lang="zh-CN" altLang="en-US" b="0" dirty="0">
                <a:solidFill>
                  <a:srgbClr val="006600"/>
                </a:solidFill>
              </a:rPr>
              <a:t>                            </a:t>
            </a:r>
            <a:r>
              <a:rPr lang="en-US" altLang="zh-CN" b="0" dirty="0">
                <a:solidFill>
                  <a:srgbClr val="006600"/>
                </a:solidFill>
              </a:rPr>
              <a:t>//</a:t>
            </a:r>
            <a:r>
              <a:rPr lang="zh-CN" altLang="en-US" b="0" dirty="0">
                <a:solidFill>
                  <a:srgbClr val="006600"/>
                </a:solidFill>
              </a:rPr>
              <a:t>元素值由区间</a:t>
            </a:r>
            <a:r>
              <a:rPr lang="en-US" altLang="zh-CN" b="0" dirty="0">
                <a:solidFill>
                  <a:srgbClr val="006600"/>
                </a:solidFill>
              </a:rPr>
              <a:t>[</a:t>
            </a:r>
            <a:r>
              <a:rPr lang="en-US" altLang="zh-CN" b="0" dirty="0" err="1">
                <a:solidFill>
                  <a:srgbClr val="006600"/>
                </a:solidFill>
              </a:rPr>
              <a:t>first,last</a:t>
            </a:r>
            <a:r>
              <a:rPr lang="en-US" altLang="zh-CN" b="0" dirty="0">
                <a:solidFill>
                  <a:srgbClr val="006600"/>
                </a:solidFill>
              </a:rPr>
              <a:t>)</a:t>
            </a:r>
            <a:r>
              <a:rPr lang="zh-CN" altLang="en-US" b="0" dirty="0">
                <a:solidFill>
                  <a:srgbClr val="006600"/>
                </a:solidFill>
              </a:rPr>
              <a:t>指定的序列复制</a:t>
            </a:r>
            <a:endParaRPr lang="zh-CN" altLang="en-US" b="0" dirty="0">
              <a:solidFill>
                <a:srgbClr val="006600"/>
              </a:solidFill>
            </a:endParaRPr>
          </a:p>
          <a:p>
            <a:pPr eaLnBrk="1" hangingPunct="1"/>
            <a:r>
              <a:rPr lang="en-US" altLang="zh-CN" b="0" dirty="0"/>
              <a:t>set (</a:t>
            </a:r>
            <a:r>
              <a:rPr lang="en-US" altLang="zh-CN" b="0" dirty="0" err="1"/>
              <a:t>first,last,pr</a:t>
            </a:r>
            <a:r>
              <a:rPr lang="en-US" altLang="zh-CN" b="0" dirty="0"/>
              <a:t>);           </a:t>
            </a:r>
            <a:r>
              <a:rPr lang="en-US" altLang="zh-CN" b="0" dirty="0">
                <a:solidFill>
                  <a:srgbClr val="006600"/>
                </a:solidFill>
              </a:rPr>
              <a:t>//</a:t>
            </a:r>
            <a:r>
              <a:rPr lang="zh-CN" altLang="en-US" b="0" dirty="0">
                <a:solidFill>
                  <a:srgbClr val="006600"/>
                </a:solidFill>
              </a:rPr>
              <a:t>同上，但按函数对象</a:t>
            </a:r>
            <a:r>
              <a:rPr lang="en-US" altLang="zh-CN" b="0" dirty="0">
                <a:solidFill>
                  <a:srgbClr val="006600"/>
                </a:solidFill>
              </a:rPr>
              <a:t>pr</a:t>
            </a:r>
            <a:r>
              <a:rPr lang="zh-CN" altLang="en-US" b="0" dirty="0">
                <a:solidFill>
                  <a:srgbClr val="006600"/>
                </a:solidFill>
              </a:rPr>
              <a:t>排序</a:t>
            </a:r>
            <a:endParaRPr lang="zh-CN" altLang="en-US" b="0" dirty="0">
              <a:solidFill>
                <a:srgbClr val="006600"/>
              </a:solidFill>
            </a:endParaRPr>
          </a:p>
          <a:p>
            <a:pPr eaLnBrk="1" hangingPunct="1"/>
            <a:endParaRPr lang="zh-CN" altLang="en-US" b="0" dirty="0">
              <a:solidFill>
                <a:srgbClr val="0000CC"/>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a:t>
            </a:r>
            <a:r>
              <a:rPr kumimoji="0" lang="zh-CN" altLang="en-US" sz="2800" dirty="0">
                <a:solidFill>
                  <a:srgbClr val="006600"/>
                </a:solidFill>
                <a:ea typeface="隶书" panose="02010509060101010101" pitchFamily="49" charset="-122"/>
              </a:rPr>
              <a:t>使用 </a:t>
            </a:r>
            <a:r>
              <a:rPr kumimoji="0" lang="en-US" altLang="zh-CN" sz="2800" dirty="0">
                <a:solidFill>
                  <a:srgbClr val="006600"/>
                </a:solidFill>
                <a:ea typeface="隶书" panose="02010509060101010101" pitchFamily="49" charset="-122"/>
              </a:rPr>
              <a:t>set</a:t>
            </a:r>
            <a:r>
              <a:rPr kumimoji="0" lang="zh-CN" altLang="en-US" sz="2800" dirty="0">
                <a:solidFill>
                  <a:srgbClr val="006600"/>
                </a:solidFill>
                <a:ea typeface="隶书" panose="02010509060101010101" pitchFamily="49" charset="-122"/>
              </a:rPr>
              <a:t>和</a:t>
            </a:r>
            <a:r>
              <a:rPr kumimoji="0" lang="en-US" altLang="zh-CN" sz="2800" dirty="0">
                <a:solidFill>
                  <a:srgbClr val="006600"/>
                </a:solidFill>
                <a:ea typeface="隶书" panose="02010509060101010101" pitchFamily="49" charset="-122"/>
              </a:rPr>
              <a:t>pair</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3" name="图片 2"/>
          <p:cNvPicPr>
            <a:picLocks noChangeAspect="1"/>
          </p:cNvPicPr>
          <p:nvPr/>
        </p:nvPicPr>
        <p:blipFill>
          <a:blip r:embed="rId2"/>
          <a:stretch>
            <a:fillRect/>
          </a:stretch>
        </p:blipFill>
        <p:spPr>
          <a:xfrm>
            <a:off x="1349964" y="1113183"/>
            <a:ext cx="9132423" cy="4453304"/>
          </a:xfrm>
          <a:prstGeom prst="rect">
            <a:avLst/>
          </a:prstGeom>
        </p:spPr>
      </p:pic>
      <p:pic>
        <p:nvPicPr>
          <p:cNvPr id="5" name="图片 4"/>
          <p:cNvPicPr>
            <a:picLocks noChangeAspect="1"/>
          </p:cNvPicPr>
          <p:nvPr/>
        </p:nvPicPr>
        <p:blipFill rotWithShape="1">
          <a:blip r:embed="rId3"/>
          <a:srcRect r="9768" b="60579"/>
          <a:stretch>
            <a:fillRect/>
          </a:stretch>
        </p:blipFill>
        <p:spPr>
          <a:xfrm>
            <a:off x="5436446" y="944040"/>
            <a:ext cx="6755553" cy="88458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417933"/>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关联容器示例</a:t>
            </a:r>
            <a:r>
              <a:rPr kumimoji="0" lang="en-US" altLang="zh-CN" sz="2800" dirty="0">
                <a:solidFill>
                  <a:srgbClr val="006600"/>
                </a:solidFill>
                <a:ea typeface="隶书" panose="02010509060101010101" pitchFamily="49" charset="-122"/>
              </a:rPr>
              <a:t>--multiset</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7" name="图片 6"/>
          <p:cNvPicPr>
            <a:picLocks noChangeAspect="1"/>
          </p:cNvPicPr>
          <p:nvPr/>
        </p:nvPicPr>
        <p:blipFill>
          <a:blip r:embed="rId2"/>
          <a:stretch>
            <a:fillRect/>
          </a:stretch>
        </p:blipFill>
        <p:spPr>
          <a:xfrm>
            <a:off x="1096865" y="1290512"/>
            <a:ext cx="2361038" cy="431785"/>
          </a:xfrm>
          <a:prstGeom prst="rect">
            <a:avLst/>
          </a:prstGeom>
        </p:spPr>
      </p:pic>
      <p:pic>
        <p:nvPicPr>
          <p:cNvPr id="12" name="图片 11"/>
          <p:cNvPicPr>
            <a:picLocks noChangeAspect="1"/>
          </p:cNvPicPr>
          <p:nvPr/>
        </p:nvPicPr>
        <p:blipFill rotWithShape="1">
          <a:blip r:embed="rId3"/>
          <a:srcRect r="1591"/>
          <a:stretch>
            <a:fillRect/>
          </a:stretch>
        </p:blipFill>
        <p:spPr>
          <a:xfrm>
            <a:off x="900999" y="1012193"/>
            <a:ext cx="10792519" cy="2870348"/>
          </a:xfrm>
          <a:prstGeom prst="rect">
            <a:avLst/>
          </a:prstGeom>
        </p:spPr>
      </p:pic>
      <p:pic>
        <p:nvPicPr>
          <p:cNvPr id="6" name="图片 5"/>
          <p:cNvPicPr>
            <a:picLocks noChangeAspect="1"/>
          </p:cNvPicPr>
          <p:nvPr/>
        </p:nvPicPr>
        <p:blipFill>
          <a:blip r:embed="rId4"/>
          <a:stretch>
            <a:fillRect/>
          </a:stretch>
        </p:blipFill>
        <p:spPr>
          <a:xfrm>
            <a:off x="9535822" y="3567873"/>
            <a:ext cx="666784" cy="285765"/>
          </a:xfrm>
          <a:prstGeom prst="rect">
            <a:avLst/>
          </a:prstGeom>
        </p:spPr>
      </p:pic>
      <p:pic>
        <p:nvPicPr>
          <p:cNvPr id="9" name="图片 8"/>
          <p:cNvPicPr>
            <a:picLocks noChangeAspect="1"/>
          </p:cNvPicPr>
          <p:nvPr/>
        </p:nvPicPr>
        <p:blipFill>
          <a:blip r:embed="rId5"/>
          <a:stretch>
            <a:fillRect/>
          </a:stretch>
        </p:blipFill>
        <p:spPr>
          <a:xfrm>
            <a:off x="861276" y="3882541"/>
            <a:ext cx="8674546" cy="2152761"/>
          </a:xfrm>
          <a:prstGeom prst="rect">
            <a:avLst/>
          </a:prstGeom>
        </p:spPr>
      </p:pic>
      <p:pic>
        <p:nvPicPr>
          <p:cNvPr id="11" name="图片 10"/>
          <p:cNvPicPr>
            <a:picLocks noChangeAspect="1"/>
          </p:cNvPicPr>
          <p:nvPr/>
        </p:nvPicPr>
        <p:blipFill>
          <a:blip r:embed="rId6"/>
          <a:stretch>
            <a:fillRect/>
          </a:stretch>
        </p:blipFill>
        <p:spPr>
          <a:xfrm>
            <a:off x="1408812" y="4193630"/>
            <a:ext cx="482625" cy="170884"/>
          </a:xfrm>
          <a:prstGeom prst="rect">
            <a:avLst/>
          </a:prstGeom>
        </p:spPr>
      </p:pic>
      <p:pic>
        <p:nvPicPr>
          <p:cNvPr id="14" name="图片 13"/>
          <p:cNvPicPr>
            <a:picLocks noChangeAspect="1"/>
          </p:cNvPicPr>
          <p:nvPr/>
        </p:nvPicPr>
        <p:blipFill>
          <a:blip r:embed="rId7"/>
          <a:stretch>
            <a:fillRect/>
          </a:stretch>
        </p:blipFill>
        <p:spPr>
          <a:xfrm>
            <a:off x="9504069" y="3806298"/>
            <a:ext cx="2189449" cy="2207584"/>
          </a:xfrm>
          <a:prstGeom prst="rect">
            <a:avLst/>
          </a:prstGeom>
        </p:spPr>
      </p:pic>
      <p:pic>
        <p:nvPicPr>
          <p:cNvPr id="3" name="图片 2"/>
          <p:cNvPicPr>
            <a:picLocks noChangeAspect="1"/>
          </p:cNvPicPr>
          <p:nvPr/>
        </p:nvPicPr>
        <p:blipFill>
          <a:blip r:embed="rId8"/>
          <a:stretch>
            <a:fillRect/>
          </a:stretch>
        </p:blipFill>
        <p:spPr>
          <a:xfrm>
            <a:off x="6960566" y="942926"/>
            <a:ext cx="4832598" cy="128911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ChangeArrowheads="1"/>
          </p:cNvSpPr>
          <p:nvPr/>
        </p:nvSpPr>
        <p:spPr bwMode="auto">
          <a:xfrm>
            <a:off x="900999" y="179397"/>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en-US" altLang="zh-CN" sz="2800" dirty="0">
                <a:solidFill>
                  <a:srgbClr val="006600"/>
                </a:solidFill>
                <a:ea typeface="隶书" panose="02010509060101010101" pitchFamily="49" charset="-122"/>
              </a:rPr>
              <a:t>multiset</a:t>
            </a:r>
            <a:r>
              <a:rPr kumimoji="0" lang="zh-CN" altLang="en-US" sz="2800" dirty="0">
                <a:solidFill>
                  <a:srgbClr val="006600"/>
                </a:solidFill>
                <a:ea typeface="隶书" panose="02010509060101010101" pitchFamily="49" charset="-122"/>
              </a:rPr>
              <a:t>的主要成员函数</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17" name="图片 16"/>
          <p:cNvPicPr>
            <a:picLocks noChangeAspect="1"/>
          </p:cNvPicPr>
          <p:nvPr/>
        </p:nvPicPr>
        <p:blipFill>
          <a:blip r:embed="rId1"/>
          <a:stretch>
            <a:fillRect/>
          </a:stretch>
        </p:blipFill>
        <p:spPr>
          <a:xfrm>
            <a:off x="11693518" y="500239"/>
            <a:ext cx="498481" cy="1023908"/>
          </a:xfrm>
          <a:prstGeom prst="rect">
            <a:avLst/>
          </a:prstGeom>
        </p:spPr>
      </p:pic>
      <p:pic>
        <p:nvPicPr>
          <p:cNvPr id="8" name="图片 7"/>
          <p:cNvPicPr>
            <a:picLocks noChangeAspect="1"/>
          </p:cNvPicPr>
          <p:nvPr/>
        </p:nvPicPr>
        <p:blipFill rotWithShape="1">
          <a:blip r:embed="rId2"/>
          <a:srcRect l="1276" t="30416" r="21087" b="5197"/>
          <a:stretch>
            <a:fillRect/>
          </a:stretch>
        </p:blipFill>
        <p:spPr>
          <a:xfrm>
            <a:off x="1401417" y="987027"/>
            <a:ext cx="8686800" cy="3868546"/>
          </a:xfrm>
          <a:prstGeom prst="rect">
            <a:avLst/>
          </a:prstGeom>
        </p:spPr>
      </p:pic>
      <p:pic>
        <p:nvPicPr>
          <p:cNvPr id="13" name="图片 12"/>
          <p:cNvPicPr>
            <a:picLocks noChangeAspect="1"/>
          </p:cNvPicPr>
          <p:nvPr/>
        </p:nvPicPr>
        <p:blipFill rotWithShape="1">
          <a:blip r:embed="rId3"/>
          <a:srcRect r="13695" b="24188"/>
          <a:stretch>
            <a:fillRect/>
          </a:stretch>
        </p:blipFill>
        <p:spPr>
          <a:xfrm>
            <a:off x="1401415" y="4850301"/>
            <a:ext cx="8686801" cy="1421288"/>
          </a:xfrm>
          <a:prstGeom prst="rect">
            <a:avLst/>
          </a:prstGeom>
        </p:spPr>
      </p:pic>
      <p:pic>
        <p:nvPicPr>
          <p:cNvPr id="16" name="图片 15"/>
          <p:cNvPicPr>
            <a:picLocks noChangeAspect="1"/>
          </p:cNvPicPr>
          <p:nvPr/>
        </p:nvPicPr>
        <p:blipFill>
          <a:blip r:embed="rId4"/>
          <a:stretch>
            <a:fillRect/>
          </a:stretch>
        </p:blipFill>
        <p:spPr>
          <a:xfrm>
            <a:off x="6973658" y="5895614"/>
            <a:ext cx="3108236" cy="362116"/>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
          <p:cNvSpPr txBox="1">
            <a:spLocks noChangeArrowheads="1"/>
          </p:cNvSpPr>
          <p:nvPr/>
        </p:nvSpPr>
        <p:spPr bwMode="auto">
          <a:xfrm>
            <a:off x="1075843" y="360570"/>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使用</a:t>
            </a:r>
            <a:r>
              <a:rPr kumimoji="0" lang="en-US" altLang="zh-CN" sz="2800" dirty="0">
                <a:solidFill>
                  <a:srgbClr val="006600"/>
                </a:solidFill>
                <a:ea typeface="隶书" panose="02010509060101010101" pitchFamily="49" charset="-122"/>
              </a:rPr>
              <a:t>multiset</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5" name="图片 4"/>
          <p:cNvPicPr>
            <a:picLocks noChangeAspect="1"/>
          </p:cNvPicPr>
          <p:nvPr/>
        </p:nvPicPr>
        <p:blipFill>
          <a:blip r:embed="rId1"/>
          <a:stretch>
            <a:fillRect/>
          </a:stretch>
        </p:blipFill>
        <p:spPr>
          <a:xfrm>
            <a:off x="1218461" y="1026286"/>
            <a:ext cx="6444608" cy="3023490"/>
          </a:xfrm>
          <a:prstGeom prst="rect">
            <a:avLst/>
          </a:prstGeom>
        </p:spPr>
      </p:pic>
      <p:pic>
        <p:nvPicPr>
          <p:cNvPr id="7" name="图片 6"/>
          <p:cNvPicPr>
            <a:picLocks noChangeAspect="1"/>
          </p:cNvPicPr>
          <p:nvPr/>
        </p:nvPicPr>
        <p:blipFill>
          <a:blip r:embed="rId2"/>
          <a:stretch>
            <a:fillRect/>
          </a:stretch>
        </p:blipFill>
        <p:spPr>
          <a:xfrm>
            <a:off x="8060126" y="1026286"/>
            <a:ext cx="3056624" cy="3023490"/>
          </a:xfrm>
          <a:prstGeom prst="rect">
            <a:avLst/>
          </a:prstGeom>
        </p:spPr>
      </p:pic>
      <p:sp>
        <p:nvSpPr>
          <p:cNvPr id="8" name="文本框 7"/>
          <p:cNvSpPr txBox="1"/>
          <p:nvPr/>
        </p:nvSpPr>
        <p:spPr>
          <a:xfrm>
            <a:off x="10035670" y="3231931"/>
            <a:ext cx="1272208" cy="923330"/>
          </a:xfrm>
          <a:prstGeom prst="rect">
            <a:avLst/>
          </a:prstGeom>
          <a:solidFill>
            <a:schemeClr val="bg1"/>
          </a:solidFill>
        </p:spPr>
        <p:txBody>
          <a:bodyPr wrap="square" rtlCol="0">
            <a:spAutoFit/>
          </a:bodyPr>
          <a:lstStyle/>
          <a:p>
            <a:r>
              <a:rPr lang="en-US" altLang="zh-CN" dirty="0">
                <a:solidFill>
                  <a:srgbClr val="00B050"/>
                </a:solidFill>
              </a:rPr>
              <a:t>//error</a:t>
            </a:r>
            <a:endParaRPr lang="en-US" altLang="zh-CN" dirty="0">
              <a:solidFill>
                <a:srgbClr val="00B050"/>
              </a:solidFill>
            </a:endParaRPr>
          </a:p>
          <a:p>
            <a:r>
              <a:rPr lang="en-US" altLang="zh-CN" dirty="0">
                <a:solidFill>
                  <a:srgbClr val="00B050"/>
                </a:solidFill>
              </a:rPr>
              <a:t>//class A</a:t>
            </a:r>
            <a:r>
              <a:rPr lang="zh-CN" altLang="en-US" dirty="0">
                <a:solidFill>
                  <a:srgbClr val="00B050"/>
                </a:solidFill>
              </a:rPr>
              <a:t>中没有重载</a:t>
            </a:r>
            <a:r>
              <a:rPr lang="en-US" altLang="zh-CN" dirty="0">
                <a:solidFill>
                  <a:srgbClr val="00B050"/>
                </a:solidFill>
              </a:rPr>
              <a:t>&lt;</a:t>
            </a:r>
            <a:endParaRPr lang="zh-CN" altLang="en-US" dirty="0">
              <a:solidFill>
                <a:srgbClr val="00B050"/>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
          <p:cNvSpPr txBox="1">
            <a:spLocks noChangeArrowheads="1"/>
          </p:cNvSpPr>
          <p:nvPr/>
        </p:nvSpPr>
        <p:spPr bwMode="auto">
          <a:xfrm>
            <a:off x="688217" y="251240"/>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例：</a:t>
            </a:r>
            <a:r>
              <a:rPr kumimoji="0" lang="en-US" altLang="zh-CN" sz="2800" dirty="0">
                <a:solidFill>
                  <a:srgbClr val="006600"/>
                </a:solidFill>
                <a:ea typeface="隶书" panose="02010509060101010101" pitchFamily="49" charset="-122"/>
              </a:rPr>
              <a:t>multiset</a:t>
            </a:r>
            <a:r>
              <a:rPr kumimoji="0" lang="zh-CN" altLang="en-US" sz="2800" dirty="0">
                <a:solidFill>
                  <a:srgbClr val="006600"/>
                </a:solidFill>
                <a:ea typeface="隶书" panose="02010509060101010101" pitchFamily="49" charset="-122"/>
              </a:rPr>
              <a:t>示例代码段</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sp>
        <p:nvSpPr>
          <p:cNvPr id="16" name="矩形 15"/>
          <p:cNvSpPr/>
          <p:nvPr/>
        </p:nvSpPr>
        <p:spPr>
          <a:xfrm>
            <a:off x="1365046" y="1082356"/>
            <a:ext cx="8265971" cy="2554545"/>
          </a:xfrm>
          <a:prstGeom prst="rect">
            <a:avLst/>
          </a:prstGeom>
        </p:spPr>
        <p:txBody>
          <a:bodyPr wrap="square">
            <a:spAutoFit/>
          </a:bodyPr>
          <a:lstStyle/>
          <a:p>
            <a:r>
              <a:rPr lang="en-US" altLang="zh-CN" sz="2000" dirty="0">
                <a:solidFill>
                  <a:srgbClr val="000000"/>
                </a:solidFill>
                <a:latin typeface="Consolas" panose="020B0609020204030204" pitchFamily="49" charset="0"/>
              </a:rPr>
              <a:t>multiset&lt;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s;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ea typeface="仿宋" panose="02010609060101010101" pitchFamily="49" charset="-122"/>
              </a:rPr>
              <a:t>利用</a:t>
            </a:r>
            <a:r>
              <a:rPr lang="en-US" altLang="zh-CN" sz="2000" dirty="0" err="1">
                <a:solidFill>
                  <a:srgbClr val="008000"/>
                </a:solidFill>
                <a:latin typeface="Consolas" panose="020B0609020204030204" pitchFamily="49" charset="0"/>
              </a:rPr>
              <a:t>multset</a:t>
            </a:r>
            <a:r>
              <a:rPr lang="zh-CN" altLang="en-US" sz="2000" dirty="0">
                <a:solidFill>
                  <a:srgbClr val="008000"/>
                </a:solidFill>
                <a:latin typeface="Consolas" panose="020B0609020204030204" pitchFamily="49" charset="0"/>
                <a:ea typeface="仿宋" panose="02010609060101010101" pitchFamily="49" charset="-122"/>
              </a:rPr>
              <a:t>存放有序元素</a:t>
            </a:r>
            <a:br>
              <a:rPr lang="zh-CN" altLang="en-US" sz="2000" dirty="0">
                <a:solidFill>
                  <a:srgbClr val="008000"/>
                </a:solidFill>
                <a:latin typeface="Consolas" panose="020B0609020204030204" pitchFamily="49" charset="0"/>
                <a:ea typeface="仿宋" panose="02010609060101010101" pitchFamily="49" charset="-122"/>
              </a:rPr>
            </a:br>
            <a:r>
              <a:rPr lang="en-US" altLang="zh-CN" sz="2000" dirty="0">
                <a:solidFill>
                  <a:srgbClr val="0000FF"/>
                </a:solidFill>
                <a:latin typeface="Consolas" panose="020B0609020204030204" pitchFamily="49" charset="0"/>
              </a:rPr>
              <a:t>int </a:t>
            </a:r>
            <a:r>
              <a:rPr lang="en-US" altLang="zh-CN" sz="2000" dirty="0">
                <a:solidFill>
                  <a:srgbClr val="000000"/>
                </a:solidFill>
                <a:latin typeface="Consolas" panose="020B0609020204030204" pitchFamily="49" charset="0"/>
              </a:rPr>
              <a:t>number;</a:t>
            </a:r>
            <a:br>
              <a:rPr lang="en-US" altLang="zh-CN" sz="2000" dirty="0">
                <a:solidFill>
                  <a:srgbClr val="000000"/>
                </a:solidFill>
                <a:latin typeface="Consolas" panose="020B0609020204030204" pitchFamily="49" charset="0"/>
              </a:rPr>
            </a:br>
            <a:r>
              <a:rPr lang="en-US" altLang="zh-CN" sz="2000" dirty="0">
                <a:solidFill>
                  <a:srgbClr val="0000FF"/>
                </a:solidFill>
                <a:latin typeface="Consolas" panose="020B0609020204030204" pitchFamily="49" charset="0"/>
              </a:rPr>
              <a:t>while </a:t>
            </a:r>
            <a:r>
              <a:rPr lang="en-US" altLang="zh-CN" sz="2000" dirty="0">
                <a:solidFill>
                  <a:srgbClr val="000000"/>
                </a:solidFill>
                <a:latin typeface="Consolas" panose="020B0609020204030204" pitchFamily="49" charset="0"/>
              </a:rPr>
              <a:t>(</a:t>
            </a:r>
            <a:r>
              <a:rPr lang="en-US" altLang="zh-CN" sz="2000" dirty="0" err="1">
                <a:solidFill>
                  <a:srgbClr val="000000"/>
                </a:solidFill>
                <a:latin typeface="Consolas" panose="020B0609020204030204" pitchFamily="49" charset="0"/>
              </a:rPr>
              <a:t>cin</a:t>
            </a:r>
            <a:r>
              <a:rPr lang="en-US" altLang="zh-CN" sz="2000" dirty="0">
                <a:solidFill>
                  <a:srgbClr val="000000"/>
                </a:solidFill>
                <a:latin typeface="Consolas" panose="020B0609020204030204" pitchFamily="49" charset="0"/>
              </a:rPr>
              <a:t> &gt;&gt; number)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ea typeface="仿宋" panose="02010609060101010101" pitchFamily="49" charset="-122"/>
              </a:rPr>
              <a:t>插入元素</a:t>
            </a:r>
            <a:br>
              <a:rPr lang="zh-CN" altLang="en-US" sz="2000" dirty="0">
                <a:solidFill>
                  <a:srgbClr val="008000"/>
                </a:solidFill>
                <a:latin typeface="Consolas" panose="020B0609020204030204" pitchFamily="49" charset="0"/>
                <a:ea typeface="仿宋" panose="02010609060101010101" pitchFamily="49" charset="-122"/>
              </a:rPr>
            </a:br>
            <a:r>
              <a:rPr lang="en-US" altLang="zh-CN" sz="2000" dirty="0">
                <a:solidFill>
                  <a:srgbClr val="008000"/>
                </a:solidFill>
                <a:latin typeface="Consolas" panose="020B0609020204030204" pitchFamily="49" charset="0"/>
                <a:ea typeface="仿宋" panose="02010609060101010101" pitchFamily="49" charset="-122"/>
              </a:rPr>
              <a:t>	</a:t>
            </a:r>
            <a:r>
              <a:rPr lang="en-US" altLang="zh-CN" sz="2000" dirty="0" err="1">
                <a:solidFill>
                  <a:srgbClr val="000000"/>
                </a:solidFill>
                <a:latin typeface="Consolas" panose="020B0609020204030204" pitchFamily="49" charset="0"/>
              </a:rPr>
              <a:t>s.insert</a:t>
            </a:r>
            <a:r>
              <a:rPr lang="en-US" altLang="zh-CN" sz="2000" dirty="0">
                <a:solidFill>
                  <a:srgbClr val="000000"/>
                </a:solidFill>
                <a:latin typeface="Consolas" panose="020B0609020204030204" pitchFamily="49" charset="0"/>
              </a:rPr>
              <a:t>(number);</a:t>
            </a:r>
            <a:br>
              <a:rPr lang="en-US" altLang="zh-CN" sz="2000" dirty="0">
                <a:solidFill>
                  <a:srgbClr val="000000"/>
                </a:solidFill>
                <a:latin typeface="Consolas" panose="020B0609020204030204" pitchFamily="49" charset="0"/>
              </a:rPr>
            </a:br>
            <a:r>
              <a:rPr lang="en-US" altLang="zh-CN" sz="2000" dirty="0">
                <a:solidFill>
                  <a:srgbClr val="008080"/>
                </a:solidFill>
                <a:latin typeface="Consolas" panose="020B0609020204030204" pitchFamily="49" charset="0"/>
              </a:rPr>
              <a:t>vector</a:t>
            </a:r>
            <a:r>
              <a:rPr lang="en-US" altLang="zh-CN" sz="2000" dirty="0">
                <a:solidFill>
                  <a:srgbClr val="000000"/>
                </a:solidFill>
                <a:latin typeface="Consolas" panose="020B0609020204030204" pitchFamily="49" charset="0"/>
              </a:rPr>
              <a:t>&lt;</a:t>
            </a:r>
            <a:r>
              <a:rPr lang="en-US" altLang="zh-CN" sz="2000" dirty="0">
                <a:solidFill>
                  <a:srgbClr val="0000FF"/>
                </a:solidFill>
                <a:latin typeface="Consolas" panose="020B0609020204030204" pitchFamily="49" charset="0"/>
              </a:rPr>
              <a:t>int</a:t>
            </a:r>
            <a:r>
              <a:rPr lang="en-US" altLang="zh-CN" sz="2000" dirty="0">
                <a:solidFill>
                  <a:srgbClr val="000000"/>
                </a:solidFill>
                <a:latin typeface="Consolas" panose="020B0609020204030204" pitchFamily="49" charset="0"/>
              </a:rPr>
              <a:t>&gt; v(</a:t>
            </a:r>
            <a:r>
              <a:rPr lang="en-US" altLang="zh-CN" sz="2000" dirty="0" err="1">
                <a:solidFill>
                  <a:srgbClr val="000000"/>
                </a:solidFill>
                <a:latin typeface="Consolas" panose="020B0609020204030204" pitchFamily="49" charset="0"/>
              </a:rPr>
              <a:t>s.begin</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s.end</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ea typeface="仿宋" panose="02010609060101010101" pitchFamily="49" charset="-122"/>
              </a:rPr>
              <a:t>创建有序</a:t>
            </a:r>
            <a:r>
              <a:rPr lang="en-US" altLang="zh-CN" sz="2000" dirty="0">
                <a:solidFill>
                  <a:srgbClr val="008000"/>
                </a:solidFill>
                <a:latin typeface="Consolas" panose="020B0609020204030204" pitchFamily="49" charset="0"/>
              </a:rPr>
              <a:t>vector</a:t>
            </a:r>
            <a:br>
              <a:rPr lang="en-US" altLang="zh-CN" sz="2000" dirty="0">
                <a:solidFill>
                  <a:srgbClr val="008000"/>
                </a:solidFill>
                <a:latin typeface="Consolas" panose="020B0609020204030204" pitchFamily="49" charset="0"/>
              </a:rPr>
            </a:br>
            <a:r>
              <a:rPr lang="en-US" altLang="zh-CN" sz="2000" dirty="0">
                <a:solidFill>
                  <a:srgbClr val="0000FF"/>
                </a:solidFill>
                <a:latin typeface="Consolas" panose="020B0609020204030204" pitchFamily="49" charset="0"/>
              </a:rPr>
              <a:t>if </a:t>
            </a:r>
            <a:r>
              <a:rPr lang="en-US" altLang="zh-CN" sz="2000" dirty="0">
                <a:solidFill>
                  <a:srgbClr val="000000"/>
                </a:solidFill>
                <a:latin typeface="Consolas" panose="020B0609020204030204" pitchFamily="49" charset="0"/>
              </a:rPr>
              <a:t>(</a:t>
            </a:r>
            <a:r>
              <a:rPr lang="en-US" altLang="zh-CN" sz="2000" dirty="0" err="1">
                <a:solidFill>
                  <a:srgbClr val="000000"/>
                </a:solidFill>
                <a:latin typeface="Consolas" panose="020B0609020204030204" pitchFamily="49" charset="0"/>
              </a:rPr>
              <a:t>binary_search</a:t>
            </a:r>
            <a:r>
              <a:rPr lang="en-US" altLang="zh-CN" sz="2000" dirty="0">
                <a:solidFill>
                  <a:srgbClr val="000000"/>
                </a:solidFill>
                <a:latin typeface="Consolas" panose="020B0609020204030204" pitchFamily="49" charset="0"/>
              </a:rPr>
              <a:t>(</a:t>
            </a:r>
            <a:r>
              <a:rPr lang="en-US" altLang="zh-CN" sz="2000" dirty="0" err="1">
                <a:solidFill>
                  <a:srgbClr val="000000"/>
                </a:solidFill>
                <a:latin typeface="Consolas" panose="020B0609020204030204" pitchFamily="49" charset="0"/>
              </a:rPr>
              <a:t>v.begin</a:t>
            </a:r>
            <a:r>
              <a:rPr lang="en-US" altLang="zh-CN" sz="2000" dirty="0">
                <a:solidFill>
                  <a:srgbClr val="000000"/>
                </a:solidFill>
                <a:latin typeface="Consolas" panose="020B0609020204030204" pitchFamily="49" charset="0"/>
              </a:rPr>
              <a:t>(), </a:t>
            </a:r>
            <a:r>
              <a:rPr lang="en-US" altLang="zh-CN" sz="2000" dirty="0" err="1">
                <a:solidFill>
                  <a:srgbClr val="000000"/>
                </a:solidFill>
                <a:latin typeface="Consolas" panose="020B0609020204030204" pitchFamily="49" charset="0"/>
              </a:rPr>
              <a:t>v.end</a:t>
            </a:r>
            <a:r>
              <a:rPr lang="en-US" altLang="zh-CN" sz="2000" dirty="0">
                <a:solidFill>
                  <a:srgbClr val="000000"/>
                </a:solidFill>
                <a:latin typeface="Consolas" panose="020B0609020204030204" pitchFamily="49" charset="0"/>
              </a:rPr>
              <a:t>(), 10))</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ea typeface="仿宋" panose="02010609060101010101" pitchFamily="49" charset="-122"/>
              </a:rPr>
              <a:t>二分查找</a:t>
            </a:r>
            <a:br>
              <a:rPr lang="zh-CN" altLang="en-US" sz="2000" dirty="0">
                <a:solidFill>
                  <a:srgbClr val="008000"/>
                </a:solidFill>
                <a:latin typeface="Consolas" panose="020B0609020204030204" pitchFamily="49" charset="0"/>
                <a:ea typeface="仿宋" panose="02010609060101010101" pitchFamily="49" charset="-122"/>
              </a:rPr>
            </a:br>
            <a:r>
              <a:rPr lang="en-US" altLang="zh-CN" sz="2000" dirty="0">
                <a:solidFill>
                  <a:srgbClr val="008000"/>
                </a:solidFill>
                <a:latin typeface="Consolas" panose="020B0609020204030204" pitchFamily="49" charset="0"/>
                <a:ea typeface="仿宋" panose="02010609060101010101" pitchFamily="49" charset="-122"/>
              </a:rPr>
              <a:t>	</a:t>
            </a:r>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a:t>
            </a:r>
            <a:r>
              <a:rPr lang="en-US" altLang="zh-CN" sz="2000" dirty="0">
                <a:solidFill>
                  <a:srgbClr val="BF8040"/>
                </a:solidFill>
                <a:latin typeface="Consolas" panose="020B0609020204030204" pitchFamily="49" charset="0"/>
              </a:rPr>
              <a:t>"10 is found" </a:t>
            </a:r>
            <a:r>
              <a:rPr lang="en-US" altLang="zh-CN" sz="2000" dirty="0">
                <a:solidFill>
                  <a:srgbClr val="000000"/>
                </a:solidFill>
                <a:latin typeface="Consolas" panose="020B0609020204030204" pitchFamily="49" charset="0"/>
              </a:rPr>
              <a:t>&lt;&lt; </a:t>
            </a:r>
            <a:r>
              <a:rPr lang="en-US" altLang="zh-CN" sz="2000" dirty="0" err="1">
                <a:solidFill>
                  <a:srgbClr val="000000"/>
                </a:solidFill>
                <a:latin typeface="Consolas" panose="020B0609020204030204" pitchFamily="49" charset="0"/>
              </a:rPr>
              <a:t>endl</a:t>
            </a:r>
            <a:r>
              <a:rPr lang="en-US" altLang="zh-CN" sz="2000" dirty="0">
                <a:solidFill>
                  <a:srgbClr val="000000"/>
                </a:solidFill>
                <a:latin typeface="Consolas" panose="020B0609020204030204" pitchFamily="49" charset="0"/>
              </a:rPr>
              <a:t>;</a:t>
            </a:r>
            <a:br>
              <a:rPr lang="en-US" altLang="zh-CN" sz="2000" dirty="0">
                <a:solidFill>
                  <a:srgbClr val="000000"/>
                </a:solidFill>
                <a:latin typeface="Consolas" panose="020B0609020204030204" pitchFamily="49" charset="0"/>
              </a:rPr>
            </a:br>
            <a:r>
              <a:rPr lang="en-US" altLang="zh-CN" sz="2000" dirty="0">
                <a:solidFill>
                  <a:srgbClr val="0000FF"/>
                </a:solidFill>
                <a:latin typeface="Consolas" panose="020B0609020204030204" pitchFamily="49" charset="0"/>
              </a:rPr>
              <a:t>else </a:t>
            </a:r>
            <a:r>
              <a:rPr lang="en-US" altLang="zh-CN" sz="2000" dirty="0" err="1">
                <a:solidFill>
                  <a:srgbClr val="000000"/>
                </a:solidFill>
                <a:latin typeface="Consolas" panose="020B0609020204030204" pitchFamily="49" charset="0"/>
              </a:rPr>
              <a:t>cout</a:t>
            </a:r>
            <a:r>
              <a:rPr lang="en-US" altLang="zh-CN" sz="2000" dirty="0">
                <a:solidFill>
                  <a:srgbClr val="000000"/>
                </a:solidFill>
                <a:latin typeface="Consolas" panose="020B0609020204030204" pitchFamily="49" charset="0"/>
              </a:rPr>
              <a:t> &lt;&lt; </a:t>
            </a:r>
            <a:r>
              <a:rPr lang="en-US" altLang="zh-CN" sz="2000" dirty="0">
                <a:solidFill>
                  <a:srgbClr val="BF8040"/>
                </a:solidFill>
                <a:latin typeface="Consolas" panose="020B0609020204030204" pitchFamily="49" charset="0"/>
              </a:rPr>
              <a:t>"10 is not found" </a:t>
            </a:r>
            <a:r>
              <a:rPr lang="en-US" altLang="zh-CN" sz="2000" dirty="0">
                <a:solidFill>
                  <a:srgbClr val="000000"/>
                </a:solidFill>
                <a:latin typeface="Consolas" panose="020B0609020204030204" pitchFamily="49" charset="0"/>
              </a:rPr>
              <a:t>&lt;&lt; </a:t>
            </a:r>
            <a:r>
              <a:rPr lang="en-US" altLang="zh-CN" sz="2000" dirty="0" err="1">
                <a:solidFill>
                  <a:srgbClr val="000000"/>
                </a:solidFill>
                <a:latin typeface="Consolas" panose="020B0609020204030204" pitchFamily="49" charset="0"/>
              </a:rPr>
              <a:t>endl</a:t>
            </a:r>
            <a:r>
              <a:rPr lang="en-US" altLang="zh-CN" sz="2000" dirty="0">
                <a:solidFill>
                  <a:srgbClr val="000000"/>
                </a:solidFill>
                <a:latin typeface="Consolas" panose="020B0609020204030204" pitchFamily="49" charset="0"/>
              </a:rPr>
              <a:t>;</a:t>
            </a:r>
            <a:r>
              <a:rPr lang="en-US" altLang="zh-CN" sz="2000" dirty="0">
                <a:latin typeface="Consolas" panose="020B0609020204030204" pitchFamily="49" charset="0"/>
              </a:rPr>
              <a:t> </a:t>
            </a:r>
            <a:endParaRPr lang="zh-CN" altLang="en-US" sz="2000" dirty="0">
              <a:latin typeface="Consolas" panose="020B0609020204030204" pitchFamily="49" charset="0"/>
            </a:endParaRPr>
          </a:p>
        </p:txBody>
      </p:sp>
      <p:sp>
        <p:nvSpPr>
          <p:cNvPr id="22" name="矩形 21"/>
          <p:cNvSpPr/>
          <p:nvPr/>
        </p:nvSpPr>
        <p:spPr>
          <a:xfrm>
            <a:off x="1441450" y="3981450"/>
            <a:ext cx="3587750" cy="583565"/>
          </a:xfrm>
          <a:prstGeom prst="rect">
            <a:avLst/>
          </a:prstGeom>
        </p:spPr>
        <p:txBody>
          <a:bodyPr wrap="square">
            <a:spAutoFit/>
          </a:bodyPr>
          <a:lstStyle/>
          <a:p>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输入： </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10 20 10 30 15 20 10</a:t>
            </a:r>
            <a:b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输出： </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10 is found</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5498031" y="3938283"/>
            <a:ext cx="4834547" cy="1286367"/>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6"/>
          <p:cNvSpPr>
            <a:spLocks noChangeArrowheads="1"/>
          </p:cNvSpPr>
          <p:nvPr/>
        </p:nvSpPr>
        <p:spPr bwMode="auto">
          <a:xfrm>
            <a:off x="4613688" y="982176"/>
            <a:ext cx="8893175" cy="4708981"/>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lang="en-US" altLang="zh-CN" b="0" dirty="0">
                <a:solidFill>
                  <a:srgbClr val="0000CC"/>
                </a:solidFill>
                <a:latin typeface="+mn-lt"/>
              </a:rPr>
              <a:t>int</a:t>
            </a:r>
            <a:r>
              <a:rPr lang="en-US" altLang="zh-CN" b="0" dirty="0">
                <a:latin typeface="+mn-lt"/>
              </a:rPr>
              <a:t> main(){</a:t>
            </a:r>
            <a:endParaRPr lang="en-US" altLang="zh-CN" b="0" dirty="0">
              <a:latin typeface="+mn-lt"/>
            </a:endParaRPr>
          </a:p>
          <a:p>
            <a:pPr eaLnBrk="1" hangingPunct="1"/>
            <a:r>
              <a:rPr lang="en-US" altLang="zh-CN" b="0" dirty="0">
                <a:latin typeface="+mn-lt"/>
              </a:rPr>
              <a:t>   </a:t>
            </a:r>
            <a:r>
              <a:rPr lang="en-US" altLang="zh-CN" b="0" dirty="0">
                <a:solidFill>
                  <a:srgbClr val="0000CC"/>
                </a:solidFill>
                <a:latin typeface="+mn-lt"/>
              </a:rPr>
              <a:t>const int</a:t>
            </a:r>
            <a:r>
              <a:rPr lang="en-US" altLang="zh-CN" b="0" dirty="0">
                <a:latin typeface="+mn-lt"/>
              </a:rPr>
              <a:t> size=16;</a:t>
            </a:r>
            <a:endParaRPr lang="en-US" altLang="zh-CN" b="0" dirty="0">
              <a:latin typeface="+mn-lt"/>
            </a:endParaRPr>
          </a:p>
          <a:p>
            <a:pPr eaLnBrk="1" hangingPunct="1"/>
            <a:r>
              <a:rPr lang="en-US" altLang="zh-CN" b="0" dirty="0">
                <a:latin typeface="+mn-lt"/>
              </a:rPr>
              <a:t>   </a:t>
            </a:r>
            <a:r>
              <a:rPr lang="en-US" altLang="zh-CN" b="0" dirty="0">
                <a:solidFill>
                  <a:srgbClr val="0000CC"/>
                </a:solidFill>
                <a:latin typeface="+mn-lt"/>
              </a:rPr>
              <a:t>int</a:t>
            </a:r>
            <a:r>
              <a:rPr lang="en-US" altLang="zh-CN" b="0" dirty="0">
                <a:latin typeface="+mn-lt"/>
              </a:rPr>
              <a:t> a[size]={17,11,29,89,73,53,61,37,41,29,3,47,31,59,5,2};</a:t>
            </a:r>
            <a:endParaRPr lang="en-US" altLang="zh-CN" b="0" dirty="0">
              <a:latin typeface="+mn-lt"/>
            </a:endParaRPr>
          </a:p>
          <a:p>
            <a:pPr eaLnBrk="1" hangingPunct="1"/>
            <a:r>
              <a:rPr lang="en-US" altLang="zh-CN" b="0" dirty="0">
                <a:latin typeface="+mn-lt"/>
              </a:rPr>
              <a:t>   INTMS </a:t>
            </a:r>
            <a:r>
              <a:rPr lang="en-US" altLang="zh-CN" b="0" dirty="0" err="1">
                <a:latin typeface="+mn-lt"/>
              </a:rPr>
              <a:t>intMultiset</a:t>
            </a:r>
            <a:r>
              <a:rPr lang="en-US" altLang="zh-CN" b="0" dirty="0">
                <a:latin typeface="+mn-lt"/>
              </a:rPr>
              <a:t>(</a:t>
            </a:r>
            <a:r>
              <a:rPr lang="en-US" altLang="zh-CN" b="0" dirty="0" err="1">
                <a:latin typeface="+mn-lt"/>
              </a:rPr>
              <a:t>a,a+size</a:t>
            </a:r>
            <a:r>
              <a:rPr lang="en-US" altLang="zh-CN" b="0" dirty="0">
                <a:latin typeface="+mn-lt"/>
              </a:rPr>
              <a:t>);</a:t>
            </a:r>
            <a:r>
              <a:rPr lang="en-US" altLang="zh-CN" sz="1800" b="0" dirty="0">
                <a:latin typeface="+mn-lt"/>
              </a:rPr>
              <a:t>	</a:t>
            </a:r>
            <a:r>
              <a:rPr lang="en-US" altLang="zh-CN" sz="1800" b="0" dirty="0">
                <a:solidFill>
                  <a:srgbClr val="006600"/>
                </a:solidFill>
                <a:latin typeface="+mn-lt"/>
              </a:rPr>
              <a:t>//</a:t>
            </a:r>
            <a:r>
              <a:rPr lang="zh-CN" altLang="en-US" sz="1800" b="0" dirty="0">
                <a:solidFill>
                  <a:srgbClr val="006600"/>
                </a:solidFill>
                <a:latin typeface="+mn-lt"/>
              </a:rPr>
              <a:t>用</a:t>
            </a:r>
            <a:r>
              <a:rPr lang="en-US" altLang="zh-CN" sz="1800" b="0" dirty="0">
                <a:solidFill>
                  <a:srgbClr val="006600"/>
                </a:solidFill>
                <a:latin typeface="+mn-lt"/>
              </a:rPr>
              <a:t>a</a:t>
            </a:r>
            <a:r>
              <a:rPr lang="zh-CN" altLang="en-US" sz="1800" b="0" dirty="0">
                <a:solidFill>
                  <a:srgbClr val="006600"/>
                </a:solidFill>
                <a:latin typeface="+mn-lt"/>
              </a:rPr>
              <a:t>初始化</a:t>
            </a:r>
            <a:r>
              <a:rPr lang="en-US" altLang="zh-CN" sz="1800" b="0" dirty="0">
                <a:solidFill>
                  <a:srgbClr val="006600"/>
                </a:solidFill>
                <a:latin typeface="+mn-lt"/>
              </a:rPr>
              <a:t>INTMS</a:t>
            </a:r>
            <a:r>
              <a:rPr lang="zh-CN" altLang="en-US" sz="1800" b="0" dirty="0">
                <a:solidFill>
                  <a:srgbClr val="006600"/>
                </a:solidFill>
                <a:latin typeface="+mn-lt"/>
              </a:rPr>
              <a:t>容器实例</a:t>
            </a:r>
            <a:endParaRPr lang="zh-CN" altLang="en-US" b="0" dirty="0">
              <a:solidFill>
                <a:srgbClr val="006600"/>
              </a:solidFill>
              <a:latin typeface="+mn-lt"/>
            </a:endParaRPr>
          </a:p>
          <a:p>
            <a:pPr eaLnBrk="1" hangingPunct="1"/>
            <a:r>
              <a:rPr lang="zh-CN" altLang="en-US" b="0" dirty="0">
                <a:latin typeface="+mn-lt"/>
              </a:rPr>
              <a:t>   </a:t>
            </a:r>
            <a:r>
              <a:rPr lang="en-US" altLang="zh-CN" b="0" dirty="0" err="1">
                <a:latin typeface="+mn-lt"/>
              </a:rPr>
              <a:t>ostream_iterator</a:t>
            </a:r>
            <a:r>
              <a:rPr lang="en-US" altLang="zh-CN" b="0" dirty="0">
                <a:latin typeface="+mn-lt"/>
              </a:rPr>
              <a:t>&lt;</a:t>
            </a:r>
            <a:r>
              <a:rPr lang="en-US" altLang="zh-CN" b="0" dirty="0">
                <a:solidFill>
                  <a:srgbClr val="0000CC"/>
                </a:solidFill>
                <a:latin typeface="+mn-lt"/>
              </a:rPr>
              <a:t>int</a:t>
            </a:r>
            <a:r>
              <a:rPr lang="en-US" altLang="zh-CN" b="0" dirty="0">
                <a:latin typeface="+mn-lt"/>
              </a:rPr>
              <a:t>&gt; output(</a:t>
            </a:r>
            <a:r>
              <a:rPr lang="en-US" altLang="zh-CN" b="0" dirty="0" err="1">
                <a:latin typeface="+mn-lt"/>
              </a:rPr>
              <a:t>cout</a:t>
            </a:r>
            <a:r>
              <a:rPr lang="en-US" altLang="zh-CN" b="0" dirty="0">
                <a:latin typeface="+mn-lt"/>
              </a:rPr>
              <a:t>," ");</a:t>
            </a:r>
            <a:endParaRPr lang="en-US" altLang="zh-CN" b="0" dirty="0">
              <a:latin typeface="+mn-lt"/>
            </a:endParaRPr>
          </a:p>
          <a:p>
            <a:pPr eaLnBrk="1" hangingPunct="1"/>
            <a:r>
              <a:rPr lang="en-US" altLang="zh-CN" b="0" dirty="0">
                <a:latin typeface="+mn-lt"/>
              </a:rPr>
              <a:t>      </a:t>
            </a:r>
            <a:r>
              <a:rPr lang="en-US" altLang="zh-CN" sz="1800" b="0" dirty="0">
                <a:solidFill>
                  <a:srgbClr val="006600"/>
                </a:solidFill>
                <a:latin typeface="+mn-lt"/>
              </a:rPr>
              <a:t>//</a:t>
            </a:r>
            <a:r>
              <a:rPr lang="zh-CN" altLang="en-US" sz="1800" b="0" dirty="0">
                <a:solidFill>
                  <a:srgbClr val="006600"/>
                </a:solidFill>
                <a:latin typeface="+mn-lt"/>
              </a:rPr>
              <a:t>整型输出迭代器</a:t>
            </a:r>
            <a:r>
              <a:rPr lang="en-US" altLang="zh-CN" sz="1800" b="0" dirty="0">
                <a:solidFill>
                  <a:srgbClr val="006600"/>
                </a:solidFill>
                <a:latin typeface="+mn-lt"/>
              </a:rPr>
              <a:t>output</a:t>
            </a:r>
            <a:r>
              <a:rPr lang="zh-CN" altLang="en-US" sz="1800" b="0" dirty="0">
                <a:solidFill>
                  <a:srgbClr val="006600"/>
                </a:solidFill>
                <a:latin typeface="+mn-lt"/>
              </a:rPr>
              <a:t>，可通过</a:t>
            </a:r>
            <a:r>
              <a:rPr lang="en-US" altLang="zh-CN" sz="1800" b="0" dirty="0" err="1">
                <a:solidFill>
                  <a:srgbClr val="006600"/>
                </a:solidFill>
                <a:latin typeface="+mn-lt"/>
              </a:rPr>
              <a:t>cout</a:t>
            </a:r>
            <a:r>
              <a:rPr lang="zh-CN" altLang="en-US" sz="1800" b="0" dirty="0">
                <a:solidFill>
                  <a:srgbClr val="006600"/>
                </a:solidFill>
                <a:latin typeface="+mn-lt"/>
              </a:rPr>
              <a:t>输出用空格分隔的整数</a:t>
            </a:r>
            <a:endParaRPr lang="zh-CN" altLang="en-US" sz="1800" b="0" dirty="0">
              <a:solidFill>
                <a:srgbClr val="006600"/>
              </a:solidFill>
              <a:latin typeface="+mn-lt"/>
            </a:endParaRPr>
          </a:p>
          <a:p>
            <a:pPr eaLnBrk="1" hangingPunct="1"/>
            <a:r>
              <a:rPr lang="zh-CN" altLang="en-US" b="0" dirty="0">
                <a:latin typeface="+mn-lt"/>
              </a:rPr>
              <a:t>   </a:t>
            </a:r>
            <a:r>
              <a:rPr lang="en-US" altLang="zh-CN" b="0" dirty="0" err="1">
                <a:latin typeface="+mn-lt"/>
              </a:rPr>
              <a:t>cout</a:t>
            </a:r>
            <a:r>
              <a:rPr lang="en-US" altLang="zh-CN" b="0" dirty="0">
                <a:latin typeface="+mn-lt"/>
              </a:rPr>
              <a:t>&lt;&lt;"</a:t>
            </a:r>
            <a:r>
              <a:rPr lang="zh-CN" altLang="en-US" b="0" dirty="0">
                <a:latin typeface="+mn-lt"/>
              </a:rPr>
              <a:t>这里原来有</a:t>
            </a:r>
            <a:r>
              <a:rPr lang="en-US" altLang="zh-CN" b="0" dirty="0">
                <a:latin typeface="+mn-lt"/>
              </a:rPr>
              <a:t>"&lt;&lt;</a:t>
            </a:r>
            <a:r>
              <a:rPr lang="en-US" altLang="zh-CN" b="0" dirty="0" err="1">
                <a:latin typeface="+mn-lt"/>
              </a:rPr>
              <a:t>intMultiset.count</a:t>
            </a:r>
            <a:r>
              <a:rPr lang="en-US" altLang="zh-CN" b="0" dirty="0">
                <a:latin typeface="+mn-lt"/>
              </a:rPr>
              <a:t>(17)</a:t>
            </a:r>
            <a:endParaRPr lang="en-US" altLang="zh-CN" b="0" dirty="0">
              <a:latin typeface="+mn-lt"/>
            </a:endParaRPr>
          </a:p>
          <a:p>
            <a:pPr eaLnBrk="1" hangingPunct="1"/>
            <a:r>
              <a:rPr lang="en-US" altLang="zh-CN" b="0" dirty="0">
                <a:latin typeface="+mn-lt"/>
              </a:rPr>
              <a:t>          &lt;&lt;"</a:t>
            </a:r>
            <a:r>
              <a:rPr lang="zh-CN" altLang="en-US" b="0" dirty="0">
                <a:latin typeface="+mn-lt"/>
              </a:rPr>
              <a:t>个数值</a:t>
            </a:r>
            <a:r>
              <a:rPr lang="en-US" altLang="zh-CN" b="0" dirty="0">
                <a:latin typeface="+mn-lt"/>
              </a:rPr>
              <a:t>17"&lt;&lt;</a:t>
            </a:r>
            <a:r>
              <a:rPr lang="en-US" altLang="zh-CN" b="0" dirty="0" err="1">
                <a:latin typeface="+mn-lt"/>
              </a:rPr>
              <a:t>endl</a:t>
            </a:r>
            <a:r>
              <a:rPr lang="en-US" altLang="zh-CN" b="0" dirty="0">
                <a:latin typeface="+mn-lt"/>
              </a:rPr>
              <a:t>;     </a:t>
            </a:r>
            <a:r>
              <a:rPr lang="en-US" altLang="zh-CN" sz="1800" b="0" dirty="0">
                <a:latin typeface="+mn-lt"/>
              </a:rPr>
              <a:t> </a:t>
            </a:r>
            <a:r>
              <a:rPr lang="en-US" altLang="zh-CN" sz="1800" b="0" dirty="0">
                <a:solidFill>
                  <a:srgbClr val="006600"/>
                </a:solidFill>
                <a:latin typeface="+mn-lt"/>
              </a:rPr>
              <a:t>//</a:t>
            </a:r>
            <a:r>
              <a:rPr lang="zh-CN" altLang="en-US" sz="1800" b="0" dirty="0">
                <a:solidFill>
                  <a:srgbClr val="006600"/>
                </a:solidFill>
                <a:latin typeface="+mn-lt"/>
              </a:rPr>
              <a:t>查找有几个关键字</a:t>
            </a:r>
            <a:r>
              <a:rPr lang="en-US" altLang="zh-CN" sz="1800" b="0" dirty="0">
                <a:solidFill>
                  <a:srgbClr val="006600"/>
                </a:solidFill>
                <a:latin typeface="+mn-lt"/>
              </a:rPr>
              <a:t>17</a:t>
            </a:r>
            <a:endParaRPr lang="en-US" altLang="zh-CN" b="0" dirty="0">
              <a:solidFill>
                <a:srgbClr val="006600"/>
              </a:solidFill>
              <a:latin typeface="+mn-lt"/>
            </a:endParaRPr>
          </a:p>
          <a:p>
            <a:pPr eaLnBrk="1" hangingPunct="1"/>
            <a:r>
              <a:rPr lang="en-US" altLang="zh-CN" b="0" dirty="0">
                <a:latin typeface="+mn-lt"/>
              </a:rPr>
              <a:t>   </a:t>
            </a:r>
            <a:r>
              <a:rPr lang="en-US" altLang="zh-CN" b="0" dirty="0" err="1">
                <a:latin typeface="+mn-lt"/>
              </a:rPr>
              <a:t>intMultiset.insert</a:t>
            </a:r>
            <a:r>
              <a:rPr lang="en-US" altLang="zh-CN" b="0" dirty="0">
                <a:latin typeface="+mn-lt"/>
              </a:rPr>
              <a:t>(17);             </a:t>
            </a:r>
            <a:r>
              <a:rPr lang="en-US" altLang="zh-CN" sz="1800" b="0" dirty="0">
                <a:solidFill>
                  <a:srgbClr val="006600"/>
                </a:solidFill>
                <a:latin typeface="+mn-lt"/>
              </a:rPr>
              <a:t>//</a:t>
            </a:r>
            <a:r>
              <a:rPr lang="zh-CN" altLang="en-US" sz="1800" b="0" dirty="0">
                <a:solidFill>
                  <a:srgbClr val="006600"/>
                </a:solidFill>
                <a:latin typeface="+mn-lt"/>
              </a:rPr>
              <a:t>插入一个重复的数</a:t>
            </a:r>
            <a:r>
              <a:rPr lang="en-US" altLang="zh-CN" sz="1800" b="0" dirty="0">
                <a:solidFill>
                  <a:srgbClr val="006600"/>
                </a:solidFill>
                <a:latin typeface="+mn-lt"/>
              </a:rPr>
              <a:t>17</a:t>
            </a:r>
            <a:endParaRPr lang="en-US" altLang="zh-CN" b="0" dirty="0">
              <a:solidFill>
                <a:srgbClr val="006600"/>
              </a:solidFill>
              <a:latin typeface="+mn-lt"/>
            </a:endParaRPr>
          </a:p>
          <a:p>
            <a:pPr eaLnBrk="1" hangingPunct="1"/>
            <a:r>
              <a:rPr lang="en-US" altLang="zh-CN" b="0" dirty="0">
                <a:latin typeface="+mn-lt"/>
              </a:rPr>
              <a:t>   </a:t>
            </a:r>
            <a:r>
              <a:rPr lang="en-US" altLang="zh-CN" b="0" dirty="0" err="1">
                <a:latin typeface="+mn-lt"/>
              </a:rPr>
              <a:t>cout</a:t>
            </a:r>
            <a:r>
              <a:rPr lang="en-US" altLang="zh-CN" b="0" dirty="0">
                <a:latin typeface="+mn-lt"/>
              </a:rPr>
              <a:t>&lt;&lt;"</a:t>
            </a:r>
            <a:r>
              <a:rPr lang="zh-CN" altLang="en-US" b="0" dirty="0">
                <a:latin typeface="+mn-lt"/>
              </a:rPr>
              <a:t>输入后这里有</a:t>
            </a:r>
            <a:r>
              <a:rPr lang="en-US" altLang="zh-CN" b="0" dirty="0">
                <a:latin typeface="+mn-lt"/>
              </a:rPr>
              <a:t>"&lt;&lt;</a:t>
            </a:r>
            <a:r>
              <a:rPr lang="en-US" altLang="zh-CN" b="0" dirty="0" err="1">
                <a:latin typeface="+mn-lt"/>
              </a:rPr>
              <a:t>intMultiset.count</a:t>
            </a:r>
            <a:r>
              <a:rPr lang="en-US" altLang="zh-CN" b="0" dirty="0">
                <a:latin typeface="+mn-lt"/>
              </a:rPr>
              <a:t>(17)</a:t>
            </a:r>
            <a:endParaRPr lang="en-US" altLang="zh-CN" b="0" dirty="0">
              <a:latin typeface="+mn-lt"/>
            </a:endParaRPr>
          </a:p>
          <a:p>
            <a:pPr eaLnBrk="1" hangingPunct="1"/>
            <a:r>
              <a:rPr lang="en-US" altLang="zh-CN" b="0" dirty="0">
                <a:latin typeface="+mn-lt"/>
              </a:rPr>
              <a:t>            &lt;&lt;"</a:t>
            </a:r>
            <a:r>
              <a:rPr lang="zh-CN" altLang="en-US" b="0" dirty="0">
                <a:latin typeface="+mn-lt"/>
              </a:rPr>
              <a:t>个数值</a:t>
            </a:r>
            <a:r>
              <a:rPr lang="en-US" altLang="zh-CN" b="0" dirty="0">
                <a:latin typeface="+mn-lt"/>
              </a:rPr>
              <a:t>17"&lt;&lt;</a:t>
            </a:r>
            <a:r>
              <a:rPr lang="en-US" altLang="zh-CN" b="0" dirty="0" err="1">
                <a:latin typeface="+mn-lt"/>
              </a:rPr>
              <a:t>endl</a:t>
            </a:r>
            <a:r>
              <a:rPr lang="en-US" altLang="zh-CN" b="0" dirty="0">
                <a:latin typeface="+mn-lt"/>
              </a:rPr>
              <a:t>;</a:t>
            </a:r>
            <a:endParaRPr lang="en-US" altLang="zh-CN" b="0" dirty="0">
              <a:latin typeface="+mn-lt"/>
            </a:endParaRPr>
          </a:p>
          <a:p>
            <a:pPr eaLnBrk="1" hangingPunct="1"/>
            <a:r>
              <a:rPr lang="en-US" altLang="zh-CN" b="0" dirty="0">
                <a:latin typeface="+mn-lt"/>
              </a:rPr>
              <a:t>   INTMS::</a:t>
            </a:r>
            <a:r>
              <a:rPr lang="en-US" altLang="zh-CN" b="0" dirty="0" err="1">
                <a:latin typeface="+mn-lt"/>
              </a:rPr>
              <a:t>const_iterator</a:t>
            </a:r>
            <a:r>
              <a:rPr lang="en-US" altLang="zh-CN" b="0" dirty="0">
                <a:latin typeface="+mn-lt"/>
              </a:rPr>
              <a:t> result;</a:t>
            </a:r>
            <a:endParaRPr lang="en-US" altLang="zh-CN" b="0" dirty="0">
              <a:latin typeface="+mn-lt"/>
            </a:endParaRPr>
          </a:p>
          <a:p>
            <a:pPr eaLnBrk="1" hangingPunct="1"/>
            <a:r>
              <a:rPr lang="en-US" altLang="zh-CN" b="0" dirty="0">
                <a:latin typeface="+mn-lt"/>
              </a:rPr>
              <a:t>    </a:t>
            </a:r>
            <a:r>
              <a:rPr lang="en-US" altLang="zh-CN" sz="1800" b="0" dirty="0">
                <a:solidFill>
                  <a:srgbClr val="006600"/>
                </a:solidFill>
                <a:latin typeface="+mn-lt"/>
              </a:rPr>
              <a:t>//</a:t>
            </a:r>
            <a:r>
              <a:rPr lang="en-US" altLang="zh-CN" sz="1800" b="0" dirty="0" err="1">
                <a:solidFill>
                  <a:srgbClr val="006600"/>
                </a:solidFill>
                <a:latin typeface="+mn-lt"/>
              </a:rPr>
              <a:t>const_iterator</a:t>
            </a:r>
            <a:r>
              <a:rPr lang="zh-CN" altLang="en-US" sz="1800" b="0" dirty="0">
                <a:solidFill>
                  <a:srgbClr val="006600"/>
                </a:solidFill>
                <a:latin typeface="+mn-lt"/>
              </a:rPr>
              <a:t>可读</a:t>
            </a:r>
            <a:r>
              <a:rPr lang="en-US" altLang="zh-CN" sz="1800" b="0" dirty="0">
                <a:solidFill>
                  <a:srgbClr val="006600"/>
                </a:solidFill>
                <a:latin typeface="+mn-lt"/>
              </a:rPr>
              <a:t>INTMS</a:t>
            </a:r>
            <a:r>
              <a:rPr lang="zh-CN" altLang="en-US" sz="1800" b="0" dirty="0">
                <a:solidFill>
                  <a:srgbClr val="006600"/>
                </a:solidFill>
                <a:latin typeface="+mn-lt"/>
              </a:rPr>
              <a:t>的元素，但不能修改元素</a:t>
            </a:r>
            <a:endParaRPr lang="en-US" altLang="zh-CN" sz="1800" b="0" dirty="0">
              <a:solidFill>
                <a:srgbClr val="006600"/>
              </a:solidFill>
              <a:latin typeface="+mn-lt"/>
            </a:endParaRPr>
          </a:p>
          <a:p>
            <a:pPr eaLnBrk="1" hangingPunct="1"/>
            <a:r>
              <a:rPr lang="zh-CN" altLang="en-US" b="0" dirty="0">
                <a:latin typeface="+mn-lt"/>
              </a:rPr>
              <a:t>   </a:t>
            </a:r>
            <a:r>
              <a:rPr lang="en-US" altLang="zh-CN" b="0" dirty="0">
                <a:latin typeface="+mn-lt"/>
              </a:rPr>
              <a:t>result=</a:t>
            </a:r>
            <a:r>
              <a:rPr lang="en-US" altLang="zh-CN" b="0" dirty="0" err="1">
                <a:latin typeface="+mn-lt"/>
              </a:rPr>
              <a:t>intMultiset.find</a:t>
            </a:r>
            <a:r>
              <a:rPr lang="en-US" altLang="zh-CN" b="0" dirty="0">
                <a:latin typeface="+mn-lt"/>
              </a:rPr>
              <a:t>(18);</a:t>
            </a:r>
            <a:endParaRPr lang="en-US" altLang="zh-CN" b="0" dirty="0">
              <a:latin typeface="+mn-lt"/>
            </a:endParaRPr>
          </a:p>
          <a:p>
            <a:pPr eaLnBrk="1" hangingPunct="1"/>
            <a:r>
              <a:rPr lang="en-US" altLang="zh-CN" b="0" dirty="0">
                <a:latin typeface="+mn-lt"/>
              </a:rPr>
              <a:t>     </a:t>
            </a:r>
            <a:r>
              <a:rPr lang="en-US" altLang="zh-CN" sz="1800" b="0" dirty="0">
                <a:solidFill>
                  <a:srgbClr val="006600"/>
                </a:solidFill>
                <a:latin typeface="+mn-lt"/>
              </a:rPr>
              <a:t>//</a:t>
            </a:r>
            <a:r>
              <a:rPr lang="zh-CN" altLang="en-US" sz="1800" b="0" dirty="0">
                <a:solidFill>
                  <a:srgbClr val="006600"/>
                </a:solidFill>
                <a:latin typeface="+mn-lt"/>
              </a:rPr>
              <a:t>找到则返回所在位置，没找到返回尾部元素之后的位置</a:t>
            </a:r>
            <a:endParaRPr lang="zh-CN" altLang="en-US" b="0" dirty="0">
              <a:solidFill>
                <a:srgbClr val="006600"/>
              </a:solidFill>
              <a:latin typeface="+mn-lt"/>
            </a:endParaRPr>
          </a:p>
        </p:txBody>
      </p:sp>
      <p:sp>
        <p:nvSpPr>
          <p:cNvPr id="9" name="Text Box 4"/>
          <p:cNvSpPr txBox="1">
            <a:spLocks noChangeArrowheads="1"/>
          </p:cNvSpPr>
          <p:nvPr/>
        </p:nvSpPr>
        <p:spPr bwMode="auto">
          <a:xfrm>
            <a:off x="688217" y="982176"/>
            <a:ext cx="352597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lang="en-US" altLang="zh-CN" b="0" dirty="0">
                <a:latin typeface="+mn-lt"/>
              </a:rPr>
              <a:t>#include&lt;iostream&gt;</a:t>
            </a:r>
            <a:endParaRPr lang="en-US" altLang="zh-CN" b="0" dirty="0">
              <a:latin typeface="+mn-lt"/>
            </a:endParaRPr>
          </a:p>
          <a:p>
            <a:pPr eaLnBrk="1" hangingPunct="1"/>
            <a:r>
              <a:rPr lang="en-US" altLang="zh-CN" b="0" dirty="0">
                <a:solidFill>
                  <a:srgbClr val="0000CC"/>
                </a:solidFill>
                <a:latin typeface="+mn-lt"/>
              </a:rPr>
              <a:t>#include&lt;</a:t>
            </a:r>
            <a:r>
              <a:rPr lang="en-US" altLang="zh-CN" b="0" dirty="0">
                <a:solidFill>
                  <a:srgbClr val="FF0000"/>
                </a:solidFill>
                <a:latin typeface="+mn-lt"/>
              </a:rPr>
              <a:t>set</a:t>
            </a:r>
            <a:r>
              <a:rPr lang="en-US" altLang="zh-CN" b="0" dirty="0">
                <a:solidFill>
                  <a:srgbClr val="0000CC"/>
                </a:solidFill>
                <a:latin typeface="+mn-lt"/>
              </a:rPr>
              <a:t>&gt;	</a:t>
            </a:r>
            <a:endParaRPr lang="zh-CN" altLang="en-US" b="0" dirty="0">
              <a:solidFill>
                <a:srgbClr val="006600"/>
              </a:solidFill>
              <a:latin typeface="+mn-lt"/>
            </a:endParaRPr>
          </a:p>
          <a:p>
            <a:pPr eaLnBrk="1" hangingPunct="1"/>
            <a:r>
              <a:rPr lang="en-US" altLang="zh-CN" b="0" dirty="0">
                <a:solidFill>
                  <a:srgbClr val="0000CC"/>
                </a:solidFill>
                <a:latin typeface="+mn-lt"/>
              </a:rPr>
              <a:t>#include&lt;</a:t>
            </a:r>
            <a:r>
              <a:rPr lang="en-US" altLang="zh-CN" b="0" dirty="0">
                <a:solidFill>
                  <a:srgbClr val="FF0000"/>
                </a:solidFill>
                <a:latin typeface="+mn-lt"/>
              </a:rPr>
              <a:t>algorithm</a:t>
            </a:r>
            <a:r>
              <a:rPr lang="en-US" altLang="zh-CN" b="0" dirty="0">
                <a:solidFill>
                  <a:srgbClr val="0000CC"/>
                </a:solidFill>
                <a:latin typeface="+mn-lt"/>
              </a:rPr>
              <a:t>&gt;</a:t>
            </a:r>
            <a:endParaRPr lang="en-US" altLang="zh-CN" b="0" dirty="0">
              <a:solidFill>
                <a:srgbClr val="0000CC"/>
              </a:solidFill>
              <a:latin typeface="+mn-lt"/>
            </a:endParaRPr>
          </a:p>
          <a:p>
            <a:pPr eaLnBrk="1" hangingPunct="1"/>
            <a:r>
              <a:rPr lang="en-US" altLang="zh-CN" b="0" dirty="0">
                <a:latin typeface="+mn-lt"/>
              </a:rPr>
              <a:t>using namespace std; </a:t>
            </a:r>
            <a:endParaRPr lang="en-US" altLang="zh-CN" b="0" dirty="0">
              <a:latin typeface="+mn-lt"/>
            </a:endParaRPr>
          </a:p>
          <a:p>
            <a:pPr eaLnBrk="1" hangingPunct="1"/>
            <a:r>
              <a:rPr lang="en-US" altLang="zh-CN" b="0" dirty="0">
                <a:solidFill>
                  <a:srgbClr val="0000CC"/>
                </a:solidFill>
                <a:latin typeface="+mn-lt"/>
              </a:rPr>
              <a:t>typedef </a:t>
            </a:r>
            <a:r>
              <a:rPr lang="en-US" altLang="zh-CN" b="0" dirty="0">
                <a:latin typeface="+mn-lt"/>
              </a:rPr>
              <a:t>multiset&lt;int&gt; </a:t>
            </a:r>
            <a:r>
              <a:rPr lang="en-US" altLang="zh-CN" b="0" dirty="0">
                <a:solidFill>
                  <a:srgbClr val="0066FF"/>
                </a:solidFill>
                <a:latin typeface="+mn-lt"/>
              </a:rPr>
              <a:t>INTMS</a:t>
            </a:r>
            <a:r>
              <a:rPr lang="en-US" altLang="zh-CN" b="0" dirty="0">
                <a:latin typeface="+mn-lt"/>
              </a:rPr>
              <a:t>; </a:t>
            </a:r>
            <a:endParaRPr lang="en-US" altLang="zh-CN" b="0" dirty="0">
              <a:latin typeface="+mn-lt"/>
            </a:endParaRPr>
          </a:p>
        </p:txBody>
      </p:sp>
      <p:sp>
        <p:nvSpPr>
          <p:cNvPr id="10" name="Text Box 10"/>
          <p:cNvSpPr txBox="1">
            <a:spLocks noChangeArrowheads="1"/>
          </p:cNvSpPr>
          <p:nvPr/>
        </p:nvSpPr>
        <p:spPr bwMode="auto">
          <a:xfrm>
            <a:off x="688217" y="251240"/>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例：</a:t>
            </a:r>
            <a:r>
              <a:rPr kumimoji="0" lang="en-US" altLang="zh-CN" sz="2800" dirty="0">
                <a:solidFill>
                  <a:srgbClr val="006600"/>
                </a:solidFill>
                <a:ea typeface="隶书" panose="02010509060101010101" pitchFamily="49" charset="-122"/>
              </a:rPr>
              <a:t>multiset</a:t>
            </a:r>
            <a:r>
              <a:rPr kumimoji="0" lang="zh-CN" altLang="en-US" sz="2800" dirty="0">
                <a:solidFill>
                  <a:srgbClr val="006600"/>
                </a:solidFill>
                <a:ea typeface="隶书" panose="02010509060101010101" pitchFamily="49" charset="-122"/>
              </a:rPr>
              <a:t>存放整型数据</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4"/>
          <p:cNvSpPr txBox="1">
            <a:spLocks noChangeArrowheads="1"/>
          </p:cNvSpPr>
          <p:nvPr/>
        </p:nvSpPr>
        <p:spPr bwMode="auto">
          <a:xfrm>
            <a:off x="1354138" y="625131"/>
            <a:ext cx="882015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b="1">
                <a:solidFill>
                  <a:schemeClr val="tx1"/>
                </a:solidFill>
                <a:latin typeface="Arial" panose="020B0604020202020204" pitchFamily="34" charset="0"/>
                <a:ea typeface="幼圆" panose="02010509060101010101" pitchFamily="49" charset="-122"/>
              </a:defRPr>
            </a:lvl1pPr>
            <a:lvl2pPr marL="742950" indent="-285750">
              <a:defRPr kumimoji="1" sz="2000" b="1">
                <a:solidFill>
                  <a:schemeClr val="tx1"/>
                </a:solidFill>
                <a:latin typeface="Arial" panose="020B0604020202020204" pitchFamily="34" charset="0"/>
                <a:ea typeface="幼圆" panose="02010509060101010101" pitchFamily="49" charset="-122"/>
              </a:defRPr>
            </a:lvl2pPr>
            <a:lvl3pPr marL="1143000" indent="-228600">
              <a:defRPr kumimoji="1" sz="2000" b="1">
                <a:solidFill>
                  <a:schemeClr val="tx1"/>
                </a:solidFill>
                <a:latin typeface="Arial" panose="020B0604020202020204" pitchFamily="34" charset="0"/>
                <a:ea typeface="幼圆" panose="02010509060101010101" pitchFamily="49" charset="-122"/>
              </a:defRPr>
            </a:lvl3pPr>
            <a:lvl4pPr marL="1600200" indent="-228600">
              <a:defRPr kumimoji="1" sz="2000" b="1">
                <a:solidFill>
                  <a:schemeClr val="tx1"/>
                </a:solidFill>
                <a:latin typeface="Arial" panose="020B0604020202020204" pitchFamily="34" charset="0"/>
                <a:ea typeface="幼圆" panose="02010509060101010101" pitchFamily="49" charset="-122"/>
              </a:defRPr>
            </a:lvl4pPr>
            <a:lvl5pPr marL="2057400" indent="-228600">
              <a:defRPr kumimoji="1" sz="2000" b="1">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defRPr kumimoji="1" sz="2000" b="1">
                <a:solidFill>
                  <a:schemeClr val="tx1"/>
                </a:solidFill>
                <a:latin typeface="Arial" panose="020B0604020202020204" pitchFamily="34" charset="0"/>
                <a:ea typeface="幼圆" panose="02010509060101010101" pitchFamily="49" charset="-122"/>
              </a:defRPr>
            </a:lvl9pPr>
          </a:lstStyle>
          <a:p>
            <a:pPr eaLnBrk="1" hangingPunct="1"/>
            <a:r>
              <a:rPr lang="en-US" altLang="zh-CN" b="0" dirty="0">
                <a:solidFill>
                  <a:srgbClr val="0000CC"/>
                </a:solidFill>
                <a:latin typeface="+mn-lt"/>
              </a:rPr>
              <a:t>   if</a:t>
            </a:r>
            <a:r>
              <a:rPr lang="en-US" altLang="zh-CN" b="0" dirty="0">
                <a:latin typeface="+mn-lt"/>
              </a:rPr>
              <a:t>(result==</a:t>
            </a:r>
            <a:r>
              <a:rPr lang="en-US" altLang="zh-CN" b="0" dirty="0" err="1">
                <a:latin typeface="+mn-lt"/>
              </a:rPr>
              <a:t>intMultiset.end</a:t>
            </a:r>
            <a:r>
              <a:rPr lang="en-US" altLang="zh-CN" b="0" dirty="0">
                <a:latin typeface="+mn-lt"/>
              </a:rPr>
              <a:t>()) </a:t>
            </a:r>
            <a:r>
              <a:rPr lang="en-US" altLang="zh-CN" b="0" dirty="0" err="1">
                <a:latin typeface="+mn-lt"/>
              </a:rPr>
              <a:t>cout</a:t>
            </a:r>
            <a:r>
              <a:rPr lang="en-US" altLang="zh-CN" b="0" dirty="0">
                <a:latin typeface="+mn-lt"/>
              </a:rPr>
              <a:t>&lt;&lt;"</a:t>
            </a:r>
            <a:r>
              <a:rPr lang="zh-CN" altLang="en-US" b="0" dirty="0">
                <a:latin typeface="+mn-lt"/>
              </a:rPr>
              <a:t>没找到值</a:t>
            </a:r>
            <a:r>
              <a:rPr lang="en-US" altLang="zh-CN" b="0" dirty="0">
                <a:latin typeface="+mn-lt"/>
              </a:rPr>
              <a:t>18"&lt;&lt;</a:t>
            </a:r>
            <a:r>
              <a:rPr lang="en-US" altLang="zh-CN" b="0" dirty="0" err="1">
                <a:latin typeface="+mn-lt"/>
              </a:rPr>
              <a:t>endl</a:t>
            </a:r>
            <a:r>
              <a:rPr lang="en-US" altLang="zh-CN" b="0" dirty="0">
                <a:latin typeface="+mn-lt"/>
              </a:rPr>
              <a:t>;</a:t>
            </a:r>
            <a:endParaRPr lang="en-US" altLang="zh-CN" b="0" dirty="0">
              <a:latin typeface="+mn-lt"/>
            </a:endParaRPr>
          </a:p>
          <a:p>
            <a:pPr eaLnBrk="1" hangingPunct="1"/>
            <a:r>
              <a:rPr lang="en-US" altLang="zh-CN" b="0" dirty="0">
                <a:latin typeface="+mn-lt"/>
              </a:rPr>
              <a:t>   </a:t>
            </a:r>
            <a:r>
              <a:rPr lang="en-US" altLang="zh-CN" b="0" dirty="0">
                <a:solidFill>
                  <a:srgbClr val="0000CC"/>
                </a:solidFill>
                <a:latin typeface="+mn-lt"/>
              </a:rPr>
              <a:t>else </a:t>
            </a:r>
            <a:r>
              <a:rPr lang="en-US" altLang="zh-CN" b="0" dirty="0" err="1">
                <a:latin typeface="+mn-lt"/>
              </a:rPr>
              <a:t>cout</a:t>
            </a:r>
            <a:r>
              <a:rPr lang="en-US" altLang="zh-CN" b="0" dirty="0">
                <a:latin typeface="+mn-lt"/>
              </a:rPr>
              <a:t>&lt;&lt;"</a:t>
            </a:r>
            <a:r>
              <a:rPr lang="zh-CN" altLang="en-US" b="0" dirty="0">
                <a:latin typeface="+mn-lt"/>
              </a:rPr>
              <a:t>找到值</a:t>
            </a:r>
            <a:r>
              <a:rPr lang="en-US" altLang="zh-CN" b="0" dirty="0">
                <a:latin typeface="+mn-lt"/>
              </a:rPr>
              <a:t>18"&lt;&lt;</a:t>
            </a:r>
            <a:r>
              <a:rPr lang="en-US" altLang="zh-CN" b="0" dirty="0" err="1">
                <a:latin typeface="+mn-lt"/>
              </a:rPr>
              <a:t>endl</a:t>
            </a:r>
            <a:r>
              <a:rPr lang="en-US" altLang="zh-CN" b="0" dirty="0">
                <a:latin typeface="+mn-lt"/>
              </a:rPr>
              <a:t>;</a:t>
            </a:r>
            <a:endParaRPr lang="en-US" altLang="zh-CN" b="0" dirty="0">
              <a:latin typeface="+mn-lt"/>
            </a:endParaRPr>
          </a:p>
          <a:p>
            <a:pPr eaLnBrk="1" hangingPunct="1"/>
            <a:r>
              <a:rPr lang="en-US" altLang="zh-CN" b="0" dirty="0">
                <a:latin typeface="+mn-lt"/>
              </a:rPr>
              <a:t>   </a:t>
            </a:r>
            <a:r>
              <a:rPr lang="en-US" altLang="zh-CN" b="0" dirty="0" err="1">
                <a:latin typeface="+mn-lt"/>
              </a:rPr>
              <a:t>cout</a:t>
            </a:r>
            <a:r>
              <a:rPr lang="en-US" altLang="zh-CN" b="0" dirty="0">
                <a:latin typeface="+mn-lt"/>
              </a:rPr>
              <a:t>&lt;&lt;"</a:t>
            </a:r>
            <a:r>
              <a:rPr lang="en-US" altLang="zh-CN" b="0" dirty="0" err="1">
                <a:latin typeface="+mn-lt"/>
              </a:rPr>
              <a:t>intMultiset</a:t>
            </a:r>
            <a:r>
              <a:rPr lang="zh-CN" altLang="en-US" b="0" dirty="0">
                <a:latin typeface="+mn-lt"/>
              </a:rPr>
              <a:t>容器中有</a:t>
            </a:r>
            <a:r>
              <a:rPr lang="en-US" altLang="zh-CN" b="0" dirty="0">
                <a:latin typeface="+mn-lt"/>
              </a:rPr>
              <a:t>"&lt;&lt;</a:t>
            </a:r>
            <a:r>
              <a:rPr lang="en-US" altLang="zh-CN" b="0" dirty="0" err="1">
                <a:latin typeface="+mn-lt"/>
              </a:rPr>
              <a:t>endl</a:t>
            </a:r>
            <a:r>
              <a:rPr lang="en-US" altLang="zh-CN" b="0" dirty="0">
                <a:latin typeface="+mn-lt"/>
              </a:rPr>
              <a:t>;</a:t>
            </a:r>
            <a:endParaRPr lang="en-US" altLang="zh-CN" b="0" dirty="0">
              <a:latin typeface="+mn-lt"/>
            </a:endParaRPr>
          </a:p>
          <a:p>
            <a:pPr eaLnBrk="1" hangingPunct="1"/>
            <a:r>
              <a:rPr lang="en-US" altLang="zh-CN" b="0" dirty="0">
                <a:latin typeface="+mn-lt"/>
              </a:rPr>
              <a:t>   copy(</a:t>
            </a:r>
            <a:r>
              <a:rPr lang="en-US" altLang="zh-CN" b="0" dirty="0" err="1">
                <a:latin typeface="+mn-lt"/>
              </a:rPr>
              <a:t>intMultiset.begin</a:t>
            </a:r>
            <a:r>
              <a:rPr lang="en-US" altLang="zh-CN" b="0" dirty="0">
                <a:latin typeface="+mn-lt"/>
              </a:rPr>
              <a:t>(),</a:t>
            </a:r>
            <a:r>
              <a:rPr lang="en-US" altLang="zh-CN" b="0" dirty="0" err="1">
                <a:latin typeface="+mn-lt"/>
              </a:rPr>
              <a:t>intMultiset.end</a:t>
            </a:r>
            <a:r>
              <a:rPr lang="en-US" altLang="zh-CN" b="0" dirty="0">
                <a:latin typeface="+mn-lt"/>
              </a:rPr>
              <a:t>(),output); </a:t>
            </a:r>
            <a:endParaRPr lang="en-US" altLang="zh-CN" b="0" dirty="0">
              <a:latin typeface="+mn-lt"/>
            </a:endParaRPr>
          </a:p>
          <a:p>
            <a:pPr eaLnBrk="1" hangingPunct="1"/>
            <a:r>
              <a:rPr lang="en-US" altLang="zh-CN" b="0" dirty="0">
                <a:latin typeface="+mn-lt"/>
              </a:rPr>
              <a:t>   </a:t>
            </a:r>
            <a:r>
              <a:rPr lang="en-US" altLang="zh-CN" b="0" dirty="0">
                <a:solidFill>
                  <a:srgbClr val="006600"/>
                </a:solidFill>
                <a:latin typeface="+mn-lt"/>
              </a:rPr>
              <a:t>//</a:t>
            </a:r>
            <a:r>
              <a:rPr lang="zh-CN" altLang="en-US" b="0" dirty="0">
                <a:solidFill>
                  <a:srgbClr val="006600"/>
                </a:solidFill>
                <a:latin typeface="+mn-lt"/>
              </a:rPr>
              <a:t>输出容器中全部元素</a:t>
            </a:r>
            <a:endParaRPr lang="zh-CN" altLang="en-US" b="0" dirty="0">
              <a:solidFill>
                <a:srgbClr val="006600"/>
              </a:solidFill>
              <a:latin typeface="+mn-lt"/>
            </a:endParaRPr>
          </a:p>
          <a:p>
            <a:pPr eaLnBrk="1" hangingPunct="1"/>
            <a:r>
              <a:rPr lang="zh-CN" altLang="en-US" b="0" dirty="0">
                <a:latin typeface="+mn-lt"/>
              </a:rPr>
              <a:t>   </a:t>
            </a:r>
            <a:r>
              <a:rPr lang="en-US" altLang="zh-CN" b="0" dirty="0" err="1">
                <a:latin typeface="+mn-lt"/>
              </a:rPr>
              <a:t>cout</a:t>
            </a:r>
            <a:r>
              <a:rPr lang="en-US" altLang="zh-CN" b="0" dirty="0">
                <a:latin typeface="+mn-lt"/>
              </a:rPr>
              <a:t>&lt;&lt;</a:t>
            </a:r>
            <a:r>
              <a:rPr lang="en-US" altLang="zh-CN" b="0" dirty="0" err="1">
                <a:latin typeface="+mn-lt"/>
              </a:rPr>
              <a:t>endl;</a:t>
            </a:r>
            <a:r>
              <a:rPr lang="en-US" altLang="zh-CN" b="0" dirty="0" err="1">
                <a:solidFill>
                  <a:srgbClr val="0000CC"/>
                </a:solidFill>
                <a:latin typeface="+mn-lt"/>
              </a:rPr>
              <a:t>return</a:t>
            </a:r>
            <a:r>
              <a:rPr lang="en-US" altLang="zh-CN" b="0" dirty="0">
                <a:latin typeface="+mn-lt"/>
              </a:rPr>
              <a:t> 0</a:t>
            </a:r>
            <a:r>
              <a:rPr lang="zh-CN" altLang="en-US" b="0" dirty="0">
                <a:latin typeface="+mn-lt"/>
              </a:rPr>
              <a:t>；</a:t>
            </a:r>
            <a:r>
              <a:rPr lang="en-US" altLang="zh-CN" b="0" dirty="0">
                <a:latin typeface="+mn-lt"/>
              </a:rPr>
              <a:t>}</a:t>
            </a:r>
            <a:endParaRPr lang="en-US" altLang="zh-CN" b="0" dirty="0">
              <a:latin typeface="+mn-lt"/>
            </a:endParaRPr>
          </a:p>
          <a:p>
            <a:pPr eaLnBrk="1" hangingPunct="1"/>
            <a:endParaRPr lang="en-US" altLang="zh-CN" b="0" dirty="0">
              <a:solidFill>
                <a:srgbClr val="0000CC"/>
              </a:solidFill>
              <a:latin typeface="+mn-lt"/>
            </a:endParaRPr>
          </a:p>
          <a:p>
            <a:pPr eaLnBrk="1" hangingPunct="1"/>
            <a:r>
              <a:rPr lang="zh-CN" altLang="en-US" dirty="0">
                <a:latin typeface="+mn-lt"/>
              </a:rPr>
              <a:t>运行结果：</a:t>
            </a:r>
            <a:endParaRPr lang="zh-CN" altLang="en-US" dirty="0">
              <a:latin typeface="+mn-lt"/>
            </a:endParaRPr>
          </a:p>
          <a:p>
            <a:pPr eaLnBrk="1" hangingPunct="1"/>
            <a:r>
              <a:rPr lang="zh-CN" altLang="en-US" b="0" dirty="0">
                <a:solidFill>
                  <a:srgbClr val="0000CC"/>
                </a:solidFill>
                <a:latin typeface="+mn-lt"/>
              </a:rPr>
              <a:t>    这里原来有</a:t>
            </a:r>
            <a:r>
              <a:rPr lang="en-US" altLang="zh-CN" b="0" dirty="0">
                <a:solidFill>
                  <a:srgbClr val="0000CC"/>
                </a:solidFill>
                <a:latin typeface="+mn-lt"/>
              </a:rPr>
              <a:t>1</a:t>
            </a:r>
            <a:r>
              <a:rPr lang="zh-CN" altLang="en-US" b="0" dirty="0">
                <a:solidFill>
                  <a:srgbClr val="0000CC"/>
                </a:solidFill>
                <a:latin typeface="+mn-lt"/>
              </a:rPr>
              <a:t>个数值</a:t>
            </a:r>
            <a:r>
              <a:rPr lang="en-US" altLang="zh-CN" b="0" dirty="0">
                <a:solidFill>
                  <a:srgbClr val="0000CC"/>
                </a:solidFill>
                <a:latin typeface="+mn-lt"/>
              </a:rPr>
              <a:t>17</a:t>
            </a:r>
            <a:endParaRPr lang="en-US" altLang="zh-CN" b="0" dirty="0">
              <a:solidFill>
                <a:srgbClr val="0000CC"/>
              </a:solidFill>
              <a:latin typeface="+mn-lt"/>
            </a:endParaRPr>
          </a:p>
          <a:p>
            <a:pPr eaLnBrk="1" hangingPunct="1"/>
            <a:r>
              <a:rPr lang="en-US" altLang="zh-CN" b="0" dirty="0">
                <a:solidFill>
                  <a:srgbClr val="0000CC"/>
                </a:solidFill>
                <a:latin typeface="+mn-lt"/>
              </a:rPr>
              <a:t>    </a:t>
            </a:r>
            <a:r>
              <a:rPr lang="zh-CN" altLang="en-US" b="0" dirty="0">
                <a:solidFill>
                  <a:srgbClr val="0000CC"/>
                </a:solidFill>
                <a:latin typeface="+mn-lt"/>
              </a:rPr>
              <a:t>输入后这里有</a:t>
            </a:r>
            <a:r>
              <a:rPr lang="en-US" altLang="zh-CN" b="0" dirty="0">
                <a:solidFill>
                  <a:srgbClr val="0000CC"/>
                </a:solidFill>
                <a:latin typeface="+mn-lt"/>
              </a:rPr>
              <a:t>2</a:t>
            </a:r>
            <a:r>
              <a:rPr lang="zh-CN" altLang="en-US" b="0" dirty="0">
                <a:solidFill>
                  <a:srgbClr val="0000CC"/>
                </a:solidFill>
                <a:latin typeface="+mn-lt"/>
              </a:rPr>
              <a:t>个数值</a:t>
            </a:r>
            <a:r>
              <a:rPr lang="en-US" altLang="zh-CN" b="0" dirty="0">
                <a:solidFill>
                  <a:srgbClr val="0000CC"/>
                </a:solidFill>
                <a:latin typeface="+mn-lt"/>
              </a:rPr>
              <a:t>17</a:t>
            </a:r>
            <a:endParaRPr lang="en-US" altLang="zh-CN" b="0" dirty="0">
              <a:solidFill>
                <a:srgbClr val="0000CC"/>
              </a:solidFill>
              <a:latin typeface="+mn-lt"/>
            </a:endParaRPr>
          </a:p>
          <a:p>
            <a:pPr eaLnBrk="1" hangingPunct="1"/>
            <a:r>
              <a:rPr lang="en-US" altLang="zh-CN" b="0" dirty="0">
                <a:solidFill>
                  <a:srgbClr val="0000CC"/>
                </a:solidFill>
                <a:latin typeface="+mn-lt"/>
              </a:rPr>
              <a:t>    </a:t>
            </a:r>
            <a:r>
              <a:rPr lang="zh-CN" altLang="en-US" b="0" dirty="0">
                <a:solidFill>
                  <a:srgbClr val="0000CC"/>
                </a:solidFill>
                <a:latin typeface="+mn-lt"/>
              </a:rPr>
              <a:t>没找到值</a:t>
            </a:r>
            <a:r>
              <a:rPr lang="en-US" altLang="zh-CN" b="0" dirty="0">
                <a:solidFill>
                  <a:srgbClr val="0000CC"/>
                </a:solidFill>
                <a:latin typeface="+mn-lt"/>
              </a:rPr>
              <a:t>18</a:t>
            </a:r>
            <a:endParaRPr lang="en-US" altLang="zh-CN" b="0" dirty="0">
              <a:solidFill>
                <a:srgbClr val="0000CC"/>
              </a:solidFill>
              <a:latin typeface="+mn-lt"/>
            </a:endParaRPr>
          </a:p>
          <a:p>
            <a:pPr eaLnBrk="1" hangingPunct="1"/>
            <a:r>
              <a:rPr lang="en-US" altLang="zh-CN" b="0" dirty="0">
                <a:solidFill>
                  <a:srgbClr val="0000CC"/>
                </a:solidFill>
                <a:latin typeface="+mn-lt"/>
              </a:rPr>
              <a:t>    </a:t>
            </a:r>
            <a:r>
              <a:rPr lang="zh-CN" altLang="en-US" b="0" dirty="0">
                <a:solidFill>
                  <a:srgbClr val="0000CC"/>
                </a:solidFill>
                <a:latin typeface="+mn-lt"/>
              </a:rPr>
              <a:t>容器中有：</a:t>
            </a:r>
            <a:endParaRPr lang="zh-CN" altLang="en-US" b="0" dirty="0">
              <a:solidFill>
                <a:srgbClr val="0000CC"/>
              </a:solidFill>
              <a:latin typeface="+mn-lt"/>
            </a:endParaRPr>
          </a:p>
          <a:p>
            <a:pPr eaLnBrk="1" hangingPunct="1"/>
            <a:r>
              <a:rPr lang="zh-CN" altLang="en-US" b="0" dirty="0">
                <a:solidFill>
                  <a:srgbClr val="0000CC"/>
                </a:solidFill>
                <a:latin typeface="+mn-lt"/>
              </a:rPr>
              <a:t>    </a:t>
            </a:r>
            <a:r>
              <a:rPr lang="en-US" altLang="zh-CN" b="0" dirty="0">
                <a:solidFill>
                  <a:srgbClr val="0000CC"/>
                </a:solidFill>
                <a:latin typeface="+mn-lt"/>
              </a:rPr>
              <a:t>2  3  5  11  17  17  29  29  31  37  41  47  53  59  61  73  89</a:t>
            </a:r>
            <a:endParaRPr lang="en-US" altLang="zh-CN" b="0" dirty="0">
              <a:solidFill>
                <a:srgbClr val="0000CC"/>
              </a:solidFill>
              <a:latin typeface="+mn-lt"/>
            </a:endParaRPr>
          </a:p>
          <a:p>
            <a:pPr eaLnBrk="1" hangingPunct="1"/>
            <a:endParaRPr lang="en-US" altLang="zh-CN" b="0" dirty="0">
              <a:latin typeface="+mn-lt"/>
            </a:endParaRPr>
          </a:p>
          <a:p>
            <a:pPr eaLnBrk="1" hangingPunct="1"/>
            <a:endParaRPr lang="en-US" altLang="zh-CN" b="0" dirty="0">
              <a:latin typeface="+mn-lt"/>
            </a:endParaRPr>
          </a:p>
          <a:p>
            <a:pPr eaLnBrk="1" hangingPunct="1"/>
            <a:r>
              <a:rPr lang="zh-CN" altLang="en-US" b="0" dirty="0">
                <a:latin typeface="+mn-lt"/>
              </a:rPr>
              <a:t>注意：</a:t>
            </a:r>
            <a:r>
              <a:rPr lang="en-US" altLang="zh-CN" b="0" dirty="0">
                <a:solidFill>
                  <a:srgbClr val="FF0000"/>
                </a:solidFill>
                <a:latin typeface="+mn-lt"/>
              </a:rPr>
              <a:t>multiset</a:t>
            </a:r>
            <a:r>
              <a:rPr lang="zh-CN" altLang="en-US" b="0" dirty="0">
                <a:solidFill>
                  <a:srgbClr val="FF0000"/>
                </a:solidFill>
                <a:latin typeface="+mn-lt"/>
              </a:rPr>
              <a:t>容器默认按升序排列。</a:t>
            </a:r>
            <a:endParaRPr lang="zh-CN" altLang="en-US" b="0" dirty="0">
              <a:solidFill>
                <a:srgbClr val="FF0000"/>
              </a:solidFill>
              <a:latin typeface="+mn-lt"/>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
          <p:cNvSpPr txBox="1">
            <a:spLocks noChangeArrowheads="1"/>
          </p:cNvSpPr>
          <p:nvPr/>
        </p:nvSpPr>
        <p:spPr bwMode="auto">
          <a:xfrm>
            <a:off x="688217" y="251240"/>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例：</a:t>
            </a:r>
            <a:r>
              <a:rPr kumimoji="0" lang="en-US" altLang="zh-CN" sz="2800" dirty="0">
                <a:solidFill>
                  <a:srgbClr val="006600"/>
                </a:solidFill>
                <a:ea typeface="隶书" panose="02010509060101010101" pitchFamily="49" charset="-122"/>
              </a:rPr>
              <a:t>multiset</a:t>
            </a:r>
            <a:r>
              <a:rPr kumimoji="0" lang="zh-CN" altLang="en-US" sz="2800" dirty="0">
                <a:solidFill>
                  <a:srgbClr val="006600"/>
                </a:solidFill>
                <a:ea typeface="隶书" panose="02010509060101010101" pitchFamily="49" charset="-122"/>
              </a:rPr>
              <a:t>示例</a:t>
            </a:r>
            <a:r>
              <a:rPr kumimoji="0" lang="en-US" altLang="zh-CN" sz="2800" dirty="0">
                <a:solidFill>
                  <a:srgbClr val="006600"/>
                </a:solidFill>
                <a:ea typeface="隶书" panose="02010509060101010101" pitchFamily="49" charset="-122"/>
              </a:rPr>
              <a:t>—</a:t>
            </a:r>
            <a:r>
              <a:rPr kumimoji="0" lang="zh-CN" altLang="en-US" sz="2800" dirty="0">
                <a:solidFill>
                  <a:srgbClr val="006600"/>
                </a:solidFill>
                <a:ea typeface="隶书" panose="02010509060101010101" pitchFamily="49" charset="-122"/>
              </a:rPr>
              <a:t>遍历</a:t>
            </a:r>
            <a:r>
              <a:rPr kumimoji="0" lang="en-US" altLang="zh-CN" sz="2800" dirty="0">
                <a:solidFill>
                  <a:srgbClr val="006600"/>
                </a:solidFill>
                <a:ea typeface="隶书" panose="02010509060101010101" pitchFamily="49" charset="-122"/>
              </a:rPr>
              <a:t>multiset</a:t>
            </a:r>
            <a:r>
              <a:rPr kumimoji="0" lang="zh-CN" altLang="en-US" sz="2800" dirty="0">
                <a:solidFill>
                  <a:srgbClr val="006600"/>
                </a:solidFill>
                <a:ea typeface="隶书" panose="02010509060101010101" pitchFamily="49" charset="-122"/>
              </a:rPr>
              <a:t>对象</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3" name="图片 2"/>
          <p:cNvPicPr>
            <a:picLocks noChangeAspect="1"/>
          </p:cNvPicPr>
          <p:nvPr/>
        </p:nvPicPr>
        <p:blipFill>
          <a:blip r:embed="rId1"/>
          <a:stretch>
            <a:fillRect/>
          </a:stretch>
        </p:blipFill>
        <p:spPr>
          <a:xfrm>
            <a:off x="688217" y="826075"/>
            <a:ext cx="2108308" cy="1466925"/>
          </a:xfrm>
          <a:prstGeom prst="rect">
            <a:avLst/>
          </a:prstGeom>
        </p:spPr>
      </p:pic>
      <p:pic>
        <p:nvPicPr>
          <p:cNvPr id="5" name="图片 4"/>
          <p:cNvPicPr>
            <a:picLocks noChangeAspect="1"/>
          </p:cNvPicPr>
          <p:nvPr/>
        </p:nvPicPr>
        <p:blipFill rotWithShape="1">
          <a:blip r:embed="rId2"/>
          <a:srcRect r="3239"/>
          <a:stretch>
            <a:fillRect/>
          </a:stretch>
        </p:blipFill>
        <p:spPr>
          <a:xfrm>
            <a:off x="767730" y="2400865"/>
            <a:ext cx="6455801" cy="3880664"/>
          </a:xfrm>
          <a:prstGeom prst="rect">
            <a:avLst/>
          </a:prstGeom>
        </p:spPr>
      </p:pic>
      <p:pic>
        <p:nvPicPr>
          <p:cNvPr id="7" name="图片 6"/>
          <p:cNvPicPr>
            <a:picLocks noChangeAspect="1"/>
          </p:cNvPicPr>
          <p:nvPr/>
        </p:nvPicPr>
        <p:blipFill>
          <a:blip r:embed="rId3"/>
          <a:stretch>
            <a:fillRect/>
          </a:stretch>
        </p:blipFill>
        <p:spPr>
          <a:xfrm>
            <a:off x="6796818" y="826075"/>
            <a:ext cx="5086640" cy="3328481"/>
          </a:xfrm>
          <a:prstGeom prst="rect">
            <a:avLst/>
          </a:prstGeom>
        </p:spPr>
      </p:pic>
      <p:pic>
        <p:nvPicPr>
          <p:cNvPr id="9" name="图片 8"/>
          <p:cNvPicPr>
            <a:picLocks noChangeAspect="1"/>
          </p:cNvPicPr>
          <p:nvPr/>
        </p:nvPicPr>
        <p:blipFill>
          <a:blip r:embed="rId4"/>
          <a:stretch>
            <a:fillRect/>
          </a:stretch>
        </p:blipFill>
        <p:spPr>
          <a:xfrm>
            <a:off x="6427730" y="5211255"/>
            <a:ext cx="4902452" cy="908097"/>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
          <p:cNvSpPr txBox="1">
            <a:spLocks noChangeArrowheads="1"/>
          </p:cNvSpPr>
          <p:nvPr/>
        </p:nvSpPr>
        <p:spPr bwMode="auto">
          <a:xfrm>
            <a:off x="688217" y="251240"/>
            <a:ext cx="972461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spcBef>
                <a:spcPct val="50000"/>
              </a:spcBef>
            </a:pPr>
            <a:r>
              <a:rPr kumimoji="0" lang="zh-CN" altLang="en-US" sz="2800" dirty="0">
                <a:solidFill>
                  <a:srgbClr val="006600"/>
                </a:solidFill>
                <a:ea typeface="隶书" panose="02010509060101010101" pitchFamily="49" charset="-122"/>
              </a:rPr>
              <a:t>例：</a:t>
            </a:r>
            <a:r>
              <a:rPr kumimoji="0" lang="en-US" altLang="zh-CN" sz="2800" dirty="0">
                <a:solidFill>
                  <a:srgbClr val="006600"/>
                </a:solidFill>
                <a:ea typeface="隶书" panose="02010509060101010101" pitchFamily="49" charset="-122"/>
              </a:rPr>
              <a:t>multiset</a:t>
            </a:r>
            <a:r>
              <a:rPr kumimoji="0" lang="zh-CN" altLang="en-US" sz="2800" dirty="0">
                <a:solidFill>
                  <a:srgbClr val="006600"/>
                </a:solidFill>
                <a:ea typeface="隶书" panose="02010509060101010101" pitchFamily="49" charset="-122"/>
              </a:rPr>
              <a:t>示例</a:t>
            </a:r>
            <a:r>
              <a:rPr kumimoji="0" lang="en-US" altLang="zh-CN" sz="2800" dirty="0">
                <a:solidFill>
                  <a:srgbClr val="006600"/>
                </a:solidFill>
                <a:ea typeface="隶书" panose="02010509060101010101" pitchFamily="49" charset="-122"/>
              </a:rPr>
              <a:t>—</a:t>
            </a:r>
            <a:r>
              <a:rPr kumimoji="0" lang="zh-CN" altLang="en-US" sz="2800" dirty="0">
                <a:solidFill>
                  <a:srgbClr val="006600"/>
                </a:solidFill>
                <a:ea typeface="隶书" panose="02010509060101010101" pitchFamily="49" charset="-122"/>
              </a:rPr>
              <a:t>遍历</a:t>
            </a:r>
            <a:r>
              <a:rPr kumimoji="0" lang="en-US" altLang="zh-CN" sz="2800" dirty="0">
                <a:solidFill>
                  <a:srgbClr val="006600"/>
                </a:solidFill>
                <a:ea typeface="隶书" panose="02010509060101010101" pitchFamily="49" charset="-122"/>
              </a:rPr>
              <a:t>multiset</a:t>
            </a:r>
            <a:r>
              <a:rPr kumimoji="0" lang="zh-CN" altLang="en-US" sz="2800" dirty="0">
                <a:solidFill>
                  <a:srgbClr val="006600"/>
                </a:solidFill>
                <a:ea typeface="隶书" panose="02010509060101010101" pitchFamily="49" charset="-122"/>
              </a:rPr>
              <a:t>对象</a:t>
            </a:r>
            <a:endParaRPr kumimoji="0" lang="en-US" altLang="zh-CN" sz="2800" dirty="0">
              <a:solidFill>
                <a:srgbClr val="006600"/>
              </a:solidFill>
              <a:ea typeface="隶书" panose="02010509060101010101" pitchFamily="49" charset="-122"/>
            </a:endParaRPr>
          </a:p>
          <a:p>
            <a:pPr marL="0" indent="0">
              <a:spcBef>
                <a:spcPct val="50000"/>
              </a:spcBef>
            </a:pPr>
            <a:endParaRPr kumimoji="0" lang="zh-CN" altLang="en-US" sz="2800" dirty="0">
              <a:solidFill>
                <a:srgbClr val="006600"/>
              </a:solidFill>
              <a:ea typeface="隶书" panose="02010509060101010101" pitchFamily="49" charset="-122"/>
            </a:endParaRPr>
          </a:p>
        </p:txBody>
      </p:sp>
      <p:pic>
        <p:nvPicPr>
          <p:cNvPr id="4" name="图片 3"/>
          <p:cNvPicPr>
            <a:picLocks noChangeAspect="1"/>
          </p:cNvPicPr>
          <p:nvPr/>
        </p:nvPicPr>
        <p:blipFill>
          <a:blip r:embed="rId1"/>
          <a:stretch>
            <a:fillRect/>
          </a:stretch>
        </p:blipFill>
        <p:spPr>
          <a:xfrm>
            <a:off x="805921" y="756502"/>
            <a:ext cx="5536048" cy="3865194"/>
          </a:xfrm>
          <a:prstGeom prst="rect">
            <a:avLst/>
          </a:prstGeom>
        </p:spPr>
      </p:pic>
      <p:pic>
        <p:nvPicPr>
          <p:cNvPr id="8" name="图片 7"/>
          <p:cNvPicPr>
            <a:picLocks noChangeAspect="1"/>
          </p:cNvPicPr>
          <p:nvPr/>
        </p:nvPicPr>
        <p:blipFill>
          <a:blip r:embed="rId2"/>
          <a:stretch>
            <a:fillRect/>
          </a:stretch>
        </p:blipFill>
        <p:spPr>
          <a:xfrm>
            <a:off x="6661376" y="97927"/>
            <a:ext cx="3663821" cy="2943193"/>
          </a:xfrm>
          <a:prstGeom prst="rect">
            <a:avLst/>
          </a:prstGeom>
        </p:spPr>
      </p:pic>
      <p:pic>
        <p:nvPicPr>
          <p:cNvPr id="12" name="图片 11"/>
          <p:cNvPicPr>
            <a:picLocks noChangeAspect="1"/>
          </p:cNvPicPr>
          <p:nvPr/>
        </p:nvPicPr>
        <p:blipFill>
          <a:blip r:embed="rId3"/>
          <a:stretch>
            <a:fillRect/>
          </a:stretch>
        </p:blipFill>
        <p:spPr>
          <a:xfrm>
            <a:off x="6749007" y="3154904"/>
            <a:ext cx="4911984" cy="3451856"/>
          </a:xfrm>
          <a:prstGeom prst="rect">
            <a:avLst/>
          </a:prstGeom>
        </p:spPr>
      </p:pic>
      <p:pic>
        <p:nvPicPr>
          <p:cNvPr id="14" name="图片 13"/>
          <p:cNvPicPr>
            <a:picLocks noChangeAspect="1"/>
          </p:cNvPicPr>
          <p:nvPr/>
        </p:nvPicPr>
        <p:blipFill>
          <a:blip r:embed="rId4"/>
          <a:stretch>
            <a:fillRect/>
          </a:stretch>
        </p:blipFill>
        <p:spPr>
          <a:xfrm>
            <a:off x="5108713" y="3128829"/>
            <a:ext cx="1822173" cy="3103291"/>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389630" y="2845435"/>
            <a:ext cx="5702935" cy="583565"/>
          </a:xfrm>
          <a:prstGeom prst="rect">
            <a:avLst/>
          </a:prstGeom>
          <a:noFill/>
        </p:spPr>
        <p:txBody>
          <a:bodyPr wrap="square" rtlCol="0">
            <a:spAutoFit/>
          </a:bodyPr>
          <a:p>
            <a:pPr algn="ctr"/>
            <a:r>
              <a:rPr lang="zh-CN" altLang="en-US" sz="3200" b="1"/>
              <a:t>本章结束，谢谢！</a:t>
            </a:r>
            <a:endParaRPr lang="zh-CN" altLang="en-US" sz="3200" b="1"/>
          </a:p>
        </p:txBody>
      </p:sp>
    </p:spTree>
  </p:cSld>
  <p:clrMapOvr>
    <a:masterClrMapping/>
  </p:clrMapOvr>
</p:sld>
</file>

<file path=ppt/tags/tag1.xml><?xml version="1.0" encoding="utf-8"?>
<p:tagLst xmlns:p="http://schemas.openxmlformats.org/presentationml/2006/main">
  <p:tag name="KSO_WM_UNIT_TABLE_BEAUTIFY" val="smartTable{185815f1-41ba-450a-bd68-9886a938deef}"/>
</p:tagLst>
</file>

<file path=ppt/tags/tag2.xml><?xml version="1.0" encoding="utf-8"?>
<p:tagLst xmlns:p="http://schemas.openxmlformats.org/presentationml/2006/main">
  <p:tag name="KSO_WPP_MARK_KEY" val="efc04bb1-cadb-4951-ae27-cb77c230ae9a"/>
  <p:tag name="COMMONDATA" val="eyJoZGlkIjoiNDI0NGE4MmNiOWM4MDZkMDdkNTIyYjlkODg4OWU4OD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12753</Words>
  <Application>WPS 演示</Application>
  <PresentationFormat>宽屏</PresentationFormat>
  <Paragraphs>832</Paragraphs>
  <Slides>85</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85</vt:i4>
      </vt:variant>
    </vt:vector>
  </HeadingPairs>
  <TitlesOfParts>
    <vt:vector size="102" baseType="lpstr">
      <vt:lpstr>Arial</vt:lpstr>
      <vt:lpstr>宋体</vt:lpstr>
      <vt:lpstr>Wingdings</vt:lpstr>
      <vt:lpstr>等线</vt:lpstr>
      <vt:lpstr>微软雅黑</vt:lpstr>
      <vt:lpstr>隶书</vt:lpstr>
      <vt:lpstr>Times New Roman</vt:lpstr>
      <vt:lpstr>等线 Light</vt:lpstr>
      <vt:lpstr>Arial Unicode MS</vt:lpstr>
      <vt:lpstr>MicrosoftYaHei</vt:lpstr>
      <vt:lpstr>Segoe Print</vt:lpstr>
      <vt:lpstr>LMSans10-Regular-Identity-H</vt:lpstr>
      <vt:lpstr>Consolas</vt:lpstr>
      <vt:lpstr>仿宋</vt:lpstr>
      <vt:lpstr>幼圆</vt:lpstr>
      <vt:lpstr>Calibri</vt:lpstr>
      <vt:lpstr>Office 主题​​</vt:lpstr>
      <vt:lpstr>面向对象程序设计（C++）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27315950@qq.com</dc:creator>
  <cp:lastModifiedBy>朱静</cp:lastModifiedBy>
  <cp:revision>170</cp:revision>
  <dcterms:created xsi:type="dcterms:W3CDTF">2020-02-16T03:33:00Z</dcterms:created>
  <dcterms:modified xsi:type="dcterms:W3CDTF">2023-03-12T23:45:38Z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085B6F11C5C444F4A823C8F9F7ED593B</vt:lpwstr>
  </property>
  <property fmtid="{D5CDD505-2E9C-101B-9397-08002B2CF9AE}" pid="3" name="KSOProductBuildVer">
    <vt:lpwstr>2052-11.1.0.13703</vt:lpwstr>
  </property>
</Properties>
</file>