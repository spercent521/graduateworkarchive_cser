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543" r:id="rId3"/>
    <p:sldId id="544" r:id="rId4"/>
    <p:sldId id="257" r:id="rId5"/>
    <p:sldId id="258" r:id="rId6"/>
    <p:sldId id="464" r:id="rId7"/>
    <p:sldId id="465" r:id="rId8"/>
    <p:sldId id="469" r:id="rId9"/>
    <p:sldId id="470" r:id="rId10"/>
    <p:sldId id="471" r:id="rId11"/>
    <p:sldId id="496" r:id="rId12"/>
    <p:sldId id="497" r:id="rId13"/>
    <p:sldId id="498" r:id="rId14"/>
    <p:sldId id="500" r:id="rId15"/>
    <p:sldId id="502" r:id="rId16"/>
    <p:sldId id="479" r:id="rId17"/>
    <p:sldId id="480" r:id="rId18"/>
    <p:sldId id="474" r:id="rId19"/>
    <p:sldId id="501" r:id="rId20"/>
    <p:sldId id="473" r:id="rId21"/>
    <p:sldId id="475" r:id="rId22"/>
    <p:sldId id="476" r:id="rId23"/>
    <p:sldId id="477" r:id="rId24"/>
    <p:sldId id="478" r:id="rId25"/>
    <p:sldId id="510" r:id="rId26"/>
    <p:sldId id="260" r:id="rId27"/>
    <p:sldId id="427" r:id="rId28"/>
    <p:sldId id="452" r:id="rId29"/>
    <p:sldId id="460" r:id="rId30"/>
    <p:sldId id="503" r:id="rId31"/>
    <p:sldId id="481" r:id="rId32"/>
    <p:sldId id="279" r:id="rId33"/>
    <p:sldId id="485" r:id="rId34"/>
    <p:sldId id="511" r:id="rId35"/>
    <p:sldId id="512" r:id="rId36"/>
    <p:sldId id="513" r:id="rId37"/>
    <p:sldId id="515" r:id="rId38"/>
    <p:sldId id="504" r:id="rId39"/>
    <p:sldId id="505" r:id="rId40"/>
    <p:sldId id="508" r:id="rId41"/>
    <p:sldId id="507" r:id="rId42"/>
    <p:sldId id="486" r:id="rId43"/>
    <p:sldId id="487" r:id="rId44"/>
    <p:sldId id="488" r:id="rId45"/>
    <p:sldId id="489" r:id="rId46"/>
    <p:sldId id="490" r:id="rId47"/>
    <p:sldId id="516" r:id="rId48"/>
    <p:sldId id="517" r:id="rId49"/>
    <p:sldId id="518" r:id="rId50"/>
    <p:sldId id="290" r:id="rId51"/>
    <p:sldId id="509" r:id="rId52"/>
    <p:sldId id="291" r:id="rId53"/>
    <p:sldId id="429" r:id="rId54"/>
    <p:sldId id="459" r:id="rId55"/>
    <p:sldId id="596" r:id="rId56"/>
  </p:sldIdLst>
  <p:sldSz cx="12192000" cy="6858000"/>
  <p:notesSz cx="6858000" cy="9144000"/>
  <p:custDataLst>
    <p:tags r:id="rId5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jing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8000"/>
    <a:srgbClr val="FE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5253" autoAdjust="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C351E-E8B3-40E5-8ABA-EACDFC006AA5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5EF55-385A-4678-89F8-1FBA14B070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protected:</a:t>
            </a:r>
            <a:r>
              <a:rPr lang="zh-CN" altLang="en-US"/>
              <a:t>派生类的成员函数能访问基类的保护成员（不能以对象方式访问）</a:t>
            </a:r>
          </a:p>
          <a:p>
            <a:r>
              <a:rPr lang="en-US" altLang="zh-CN"/>
              <a:t>)</a:t>
            </a:r>
            <a:r>
              <a:rPr lang="zh-CN" altLang="en-US"/>
              <a:t>与</a:t>
            </a:r>
            <a:r>
              <a:rPr lang="en-US" altLang="zh-CN"/>
              <a:t>{</a:t>
            </a:r>
            <a:r>
              <a:rPr lang="zh-CN" altLang="en-US"/>
              <a:t>之间的const修饰的是this指针所指向的对象*this，限制成员函数不能对this指向的对象进行修改；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一个类的成员变量如果是另一个类的对象</a:t>
            </a:r>
            <a:r>
              <a:rPr lang="en-US" altLang="zh-CN" dirty="0"/>
              <a:t>,</a:t>
            </a:r>
            <a:r>
              <a:rPr lang="zh-CN" altLang="en-US" dirty="0"/>
              <a:t>就称之为“成员对象”。包含成员对象的类叫封闭类（或复合类）。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注意：</a:t>
            </a:r>
          </a:p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，基类和派生类中有同名的函数</a:t>
            </a:r>
            <a:r>
              <a:rPr lang="en-US" altLang="zh-CN">
                <a:sym typeface="+mn-ea"/>
              </a:rPr>
              <a:t>print()</a:t>
            </a:r>
            <a:r>
              <a:rPr lang="zh-CN" altLang="en-US">
                <a:sym typeface="+mn-ea"/>
              </a:rPr>
              <a:t>，</a:t>
            </a:r>
            <a:r>
              <a:rPr lang="en-US" altLang="zh-CN"/>
              <a:t>Base</a:t>
            </a:r>
            <a:r>
              <a:rPr lang="zh-CN" altLang="en-US"/>
              <a:t>指针指向</a:t>
            </a:r>
            <a:r>
              <a:rPr lang="en-US" altLang="zh-CN"/>
              <a:t>Derived</a:t>
            </a:r>
            <a:r>
              <a:rPr lang="zh-CN" altLang="en-US"/>
              <a:t>对象时，</a:t>
            </a:r>
            <a:r>
              <a:rPr lang="en-US" altLang="zh-CN"/>
              <a:t>pBase-&gt;print()</a:t>
            </a:r>
            <a:r>
              <a:rPr lang="zh-CN" altLang="en-US"/>
              <a:t>调用的是</a:t>
            </a:r>
            <a:r>
              <a:rPr lang="en-US" altLang="zh-CN"/>
              <a:t>Base</a:t>
            </a:r>
            <a:r>
              <a:rPr lang="zh-CN" altLang="en-US"/>
              <a:t>类中的函数（因为没有定义成虚函数，函数调用属于静态联编，具体调用哪个函数，由指针（或）引用的类型决定，</a:t>
            </a:r>
            <a:r>
              <a:rPr lang="en-US" altLang="zh-CN"/>
              <a:t>Base</a:t>
            </a:r>
            <a:r>
              <a:rPr lang="zh-CN" altLang="en-US"/>
              <a:t>类指针（引用）就调用</a:t>
            </a:r>
            <a:r>
              <a:rPr lang="en-US" altLang="zh-CN"/>
              <a:t>Base</a:t>
            </a:r>
            <a:r>
              <a:rPr lang="zh-CN" altLang="en-US"/>
              <a:t>类对象的函数，</a:t>
            </a:r>
            <a:r>
              <a:rPr lang="en-US" altLang="zh-CN"/>
              <a:t>Derived</a:t>
            </a:r>
            <a:r>
              <a:rPr lang="zh-CN" altLang="en-US"/>
              <a:t>类指针（引用）就调用</a:t>
            </a:r>
            <a:r>
              <a:rPr lang="en-US" altLang="zh-CN"/>
              <a:t>Derived</a:t>
            </a:r>
            <a:r>
              <a:rPr lang="zh-CN" altLang="en-US"/>
              <a:t>类对象的函数）。因此</a:t>
            </a:r>
            <a:r>
              <a:rPr lang="en-US" altLang="zh-CN"/>
              <a:t>pDerived-&gt;print()</a:t>
            </a:r>
            <a:r>
              <a:rPr lang="zh-CN" altLang="en-US"/>
              <a:t>语句调用</a:t>
            </a:r>
            <a:r>
              <a:rPr lang="en-US" altLang="zh-CN">
                <a:sym typeface="+mn-ea"/>
              </a:rPr>
              <a:t>Derived</a:t>
            </a:r>
            <a:r>
              <a:rPr lang="zh-CN" altLang="en-US">
                <a:sym typeface="+mn-ea"/>
              </a:rPr>
              <a:t>类的</a:t>
            </a:r>
            <a:r>
              <a:rPr lang="en-US" altLang="zh-CN">
                <a:sym typeface="+mn-ea"/>
              </a:rPr>
              <a:t>print()</a:t>
            </a:r>
            <a:r>
              <a:rPr lang="zh-CN" altLang="en-US">
                <a:sym typeface="+mn-ea"/>
              </a:rPr>
              <a:t>函数。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，pDerived-&gt;print()，课件中输出结果为</a:t>
            </a:r>
            <a:r>
              <a:rPr lang="en-US" altLang="zh-CN"/>
              <a:t>”</a:t>
            </a:r>
            <a:r>
              <a:rPr lang="en-US" altLang="zh-CN">
                <a:sym typeface="+mn-ea"/>
              </a:rPr>
              <a:t>Derived:v=1245104</a:t>
            </a:r>
            <a:r>
              <a:rPr lang="zh-CN" altLang="en-US">
                <a:sym typeface="+mn-ea"/>
              </a:rPr>
              <a:t>（随机值）</a:t>
            </a:r>
            <a:r>
              <a:rPr lang="en-US" altLang="zh-CN">
                <a:sym typeface="+mn-ea"/>
              </a:rPr>
              <a:t>   </a:t>
            </a:r>
            <a:r>
              <a:rPr lang="en-US" altLang="zh-CN"/>
              <a:t>Derived:n=5”</a:t>
            </a:r>
            <a:r>
              <a:rPr lang="zh-CN" altLang="en-US"/>
              <a:t>。但实际调用输出为</a:t>
            </a:r>
            <a:r>
              <a:rPr lang="en-US" altLang="zh-CN"/>
              <a:t>“Derived:v=5 </a:t>
            </a:r>
            <a:r>
              <a:rPr lang="en-US" altLang="zh-CN">
                <a:sym typeface="+mn-ea"/>
              </a:rPr>
              <a:t>Derived:n=-88976543</a:t>
            </a:r>
            <a:r>
              <a:rPr lang="en-US" altLang="zh-CN"/>
              <a:t>”</a:t>
            </a:r>
            <a:r>
              <a:rPr lang="zh-CN" altLang="en-US"/>
              <a:t>，并提示发生了一个运行时异常，提示信息：Run-Time Check Failure #2 - Stack around the variable 'objBase' was corrupted.</a:t>
            </a:r>
          </a:p>
          <a:p>
            <a:endParaRPr lang="zh-CN" altLang="en-US"/>
          </a:p>
          <a:p>
            <a:r>
              <a:rPr lang="zh-CN" altLang="en-US"/>
              <a:t>说明</a:t>
            </a:r>
            <a:r>
              <a:rPr lang="en-US" altLang="zh-CN"/>
              <a:t>:</a:t>
            </a:r>
          </a:p>
          <a:p>
            <a:r>
              <a:rPr lang="en-US" altLang="zh-CN"/>
              <a:t>类其实和结构体一样，里面本质上没有储存函数，或者是函数指针。而是每定义一个成员函数，其实就是相当于在代码段定义了一个普通函数，这个函数有一个“隐藏”的参数，参数就是这个类；</a:t>
            </a:r>
          </a:p>
          <a:p>
            <a:r>
              <a:rPr lang="en-US" altLang="zh-CN"/>
              <a:t>比如：</a:t>
            </a:r>
          </a:p>
          <a:p>
            <a:r>
              <a:rPr lang="en-US" altLang="zh-CN"/>
              <a:t>我创建了一个A类，这个类里有一个void Print（)函数</a:t>
            </a:r>
          </a:p>
          <a:p>
            <a:r>
              <a:rPr lang="en-US" altLang="zh-CN"/>
              <a:t>这时候Print函数就是储存在代码段里了，就是void Print(A* thisptr)</a:t>
            </a:r>
          </a:p>
          <a:p>
            <a:r>
              <a:rPr lang="en-US" altLang="zh-CN"/>
              <a:t>每次调用A.print（）就是就是调用了print函数，然后A类作为参数带入。</a:t>
            </a:r>
          </a:p>
          <a:p>
            <a:r>
              <a:rPr lang="en-US" altLang="zh-CN"/>
              <a:t>就和调用普通函数是一样的。只不过这时候类作为参数了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627" y="287000"/>
            <a:ext cx="835224" cy="7742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2E77-0F69-4D6B-8089-937D271F860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8CF1C-487D-420B-90B1-C0F4191E20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328492647@qq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7130" y="421717"/>
            <a:ext cx="9144000" cy="2387600"/>
          </a:xfrm>
        </p:spPr>
        <p:txBody>
          <a:bodyPr/>
          <a:lstStyle/>
          <a:p>
            <a:r>
              <a:rPr lang="zh-CN" altLang="en-US" b="1" dirty="0"/>
              <a:t>面向对象程序设计（</a:t>
            </a:r>
            <a:r>
              <a:rPr lang="en-US" altLang="zh-CN" b="1" dirty="0"/>
              <a:t>C++</a:t>
            </a:r>
            <a:r>
              <a:rPr lang="zh-CN" altLang="en-US" b="1" dirty="0"/>
              <a:t>）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453244" y="3972296"/>
            <a:ext cx="7543800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中国地质大学（武汉）计算机学院信息安全系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朱    静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328492647@qq.com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/>
              <a:t>参考教材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44830" y="1691005"/>
            <a:ext cx="4107180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《新标准</a:t>
            </a:r>
            <a:r>
              <a:rPr lang="en-US" altLang="zh-CN" b="1"/>
              <a:t>C++</a:t>
            </a:r>
            <a:r>
              <a:rPr lang="zh-CN" altLang="en-US" b="1"/>
              <a:t>程序设计》郭炜编著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《C++ Primer中文版（第5版）》(美)李普曼 等编著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《C++程序设计（基于C++11标准）》</a:t>
            </a:r>
            <a:r>
              <a:rPr lang="en-US" altLang="zh-CN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李长河等编著</a:t>
            </a:r>
            <a:endParaRPr lang="zh-CN" altLang="en-US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C++ primer plus（第6版） Stephen Prata著 张海龙等译 人民邮电出版社 2012年</a:t>
            </a:r>
          </a:p>
          <a:p>
            <a:pPr indent="0">
              <a:lnSpc>
                <a:spcPct val="150000"/>
              </a:lnSpc>
              <a:buNone/>
            </a:pPr>
            <a:endParaRPr lang="zh-CN" altLang="en-US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b="1"/>
          </a:p>
          <a:p>
            <a:pPr marL="285750" indent="-285750"/>
            <a:endParaRPr lang="zh-CN" altLang="en-US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1129030"/>
            <a:ext cx="3630295" cy="44551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115" y="1077595"/>
            <a:ext cx="3243580" cy="4505325"/>
          </a:xfrm>
          <a:prstGeom prst="rect">
            <a:avLst/>
          </a:prstGeom>
        </p:spPr>
      </p:pic>
      <p:pic>
        <p:nvPicPr>
          <p:cNvPr id="717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140" y="1077595"/>
            <a:ext cx="3559810" cy="45059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282305" y="1077595"/>
            <a:ext cx="3313430" cy="4420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Box 2"/>
          <p:cNvSpPr txBox="1"/>
          <p:nvPr/>
        </p:nvSpPr>
        <p:spPr>
          <a:xfrm>
            <a:off x="1176020" y="1099820"/>
            <a:ext cx="10035540" cy="37230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课程考核方式：</a:t>
            </a:r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平时成绩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0%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indent="457200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课堂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课后作业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平时测验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20%</a:t>
            </a:r>
            <a:endParaRPr lang="en-US" altLang="zh-CN" sz="3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上机</a:t>
            </a:r>
            <a:r>
              <a:rPr lang="zh-CN" altLang="en-US" sz="2800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20%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-57150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上机考试</a:t>
            </a:r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20%</a:t>
            </a:r>
            <a:endParaRPr lang="en-US" altLang="zh-CN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期末考试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40%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（卷面低于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分，总评不予及格）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Rot="1" noChangeArrowheads="1"/>
          </p:cNvSpPr>
          <p:nvPr/>
        </p:nvSpPr>
        <p:spPr>
          <a:xfrm>
            <a:off x="3167490" y="553434"/>
            <a:ext cx="8280400" cy="982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07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 继承与派生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3464626" y="1997034"/>
            <a:ext cx="5943600" cy="575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本章主要内容：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继承与派生的概念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派生类的定义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继承与复合的区别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继承与派生中的访问控制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派生类的构造函数与析构函数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多重继承与多级继承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派生类与基类的赋值兼容规则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虚基类与虚继承（选读）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888177" y="874389"/>
            <a:ext cx="9345880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面向对象程序设计的继承</a:t>
            </a:r>
            <a:r>
              <a:rPr kumimoji="1" lang="en-US" altLang="zh-CN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(inheritance)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机制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在已有类（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基类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base class/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超类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super class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）特性的基础上进行扩展，增加属性和功能，定义出新的类（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派生类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derived class/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子类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subclass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继承是实现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代码重用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的最重要机制。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（预定义，预编译，标准函数，类库，类模板，类继承）</a:t>
            </a: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1924360" y="3034814"/>
            <a:ext cx="9143444" cy="1691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什么时候使用继承？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在定义一个新的类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时，如果该类与某个已定义的类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相似（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的全部特性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），则可以将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作为基类，将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定义为继承自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的一个派生类（子类）。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2"/>
          <p:cNvSpPr txBox="1">
            <a:spLocks noRot="1" noChangeArrowheads="1"/>
          </p:cNvSpPr>
          <p:nvPr/>
        </p:nvSpPr>
        <p:spPr>
          <a:xfrm>
            <a:off x="2135189" y="69851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7.1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继承与派生的概念</a:t>
            </a:r>
            <a:endParaRPr lang="zh-CN" altLang="en-US" sz="4000" b="1" dirty="0"/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888177" y="4577719"/>
            <a:ext cx="934588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派生类与基类的关系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派生类定义后，独立使用，</a:t>
            </a:r>
            <a:r>
              <a:rPr kumimoji="1" lang="zh-CN" altLang="en-US" sz="2400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不依赖于基类</a:t>
            </a:r>
            <a:endParaRPr kumimoji="1" lang="en-US" altLang="zh-CN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派生类</a:t>
            </a:r>
            <a:r>
              <a:rPr kumimoji="1"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拥有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基类的全部成员（包括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private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protected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public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属性和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private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protected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public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方法）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派生类的各个成员函数</a:t>
            </a:r>
            <a:r>
              <a:rPr kumimoji="1"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不能访问基类中的</a:t>
            </a:r>
            <a:r>
              <a:rPr kumimoji="1"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private</a:t>
            </a:r>
            <a:r>
              <a:rPr kumimoji="1"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成员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817298" y="173472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72" y="3211130"/>
            <a:ext cx="9096375" cy="2781300"/>
          </a:xfrm>
          <a:prstGeom prst="rect">
            <a:avLst/>
          </a:prstGeom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525215" y="501972"/>
            <a:ext cx="9517159" cy="2553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基类和派生类的</a:t>
            </a:r>
            <a:r>
              <a:rPr kumimoji="1" lang="zh-CN" altLang="en-US" sz="32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定义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              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kumimoji="1" lang="en-US" altLang="zh-CN" sz="32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class </a:t>
            </a:r>
            <a:r>
              <a:rPr kumimoji="1" lang="zh-CN" altLang="en-US" sz="32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派生类名</a:t>
            </a:r>
            <a:r>
              <a:rPr kumimoji="1"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：</a:t>
            </a:r>
            <a:r>
              <a:rPr kumimoji="1" lang="en-US" altLang="zh-CN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public </a:t>
            </a:r>
            <a:r>
              <a:rPr kumimoji="1" lang="zh-CN" altLang="en-US" sz="3200" b="1" dirty="0">
                <a:solidFill>
                  <a:srgbClr val="0066FF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基类名</a:t>
            </a:r>
            <a:r>
              <a:rPr kumimoji="1" lang="en-US" altLang="zh-CN" sz="32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{.....};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endParaRPr kumimoji="1" lang="zh-CN" altLang="en-US" sz="24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r>
              <a:rPr kumimoji="1" lang="zh-CN" altLang="en-US" sz="24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例：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设计一个简单的临时工人员管理系统，包括两类人员：学生（指大学生）和兼职员工。该系统可以定义以下几个类：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0260" y="3109595"/>
            <a:ext cx="2374265" cy="10147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CN" sz="2000"/>
          </a:p>
          <a:p>
            <a:pPr algn="ctr"/>
            <a:r>
              <a:rPr lang="en-US" altLang="zh-CN" sz="2000"/>
              <a:t>TemporaryWorker</a:t>
            </a:r>
          </a:p>
          <a:p>
            <a:pPr algn="ctr"/>
            <a:endParaRPr lang="en-US" altLang="zh-CN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62610" y="591185"/>
            <a:ext cx="11249025" cy="547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400" dirty="0"/>
              <a:t>定义</a:t>
            </a:r>
            <a:r>
              <a:rPr lang="zh-CN" altLang="en-US" sz="2400" dirty="0">
                <a:solidFill>
                  <a:srgbClr val="FF0000"/>
                </a:solidFill>
              </a:rPr>
              <a:t>基类</a:t>
            </a:r>
            <a:r>
              <a:rPr lang="en-US" altLang="zh-CN" sz="2400" dirty="0" err="1">
                <a:sym typeface="+mn-ea"/>
              </a:rPr>
              <a:t>TemporaryWorker</a:t>
            </a:r>
            <a:r>
              <a:rPr lang="zh-CN" altLang="en-US" sz="2400" dirty="0"/>
              <a:t>：</a:t>
            </a:r>
            <a:r>
              <a:rPr lang="en-US" altLang="zh-CN" sz="2800" dirty="0">
                <a:solidFill>
                  <a:schemeClr val="bg1"/>
                </a:solidFill>
              </a:rPr>
              <a:t>9.1</a:t>
            </a:r>
            <a:r>
              <a:rPr lang="zh-CN" altLang="en-US" sz="2800" dirty="0">
                <a:solidFill>
                  <a:schemeClr val="bg1"/>
                </a:solidFill>
              </a:rPr>
              <a:t>继承</a:t>
            </a:r>
            <a:r>
              <a:rPr lang="en-US" altLang="zh-CN" sz="2800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定义基类和</a:t>
            </a:r>
            <a:endParaRPr lang="en-US" altLang="zh-CN" dirty="0">
              <a:solidFill>
                <a:schemeClr val="bg1"/>
              </a:solidFill>
            </a:endParaRP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400" dirty="0" err="1">
                <a:sym typeface="+mn-ea"/>
              </a:rPr>
              <a:t>TemporaryWorker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{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人员类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protected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sym typeface="+mn-ea"/>
              </a:rPr>
              <a:t>派生类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的</a:t>
            </a:r>
            <a:r>
              <a:rPr lang="zh-CN" altLang="en-US" sz="2400" dirty="0">
                <a:solidFill>
                  <a:srgbClr val="008000"/>
                </a:solidFill>
                <a:sym typeface="+mn-ea"/>
              </a:rPr>
              <a:t>成员函数能访问基类的保护成员（但不能以对象方式访问）</a:t>
            </a:r>
            <a:endParaRPr lang="en-US" altLang="zh-CN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808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string 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m_name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名字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int 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m_age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年龄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2400" dirty="0" err="1">
                <a:sym typeface="+mn-ea"/>
              </a:rPr>
              <a:t>TemporaryWorker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400" dirty="0">
                <a:solidFill>
                  <a:srgbClr val="00808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string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&amp;name = 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,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int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age = 0):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m_name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(name), 				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m_age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(age){}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virtual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~</a:t>
            </a:r>
            <a:r>
              <a:rPr lang="en-US" altLang="zh-CN" sz="2400" dirty="0" err="1">
                <a:sym typeface="+mn-ea"/>
              </a:rPr>
              <a:t>TemporaryWorker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() =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default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</a:p>
          <a:p>
            <a:pPr lvl="1"/>
            <a:r>
              <a:rPr lang="en-US" altLang="zh-CN" sz="20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//virtual</a:t>
            </a:r>
            <a:r>
              <a:rPr lang="zh-CN" altLang="en-US" sz="20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表示定义虚函数，</a:t>
            </a:r>
            <a:r>
              <a:rPr lang="en-US" altLang="zh-CN" sz="20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default</a:t>
            </a:r>
            <a:r>
              <a:rPr lang="zh-CN" altLang="en-US" sz="20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表示使用默认析构函数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const </a:t>
            </a:r>
            <a:r>
              <a:rPr lang="en-US" altLang="zh-CN" sz="2400" dirty="0">
                <a:solidFill>
                  <a:srgbClr val="00808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string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&amp; name()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{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return 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m_name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}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int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age()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{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return 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m_age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}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void 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plusOneYear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() { ++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m_age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}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年龄自增</a:t>
            </a: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035925" y="3665220"/>
            <a:ext cx="396557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形参前的</a:t>
            </a:r>
            <a:r>
              <a:rPr lang="en-US" altLang="zh-CN" dirty="0"/>
              <a:t>`</a:t>
            </a:r>
            <a:r>
              <a:rPr lang="en-US" altLang="zh-CN" dirty="0">
                <a:solidFill>
                  <a:schemeClr val="accent6"/>
                </a:solidFill>
              </a:rPr>
              <a:t>const</a:t>
            </a:r>
            <a:r>
              <a:rPr lang="en-US" altLang="zh-CN" dirty="0"/>
              <a:t>`</a:t>
            </a:r>
            <a:r>
              <a:rPr lang="zh-CN" altLang="en-US" dirty="0"/>
              <a:t>：确保函数内部不会修改传入的参数。</a:t>
            </a:r>
          </a:p>
          <a:p>
            <a:r>
              <a:rPr lang="zh-CN" altLang="en-US" dirty="0"/>
              <a:t>函数头部前的</a:t>
            </a:r>
            <a:r>
              <a:rPr lang="en-US" altLang="zh-CN" dirty="0"/>
              <a:t>`</a:t>
            </a:r>
            <a:r>
              <a:rPr lang="en-US" altLang="zh-CN" dirty="0">
                <a:solidFill>
                  <a:schemeClr val="accent6"/>
                </a:solidFill>
              </a:rPr>
              <a:t>const</a:t>
            </a:r>
            <a:r>
              <a:rPr lang="en-US" altLang="zh-CN" dirty="0"/>
              <a:t>`</a:t>
            </a:r>
            <a:r>
              <a:rPr lang="zh-CN" altLang="en-US" dirty="0"/>
              <a:t>：确保函数返回的值不会被修改。</a:t>
            </a:r>
          </a:p>
          <a:p>
            <a:r>
              <a:rPr lang="zh-CN" altLang="en-US" dirty="0"/>
              <a:t>函数头和函数体之间的</a:t>
            </a:r>
            <a:r>
              <a:rPr lang="en-US" altLang="zh-CN" dirty="0"/>
              <a:t>`</a:t>
            </a:r>
            <a:r>
              <a:rPr lang="en-US" altLang="zh-CN" dirty="0">
                <a:solidFill>
                  <a:schemeClr val="accent6"/>
                </a:solidFill>
              </a:rPr>
              <a:t>const</a:t>
            </a:r>
            <a:r>
              <a:rPr lang="en-US" altLang="zh-CN" dirty="0"/>
              <a:t>`</a:t>
            </a:r>
            <a:r>
              <a:rPr lang="zh-CN" altLang="en-US" dirty="0"/>
              <a:t>：确保该成员函数不会修改类对象的成员变量。</a:t>
            </a:r>
          </a:p>
          <a:p>
            <a:r>
              <a:rPr lang="zh-CN" altLang="en-US" dirty="0"/>
              <a:t>这些用法都是为了增强代码的安全性和可读性，确保某些值或状态在特定上下文中不会被意外修改。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84417" y="450552"/>
            <a:ext cx="9963396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dirty="0"/>
              <a:t>定义</a:t>
            </a:r>
            <a:r>
              <a:rPr lang="zh-CN" altLang="en-US" sz="2800" dirty="0">
                <a:solidFill>
                  <a:srgbClr val="FF0000"/>
                </a:solidFill>
              </a:rPr>
              <a:t>基类</a:t>
            </a:r>
            <a:r>
              <a:rPr lang="en-US" altLang="zh-CN" sz="2800" dirty="0"/>
              <a:t>Course</a:t>
            </a:r>
            <a:r>
              <a:rPr lang="zh-CN" altLang="en-US" sz="2800" dirty="0"/>
              <a:t>：</a:t>
            </a:r>
            <a:r>
              <a:rPr lang="en-US" altLang="zh-CN" sz="3200" dirty="0">
                <a:solidFill>
                  <a:schemeClr val="bg1"/>
                </a:solidFill>
              </a:rPr>
              <a:t>9.1</a:t>
            </a:r>
            <a:r>
              <a:rPr lang="zh-CN" altLang="en-US" sz="3200" dirty="0">
                <a:solidFill>
                  <a:schemeClr val="bg1"/>
                </a:solidFill>
              </a:rPr>
              <a:t>继承</a:t>
            </a:r>
            <a:r>
              <a:rPr lang="en-US" altLang="zh-CN" sz="3200" dirty="0">
                <a:solidFill>
                  <a:schemeClr val="bg1"/>
                </a:solidFill>
              </a:rPr>
              <a:t>-</a:t>
            </a:r>
            <a:r>
              <a:rPr lang="zh-CN" altLang="en-US" sz="2000" dirty="0">
                <a:solidFill>
                  <a:schemeClr val="bg1"/>
                </a:solidFill>
              </a:rPr>
              <a:t>定义基类和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Course { </a:t>
            </a:r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课程类</a:t>
            </a:r>
          </a:p>
          <a:p>
            <a:pPr lvl="1"/>
            <a:r>
              <a:rPr lang="en-US" altLang="zh-CN" sz="2800" dirty="0">
                <a:solidFill>
                  <a:srgbClr val="00808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string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m_name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课程名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int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m_score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成绩</a:t>
            </a:r>
            <a:endParaRPr lang="en-US" altLang="zh-CN" sz="28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endParaRPr lang="zh-CN" altLang="en-US" sz="28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Course(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800" dirty="0">
                <a:solidFill>
                  <a:srgbClr val="00808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string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&amp;name = </a:t>
            </a:r>
            <a:r>
              <a:rPr lang="en-US" altLang="zh-CN" sz="28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""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,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int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score = 0):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	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m_name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(name),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m_score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(score) { }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void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setScore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int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score) {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m_score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= score; }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int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score()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{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return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m_score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}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const </a:t>
            </a:r>
            <a:r>
              <a:rPr lang="en-US" altLang="zh-CN" sz="2800" dirty="0">
                <a:solidFill>
                  <a:srgbClr val="00808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string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&amp; name()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{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return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m_name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}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57910" y="155575"/>
            <a:ext cx="1038987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dirty="0"/>
              <a:t>定义</a:t>
            </a:r>
            <a:r>
              <a:rPr lang="zh-CN" altLang="en-US" sz="2800" dirty="0">
                <a:solidFill>
                  <a:srgbClr val="FF0000"/>
                </a:solidFill>
              </a:rPr>
              <a:t>派生类</a:t>
            </a:r>
            <a:r>
              <a:rPr lang="en-US" altLang="zh-CN" sz="2800" dirty="0" err="1"/>
              <a:t>PartTimeWorker</a:t>
            </a:r>
            <a:r>
              <a:rPr lang="zh-CN" altLang="en-US" sz="2800" dirty="0"/>
              <a:t>：</a:t>
            </a:r>
            <a:r>
              <a:rPr lang="zh-CN" altLang="en-US" sz="3200" dirty="0">
                <a:solidFill>
                  <a:schemeClr val="bg1"/>
                </a:solidFill>
              </a:rPr>
              <a:t>继承</a:t>
            </a:r>
            <a:r>
              <a:rPr lang="en-US" altLang="zh-CN" sz="3200" dirty="0">
                <a:solidFill>
                  <a:schemeClr val="bg1"/>
                </a:solidFill>
              </a:rPr>
              <a:t>-</a:t>
            </a:r>
            <a:r>
              <a:rPr lang="zh-CN" altLang="en-US" sz="2000" dirty="0">
                <a:solidFill>
                  <a:schemeClr val="bg1"/>
                </a:solidFill>
              </a:rPr>
              <a:t>定义基类和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PartTimeWorker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 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altLang="zh-CN" sz="2800" dirty="0" err="1">
                <a:sym typeface="+mn-ea"/>
              </a:rPr>
              <a:t>TemporaryWorker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{ </a:t>
            </a:r>
          </a:p>
          <a:p>
            <a:pPr lvl="1"/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兼职人员类，公有继承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TemporaryWorker</a:t>
            </a:r>
            <a:endParaRPr lang="en-US" altLang="zh-CN" sz="28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double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m_hour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工作小时数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static double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ms_payRate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每小时工资</a:t>
            </a:r>
          </a:p>
          <a:p>
            <a:pPr lvl="1"/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PartTimeWorker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800" dirty="0">
                <a:solidFill>
                  <a:srgbClr val="00808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string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&amp;name,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int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age,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double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h=0):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2800" dirty="0" err="1">
                <a:sym typeface="+mn-ea"/>
              </a:rPr>
              <a:t>TemporaryWorker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(name, age),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m_hour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(h){}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void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setHours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double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h) {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m_hour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= h; }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double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salary() {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return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m_hour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*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ms_payRate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}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double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PartTimeWorker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::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ms_payRate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= 7.53; </a:t>
            </a:r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静态成员初始化</a:t>
            </a:r>
            <a:endParaRPr lang="en-US" altLang="zh-CN" sz="2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84417" y="155277"/>
            <a:ext cx="9963396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dirty="0"/>
              <a:t>定义</a:t>
            </a:r>
            <a:r>
              <a:rPr lang="zh-CN" altLang="en-US" sz="2800" dirty="0">
                <a:solidFill>
                  <a:srgbClr val="FF0000"/>
                </a:solidFill>
              </a:rPr>
              <a:t>派生类</a:t>
            </a:r>
            <a:r>
              <a:rPr lang="en-US" altLang="zh-CN" sz="2800" dirty="0"/>
              <a:t>Student </a:t>
            </a:r>
            <a:r>
              <a:rPr lang="zh-CN" altLang="en-US" sz="2800" dirty="0"/>
              <a:t>：</a:t>
            </a:r>
            <a:r>
              <a:rPr lang="zh-CN" altLang="en-US" sz="3200" dirty="0">
                <a:solidFill>
                  <a:schemeClr val="bg1"/>
                </a:solidFill>
              </a:rPr>
              <a:t>继承</a:t>
            </a:r>
            <a:r>
              <a:rPr lang="en-US" altLang="zh-CN" sz="3200" dirty="0">
                <a:solidFill>
                  <a:schemeClr val="bg1"/>
                </a:solidFill>
              </a:rPr>
              <a:t>-</a:t>
            </a:r>
            <a:r>
              <a:rPr lang="zh-CN" altLang="en-US" sz="2000" dirty="0">
                <a:solidFill>
                  <a:schemeClr val="bg1"/>
                </a:solidFill>
              </a:rPr>
              <a:t>定义基类和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lvl="1"/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Student 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altLang="zh-CN" sz="2800">
                <a:sym typeface="+mn-ea"/>
              </a:rPr>
              <a:t>TemporaryWorker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{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学生类，公有继承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TemporaryWorker</a:t>
            </a:r>
            <a:endParaRPr lang="en-US" altLang="zh-CN" sz="28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private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Course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m_course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8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课程信息 </a:t>
            </a:r>
            <a:r>
              <a:rPr lang="zh-CN" altLang="en-US" sz="2800" dirty="0">
                <a:solidFill>
                  <a:srgbClr val="0066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这里是继承吗？</a:t>
            </a:r>
          </a:p>
          <a:p>
            <a:pPr lvl="1"/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Student(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800" dirty="0">
                <a:solidFill>
                  <a:srgbClr val="00808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string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&amp;name,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int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age,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const 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Course &amp;c):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TemporaryWorker(name, age),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m_course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(c) {}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Course&amp; course() { </a:t>
            </a:r>
            <a:r>
              <a:rPr lang="en-US" altLang="zh-CN" sz="28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return 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m_course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}</a:t>
            </a:r>
          </a:p>
          <a:p>
            <a:pPr lvl="1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51275" y="4966676"/>
            <a:ext cx="915903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参考教材</a:t>
            </a:r>
            <a:r>
              <a:rPr kumimoji="1"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c++ prime plus</a:t>
            </a: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示例 </a:t>
            </a:r>
            <a:r>
              <a:rPr kumimoji="1"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P481 </a:t>
            </a: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例</a:t>
            </a:r>
            <a:r>
              <a:rPr kumimoji="1"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13.4-13.6</a:t>
            </a:r>
          </a:p>
          <a:p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派生类和基类的定义可以放在同一个头文件中，也可以分别放在不同的头文件。</a:t>
            </a:r>
            <a:endParaRPr kumimoji="1" lang="en-US" altLang="zh-CN" sz="20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郭炜 </a:t>
            </a:r>
            <a:r>
              <a:rPr kumimoji="1"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5.1.2</a:t>
            </a: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简单学生管理程序</a:t>
            </a:r>
            <a:endParaRPr kumimoji="1" lang="en-US" altLang="zh-CN" sz="20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97727" y="325102"/>
            <a:ext cx="9159031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008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例： 派生类的使用</a:t>
            </a:r>
            <a:r>
              <a:rPr kumimoji="1" lang="en-US" altLang="zh-CN" sz="2800" dirty="0">
                <a:solidFill>
                  <a:srgbClr val="008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--</a:t>
            </a:r>
            <a:r>
              <a:rPr kumimoji="1" lang="zh-CN" altLang="en-US" sz="2800" dirty="0">
                <a:solidFill>
                  <a:srgbClr val="008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学生管理                 </a:t>
            </a: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郭炜 </a:t>
            </a:r>
            <a:r>
              <a:rPr kumimoji="1"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5.1.2</a:t>
            </a: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简单学生管理程序</a:t>
            </a:r>
            <a:endParaRPr kumimoji="1" lang="en-US" altLang="zh-CN" sz="20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77" y="830791"/>
            <a:ext cx="5950256" cy="36260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567" y="795864"/>
            <a:ext cx="5098876" cy="475568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228" y="4316328"/>
            <a:ext cx="4992772" cy="249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199682" y="6492875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0" y="843145"/>
            <a:ext cx="5469215" cy="410003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28198" y="-180346"/>
            <a:ext cx="1505349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669" y="697798"/>
            <a:ext cx="6620113" cy="478582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818552" y="531894"/>
            <a:ext cx="1323230" cy="15168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802117" y="4941382"/>
            <a:ext cx="1222643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矩形: 圆角 13"/>
          <p:cNvSpPr/>
          <p:nvPr/>
        </p:nvSpPr>
        <p:spPr>
          <a:xfrm>
            <a:off x="3373821" y="2693504"/>
            <a:ext cx="2361057" cy="51215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831725" y="2764913"/>
            <a:ext cx="1713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</a:rPr>
              <a:t>函数覆盖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199682" y="6492875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80152" y="937193"/>
            <a:ext cx="1505349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0818552" y="531894"/>
            <a:ext cx="1323230" cy="15168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91025" y="1374378"/>
            <a:ext cx="2342522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476" y="967838"/>
            <a:ext cx="7546426" cy="4514466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288525" y="719345"/>
            <a:ext cx="1505349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199682" y="6492875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80152" y="937193"/>
            <a:ext cx="1505349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0818552" y="531894"/>
            <a:ext cx="1323230" cy="15168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91025" y="1374378"/>
            <a:ext cx="2342522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413438" y="500008"/>
            <a:ext cx="1505349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8" y="176545"/>
            <a:ext cx="8071945" cy="54213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204755" y="98698"/>
            <a:ext cx="1505349" cy="1950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215" y="55576"/>
            <a:ext cx="5065542" cy="31106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423060" y="860743"/>
            <a:ext cx="934588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拒绝被继承</a:t>
            </a:r>
            <a:endParaRPr kumimoji="1" lang="en-US" altLang="zh-CN" sz="36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onsolas" panose="020B0609020204030204" pitchFamily="49" charset="0"/>
              </a:rPr>
              <a:t>可以利用</a:t>
            </a:r>
            <a:r>
              <a:rPr lang="en-US" altLang="zh-CN" sz="2400" dirty="0">
                <a:latin typeface="Consolas" panose="020B0609020204030204" pitchFamily="49" charset="0"/>
              </a:rPr>
              <a:t>C++11</a:t>
            </a:r>
            <a:r>
              <a:rPr lang="zh-CN" altLang="en-US" sz="2400" dirty="0">
                <a:latin typeface="Consolas" panose="020B0609020204030204" pitchFamily="49" charset="0"/>
              </a:rPr>
              <a:t>提供的关键字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final</a:t>
            </a:r>
            <a:r>
              <a:rPr lang="zh-CN" altLang="en-US" sz="2400" dirty="0">
                <a:latin typeface="Consolas" panose="020B0609020204030204" pitchFamily="49" charset="0"/>
              </a:rPr>
              <a:t>来</a:t>
            </a:r>
            <a:r>
              <a:rPr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阻止继承</a:t>
            </a:r>
            <a:r>
              <a:rPr lang="zh-CN" altLang="en-US" sz="2400" dirty="0">
                <a:latin typeface="Consolas" panose="020B0609020204030204" pitchFamily="49" charset="0"/>
              </a:rPr>
              <a:t>的发生：</a:t>
            </a:r>
          </a:p>
          <a:p>
            <a:pPr>
              <a:buClr>
                <a:srgbClr val="151DC1"/>
              </a:buClr>
            </a:pPr>
            <a:r>
              <a:rPr lang="en-US" altLang="zh-CN" sz="2400" dirty="0">
                <a:latin typeface="Consolas" panose="020B0609020204030204" pitchFamily="49" charset="0"/>
              </a:rPr>
              <a:t>class </a:t>
            </a:r>
            <a:r>
              <a:rPr lang="en-US" altLang="zh-CN" sz="2400" dirty="0" err="1">
                <a:latin typeface="Consolas" panose="020B0609020204030204" pitchFamily="49" charset="0"/>
              </a:rPr>
              <a:t>NoDerived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final </a:t>
            </a:r>
            <a:r>
              <a:rPr lang="en-US" altLang="zh-CN" sz="2400" dirty="0">
                <a:latin typeface="Consolas" panose="020B0609020204030204" pitchFamily="49" charset="0"/>
              </a:rPr>
              <a:t>{}; </a:t>
            </a:r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altLang="zh-CN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NoDerived</a:t>
            </a:r>
            <a:r>
              <a:rPr lang="zh-CN" alt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不能作为基类被继承</a:t>
            </a:r>
            <a:endParaRPr lang="en-US" altLang="zh-CN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Clr>
                <a:srgbClr val="151DC1"/>
              </a:buClr>
            </a:pPr>
            <a:endParaRPr kumimoji="1" lang="en-US" altLang="zh-CN" sz="24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>
              <a:buClr>
                <a:srgbClr val="151DC1"/>
              </a:buClr>
            </a:pPr>
            <a:r>
              <a:rPr lang="zh-CN" altLang="en-US" sz="2400" b="1" dirty="0">
                <a:latin typeface="Consolas" panose="020B0609020204030204" pitchFamily="49" charset="0"/>
              </a:rPr>
              <a:t>思考：</a:t>
            </a:r>
            <a:r>
              <a:rPr lang="zh-CN" altLang="en-US" sz="2400" dirty="0">
                <a:latin typeface="Consolas" panose="020B0609020204030204" pitchFamily="49" charset="0"/>
              </a:rPr>
              <a:t>如果我们想让上例中派生类</a:t>
            </a:r>
            <a:r>
              <a:rPr lang="en-US" altLang="zh-CN" sz="2400" dirty="0">
                <a:latin typeface="Consolas" panose="020B0609020204030204" pitchFamily="49" charset="0"/>
              </a:rPr>
              <a:t>Student</a:t>
            </a:r>
            <a:r>
              <a:rPr lang="zh-CN" altLang="en-US" sz="2400" dirty="0">
                <a:latin typeface="Consolas" panose="020B0609020204030204" pitchFamily="49" charset="0"/>
              </a:rPr>
              <a:t>和</a:t>
            </a:r>
            <a:r>
              <a:rPr lang="en-US" altLang="zh-CN" sz="2400" dirty="0" err="1">
                <a:latin typeface="Consolas" panose="020B0609020204030204" pitchFamily="49" charset="0"/>
              </a:rPr>
              <a:t>PartTimeWorker</a:t>
            </a:r>
            <a:r>
              <a:rPr lang="zh-CN" altLang="en-US" sz="2400" dirty="0">
                <a:latin typeface="Consolas" panose="020B0609020204030204" pitchFamily="49" charset="0"/>
              </a:rPr>
              <a:t>不再被任何类继承，应该如何做？</a:t>
            </a:r>
            <a:endParaRPr lang="en-US" altLang="zh-CN" sz="2400" dirty="0"/>
          </a:p>
          <a:p>
            <a:pPr>
              <a:buClr>
                <a:srgbClr val="151DC1"/>
              </a:buClr>
            </a:pPr>
            <a:endParaRPr kumimoji="1" lang="en-US" altLang="zh-CN" sz="24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>
              <a:buClr>
                <a:srgbClr val="151DC1"/>
              </a:buClr>
            </a:pPr>
            <a:endParaRPr kumimoji="1" lang="en-US" altLang="zh-CN" sz="24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>
              <a:buClr>
                <a:srgbClr val="151DC1"/>
              </a:buClr>
            </a:pPr>
            <a:endParaRPr kumimoji="1" lang="en-US" altLang="zh-CN" sz="240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423060" y="480736"/>
            <a:ext cx="9345880" cy="6369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命名冲突与覆盖</a:t>
            </a:r>
            <a:endParaRPr kumimoji="1" lang="en-US" altLang="zh-CN" sz="36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如果</a:t>
            </a:r>
            <a:r>
              <a:rPr lang="zh-CN" altLang="en-US" sz="2400" dirty="0">
                <a:solidFill>
                  <a:srgbClr val="0066FF"/>
                </a:solidFill>
                <a:latin typeface="MicrosoftYaHei"/>
              </a:rPr>
              <a:t>派生类成员的名字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和</a:t>
            </a:r>
            <a:r>
              <a:rPr lang="zh-CN" altLang="en-US" sz="2400" dirty="0">
                <a:solidFill>
                  <a:srgbClr val="0066FF"/>
                </a:solidFill>
                <a:latin typeface="MicrosoftYaHei"/>
              </a:rPr>
              <a:t>基类的成员名字</a:t>
            </a:r>
            <a:r>
              <a:rPr lang="zh-CN" altLang="en-US" sz="2400" dirty="0">
                <a:solidFill>
                  <a:srgbClr val="FF0000"/>
                </a:solidFill>
                <a:latin typeface="MicrosoftYaHei"/>
              </a:rPr>
              <a:t>相同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，那么定义在派生类（内层作用域）的名字将会</a:t>
            </a:r>
            <a:r>
              <a:rPr lang="zh-CN" altLang="en-US" sz="2400" dirty="0">
                <a:solidFill>
                  <a:srgbClr val="FF0000"/>
                </a:solidFill>
                <a:latin typeface="MicrosoftYaHei"/>
              </a:rPr>
              <a:t>覆盖（屏蔽）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掉基类（外层作用域）的名字：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Base {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protected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int 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cs typeface="+mn-ea"/>
              </a:rPr>
              <a:t>m_data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void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+mn-ea"/>
              </a:rPr>
              <a:t>foo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) {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/*...*/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Derived : 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public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Base {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protected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int </a:t>
            </a:r>
            <a:r>
              <a:rPr lang="en-US" altLang="zh-CN" sz="2000" dirty="0" err="1">
                <a:solidFill>
                  <a:srgbClr val="FF0000"/>
                </a:solidFill>
                <a:latin typeface="+mn-ea"/>
                <a:cs typeface="+mn-ea"/>
              </a:rPr>
              <a:t>m_data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基类</a:t>
            </a:r>
            <a:r>
              <a:rPr lang="en-US" altLang="zh-CN" sz="2000" dirty="0" err="1">
                <a:solidFill>
                  <a:srgbClr val="008000"/>
                </a:solidFill>
                <a:latin typeface="+mn-ea"/>
                <a:cs typeface="+mn-ea"/>
              </a:rPr>
              <a:t>m_data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被覆盖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marL="0"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void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foo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) {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/*...*/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}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基类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foo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成员被覆盖</a:t>
            </a:r>
            <a:endParaRPr lang="en-US" altLang="zh-CN" sz="2000" dirty="0">
              <a:solidFill>
                <a:srgbClr val="000000"/>
              </a:solidFill>
              <a:latin typeface="+mn-ea"/>
              <a:cs typeface="+mn-ea"/>
            </a:endParaRPr>
          </a:p>
          <a:p>
            <a:pPr lvl="1" indent="457200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int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+mn-ea"/>
              </a:rPr>
              <a:t>foo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() {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函数重载</a:t>
            </a:r>
            <a:endParaRPr lang="zh-CN" altLang="en-US" sz="2000" dirty="0">
              <a:solidFill>
                <a:srgbClr val="008000"/>
              </a:solidFill>
              <a:latin typeface="+mn-ea"/>
              <a:cs typeface="+mn-ea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	return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m_data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返回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Derived::</a:t>
            </a:r>
            <a:r>
              <a:rPr lang="en-US" altLang="zh-CN" sz="2000" dirty="0" err="1">
                <a:solidFill>
                  <a:srgbClr val="008000"/>
                </a:solidFill>
                <a:latin typeface="+mn-ea"/>
                <a:cs typeface="+mn-ea"/>
              </a:rPr>
              <a:t>m_data</a:t>
            </a:r>
            <a:endParaRPr lang="en-US" altLang="zh-CN" sz="2000" dirty="0">
              <a:solidFill>
                <a:srgbClr val="008000"/>
              </a:solidFill>
              <a:latin typeface="+mn-ea"/>
              <a:cs typeface="+mn-ea"/>
            </a:endParaRP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}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};</a:t>
            </a:r>
            <a:endParaRPr lang="zh-CN" altLang="en-US" sz="2800" b="1" dirty="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423060" y="480736"/>
            <a:ext cx="9345880" cy="3999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命名冲突</a:t>
            </a:r>
            <a:endParaRPr kumimoji="1" lang="en-US" altLang="zh-CN" sz="36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en-US" altLang="zh-CN" sz="2400" dirty="0">
              <a:solidFill>
                <a:srgbClr val="000000"/>
              </a:solidFill>
              <a:latin typeface="MicrosoftYaHei"/>
            </a:endParaRPr>
          </a:p>
          <a:p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如果</a:t>
            </a:r>
            <a:r>
              <a:rPr lang="zh-CN" altLang="en-US" sz="2400" dirty="0">
                <a:solidFill>
                  <a:srgbClr val="0066FF"/>
                </a:solidFill>
                <a:latin typeface="MicrosoftYaHei"/>
              </a:rPr>
              <a:t>在派生类里面需要访问基类的同名成员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，则可以使用基类的</a:t>
            </a:r>
            <a:r>
              <a:rPr lang="zh-CN" altLang="en-US" sz="2400" dirty="0">
                <a:solidFill>
                  <a:srgbClr val="FF0000"/>
                </a:solidFill>
                <a:latin typeface="MicrosoftYaHei"/>
              </a:rPr>
              <a:t>作用域运算符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MicrosoftYaHei"/>
            </a:endParaRPr>
          </a:p>
          <a:p>
            <a:endParaRPr lang="en-US" altLang="zh-CN" sz="2800" dirty="0">
              <a:solidFill>
                <a:srgbClr val="000000"/>
              </a:solidFill>
              <a:latin typeface="MicrosoftYaHei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Derived : 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public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Base {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int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foo() { 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return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+mn-ea"/>
              </a:rPr>
              <a:t>Base::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m_data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; }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返回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Base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中的</a:t>
            </a:r>
            <a:r>
              <a:rPr lang="en-US" altLang="zh-CN" sz="2000" dirty="0" err="1">
                <a:solidFill>
                  <a:srgbClr val="008000"/>
                </a:solidFill>
                <a:latin typeface="+mn-ea"/>
                <a:cs typeface="+mn-ea"/>
              </a:rPr>
              <a:t>m_data</a:t>
            </a:r>
            <a:endParaRPr lang="en-US" altLang="zh-CN" sz="2000" dirty="0">
              <a:solidFill>
                <a:srgbClr val="008000"/>
              </a:solidFill>
              <a:latin typeface="+mn-ea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};</a:t>
            </a:r>
            <a:endParaRPr lang="zh-CN" altLang="en-US" sz="2000" dirty="0">
              <a:solidFill>
                <a:srgbClr val="000000"/>
              </a:solidFill>
              <a:latin typeface="+mn-ea"/>
              <a:cs typeface="+mn-ea"/>
            </a:endParaRPr>
          </a:p>
          <a:p>
            <a:pPr lvl="1"/>
            <a:endParaRPr lang="zh-CN" altLang="en-US" sz="2800" b="1" dirty="0">
              <a:latin typeface="+mn-ea"/>
              <a:cs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535095" y="4334624"/>
            <a:ext cx="5121809" cy="1189499"/>
            <a:chOff x="154072" y="1706054"/>
            <a:chExt cx="8704052" cy="1262293"/>
          </a:xfrm>
        </p:grpSpPr>
        <p:sp>
          <p:nvSpPr>
            <p:cNvPr id="7" name="矩形: 圆顶角 27"/>
            <p:cNvSpPr/>
            <p:nvPr/>
          </p:nvSpPr>
          <p:spPr>
            <a:xfrm>
              <a:off x="154072" y="1706054"/>
              <a:ext cx="8704052" cy="577651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注意</a:t>
              </a:r>
            </a:p>
          </p:txBody>
        </p:sp>
        <p:sp>
          <p:nvSpPr>
            <p:cNvPr id="8" name="矩形: 圆角 17"/>
            <p:cNvSpPr/>
            <p:nvPr/>
          </p:nvSpPr>
          <p:spPr>
            <a:xfrm>
              <a:off x="154072" y="2283705"/>
              <a:ext cx="8704052" cy="684642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MicrosoftYaHei"/>
                </a:rPr>
                <a:t>避免</a:t>
              </a:r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在派生类和基类中</a:t>
              </a:r>
              <a:r>
                <a:rPr lang="zh-CN" altLang="en-US" b="1" dirty="0">
                  <a:solidFill>
                    <a:srgbClr val="FF0000"/>
                  </a:solidFill>
                  <a:latin typeface="MicrosoftYaHei"/>
                </a:rPr>
                <a:t>使用同名成员变量</a:t>
              </a:r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。同名成员函数比较常见。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423060" y="480736"/>
            <a:ext cx="9345880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派生类</a:t>
            </a:r>
            <a:r>
              <a:rPr kumimoji="1" lang="zh-CN" altLang="en-US" sz="36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对象</a:t>
            </a:r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和基类</a:t>
            </a:r>
            <a:r>
              <a:rPr kumimoji="1" lang="zh-CN" altLang="en-US" sz="36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对象</a:t>
            </a:r>
            <a:endParaRPr kumimoji="1" lang="en-US" altLang="zh-CN" sz="3600" dirty="0">
              <a:solidFill>
                <a:srgbClr val="00B0F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Consolas" panose="020B0609020204030204" pitchFamily="49" charset="0"/>
              </a:rPr>
              <a:t>派生类对象中包含着基类对象（匿名，逻辑结构上包含），并且基类对象存储位置位于派生类对象新增成员</a:t>
            </a:r>
            <a:r>
              <a:rPr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之前</a:t>
            </a:r>
            <a:r>
              <a:rPr lang="zh-CN" altLang="en-US" sz="2400" b="1" dirty="0">
                <a:latin typeface="Consolas" panose="020B0609020204030204" pitchFamily="49" charset="0"/>
              </a:rPr>
              <a:t>。 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Consolas" panose="020B0609020204030204" pitchFamily="49" charset="0"/>
              </a:rPr>
              <a:t>派生类对象的存储空间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pPr>
              <a:buClr>
                <a:srgbClr val="151DC1"/>
              </a:buClr>
            </a:pPr>
            <a:r>
              <a:rPr lang="zh-CN" altLang="en-US" sz="2400" dirty="0">
                <a:latin typeface="Consolas" panose="020B0609020204030204" pitchFamily="49" charset="0"/>
              </a:rPr>
              <a:t>派生类对象占用的存储空间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zh-CN" altLang="en-US" sz="2400" dirty="0">
                <a:latin typeface="Consolas" panose="020B0609020204030204" pitchFamily="49" charset="0"/>
              </a:rPr>
              <a:t>基类对象占用的存储空间</a:t>
            </a:r>
            <a:r>
              <a:rPr lang="en-US" altLang="zh-CN" sz="2400" dirty="0">
                <a:latin typeface="Consolas" panose="020B0609020204030204" pitchFamily="49" charset="0"/>
              </a:rPr>
              <a:t>+</a:t>
            </a:r>
            <a:r>
              <a:rPr lang="zh-CN" altLang="en-US" sz="2400" dirty="0">
                <a:latin typeface="Consolas" panose="020B0609020204030204" pitchFamily="49" charset="0"/>
              </a:rPr>
              <a:t>派生类自身扩充的成员变量占用的存储空间</a:t>
            </a: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onsolas" panose="020B0609020204030204" pitchFamily="49" charset="0"/>
              </a:rPr>
              <a:t>派生类对象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不能访问</a:t>
            </a:r>
            <a:r>
              <a:rPr lang="zh-CN" altLang="en-US" sz="2400" dirty="0">
                <a:latin typeface="Consolas" panose="020B0609020204030204" pitchFamily="49" charset="0"/>
              </a:rPr>
              <a:t>基类的</a:t>
            </a:r>
            <a:r>
              <a:rPr lang="en-US" altLang="zh-CN" sz="2400" dirty="0">
                <a:latin typeface="Consolas" panose="020B0609020204030204" pitchFamily="49" charset="0"/>
              </a:rPr>
              <a:t>private</a:t>
            </a:r>
            <a:r>
              <a:rPr lang="zh-CN" altLang="en-US" sz="2400" dirty="0">
                <a:latin typeface="Consolas" panose="020B0609020204030204" pitchFamily="49" charset="0"/>
              </a:rPr>
              <a:t>成员</a:t>
            </a:r>
          </a:p>
        </p:txBody>
      </p:sp>
      <p:sp>
        <p:nvSpPr>
          <p:cNvPr id="5" name="矩形 4"/>
          <p:cNvSpPr/>
          <p:nvPr/>
        </p:nvSpPr>
        <p:spPr>
          <a:xfrm>
            <a:off x="1504622" y="565517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2340" t="32261" r="52509" b="11221"/>
          <a:stretch>
            <a:fillRect/>
          </a:stretch>
        </p:blipFill>
        <p:spPr>
          <a:xfrm>
            <a:off x="1977886" y="3331206"/>
            <a:ext cx="4098735" cy="27856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10204"/>
          <a:stretch>
            <a:fillRect/>
          </a:stretch>
        </p:blipFill>
        <p:spPr>
          <a:xfrm>
            <a:off x="6471920" y="3359785"/>
            <a:ext cx="5117465" cy="254825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472052" y="3820886"/>
            <a:ext cx="1496291" cy="587828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301594" y="489129"/>
            <a:ext cx="9345880" cy="5815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继承与复合的区别</a:t>
            </a:r>
            <a:endParaRPr kumimoji="1" lang="en-US" altLang="zh-CN" sz="36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onsolas" panose="020B0609020204030204" pitchFamily="49" charset="0"/>
              </a:rPr>
              <a:t>继承：</a:t>
            </a:r>
            <a:r>
              <a:rPr lang="en-US" altLang="zh-CN" sz="2400" dirty="0">
                <a:latin typeface="Consolas" panose="020B0609020204030204" pitchFamily="49" charset="0"/>
              </a:rPr>
              <a:t>is-a</a:t>
            </a:r>
            <a:r>
              <a:rPr lang="zh-CN" altLang="en-US" sz="2400" dirty="0">
                <a:latin typeface="Consolas" panose="020B0609020204030204" pitchFamily="49" charset="0"/>
              </a:rPr>
              <a:t>关系（“是”）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buClr>
                <a:srgbClr val="151DC1"/>
              </a:buClr>
            </a:pPr>
            <a:r>
              <a:rPr lang="zh-CN" altLang="en-US" sz="2400" dirty="0">
                <a:latin typeface="Consolas" panose="020B0609020204030204" pitchFamily="49" charset="0"/>
              </a:rPr>
              <a:t>类</a:t>
            </a:r>
            <a:r>
              <a:rPr lang="en-US" altLang="zh-CN" sz="2400" dirty="0">
                <a:latin typeface="Consolas" panose="020B0609020204030204" pitchFamily="49" charset="0"/>
              </a:rPr>
              <a:t>B</a:t>
            </a:r>
            <a:r>
              <a:rPr lang="zh-CN" altLang="en-US" sz="2400" dirty="0">
                <a:latin typeface="Consolas" panose="020B0609020204030204" pitchFamily="49" charset="0"/>
              </a:rPr>
              <a:t>是类</a:t>
            </a:r>
            <a:r>
              <a:rPr lang="en-US" altLang="zh-CN" sz="2400" dirty="0">
                <a:latin typeface="Consolas" panose="020B0609020204030204" pitchFamily="49" charset="0"/>
              </a:rPr>
              <a:t>A</a:t>
            </a:r>
            <a:r>
              <a:rPr lang="zh-CN" altLang="en-US" sz="2400" dirty="0">
                <a:latin typeface="Consolas" panose="020B0609020204030204" pitchFamily="49" charset="0"/>
              </a:rPr>
              <a:t>的一个派生类，则“一个</a:t>
            </a:r>
            <a:r>
              <a:rPr lang="en-US" altLang="zh-CN" sz="2400" dirty="0">
                <a:latin typeface="Consolas" panose="020B0609020204030204" pitchFamily="49" charset="0"/>
              </a:rPr>
              <a:t>B</a:t>
            </a:r>
            <a:r>
              <a:rPr lang="zh-CN" altLang="en-US" sz="2400" dirty="0">
                <a:latin typeface="Consolas" panose="020B0609020204030204" pitchFamily="49" charset="0"/>
              </a:rPr>
              <a:t>对象也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是</a:t>
            </a:r>
            <a:r>
              <a:rPr lang="zh-CN" altLang="en-US" sz="2400" dirty="0">
                <a:latin typeface="Consolas" panose="020B0609020204030204" pitchFamily="49" charset="0"/>
              </a:rPr>
              <a:t>一个</a:t>
            </a:r>
            <a:r>
              <a:rPr lang="en-US" altLang="zh-CN" sz="2400" dirty="0">
                <a:latin typeface="Consolas" panose="020B0609020204030204" pitchFamily="49" charset="0"/>
              </a:rPr>
              <a:t>A</a:t>
            </a:r>
            <a:r>
              <a:rPr lang="zh-CN" altLang="en-US" sz="2400" dirty="0">
                <a:latin typeface="Consolas" panose="020B0609020204030204" pitchFamily="49" charset="0"/>
              </a:rPr>
              <a:t>对象”。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buClr>
                <a:srgbClr val="151DC1"/>
              </a:buClr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onsolas" panose="020B0609020204030204" pitchFamily="49" charset="0"/>
              </a:rPr>
              <a:t>复合：</a:t>
            </a:r>
            <a:r>
              <a:rPr lang="en-US" altLang="zh-CN" sz="2400" dirty="0">
                <a:latin typeface="Consolas" panose="020B0609020204030204" pitchFamily="49" charset="0"/>
              </a:rPr>
              <a:t>have</a:t>
            </a:r>
            <a:r>
              <a:rPr lang="zh-CN" altLang="en-US" sz="2400" dirty="0">
                <a:latin typeface="Consolas" panose="020B0609020204030204" pitchFamily="49" charset="0"/>
              </a:rPr>
              <a:t>关系（“有”）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>
              <a:buClr>
                <a:srgbClr val="151DC1"/>
              </a:buClr>
            </a:pPr>
            <a:r>
              <a:rPr kumimoji="1" lang="zh-CN" altLang="en-US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类</a:t>
            </a:r>
            <a:r>
              <a:rPr kumimoji="1"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r>
              <a:rPr kumimoji="1" lang="zh-CN" altLang="en-US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中包含成员</a:t>
            </a:r>
            <a:r>
              <a:rPr kumimoji="1"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r>
              <a:rPr kumimoji="1" lang="zh-CN" altLang="en-US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r>
              <a:rPr kumimoji="1" lang="zh-CN" altLang="en-US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为类</a:t>
            </a:r>
            <a:r>
              <a:rPr kumimoji="1"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r>
              <a:rPr kumimoji="1" lang="zh-CN" altLang="en-US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对象。则类</a:t>
            </a:r>
            <a:r>
              <a:rPr kumimoji="1" lang="en-US" altLang="zh-CN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r>
              <a:rPr kumimoji="1" lang="zh-CN" altLang="en-US" sz="24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中</a:t>
            </a:r>
            <a:r>
              <a:rPr kumimoji="1"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有</a:t>
            </a:r>
            <a:r>
              <a:rPr kumimoji="1"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类</a:t>
            </a:r>
            <a:r>
              <a:rPr kumimoji="1" lang="en-US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r>
              <a:rPr kumimoji="1" lang="zh-CN" altLang="en-US" sz="2400" dirty="0">
                <a:latin typeface="Consolas" panose="020B0609020204030204" pitchFamily="49" charset="0"/>
                <a:ea typeface="宋体" panose="02010600030101010101" pitchFamily="2" charset="-122"/>
              </a:rPr>
              <a:t>成员对象。</a:t>
            </a:r>
            <a:endParaRPr kumimoji="1" lang="en-US" altLang="zh-CN" sz="24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+mn-ea"/>
                <a:cs typeface="+mn-ea"/>
              </a:rPr>
              <a:t>class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Student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+mn-ea"/>
              </a:rPr>
              <a:t>: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cs typeface="+mn-ea"/>
              </a:rPr>
              <a:t>public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+mn-ea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Person { </a:t>
            </a:r>
            <a:r>
              <a:rPr lang="en-US" altLang="zh-CN" sz="24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+mn-ea"/>
                <a:cs typeface="+mn-ea"/>
              </a:rPr>
              <a:t>学生类，公有继承</a:t>
            </a:r>
            <a:r>
              <a:rPr lang="en-US" altLang="zh-CN" sz="2400" dirty="0">
                <a:solidFill>
                  <a:srgbClr val="008000"/>
                </a:solidFill>
                <a:latin typeface="+mn-ea"/>
                <a:cs typeface="+mn-ea"/>
              </a:rPr>
              <a:t>Person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+mn-ea"/>
                <a:cs typeface="+mn-ea"/>
              </a:rPr>
              <a:t>private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cs typeface="+mn-ea"/>
              </a:rPr>
              <a:t>Course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cs typeface="+mn-ea"/>
              </a:rPr>
              <a:t>m_course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+mn-ea"/>
                <a:cs typeface="+mn-ea"/>
              </a:rPr>
              <a:t>课程信息 </a:t>
            </a:r>
            <a:r>
              <a:rPr lang="zh-CN" altLang="en-US" sz="2400" dirty="0">
                <a:solidFill>
                  <a:srgbClr val="0066FF"/>
                </a:solidFill>
                <a:latin typeface="+mn-ea"/>
                <a:cs typeface="+mn-ea"/>
              </a:rPr>
              <a:t>这里是继承吗？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cs typeface="+mn-ea"/>
              </a:rPr>
              <a:t>复合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+mn-ea"/>
                <a:cs typeface="+mn-ea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	Student(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+mn-ea"/>
              </a:rPr>
              <a:t>const </a:t>
            </a:r>
            <a:r>
              <a:rPr lang="en-US" altLang="zh-CN" sz="2400" dirty="0">
                <a:solidFill>
                  <a:srgbClr val="008080"/>
                </a:solidFill>
                <a:latin typeface="+mn-ea"/>
                <a:cs typeface="+mn-ea"/>
              </a:rPr>
              <a:t>string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&amp;name,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+mn-ea"/>
              </a:rPr>
              <a:t>int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age,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+mn-ea"/>
              </a:rPr>
              <a:t>const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Course &amp;c):</a:t>
            </a: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	Person(name, age),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cs typeface="+mn-ea"/>
              </a:rPr>
              <a:t>m_course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(c) {}</a:t>
            </a: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	Course&amp; course() {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+mn-ea"/>
              </a:rPr>
              <a:t>return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cs typeface="+mn-ea"/>
              </a:rPr>
              <a:t>m_course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; }</a:t>
            </a: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</a:rPr>
              <a:t>};</a:t>
            </a:r>
          </a:p>
          <a:p>
            <a:pPr>
              <a:buClr>
                <a:srgbClr val="151DC1"/>
              </a:buClr>
            </a:pPr>
            <a:endParaRPr kumimoji="1" lang="en-US" altLang="zh-CN" sz="2400" dirty="0">
              <a:solidFill>
                <a:srgbClr val="008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504622" y="950475"/>
            <a:ext cx="934588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公有继承、保护继承和私有继承</a:t>
            </a:r>
            <a:endParaRPr kumimoji="1" lang="en-US" altLang="zh-CN" sz="36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zh-CN" altLang="en-US" sz="2400" dirty="0">
                <a:latin typeface="Consolas" panose="020B0609020204030204" pitchFamily="49" charset="0"/>
              </a:rPr>
              <a:t>继承</a:t>
            </a:r>
            <a:r>
              <a:rPr lang="en-US" altLang="zh-CN" sz="2400" dirty="0">
                <a:latin typeface="Consolas" panose="020B0609020204030204" pitchFamily="49" charset="0"/>
              </a:rPr>
              <a:t>: </a:t>
            </a:r>
            <a:r>
              <a:rPr lang="zh-CN" altLang="en-US" sz="2400" dirty="0">
                <a:latin typeface="Consolas" panose="020B0609020204030204" pitchFamily="49" charset="0"/>
              </a:rPr>
              <a:t>基类的</a:t>
            </a:r>
            <a:r>
              <a:rPr lang="en-US" altLang="zh-CN" sz="2400" dirty="0">
                <a:latin typeface="Consolas" panose="020B0609020204030204" pitchFamily="49" charset="0"/>
              </a:rPr>
              <a:t>protected</a:t>
            </a:r>
            <a:r>
              <a:rPr lang="zh-CN" altLang="en-US" sz="2400" dirty="0">
                <a:latin typeface="Consolas" panose="020B0609020204030204" pitchFamily="49" charset="0"/>
              </a:rPr>
              <a:t>和</a:t>
            </a:r>
            <a:r>
              <a:rPr lang="en-US" altLang="zh-CN" sz="2400" dirty="0">
                <a:latin typeface="Consolas" panose="020B0609020204030204" pitchFamily="49" charset="0"/>
              </a:rPr>
              <a:t>public</a:t>
            </a:r>
            <a:r>
              <a:rPr lang="zh-CN" altLang="en-US" sz="2400" dirty="0">
                <a:latin typeface="Consolas" panose="020B0609020204030204" pitchFamily="49" charset="0"/>
              </a:rPr>
              <a:t>属性在其派生类中保持不变。</a:t>
            </a: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protected</a:t>
            </a:r>
            <a:r>
              <a:rPr lang="zh-CN" altLang="en-US" sz="2400" dirty="0">
                <a:latin typeface="Consolas" panose="020B0609020204030204" pitchFamily="49" charset="0"/>
              </a:rPr>
              <a:t>继承</a:t>
            </a:r>
            <a:r>
              <a:rPr lang="en-US" altLang="zh-CN" sz="2400" dirty="0">
                <a:latin typeface="Consolas" panose="020B0609020204030204" pitchFamily="49" charset="0"/>
              </a:rPr>
              <a:t>: </a:t>
            </a:r>
            <a:r>
              <a:rPr lang="zh-CN" altLang="en-US" sz="2400" dirty="0">
                <a:latin typeface="Consolas" panose="020B0609020204030204" pitchFamily="49" charset="0"/>
              </a:rPr>
              <a:t>基类的</a:t>
            </a:r>
            <a:r>
              <a:rPr lang="en-US" altLang="zh-CN" sz="2400" dirty="0">
                <a:latin typeface="Consolas" panose="020B0609020204030204" pitchFamily="49" charset="0"/>
              </a:rPr>
              <a:t>protected</a:t>
            </a:r>
            <a:r>
              <a:rPr lang="zh-CN" altLang="en-US" sz="2400" dirty="0">
                <a:latin typeface="Consolas" panose="020B0609020204030204" pitchFamily="49" charset="0"/>
              </a:rPr>
              <a:t>和</a:t>
            </a:r>
            <a:r>
              <a:rPr lang="en-US" altLang="zh-CN" sz="2400" dirty="0">
                <a:latin typeface="Consolas" panose="020B0609020204030204" pitchFamily="49" charset="0"/>
              </a:rPr>
              <a:t>public</a:t>
            </a:r>
            <a:r>
              <a:rPr lang="zh-CN" altLang="en-US" sz="2400" dirty="0">
                <a:latin typeface="Consolas" panose="020B0609020204030204" pitchFamily="49" charset="0"/>
              </a:rPr>
              <a:t>属性在派生类中变为</a:t>
            </a:r>
            <a:r>
              <a:rPr lang="en-US" altLang="zh-CN" sz="2400" dirty="0">
                <a:latin typeface="Consolas" panose="020B0609020204030204" pitchFamily="49" charset="0"/>
              </a:rPr>
              <a:t>protected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private</a:t>
            </a:r>
            <a:r>
              <a:rPr lang="zh-CN" altLang="en-US" sz="2400" dirty="0">
                <a:latin typeface="Consolas" panose="020B0609020204030204" pitchFamily="49" charset="0"/>
              </a:rPr>
              <a:t>继承</a:t>
            </a:r>
            <a:r>
              <a:rPr lang="en-US" altLang="zh-CN" sz="2400" dirty="0">
                <a:latin typeface="Consolas" panose="020B0609020204030204" pitchFamily="49" charset="0"/>
              </a:rPr>
              <a:t>: </a:t>
            </a:r>
            <a:r>
              <a:rPr lang="zh-CN" altLang="en-US" sz="2400" dirty="0">
                <a:latin typeface="Consolas" panose="020B0609020204030204" pitchFamily="49" charset="0"/>
              </a:rPr>
              <a:t>基类的</a:t>
            </a:r>
            <a:r>
              <a:rPr lang="en-US" altLang="zh-CN" sz="2400" dirty="0">
                <a:latin typeface="Consolas" panose="020B0609020204030204" pitchFamily="49" charset="0"/>
              </a:rPr>
              <a:t>protected</a:t>
            </a:r>
            <a:r>
              <a:rPr lang="zh-CN" altLang="en-US" sz="2400" dirty="0">
                <a:latin typeface="Consolas" panose="020B0609020204030204" pitchFamily="49" charset="0"/>
              </a:rPr>
              <a:t>和</a:t>
            </a:r>
            <a:r>
              <a:rPr lang="en-US" altLang="zh-CN" sz="2400" dirty="0">
                <a:latin typeface="Consolas" panose="020B0609020204030204" pitchFamily="49" charset="0"/>
              </a:rPr>
              <a:t>public</a:t>
            </a:r>
            <a:r>
              <a:rPr lang="zh-CN" altLang="en-US" sz="2400" dirty="0">
                <a:latin typeface="Consolas" panose="020B0609020204030204" pitchFamily="49" charset="0"/>
              </a:rPr>
              <a:t>属性在派生类中变为</a:t>
            </a:r>
            <a:r>
              <a:rPr lang="en-US" altLang="zh-CN" sz="2400" dirty="0">
                <a:latin typeface="Consolas" panose="020B0609020204030204" pitchFamily="49" charset="0"/>
              </a:rPr>
              <a:t>private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Consolas" panose="020B0609020204030204" pitchFamily="49" charset="0"/>
              </a:rPr>
              <a:t>以上三种继承，</a:t>
            </a:r>
            <a:r>
              <a:rPr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基类中的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private</a:t>
            </a:r>
            <a:r>
              <a:rPr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属性</a:t>
            </a:r>
            <a:r>
              <a:rPr lang="zh-CN" altLang="en-US" sz="2400" b="1" dirty="0">
                <a:latin typeface="Consolas" panose="020B0609020204030204" pitchFamily="49" charset="0"/>
              </a:rPr>
              <a:t>在其派生类中均</a:t>
            </a:r>
            <a:r>
              <a:rPr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保持不变</a:t>
            </a:r>
            <a:endParaRPr kumimoji="1"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04622" y="565517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935681" y="5595805"/>
            <a:ext cx="8512068" cy="767626"/>
            <a:chOff x="219974" y="2044323"/>
            <a:chExt cx="8704052" cy="1095679"/>
          </a:xfrm>
        </p:grpSpPr>
        <p:sp>
          <p:nvSpPr>
            <p:cNvPr id="8" name="矩形: 圆顶角 9"/>
            <p:cNvSpPr/>
            <p:nvPr/>
          </p:nvSpPr>
          <p:spPr>
            <a:xfrm>
              <a:off x="219974" y="2044323"/>
              <a:ext cx="8704052" cy="577651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>
                  <a:solidFill>
                    <a:srgbClr val="FFFFFF"/>
                  </a:solidFill>
                  <a:latin typeface="MicrosoftYaHei"/>
                </a:rPr>
                <a:t>提示：</a:t>
              </a:r>
              <a:r>
                <a:rPr lang="zh-CN" altLang="en-US" sz="2400" b="1" dirty="0">
                  <a:solidFill>
                    <a:schemeClr val="tx1"/>
                  </a:solidFill>
                  <a:latin typeface="MicrosoftYaHei"/>
                </a:rPr>
                <a:t>公有继承是绝对主流</a:t>
              </a:r>
            </a:p>
          </p:txBody>
        </p:sp>
        <p:sp>
          <p:nvSpPr>
            <p:cNvPr id="9" name="矩形: 圆角 17"/>
            <p:cNvSpPr/>
            <p:nvPr/>
          </p:nvSpPr>
          <p:spPr>
            <a:xfrm>
              <a:off x="304975" y="2612832"/>
              <a:ext cx="8619050" cy="527170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由于私有继承和受保护继承均具有</a:t>
              </a:r>
              <a:r>
                <a:rPr lang="zh-CN" altLang="en-US" dirty="0">
                  <a:solidFill>
                    <a:srgbClr val="FF0000"/>
                  </a:solidFill>
                  <a:latin typeface="MicrosoftYaHei"/>
                </a:rPr>
                <a:t>局限性</a:t>
              </a:r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，所以公有继承是主流的继承方式。</a:t>
              </a:r>
            </a:p>
          </p:txBody>
        </p:sp>
      </p:grpSp>
      <p:sp>
        <p:nvSpPr>
          <p:cNvPr id="10" name="Rectangle 2"/>
          <p:cNvSpPr txBox="1">
            <a:spLocks noRot="1" noChangeArrowheads="1"/>
          </p:cNvSpPr>
          <p:nvPr/>
        </p:nvSpPr>
        <p:spPr>
          <a:xfrm>
            <a:off x="2051515" y="94089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7.2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继承与派生中的访问控制</a:t>
            </a: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423060" y="480736"/>
            <a:ext cx="9345880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继承与派生中的成员访问控制</a:t>
            </a:r>
            <a:endParaRPr kumimoji="1" lang="en-US" altLang="zh-CN" sz="36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buClr>
                <a:srgbClr val="151DC1"/>
              </a:buClr>
            </a:pPr>
            <a:endParaRPr lang="en-US" altLang="zh-CN" sz="2400" b="1" dirty="0">
              <a:latin typeface="Consolas" panose="020B0609020204030204" pitchFamily="49" charset="0"/>
            </a:endParaRPr>
          </a:p>
          <a:p>
            <a:pPr>
              <a:buClr>
                <a:srgbClr val="151DC1"/>
              </a:buClr>
            </a:pPr>
            <a:r>
              <a:rPr lang="zh-CN" altLang="en-US" sz="2400" b="1" dirty="0">
                <a:latin typeface="Consolas" panose="020B0609020204030204" pitchFamily="49" charset="0"/>
              </a:rPr>
              <a:t>假设：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pPr>
              <a:buClr>
                <a:srgbClr val="151DC1"/>
              </a:buClr>
            </a:pPr>
            <a:r>
              <a:rPr lang="en-US" altLang="zh-CN" sz="2400" b="1" dirty="0">
                <a:latin typeface="Consolas" panose="020B0609020204030204" pitchFamily="49" charset="0"/>
              </a:rPr>
              <a:t>a.</a:t>
            </a:r>
            <a:r>
              <a:rPr lang="zh-CN" altLang="en-US" sz="2400" b="1" dirty="0">
                <a:latin typeface="Consolas" panose="020B0609020204030204" pitchFamily="49" charset="0"/>
              </a:rPr>
              <a:t> 基类中的函数         </a:t>
            </a:r>
            <a:r>
              <a:rPr lang="en-US" altLang="zh-CN" sz="2400" b="1" dirty="0">
                <a:latin typeface="Consolas" panose="020B0609020204030204" pitchFamily="49" charset="0"/>
              </a:rPr>
              <a:t>b. </a:t>
            </a:r>
            <a:r>
              <a:rPr lang="zh-CN" altLang="en-US" sz="2400" b="1" dirty="0">
                <a:latin typeface="Consolas" panose="020B0609020204030204" pitchFamily="49" charset="0"/>
              </a:rPr>
              <a:t>派生类中的函数</a:t>
            </a:r>
          </a:p>
          <a:p>
            <a:pPr>
              <a:buClr>
                <a:srgbClr val="151DC1"/>
              </a:buClr>
            </a:pPr>
            <a:r>
              <a:rPr lang="en-US" altLang="zh-CN" sz="2400" b="1" dirty="0">
                <a:latin typeface="Consolas" panose="020B0609020204030204" pitchFamily="49" charset="0"/>
              </a:rPr>
              <a:t>c. </a:t>
            </a:r>
            <a:r>
              <a:rPr lang="zh-CN" altLang="en-US" sz="2400" b="1" dirty="0">
                <a:latin typeface="Consolas" panose="020B0609020204030204" pitchFamily="49" charset="0"/>
              </a:rPr>
              <a:t>基类的友元函数      </a:t>
            </a:r>
            <a:r>
              <a:rPr lang="en-US" altLang="zh-CN" sz="2400" b="1" dirty="0">
                <a:latin typeface="Consolas" panose="020B0609020204030204" pitchFamily="49" charset="0"/>
              </a:rPr>
              <a:t> d. </a:t>
            </a:r>
            <a:r>
              <a:rPr lang="zh-CN" altLang="en-US" sz="2400" b="1" dirty="0">
                <a:latin typeface="Consolas" panose="020B0609020204030204" pitchFamily="49" charset="0"/>
              </a:rPr>
              <a:t>基类的对象</a:t>
            </a: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endParaRPr lang="zh-CN" altLang="en-US" sz="2800" b="1" dirty="0">
              <a:latin typeface="Consolas" panose="020B0609020204030204" pitchFamily="49" charset="0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2800" b="1" dirty="0">
                <a:latin typeface="Consolas" panose="020B0609020204030204" pitchFamily="49" charset="0"/>
              </a:rPr>
              <a:t>: </a:t>
            </a:r>
            <a:r>
              <a:rPr lang="zh-CN" altLang="en-US" sz="2800" b="1" dirty="0">
                <a:latin typeface="Consolas" panose="020B0609020204030204" pitchFamily="49" charset="0"/>
              </a:rPr>
              <a:t>可以被</a:t>
            </a:r>
            <a:r>
              <a:rPr lang="en-US" altLang="zh-CN" sz="2800" b="1" dirty="0">
                <a:latin typeface="Consolas" panose="020B0609020204030204" pitchFamily="49" charset="0"/>
              </a:rPr>
              <a:t>a</a:t>
            </a:r>
            <a:r>
              <a:rPr lang="zh-CN" altLang="en-US" sz="2800" b="1" dirty="0">
                <a:latin typeface="Consolas" panose="020B0609020204030204" pitchFamily="49" charset="0"/>
              </a:rPr>
              <a:t>、</a:t>
            </a:r>
            <a:r>
              <a:rPr lang="en-US" altLang="zh-CN" sz="2800" b="1" dirty="0">
                <a:latin typeface="Consolas" panose="020B0609020204030204" pitchFamily="49" charset="0"/>
              </a:rPr>
              <a:t>b</a:t>
            </a:r>
            <a:r>
              <a:rPr lang="zh-CN" altLang="en-US" sz="2800" b="1" dirty="0">
                <a:latin typeface="Consolas" panose="020B0609020204030204" pitchFamily="49" charset="0"/>
              </a:rPr>
              <a:t>、</a:t>
            </a:r>
            <a:r>
              <a:rPr lang="en-US" altLang="zh-CN" sz="2800" b="1" dirty="0">
                <a:latin typeface="Consolas" panose="020B0609020204030204" pitchFamily="49" charset="0"/>
              </a:rPr>
              <a:t>c</a:t>
            </a:r>
            <a:r>
              <a:rPr lang="zh-CN" altLang="en-US" sz="2800" b="1" dirty="0">
                <a:latin typeface="Consolas" panose="020B0609020204030204" pitchFamily="49" charset="0"/>
              </a:rPr>
              <a:t>和</a:t>
            </a:r>
            <a:r>
              <a:rPr lang="en-US" altLang="zh-CN" sz="2800" b="1" dirty="0">
                <a:latin typeface="Consolas" panose="020B0609020204030204" pitchFamily="49" charset="0"/>
              </a:rPr>
              <a:t>d</a:t>
            </a:r>
            <a:r>
              <a:rPr lang="zh-CN" altLang="en-US" sz="2800" b="1" dirty="0">
                <a:latin typeface="Consolas" panose="020B0609020204030204" pitchFamily="49" charset="0"/>
              </a:rPr>
              <a:t>访问。</a:t>
            </a: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endParaRPr lang="zh-CN" altLang="en-US" sz="2800" b="1" dirty="0">
              <a:latin typeface="Consolas" panose="020B0609020204030204" pitchFamily="49" charset="0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protected</a:t>
            </a:r>
            <a:r>
              <a:rPr lang="en-US" altLang="zh-CN" sz="2800" b="1" dirty="0">
                <a:latin typeface="Consolas" panose="020B0609020204030204" pitchFamily="49" charset="0"/>
              </a:rPr>
              <a:t>: </a:t>
            </a:r>
            <a:r>
              <a:rPr lang="zh-CN" altLang="en-US" sz="2800" b="1" dirty="0">
                <a:latin typeface="Consolas" panose="020B0609020204030204" pitchFamily="49" charset="0"/>
              </a:rPr>
              <a:t>可以被</a:t>
            </a:r>
            <a:r>
              <a:rPr lang="en-US" altLang="zh-CN" sz="2800" b="1" dirty="0">
                <a:latin typeface="Consolas" panose="020B0609020204030204" pitchFamily="49" charset="0"/>
              </a:rPr>
              <a:t>a</a:t>
            </a:r>
            <a:r>
              <a:rPr lang="zh-CN" altLang="en-US" sz="2800" b="1" dirty="0">
                <a:latin typeface="Consolas" panose="020B0609020204030204" pitchFamily="49" charset="0"/>
              </a:rPr>
              <a:t>、</a:t>
            </a:r>
            <a:r>
              <a:rPr lang="en-US" altLang="zh-CN" sz="2800" b="1" dirty="0">
                <a:latin typeface="Consolas" panose="020B0609020204030204" pitchFamily="49" charset="0"/>
              </a:rPr>
              <a:t>b</a:t>
            </a:r>
            <a:r>
              <a:rPr lang="zh-CN" altLang="en-US" sz="2800" b="1" dirty="0">
                <a:latin typeface="Consolas" panose="020B0609020204030204" pitchFamily="49" charset="0"/>
              </a:rPr>
              <a:t>和</a:t>
            </a:r>
            <a:r>
              <a:rPr lang="en-US" altLang="zh-CN" sz="2800" b="1" dirty="0">
                <a:latin typeface="Consolas" panose="020B0609020204030204" pitchFamily="49" charset="0"/>
              </a:rPr>
              <a:t>c</a:t>
            </a:r>
            <a:r>
              <a:rPr lang="zh-CN" altLang="en-US" sz="2800" b="1" dirty="0">
                <a:latin typeface="Consolas" panose="020B0609020204030204" pitchFamily="49" charset="0"/>
              </a:rPr>
              <a:t>访问。</a:t>
            </a: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endParaRPr lang="zh-CN" altLang="en-US" sz="2800" b="1" dirty="0">
              <a:latin typeface="Consolas" panose="020B0609020204030204" pitchFamily="49" charset="0"/>
            </a:endParaRPr>
          </a:p>
          <a:p>
            <a:pPr marL="342900" indent="-342900">
              <a:buClr>
                <a:srgbClr val="151DC1"/>
              </a:buClr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private</a:t>
            </a:r>
            <a:r>
              <a:rPr lang="en-US" altLang="zh-CN" sz="2800" b="1" dirty="0">
                <a:latin typeface="Consolas" panose="020B0609020204030204" pitchFamily="49" charset="0"/>
              </a:rPr>
              <a:t>: </a:t>
            </a:r>
            <a:r>
              <a:rPr lang="zh-CN" altLang="en-US" sz="2800" b="1" dirty="0">
                <a:latin typeface="Consolas" panose="020B0609020204030204" pitchFamily="49" charset="0"/>
              </a:rPr>
              <a:t>可以被</a:t>
            </a:r>
            <a:r>
              <a:rPr lang="en-US" altLang="zh-CN" sz="2800" b="1" dirty="0">
                <a:latin typeface="Consolas" panose="020B0609020204030204" pitchFamily="49" charset="0"/>
              </a:rPr>
              <a:t>a</a:t>
            </a:r>
            <a:r>
              <a:rPr lang="zh-CN" altLang="en-US" sz="2800" b="1" dirty="0">
                <a:latin typeface="Consolas" panose="020B0609020204030204" pitchFamily="49" charset="0"/>
              </a:rPr>
              <a:t>和</a:t>
            </a:r>
            <a:r>
              <a:rPr lang="en-US" altLang="zh-CN" sz="2800" b="1" dirty="0">
                <a:latin typeface="Consolas" panose="020B0609020204030204" pitchFamily="49" charset="0"/>
              </a:rPr>
              <a:t>c</a:t>
            </a:r>
            <a:r>
              <a:rPr lang="zh-CN" altLang="en-US" sz="2800" b="1" dirty="0">
                <a:latin typeface="Consolas" panose="020B0609020204030204" pitchFamily="49" charset="0"/>
              </a:rPr>
              <a:t>访问。</a:t>
            </a:r>
          </a:p>
        </p:txBody>
      </p:sp>
      <p:sp>
        <p:nvSpPr>
          <p:cNvPr id="5" name="矩形 4"/>
          <p:cNvSpPr/>
          <p:nvPr/>
        </p:nvSpPr>
        <p:spPr>
          <a:xfrm>
            <a:off x="1504622" y="565517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817298" y="173472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804012" y="166074"/>
            <a:ext cx="10688595" cy="6123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例：下面代码正确吗？                     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Base {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int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m_pri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//private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成员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protected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int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m_pro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//protected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成员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	int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m_pub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//public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成员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class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PubDerv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 :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+mn-ea"/>
              </a:rPr>
              <a:t>public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Base {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void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foo() {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m_pri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 = 10;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错误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：不能访问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Base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类私有成员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m_pro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 = 1;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正确：可以在成员函数中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直接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访问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Base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类受保护成员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}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void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test() {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Base b;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b.m_pro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 = 10;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错误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：不能以对象方式访问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Base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  <a:sym typeface="+mn-ea"/>
              </a:rPr>
              <a:t>类受保护成员</a:t>
            </a:r>
            <a:endParaRPr lang="en-US" altLang="zh-CN" sz="2000" dirty="0">
              <a:solidFill>
                <a:srgbClr val="000000"/>
              </a:solidFill>
              <a:latin typeface="+mn-ea"/>
              <a:cs typeface="+mn-ea"/>
            </a:endParaRP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 </a:t>
            </a:r>
            <a:endParaRPr lang="zh-CN" altLang="en-US" sz="24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817298" y="173472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864972" y="326094"/>
            <a:ext cx="10688595" cy="4954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例：下面代码正确吗？                     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1"/>
            <a:endParaRPr lang="en-US" altLang="zh-CN" sz="2000" dirty="0">
              <a:solidFill>
                <a:srgbClr val="0000FF"/>
              </a:solidFill>
              <a:latin typeface="LMMono8-Regular-Identity-H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class 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PriDerv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 :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+mn-ea"/>
              </a:rPr>
              <a:t>private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Base {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私有继承不影响派生类成员对基类的访问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void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foo() {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m_pro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 = 1;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正确：可以访问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Base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类受保护成员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+mn-ea"/>
              </a:rPr>
              <a:t>m_pub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 = 1;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正确：可以访问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Base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类公有成员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}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n-ea"/>
                <a:cs typeface="+mn-ea"/>
              </a:rPr>
              <a:t>void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test() {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</a:t>
            </a:r>
            <a:r>
              <a:rPr lang="en-US" altLang="zh-CN" sz="2000" dirty="0" err="1">
                <a:solidFill>
                  <a:srgbClr val="0066FF"/>
                </a:solidFill>
                <a:latin typeface="+mn-ea"/>
                <a:cs typeface="+mn-ea"/>
              </a:rPr>
              <a:t>PubDerv</a:t>
            </a:r>
            <a:r>
              <a:rPr lang="en-US" altLang="zh-CN" sz="2000" dirty="0">
                <a:solidFill>
                  <a:srgbClr val="0066FF"/>
                </a:solidFill>
                <a:latin typeface="+mn-ea"/>
                <a:cs typeface="+mn-ea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d1;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</a:t>
            </a:r>
            <a:r>
              <a:rPr lang="en-US" altLang="zh-CN" sz="2000" dirty="0" err="1">
                <a:solidFill>
                  <a:srgbClr val="0066FF"/>
                </a:solidFill>
                <a:latin typeface="+mn-ea"/>
                <a:cs typeface="+mn-ea"/>
              </a:rPr>
              <a:t>PriDerv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 d2;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d1.m_pub = 10;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正确：</a:t>
            </a:r>
            <a:r>
              <a:rPr lang="en-US" altLang="zh-CN" sz="2000" dirty="0" err="1">
                <a:solidFill>
                  <a:srgbClr val="008000"/>
                </a:solidFill>
                <a:latin typeface="+mn-ea"/>
                <a:cs typeface="+mn-ea"/>
              </a:rPr>
              <a:t>m_pub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在</a:t>
            </a:r>
            <a:r>
              <a:rPr lang="en-US" altLang="zh-CN" sz="2000" dirty="0" err="1">
                <a:solidFill>
                  <a:srgbClr val="008000"/>
                </a:solidFill>
                <a:latin typeface="+mn-ea"/>
                <a:cs typeface="+mn-ea"/>
              </a:rPr>
              <a:t>PubDerv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中是公有的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	d2.m_pub = 1; </a:t>
            </a:r>
            <a:r>
              <a:rPr lang="en-US" altLang="zh-CN" sz="2000" dirty="0">
                <a:solidFill>
                  <a:srgbClr val="008000"/>
                </a:solidFill>
                <a:latin typeface="+mn-ea"/>
                <a:cs typeface="+mn-ea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</a:rPr>
              <a:t>错误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：</a:t>
            </a:r>
            <a:r>
              <a:rPr lang="en-US" altLang="zh-CN" sz="2000" dirty="0" err="1">
                <a:solidFill>
                  <a:srgbClr val="008000"/>
                </a:solidFill>
                <a:latin typeface="+mn-ea"/>
                <a:cs typeface="+mn-ea"/>
              </a:rPr>
              <a:t>m_pub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在</a:t>
            </a:r>
            <a:r>
              <a:rPr lang="zh-CN" sz="2000" dirty="0" err="1">
                <a:solidFill>
                  <a:srgbClr val="008000"/>
                </a:solidFill>
                <a:latin typeface="+mn-ea"/>
                <a:cs typeface="+mn-ea"/>
              </a:rPr>
              <a:t>的访问权限被</a:t>
            </a:r>
            <a:r>
              <a:rPr lang="zh-CN" altLang="en-US" sz="2000" dirty="0">
                <a:solidFill>
                  <a:srgbClr val="008000"/>
                </a:solidFill>
                <a:latin typeface="+mn-ea"/>
                <a:cs typeface="+mn-ea"/>
              </a:rPr>
              <a:t>私有继承方式的变更为私有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</a:rPr>
              <a:t>}</a:t>
            </a:r>
          </a:p>
          <a:p>
            <a:pPr lvl="1"/>
            <a:endParaRPr lang="zh-CN" altLang="en-US" sz="24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1423060" y="480736"/>
            <a:ext cx="9345880" cy="544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继承与派生中的访问控制</a:t>
            </a:r>
            <a:endParaRPr kumimoji="1" lang="en-US" altLang="zh-CN" sz="36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通过使用</a:t>
            </a:r>
            <a:r>
              <a:rPr lang="en-US" altLang="zh-CN" sz="2400" b="1" dirty="0">
                <a:solidFill>
                  <a:srgbClr val="FF0000"/>
                </a:solidFill>
              </a:rPr>
              <a:t>using</a:t>
            </a:r>
            <a:r>
              <a:rPr lang="zh-CN" altLang="en-US" sz="2400" b="1" dirty="0">
                <a:solidFill>
                  <a:srgbClr val="000000"/>
                </a:solidFill>
              </a:rPr>
              <a:t>声明，可以</a:t>
            </a:r>
            <a:r>
              <a:rPr lang="zh-CN" altLang="en-US" sz="2400" b="1" dirty="0">
                <a:solidFill>
                  <a:srgbClr val="FF0000"/>
                </a:solidFill>
              </a:rPr>
              <a:t>改变</a:t>
            </a:r>
            <a:r>
              <a:rPr lang="zh-CN" altLang="en-US" sz="2400" b="1" dirty="0">
                <a:solidFill>
                  <a:srgbClr val="000000"/>
                </a:solidFill>
              </a:rPr>
              <a:t>派生类中基类成员的访问权限</a:t>
            </a:r>
            <a:r>
              <a:rPr lang="zh-CN" altLang="en-US" sz="2400" b="1" dirty="0">
                <a:solidFill>
                  <a:srgbClr val="000000"/>
                </a:solidFill>
                <a:latin typeface="MicrosoftYaHei"/>
              </a:rPr>
              <a:t>：</a:t>
            </a:r>
            <a:endParaRPr lang="en-US" altLang="zh-CN" sz="2400" b="1" dirty="0">
              <a:solidFill>
                <a:srgbClr val="000000"/>
              </a:solidFill>
              <a:latin typeface="LMMono8-Regular-Identity-H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PubDerv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: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Base {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using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base::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m_pro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声明为公有的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void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test() {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PubDerv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d;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d.m_pro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正确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04622" y="565517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6142524" y="5241875"/>
            <a:ext cx="26043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6076621" y="4995705"/>
            <a:ext cx="5121809" cy="691014"/>
            <a:chOff x="154072" y="1903647"/>
            <a:chExt cx="8704052" cy="733302"/>
          </a:xfrm>
        </p:grpSpPr>
        <p:sp>
          <p:nvSpPr>
            <p:cNvPr id="9" name="矩形: 圆顶角 27"/>
            <p:cNvSpPr/>
            <p:nvPr/>
          </p:nvSpPr>
          <p:spPr>
            <a:xfrm>
              <a:off x="154072" y="1903647"/>
              <a:ext cx="8704052" cy="380058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注意</a:t>
              </a:r>
            </a:p>
          </p:txBody>
        </p:sp>
        <p:sp>
          <p:nvSpPr>
            <p:cNvPr id="10" name="矩形: 圆角 17"/>
            <p:cNvSpPr/>
            <p:nvPr/>
          </p:nvSpPr>
          <p:spPr>
            <a:xfrm>
              <a:off x="154072" y="2283705"/>
              <a:ext cx="8704052" cy="35324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派生类只能为它可以访问的名字提供</a:t>
              </a:r>
              <a:r>
                <a:rPr lang="en-US" altLang="zh-CN" dirty="0">
                  <a:solidFill>
                    <a:srgbClr val="000000"/>
                  </a:solidFill>
                  <a:latin typeface="LMSans10-Regular-Identity-H"/>
                </a:rPr>
                <a:t>using</a:t>
              </a:r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声明。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504622" y="565517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57" y="819803"/>
            <a:ext cx="7354635" cy="47086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r="17911"/>
          <a:stretch>
            <a:fillRect/>
          </a:stretch>
        </p:blipFill>
        <p:spPr>
          <a:xfrm>
            <a:off x="7449569" y="767249"/>
            <a:ext cx="4185383" cy="462455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2" name="Group 32"/>
          <p:cNvGrpSpPr/>
          <p:nvPr/>
        </p:nvGrpSpPr>
        <p:grpSpPr bwMode="auto">
          <a:xfrm>
            <a:off x="3216276" y="3416505"/>
            <a:ext cx="3471863" cy="2379662"/>
            <a:chOff x="839" y="1933"/>
            <a:chExt cx="2187" cy="1499"/>
          </a:xfrm>
        </p:grpSpPr>
        <p:sp>
          <p:nvSpPr>
            <p:cNvPr id="10243" name="Rectangle 3"/>
            <p:cNvSpPr>
              <a:spLocks noChangeArrowheads="1"/>
            </p:cNvSpPr>
            <p:nvPr/>
          </p:nvSpPr>
          <p:spPr bwMode="auto">
            <a:xfrm>
              <a:off x="839" y="1933"/>
              <a:ext cx="497" cy="409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基类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244" name="Rectangle 4"/>
            <p:cNvSpPr>
              <a:spLocks noChangeArrowheads="1"/>
            </p:cNvSpPr>
            <p:nvPr/>
          </p:nvSpPr>
          <p:spPr bwMode="auto">
            <a:xfrm>
              <a:off x="1535" y="1933"/>
              <a:ext cx="497" cy="409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基类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2032" y="1933"/>
              <a:ext cx="497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10246" name="Rectangle 6"/>
            <p:cNvSpPr>
              <a:spLocks noChangeArrowheads="1"/>
            </p:cNvSpPr>
            <p:nvPr/>
          </p:nvSpPr>
          <p:spPr bwMode="auto">
            <a:xfrm>
              <a:off x="2529" y="1933"/>
              <a:ext cx="497" cy="409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基类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10247" name="Rectangle 7"/>
            <p:cNvSpPr>
              <a:spLocks noChangeArrowheads="1"/>
            </p:cNvSpPr>
            <p:nvPr/>
          </p:nvSpPr>
          <p:spPr bwMode="auto">
            <a:xfrm>
              <a:off x="1436" y="3023"/>
              <a:ext cx="596" cy="409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派生类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248" name="Rectangle 8"/>
            <p:cNvSpPr>
              <a:spLocks noChangeArrowheads="1"/>
            </p:cNvSpPr>
            <p:nvPr/>
          </p:nvSpPr>
          <p:spPr bwMode="auto">
            <a:xfrm>
              <a:off x="2430" y="3023"/>
              <a:ext cx="596" cy="409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派生类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auto">
            <a:xfrm flipH="1" flipV="1">
              <a:off x="1137" y="2342"/>
              <a:ext cx="398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auto">
            <a:xfrm flipV="1">
              <a:off x="1734" y="2358"/>
              <a:ext cx="0" cy="6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 flipV="1">
              <a:off x="1933" y="2342"/>
              <a:ext cx="696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 flipH="1" flipV="1">
              <a:off x="1336" y="2344"/>
              <a:ext cx="1094" cy="6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3" name="Line 13"/>
            <p:cNvSpPr>
              <a:spLocks noChangeShapeType="1"/>
            </p:cNvSpPr>
            <p:nvPr/>
          </p:nvSpPr>
          <p:spPr bwMode="auto">
            <a:xfrm flipH="1" flipV="1">
              <a:off x="2024" y="2344"/>
              <a:ext cx="605" cy="6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 flipV="1">
              <a:off x="2828" y="2358"/>
              <a:ext cx="0" cy="6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3" name="Group 33"/>
          <p:cNvGrpSpPr/>
          <p:nvPr/>
        </p:nvGrpSpPr>
        <p:grpSpPr bwMode="auto">
          <a:xfrm>
            <a:off x="6959601" y="3416505"/>
            <a:ext cx="2525713" cy="2379662"/>
            <a:chOff x="3424" y="1933"/>
            <a:chExt cx="1591" cy="1499"/>
          </a:xfrm>
        </p:grpSpPr>
        <p:sp>
          <p:nvSpPr>
            <p:cNvPr id="10255" name="Rectangle 15"/>
            <p:cNvSpPr>
              <a:spLocks noChangeArrowheads="1"/>
            </p:cNvSpPr>
            <p:nvPr/>
          </p:nvSpPr>
          <p:spPr bwMode="auto">
            <a:xfrm>
              <a:off x="3921" y="1933"/>
              <a:ext cx="497" cy="409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ctr" eaLnBrk="0" hangingPunct="0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基类</a:t>
              </a:r>
            </a:p>
          </p:txBody>
        </p:sp>
        <p:sp>
          <p:nvSpPr>
            <p:cNvPr id="10256" name="Rectangle 16"/>
            <p:cNvSpPr>
              <a:spLocks noChangeArrowheads="1"/>
            </p:cNvSpPr>
            <p:nvPr/>
          </p:nvSpPr>
          <p:spPr bwMode="auto">
            <a:xfrm>
              <a:off x="3424" y="3023"/>
              <a:ext cx="597" cy="409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</a:rPr>
                <a:t>派生类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257" name="Rectangle 17"/>
            <p:cNvSpPr>
              <a:spLocks noChangeArrowheads="1"/>
            </p:cNvSpPr>
            <p:nvPr/>
          </p:nvSpPr>
          <p:spPr bwMode="auto">
            <a:xfrm>
              <a:off x="4418" y="3023"/>
              <a:ext cx="597" cy="409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0" hangingPunct="0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派生类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 flipV="1">
              <a:off x="3822" y="2344"/>
              <a:ext cx="199" cy="6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 flipH="1" flipV="1">
              <a:off x="4327" y="2344"/>
              <a:ext cx="290" cy="6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4008438" y="5937455"/>
            <a:ext cx="2241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）多重继承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7464425" y="6008892"/>
            <a:ext cx="203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）单继承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263" name="AutoShape 23"/>
          <p:cNvSpPr>
            <a:spLocks noChangeArrowheads="1"/>
          </p:cNvSpPr>
          <p:nvPr/>
        </p:nvSpPr>
        <p:spPr bwMode="auto">
          <a:xfrm>
            <a:off x="8229599" y="3041854"/>
            <a:ext cx="639763" cy="331788"/>
          </a:xfrm>
          <a:prstGeom prst="rightArrow">
            <a:avLst>
              <a:gd name="adj1" fmla="val 50000"/>
              <a:gd name="adj2" fmla="val 321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9051926" y="2913267"/>
            <a:ext cx="190099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一个基类可以直接派生出多个派生类</a:t>
            </a:r>
            <a:r>
              <a:rPr kumimoji="1"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1524001" y="3489531"/>
            <a:ext cx="1387475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0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派生类可以由多个基类共同派生出来，称多重继承。</a:t>
            </a:r>
            <a:endParaRPr kumimoji="1"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66" name="AutoShape 26"/>
          <p:cNvSpPr>
            <a:spLocks noChangeArrowheads="1"/>
          </p:cNvSpPr>
          <p:nvPr/>
        </p:nvSpPr>
        <p:spPr bwMode="auto">
          <a:xfrm>
            <a:off x="2782888" y="4424567"/>
            <a:ext cx="381000" cy="533400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1" name="Text Box 31"/>
          <p:cNvSpPr txBox="1">
            <a:spLocks noChangeArrowheads="1"/>
          </p:cNvSpPr>
          <p:nvPr/>
        </p:nvSpPr>
        <p:spPr bwMode="auto">
          <a:xfrm>
            <a:off x="1631951" y="897142"/>
            <a:ext cx="792162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单继承：</a:t>
            </a:r>
            <a:r>
              <a:rPr lang="zh-CN" altLang="en-US" sz="2400" dirty="0"/>
              <a:t>派生类只有一个直接基类的情况称为单继承（</a:t>
            </a:r>
            <a:r>
              <a:rPr lang="en-US" altLang="zh-CN" sz="2400" dirty="0"/>
              <a:t>single-inheritance</a:t>
            </a:r>
            <a:r>
              <a:rPr lang="zh-CN" altLang="en-US" sz="2400" dirty="0"/>
              <a:t>）。</a:t>
            </a:r>
            <a:endParaRPr lang="en-US" altLang="zh-CN" sz="3200" dirty="0">
              <a:solidFill>
                <a:srgbClr val="006600"/>
              </a:solidFill>
              <a:ea typeface="隶书" panose="02010509060101010101" pitchFamily="49" charset="-122"/>
            </a:endParaRPr>
          </a:p>
          <a:p>
            <a:r>
              <a:rPr lang="zh-CN" altLang="en-US" sz="2800" dirty="0">
                <a:solidFill>
                  <a:srgbClr val="006600"/>
                </a:solidFill>
                <a:ea typeface="隶书" panose="02010509060101010101" pitchFamily="49" charset="-122"/>
              </a:rPr>
              <a:t>多重继承：</a:t>
            </a:r>
            <a:r>
              <a:rPr lang="zh-CN" altLang="en-US" sz="2400" dirty="0"/>
              <a:t>如果一个派生类同时有多个直接基类，称为多重继承（</a:t>
            </a:r>
            <a:r>
              <a:rPr lang="en-US" altLang="zh-CN" sz="2400" dirty="0"/>
              <a:t>multiple-inheritance</a:t>
            </a:r>
            <a:r>
              <a:rPr lang="zh-CN" altLang="en-US" sz="2400" dirty="0"/>
              <a:t>），这时的派生类同时继承了多个已有基类的特征。</a:t>
            </a: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92876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29" name="Rectangle 2"/>
          <p:cNvSpPr txBox="1">
            <a:spLocks noRot="1" noChangeArrowheads="1"/>
          </p:cNvSpPr>
          <p:nvPr/>
        </p:nvSpPr>
        <p:spPr>
          <a:xfrm>
            <a:off x="2051515" y="94089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7.3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多重继承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83" name="Rectangle 7"/>
          <p:cNvSpPr>
            <a:spLocks noChangeArrowheads="1"/>
          </p:cNvSpPr>
          <p:nvPr/>
        </p:nvSpPr>
        <p:spPr bwMode="auto">
          <a:xfrm>
            <a:off x="1524001" y="724707"/>
            <a:ext cx="9737034" cy="6220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2000" dirty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000CC"/>
                </a:solidFill>
              </a:rPr>
              <a:t>class</a:t>
            </a:r>
            <a:r>
              <a:rPr kumimoji="1" lang="en-US" altLang="zh-CN" sz="2000" dirty="0"/>
              <a:t> Circle{                            </a:t>
            </a:r>
            <a:r>
              <a:rPr kumimoji="1" lang="en-US" altLang="zh-CN" sz="2000" dirty="0">
                <a:solidFill>
                  <a:srgbClr val="008000"/>
                </a:solidFill>
              </a:rPr>
              <a:t>//</a:t>
            </a:r>
            <a:r>
              <a:rPr kumimoji="1" lang="zh-CN" altLang="en-US" sz="2000" dirty="0">
                <a:solidFill>
                  <a:srgbClr val="008000"/>
                </a:solidFill>
              </a:rPr>
              <a:t>定义园类</a:t>
            </a:r>
            <a:endParaRPr kumimoji="1"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000CC"/>
                </a:solidFill>
              </a:rPr>
              <a:t>protected</a:t>
            </a:r>
            <a:r>
              <a:rPr kumimoji="1" lang="en-US" altLang="zh-CN" sz="2000" dirty="0"/>
              <a:t>:</a:t>
            </a:r>
          </a:p>
          <a:p>
            <a:pPr>
              <a:lnSpc>
                <a:spcPct val="150000"/>
              </a:lnSpc>
            </a:pPr>
            <a:r>
              <a:rPr kumimoji="1" lang="en-US" altLang="zh-CN" sz="2800" dirty="0"/>
              <a:t>    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x,y,r</a:t>
            </a:r>
            <a:r>
              <a:rPr kumimoji="1" lang="en-US" altLang="zh-CN" sz="2000" dirty="0"/>
              <a:t>; </a:t>
            </a:r>
            <a:r>
              <a:rPr kumimoji="1" lang="en-US" altLang="zh-CN" sz="2000" dirty="0">
                <a:solidFill>
                  <a:srgbClr val="006600"/>
                </a:solidFill>
              </a:rPr>
              <a:t>//(</a:t>
            </a:r>
            <a:r>
              <a:rPr kumimoji="1" lang="en-US" altLang="zh-CN" sz="2000" dirty="0" err="1">
                <a:solidFill>
                  <a:srgbClr val="006600"/>
                </a:solidFill>
              </a:rPr>
              <a:t>x,y</a:t>
            </a:r>
            <a:r>
              <a:rPr kumimoji="1" lang="en-US" altLang="zh-CN" sz="2000" dirty="0">
                <a:solidFill>
                  <a:srgbClr val="006600"/>
                </a:solidFill>
              </a:rPr>
              <a:t>)</a:t>
            </a:r>
            <a:r>
              <a:rPr kumimoji="1" lang="zh-CN" altLang="en-US" sz="2000" dirty="0">
                <a:solidFill>
                  <a:srgbClr val="006600"/>
                </a:solidFill>
              </a:rPr>
              <a:t>为圆心</a:t>
            </a:r>
            <a:r>
              <a:rPr kumimoji="1" lang="en-US" altLang="zh-CN" sz="2000" dirty="0">
                <a:solidFill>
                  <a:srgbClr val="006600"/>
                </a:solidFill>
              </a:rPr>
              <a:t>,r</a:t>
            </a:r>
            <a:r>
              <a:rPr kumimoji="1" lang="zh-CN" altLang="en-US" sz="2000" dirty="0">
                <a:solidFill>
                  <a:srgbClr val="006600"/>
                </a:solidFill>
              </a:rPr>
              <a:t>为半径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000CC"/>
                </a:solidFill>
              </a:rPr>
              <a:t>public</a:t>
            </a:r>
            <a:r>
              <a:rPr kumimoji="1" lang="en-US" altLang="zh-CN" sz="2000" dirty="0"/>
              <a:t>: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/>
              <a:t>   Circle(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a=0,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b=0,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R=0){x=</a:t>
            </a:r>
            <a:r>
              <a:rPr kumimoji="1" lang="en-US" altLang="zh-CN" sz="2000" dirty="0" err="1"/>
              <a:t>a;y</a:t>
            </a:r>
            <a:r>
              <a:rPr kumimoji="1" lang="en-US" altLang="zh-CN" sz="2000" dirty="0"/>
              <a:t>=</a:t>
            </a:r>
            <a:r>
              <a:rPr kumimoji="1" lang="en-US" altLang="zh-CN" sz="2000" dirty="0" err="1"/>
              <a:t>b;r</a:t>
            </a:r>
            <a:r>
              <a:rPr kumimoji="1" lang="en-US" altLang="zh-CN" sz="2000" dirty="0"/>
              <a:t>=R;}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/>
              <a:t>   </a:t>
            </a:r>
            <a:r>
              <a:rPr kumimoji="1" lang="en-US" altLang="zh-CN" sz="2000" dirty="0">
                <a:solidFill>
                  <a:srgbClr val="0000CC"/>
                </a:solidFill>
              </a:rPr>
              <a:t>void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Setcoordinate</a:t>
            </a:r>
            <a:r>
              <a:rPr kumimoji="1" lang="en-US" altLang="zh-CN" sz="2000" dirty="0"/>
              <a:t>(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a,</a:t>
            </a:r>
            <a:r>
              <a:rPr kumimoji="1" lang="en-US" altLang="zh-CN" sz="2000" dirty="0" err="1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b){x=</a:t>
            </a:r>
            <a:r>
              <a:rPr kumimoji="1" lang="en-US" altLang="zh-CN" sz="2000" dirty="0" err="1"/>
              <a:t>a;y</a:t>
            </a:r>
            <a:r>
              <a:rPr kumimoji="1" lang="en-US" altLang="zh-CN" sz="2000" dirty="0"/>
              <a:t>=b;}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设置圆心坐标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   </a:t>
            </a:r>
            <a:r>
              <a:rPr kumimoji="1" lang="en-US" altLang="zh-CN" sz="2000" dirty="0">
                <a:solidFill>
                  <a:srgbClr val="0000CC"/>
                </a:solidFill>
              </a:rPr>
              <a:t>void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Getcoordinate</a:t>
            </a:r>
            <a:r>
              <a:rPr kumimoji="1" lang="en-US" altLang="zh-CN" sz="2000" dirty="0"/>
              <a:t>(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&amp;</a:t>
            </a:r>
            <a:r>
              <a:rPr kumimoji="1" lang="en-US" altLang="zh-CN" sz="2000" dirty="0" err="1"/>
              <a:t>a,</a:t>
            </a:r>
            <a:r>
              <a:rPr kumimoji="1" lang="en-US" altLang="zh-CN" sz="2000" dirty="0" err="1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&amp;b){a=</a:t>
            </a:r>
            <a:r>
              <a:rPr kumimoji="1" lang="en-US" altLang="zh-CN" sz="2000" dirty="0" err="1"/>
              <a:t>x;b</a:t>
            </a:r>
            <a:r>
              <a:rPr kumimoji="1" lang="en-US" altLang="zh-CN" sz="2000" dirty="0"/>
              <a:t>=y;} 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/>
              <a:t>   </a:t>
            </a:r>
            <a:r>
              <a:rPr kumimoji="1" lang="en-US" altLang="zh-CN" sz="2000" dirty="0">
                <a:solidFill>
                  <a:srgbClr val="0000CC"/>
                </a:solidFill>
              </a:rPr>
              <a:t>void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SetR</a:t>
            </a:r>
            <a:r>
              <a:rPr kumimoji="1" lang="en-US" altLang="zh-CN" sz="2000" dirty="0"/>
              <a:t>(float R){r=R;}	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设置半径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   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GetR</a:t>
            </a:r>
            <a:r>
              <a:rPr kumimoji="1" lang="en-US" altLang="zh-CN" sz="2000" dirty="0"/>
              <a:t>(){</a:t>
            </a:r>
            <a:r>
              <a:rPr kumimoji="1" lang="en-US" altLang="zh-CN" sz="2000" dirty="0">
                <a:solidFill>
                  <a:srgbClr val="0000CC"/>
                </a:solidFill>
              </a:rPr>
              <a:t>return</a:t>
            </a:r>
            <a:r>
              <a:rPr kumimoji="1" lang="en-US" altLang="zh-CN" sz="2000" dirty="0"/>
              <a:t> r;}	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取圆半径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   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GetAreaCircle</a:t>
            </a:r>
            <a:r>
              <a:rPr kumimoji="1" lang="en-US" altLang="zh-CN" sz="2000" dirty="0"/>
              <a:t>(){</a:t>
            </a:r>
            <a:r>
              <a:rPr kumimoji="1" lang="en-US" altLang="zh-CN" sz="2000" dirty="0">
                <a:solidFill>
                  <a:srgbClr val="0000CC"/>
                </a:solidFill>
              </a:rPr>
              <a:t>return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</a:t>
            </a:r>
            <a:r>
              <a:rPr kumimoji="1" lang="en-US" altLang="zh-CN" sz="2000" dirty="0"/>
              <a:t>(r*r*3.14159);}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取圆面积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   </a:t>
            </a:r>
            <a:r>
              <a:rPr kumimoji="1" lang="en-US" altLang="zh-CN" sz="2000" dirty="0">
                <a:solidFill>
                  <a:srgbClr val="0000CC"/>
                </a:solidFill>
              </a:rPr>
              <a:t>float </a:t>
            </a:r>
            <a:r>
              <a:rPr kumimoji="1" lang="en-US" altLang="zh-CN" sz="2000" dirty="0" err="1"/>
              <a:t>GetCircumference</a:t>
            </a:r>
            <a:r>
              <a:rPr kumimoji="1" lang="en-US" altLang="zh-CN" sz="2000" dirty="0"/>
              <a:t>(){</a:t>
            </a:r>
            <a:r>
              <a:rPr kumimoji="1" lang="en-US" altLang="zh-CN" sz="2000" dirty="0">
                <a:solidFill>
                  <a:srgbClr val="0000CC"/>
                </a:solidFill>
              </a:rPr>
              <a:t>return floa</a:t>
            </a:r>
            <a:r>
              <a:rPr kumimoji="1" lang="en-US" altLang="zh-CN" sz="2000" dirty="0"/>
              <a:t>t(2*r*3.14159);}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取圆周长</a:t>
            </a:r>
            <a:endParaRPr kumimoji="1" lang="en-US" altLang="zh-CN" sz="2000" dirty="0">
              <a:solidFill>
                <a:srgbClr val="0066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/>
              <a:t>};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03511" y="585886"/>
            <a:ext cx="106885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</a:t>
            </a:r>
            <a:r>
              <a:rPr kumimoji="1" lang="zh-CN" altLang="en-US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由圆和高多重继承派生出圆锥</a:t>
            </a:r>
            <a:endParaRPr lang="zh-CN" altLang="en-US" sz="2400" dirty="0">
              <a:latin typeface="Microsoft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853040" y="371613"/>
            <a:ext cx="5689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</a:rPr>
              <a:t>class</a:t>
            </a:r>
            <a:r>
              <a:rPr lang="en-US" altLang="zh-CN" sz="2000" dirty="0"/>
              <a:t> Line{          </a:t>
            </a:r>
            <a:r>
              <a:rPr lang="en-US" altLang="zh-CN" sz="2000" dirty="0">
                <a:solidFill>
                  <a:srgbClr val="008000"/>
                </a:solidFill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</a:rPr>
              <a:t>定义高类</a:t>
            </a:r>
            <a:endParaRPr lang="en-US" altLang="zh-CN" sz="2000" dirty="0">
              <a:solidFill>
                <a:srgbClr val="008000"/>
              </a:solidFill>
            </a:endParaRPr>
          </a:p>
          <a:p>
            <a:r>
              <a:rPr kumimoji="1" lang="en-US" altLang="zh-CN" sz="2000" dirty="0">
                <a:solidFill>
                  <a:srgbClr val="0000CC"/>
                </a:solidFill>
              </a:rPr>
              <a:t>protected</a:t>
            </a:r>
            <a:r>
              <a:rPr kumimoji="1" lang="en-US" altLang="zh-CN" sz="2000" dirty="0"/>
              <a:t>:</a:t>
            </a:r>
          </a:p>
          <a:p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High;</a:t>
            </a:r>
          </a:p>
          <a:p>
            <a:r>
              <a:rPr lang="en-US" altLang="zh-CN" sz="2000" dirty="0">
                <a:solidFill>
                  <a:srgbClr val="0000CC"/>
                </a:solidFill>
              </a:rPr>
              <a:t>public</a:t>
            </a:r>
            <a:r>
              <a:rPr lang="en-US" altLang="zh-CN" sz="2000" dirty="0"/>
              <a:t>:</a:t>
            </a:r>
          </a:p>
          <a:p>
            <a:r>
              <a:rPr lang="en-US" altLang="zh-CN" sz="2000" dirty="0"/>
              <a:t>   Line(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a=0){High=a;}</a:t>
            </a:r>
          </a:p>
          <a:p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rgbClr val="0000CC"/>
                </a:solidFill>
              </a:rPr>
              <a:t>void </a:t>
            </a:r>
            <a:r>
              <a:rPr lang="en-US" altLang="zh-CN" sz="2000" dirty="0" err="1"/>
              <a:t>SetHigh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a){High=a;}</a:t>
            </a:r>
          </a:p>
          <a:p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GetHigh</a:t>
            </a:r>
            <a:r>
              <a:rPr lang="en-US" altLang="zh-CN" sz="2000" dirty="0"/>
              <a:t>(){</a:t>
            </a:r>
            <a:r>
              <a:rPr lang="en-US" altLang="zh-CN" sz="2000" dirty="0">
                <a:solidFill>
                  <a:srgbClr val="0000CC"/>
                </a:solidFill>
              </a:rPr>
              <a:t>return </a:t>
            </a:r>
            <a:r>
              <a:rPr lang="en-US" altLang="zh-CN" sz="2000" dirty="0"/>
              <a:t>High;}</a:t>
            </a:r>
          </a:p>
          <a:p>
            <a:r>
              <a:rPr lang="en-US" altLang="zh-CN" sz="2000" dirty="0"/>
              <a:t>};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53040" y="2979366"/>
            <a:ext cx="9144000" cy="2614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</a:rPr>
              <a:t>class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Cone</a:t>
            </a:r>
            <a:r>
              <a:rPr lang="en-US" altLang="zh-CN" sz="2400" b="1" dirty="0" err="1">
                <a:solidFill>
                  <a:srgbClr val="FF0000"/>
                </a:solidFill>
              </a:rPr>
              <a:t>:</a:t>
            </a:r>
            <a:r>
              <a:rPr lang="en-US" altLang="zh-CN" sz="2000" dirty="0" err="1">
                <a:solidFill>
                  <a:srgbClr val="0000CC"/>
                </a:solidFill>
              </a:rPr>
              <a:t>public</a:t>
            </a:r>
            <a:r>
              <a:rPr lang="en-US" altLang="zh-CN" sz="2000" dirty="0">
                <a:solidFill>
                  <a:srgbClr val="0000CC"/>
                </a:solidFill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</a:rPr>
              <a:t>Circle</a:t>
            </a:r>
            <a:r>
              <a:rPr lang="en-US" altLang="zh-CN" sz="2400" b="1" dirty="0" err="1">
                <a:solidFill>
                  <a:srgbClr val="FF0000"/>
                </a:solidFill>
              </a:rPr>
              <a:t>, </a:t>
            </a:r>
            <a:r>
              <a:rPr lang="en-US" altLang="zh-CN" sz="2000" dirty="0" err="1">
                <a:solidFill>
                  <a:srgbClr val="0000CC"/>
                </a:solidFill>
              </a:rPr>
              <a:t>public</a:t>
            </a:r>
            <a:r>
              <a:rPr lang="en-US" altLang="zh-CN" sz="2000" dirty="0">
                <a:solidFill>
                  <a:srgbClr val="0000CC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Line</a:t>
            </a:r>
            <a:r>
              <a:rPr lang="en-US" altLang="zh-CN" sz="2000" dirty="0"/>
              <a:t>{         </a:t>
            </a:r>
            <a:r>
              <a:rPr lang="en-US" altLang="zh-CN" sz="2000" dirty="0">
                <a:solidFill>
                  <a:srgbClr val="008000"/>
                </a:solidFill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</a:rPr>
              <a:t>派生类圆锥同时继承高和园</a:t>
            </a:r>
            <a:endParaRPr lang="en-US" altLang="zh-CN" sz="2000" dirty="0">
              <a:solidFill>
                <a:srgbClr val="008000"/>
              </a:solidFill>
            </a:endParaRPr>
          </a:p>
          <a:p>
            <a:r>
              <a:rPr lang="en-US" altLang="zh-CN" sz="2000" dirty="0">
                <a:solidFill>
                  <a:srgbClr val="0000CC"/>
                </a:solidFill>
              </a:rPr>
              <a:t>public</a:t>
            </a:r>
            <a:r>
              <a:rPr lang="en-US" altLang="zh-CN" sz="2000" dirty="0"/>
              <a:t>:</a:t>
            </a:r>
          </a:p>
          <a:p>
            <a:r>
              <a:rPr lang="en-US" altLang="zh-CN" sz="2000" dirty="0"/>
              <a:t>   Cone(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a,</a:t>
            </a:r>
            <a:r>
              <a:rPr lang="en-US" altLang="zh-CN" sz="2000" dirty="0" err="1">
                <a:solidFill>
                  <a:srgbClr val="0000CC"/>
                </a:solidFill>
              </a:rPr>
              <a:t>float</a:t>
            </a:r>
            <a:r>
              <a:rPr lang="en-US" altLang="zh-CN" sz="2000" dirty="0">
                <a:solidFill>
                  <a:srgbClr val="0000CC"/>
                </a:solidFill>
              </a:rPr>
              <a:t> </a:t>
            </a:r>
            <a:r>
              <a:rPr lang="en-US" altLang="zh-CN" sz="2000" dirty="0" err="1"/>
              <a:t>b,</a:t>
            </a:r>
            <a:r>
              <a:rPr lang="en-US" altLang="zh-CN" sz="2000" dirty="0" err="1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R,</a:t>
            </a:r>
            <a:r>
              <a:rPr lang="en-US" altLang="zh-CN" sz="2000" dirty="0" err="1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d)</a:t>
            </a:r>
            <a:r>
              <a:rPr lang="en-US" altLang="zh-CN" sz="2000" b="1" dirty="0">
                <a:solidFill>
                  <a:srgbClr val="FF0000"/>
                </a:solidFill>
              </a:rPr>
              <a:t>:Circle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a,b,R</a:t>
            </a:r>
            <a:r>
              <a:rPr lang="en-US" altLang="zh-CN" sz="2000" dirty="0"/>
              <a:t>)</a:t>
            </a:r>
            <a:r>
              <a:rPr lang="en-US" altLang="zh-CN" sz="2000" b="1" dirty="0">
                <a:solidFill>
                  <a:srgbClr val="FF0000"/>
                </a:solidFill>
              </a:rPr>
              <a:t>,</a:t>
            </a:r>
            <a:r>
              <a:rPr lang="en-US" altLang="zh-CN" sz="2000" dirty="0">
                <a:solidFill>
                  <a:srgbClr val="FF0000"/>
                </a:solidFill>
              </a:rPr>
              <a:t>Line</a:t>
            </a:r>
            <a:r>
              <a:rPr lang="en-US" altLang="zh-CN" sz="2000" dirty="0"/>
              <a:t>(d){  }</a:t>
            </a:r>
          </a:p>
          <a:p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GetCV</a:t>
            </a:r>
            <a:r>
              <a:rPr lang="en-US" altLang="zh-CN" sz="2000" dirty="0"/>
              <a:t>(){</a:t>
            </a:r>
            <a:r>
              <a:rPr lang="en-US" altLang="zh-CN" sz="2000" dirty="0">
                <a:solidFill>
                  <a:srgbClr val="0000CC"/>
                </a:solidFill>
              </a:rPr>
              <a:t>return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GetAreaCircle</a:t>
            </a:r>
            <a:r>
              <a:rPr lang="en-US" altLang="zh-CN" sz="2000" dirty="0"/>
              <a:t>()*High/3);}</a:t>
            </a:r>
          </a:p>
          <a:p>
            <a:r>
              <a:rPr lang="en-US" altLang="zh-CN" sz="2000" dirty="0"/>
              <a:t>     </a:t>
            </a:r>
            <a:r>
              <a:rPr lang="en-US" altLang="zh-CN" sz="2000" dirty="0">
                <a:solidFill>
                  <a:srgbClr val="006600"/>
                </a:solidFill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</a:rPr>
              <a:t>取得圆锥体积</a:t>
            </a:r>
          </a:p>
          <a:p>
            <a:r>
              <a:rPr lang="zh-CN" altLang="en-US" sz="2000" dirty="0"/>
              <a:t>  </a:t>
            </a:r>
            <a:r>
              <a:rPr lang="zh-CN" altLang="en-US" sz="2000" dirty="0">
                <a:solidFill>
                  <a:srgbClr val="0000CC"/>
                </a:solidFill>
              </a:rPr>
              <a:t> 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GetCA</a:t>
            </a:r>
            <a:r>
              <a:rPr lang="en-US" altLang="zh-CN" sz="2000" dirty="0"/>
              <a:t>(){ </a:t>
            </a:r>
            <a:r>
              <a:rPr lang="en-US" altLang="zh-CN" sz="2000" dirty="0">
                <a:solidFill>
                  <a:srgbClr val="006600"/>
                </a:solidFill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</a:rPr>
              <a:t>取得圆锥表面积</a:t>
            </a:r>
          </a:p>
          <a:p>
            <a:r>
              <a:rPr lang="zh-CN" altLang="en-US" sz="2000" dirty="0">
                <a:solidFill>
                  <a:srgbClr val="0000CC"/>
                </a:solidFill>
              </a:rPr>
              <a:t>   </a:t>
            </a:r>
            <a:r>
              <a:rPr lang="en-US" altLang="zh-CN" sz="2000" dirty="0">
                <a:solidFill>
                  <a:srgbClr val="0000CC"/>
                </a:solidFill>
              </a:rPr>
              <a:t>	return</a:t>
            </a: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0000CC"/>
                </a:solidFill>
              </a:rPr>
              <a:t>float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GetAreaCircle</a:t>
            </a:r>
            <a:r>
              <a:rPr lang="en-US" altLang="zh-CN" sz="2000" dirty="0"/>
              <a:t>()+r*3.14159*sqrt(r*</a:t>
            </a:r>
            <a:r>
              <a:rPr lang="en-US" altLang="zh-CN" sz="2000" dirty="0" err="1"/>
              <a:t>r+High</a:t>
            </a:r>
            <a:r>
              <a:rPr lang="en-US" altLang="zh-CN" sz="2000" dirty="0"/>
              <a:t>*</a:t>
            </a:r>
            <a:r>
              <a:rPr lang="en-US" altLang="zh-CN" sz="2000" dirty="0" err="1"/>
              <a:t>Hgih</a:t>
            </a:r>
            <a:r>
              <a:rPr lang="en-US" altLang="zh-CN" sz="2000" dirty="0"/>
              <a:t>));</a:t>
            </a:r>
          </a:p>
          <a:p>
            <a:r>
              <a:rPr lang="en-US" altLang="zh-CN" sz="2000" dirty="0"/>
              <a:t>}; </a:t>
            </a:r>
            <a:r>
              <a:rPr lang="en-US" altLang="zh-CN" sz="2000" dirty="0">
                <a:solidFill>
                  <a:srgbClr val="006600"/>
                </a:solidFill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</a:rPr>
              <a:t>共有派生类中能直接访问直接基类的保护成员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71" name="Text Box 31"/>
          <p:cNvSpPr txBox="1">
            <a:spLocks noChangeArrowheads="1"/>
          </p:cNvSpPr>
          <p:nvPr/>
        </p:nvSpPr>
        <p:spPr bwMode="auto">
          <a:xfrm>
            <a:off x="2135189" y="1557339"/>
            <a:ext cx="748823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dirty="0"/>
              <a:t>派生出来的新类同样可以作为基类再继续派生出更新的类，依此类推形成一个层次结构，称为</a:t>
            </a:r>
            <a:r>
              <a:rPr lang="zh-CN" altLang="en-US" sz="2000" dirty="0">
                <a:solidFill>
                  <a:srgbClr val="0066FF"/>
                </a:solidFill>
              </a:rPr>
              <a:t>多层继承</a:t>
            </a:r>
            <a:r>
              <a:rPr lang="zh-CN" altLang="en-US" sz="2000" dirty="0"/>
              <a:t>。</a:t>
            </a:r>
            <a:r>
              <a:rPr lang="zh-CN" altLang="en-US" sz="2000" dirty="0">
                <a:solidFill>
                  <a:srgbClr val="0000CC"/>
                </a:solidFill>
              </a:rPr>
              <a:t>直接参与派生出某类称为</a:t>
            </a:r>
            <a:r>
              <a:rPr lang="zh-CN" altLang="en-US" sz="2000" dirty="0">
                <a:solidFill>
                  <a:srgbClr val="FF0000"/>
                </a:solidFill>
              </a:rPr>
              <a:t>直接基类</a:t>
            </a:r>
            <a:r>
              <a:rPr lang="zh-CN" altLang="en-US" sz="2000" dirty="0">
                <a:solidFill>
                  <a:srgbClr val="0000CC"/>
                </a:solidFill>
              </a:rPr>
              <a:t>，而基类的基类，以及更深层的基类称为</a:t>
            </a:r>
            <a:r>
              <a:rPr lang="zh-CN" altLang="en-US" sz="2000" dirty="0">
                <a:solidFill>
                  <a:srgbClr val="FF0000"/>
                </a:solidFill>
              </a:rPr>
              <a:t>间接基类</a:t>
            </a:r>
            <a:r>
              <a:rPr lang="zh-CN" altLang="en-US" sz="2000" dirty="0">
                <a:solidFill>
                  <a:srgbClr val="0000CC"/>
                </a:solidFill>
              </a:rPr>
              <a:t>。</a:t>
            </a:r>
            <a:endParaRPr lang="en-US" altLang="zh-CN" sz="2000" dirty="0">
              <a:solidFill>
                <a:srgbClr val="0000CC"/>
              </a:solidFill>
            </a:endParaRPr>
          </a:p>
          <a:p>
            <a:r>
              <a:rPr lang="zh-CN" altLang="en-US" sz="2000" dirty="0"/>
              <a:t> </a:t>
            </a:r>
          </a:p>
        </p:txBody>
      </p:sp>
      <p:sp>
        <p:nvSpPr>
          <p:cNvPr id="291872" name="Text Box 32"/>
          <p:cNvSpPr txBox="1">
            <a:spLocks noChangeArrowheads="1"/>
          </p:cNvSpPr>
          <p:nvPr/>
        </p:nvSpPr>
        <p:spPr bwMode="auto">
          <a:xfrm>
            <a:off x="2063751" y="947739"/>
            <a:ext cx="63401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多层继承、直接基类与间接基类：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672" y="2515609"/>
            <a:ext cx="6520069" cy="376536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79295" y="2557973"/>
            <a:ext cx="775253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865360" y="2249170"/>
            <a:ext cx="1029335" cy="368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基类</a:t>
            </a:r>
            <a:r>
              <a:rPr lang="en-US" altLang="zh-CN" dirty="0"/>
              <a:t>A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865360" y="3159760"/>
            <a:ext cx="1029335" cy="368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派生类</a:t>
            </a:r>
            <a:r>
              <a:rPr lang="en-US" altLang="zh-CN"/>
              <a:t>B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865360" y="4163695"/>
            <a:ext cx="1029335" cy="368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派生类</a:t>
            </a:r>
            <a:r>
              <a:rPr lang="en-US" altLang="zh-CN"/>
              <a:t>C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866630" y="5287645"/>
            <a:ext cx="1029335" cy="368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派生类</a:t>
            </a:r>
            <a:r>
              <a:rPr lang="en-US" altLang="zh-CN"/>
              <a:t>D</a:t>
            </a:r>
          </a:p>
        </p:txBody>
      </p:sp>
      <p:sp>
        <p:nvSpPr>
          <p:cNvPr id="8" name="下箭头 7"/>
          <p:cNvSpPr/>
          <p:nvPr/>
        </p:nvSpPr>
        <p:spPr>
          <a:xfrm>
            <a:off x="10327640" y="2711450"/>
            <a:ext cx="86360" cy="4102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10337165" y="3640455"/>
            <a:ext cx="86360" cy="4102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10337800" y="4704715"/>
            <a:ext cx="86360" cy="4102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84" y="579417"/>
            <a:ext cx="4935861" cy="32069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84" y="3940253"/>
            <a:ext cx="4866007" cy="2569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967" y="579417"/>
            <a:ext cx="4806758" cy="34926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311" y="4342526"/>
            <a:ext cx="2635385" cy="17907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888177" y="1222254"/>
            <a:ext cx="934588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派生类应定义自己的构造函数和析构函数，避免编译出错。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" name="Rectangle 2"/>
          <p:cNvSpPr txBox="1">
            <a:spLocks noRot="1" noChangeArrowheads="1"/>
          </p:cNvSpPr>
          <p:nvPr/>
        </p:nvSpPr>
        <p:spPr>
          <a:xfrm>
            <a:off x="2135189" y="69851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7.4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派生类的构造函数与析构函数</a:t>
            </a:r>
            <a:endParaRPr lang="zh-CN" altLang="en-US" sz="4000" b="1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888176" y="2173772"/>
            <a:ext cx="8736753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派生类构造函数的</a:t>
            </a:r>
            <a:r>
              <a:rPr kumimoji="1" lang="zh-CN" altLang="en-US" sz="3200" dirty="0">
                <a:solidFill>
                  <a:srgbClr val="FF0000"/>
                </a:solidFill>
                <a:ea typeface="隶书" panose="02010509060101010101" pitchFamily="49" charset="-122"/>
              </a:rPr>
              <a:t>定义</a:t>
            </a:r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：</a:t>
            </a:r>
          </a:p>
          <a:p>
            <a:r>
              <a:rPr kumimoji="1" lang="zh-CN" altLang="en-US" sz="2000" dirty="0"/>
              <a:t>派生类名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::</a:t>
            </a:r>
            <a:r>
              <a:rPr kumimoji="1" lang="zh-CN" altLang="en-US" sz="2000" dirty="0"/>
              <a:t>派生类名（参数总表</a:t>
            </a:r>
            <a:r>
              <a:rPr kumimoji="1" lang="en-US" altLang="zh-CN" sz="2000" dirty="0"/>
              <a:t>)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:</a:t>
            </a:r>
            <a:r>
              <a:rPr kumimoji="1" lang="zh-CN" altLang="en-US" sz="2000" dirty="0">
                <a:solidFill>
                  <a:srgbClr val="FF0000"/>
                </a:solidFill>
              </a:rPr>
              <a:t>基类名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（参数名表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），</a:t>
            </a:r>
            <a:r>
              <a:rPr kumimoji="1" lang="en-US" altLang="zh-CN" sz="2000" dirty="0"/>
              <a:t>&lt;</a:t>
            </a:r>
            <a:r>
              <a:rPr kumimoji="1" lang="zh-CN" altLang="en-US" sz="2000" dirty="0"/>
              <a:t>基类名</a:t>
            </a:r>
            <a:r>
              <a:rPr kumimoji="1" lang="en-US" altLang="zh-CN" sz="2000" dirty="0"/>
              <a:t>2</a:t>
            </a:r>
            <a:r>
              <a:rPr kumimoji="1" lang="zh-CN" altLang="en-US" sz="2000" dirty="0"/>
              <a:t>（参数名表</a:t>
            </a:r>
            <a:r>
              <a:rPr kumimoji="1" lang="en-US" altLang="zh-CN" sz="2000" dirty="0"/>
              <a:t>2</a:t>
            </a:r>
            <a:r>
              <a:rPr kumimoji="1" lang="zh-CN" altLang="en-US" sz="2000" dirty="0"/>
              <a:t>），</a:t>
            </a:r>
            <a:r>
              <a:rPr kumimoji="1" lang="en-US" altLang="zh-CN" sz="2000" dirty="0"/>
              <a:t>……</a:t>
            </a:r>
            <a:r>
              <a:rPr kumimoji="1" lang="zh-CN" altLang="en-US" sz="2000" dirty="0"/>
              <a:t>，基类名</a:t>
            </a:r>
            <a:r>
              <a:rPr kumimoji="1" lang="en-US" altLang="zh-CN" sz="2000" dirty="0"/>
              <a:t>n</a:t>
            </a:r>
            <a:r>
              <a:rPr kumimoji="1" lang="zh-CN" altLang="en-US" sz="2000" dirty="0"/>
              <a:t>（参数名表</a:t>
            </a:r>
            <a:r>
              <a:rPr kumimoji="1" lang="en-US" altLang="zh-CN" sz="2000" dirty="0"/>
              <a:t>n</a:t>
            </a:r>
            <a:r>
              <a:rPr kumimoji="1" lang="zh-CN" altLang="en-US" sz="2000" dirty="0"/>
              <a:t>）</a:t>
            </a:r>
            <a:r>
              <a:rPr kumimoji="1" lang="en-US" altLang="zh-CN" sz="2000" dirty="0"/>
              <a:t>&gt;</a:t>
            </a:r>
            <a:r>
              <a:rPr kumimoji="1" lang="zh-CN" altLang="en-US" sz="2000" dirty="0"/>
              <a:t>，</a:t>
            </a:r>
            <a:r>
              <a:rPr kumimoji="1" lang="en-US" altLang="zh-CN" sz="2000" dirty="0"/>
              <a:t>&lt;</a:t>
            </a:r>
            <a:r>
              <a:rPr kumimoji="1" lang="zh-CN" altLang="en-US" sz="2000" dirty="0"/>
              <a:t>成员对象名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（成员对象参数名表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），</a:t>
            </a:r>
            <a:r>
              <a:rPr kumimoji="1" lang="en-US" altLang="zh-CN" sz="2000" dirty="0"/>
              <a:t>……</a:t>
            </a:r>
            <a:r>
              <a:rPr kumimoji="1" lang="zh-CN" altLang="en-US" sz="2000" dirty="0"/>
              <a:t>，成员对象名</a:t>
            </a:r>
            <a:r>
              <a:rPr kumimoji="1" lang="en-US" altLang="zh-CN" sz="2000" dirty="0"/>
              <a:t>m</a:t>
            </a:r>
            <a:r>
              <a:rPr kumimoji="1" lang="zh-CN" altLang="en-US" sz="2000" dirty="0"/>
              <a:t>（成员对象参数名表</a:t>
            </a:r>
            <a:r>
              <a:rPr kumimoji="1" lang="en-US" altLang="zh-CN" sz="2000" dirty="0"/>
              <a:t>m</a:t>
            </a:r>
            <a:r>
              <a:rPr kumimoji="1" lang="zh-CN" altLang="en-US" sz="2000" dirty="0"/>
              <a:t>）</a:t>
            </a:r>
            <a:r>
              <a:rPr kumimoji="1" lang="en-US" altLang="zh-CN" sz="2000" dirty="0"/>
              <a:t>&gt;   {</a:t>
            </a:r>
          </a:p>
          <a:p>
            <a:endParaRPr kumimoji="1" lang="en-US" altLang="zh-CN" sz="2000" dirty="0"/>
          </a:p>
          <a:p>
            <a:r>
              <a:rPr kumimoji="1" lang="en-US" altLang="zh-CN" sz="2000" dirty="0"/>
              <a:t>……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派生类</a:t>
            </a:r>
            <a:r>
              <a:rPr kumimoji="1" lang="zh-CN" altLang="en-US" sz="2000" dirty="0">
                <a:solidFill>
                  <a:srgbClr val="FF0000"/>
                </a:solidFill>
              </a:rPr>
              <a:t>新增成员</a:t>
            </a:r>
            <a:r>
              <a:rPr kumimoji="1" lang="zh-CN" altLang="en-US" sz="2000" dirty="0">
                <a:solidFill>
                  <a:srgbClr val="006600"/>
                </a:solidFill>
              </a:rPr>
              <a:t>的初始化；</a:t>
            </a:r>
            <a:endParaRPr kumimoji="1" lang="en-US" altLang="zh-CN" sz="2000" dirty="0">
              <a:solidFill>
                <a:srgbClr val="006600"/>
              </a:solidFill>
            </a:endParaRPr>
          </a:p>
          <a:p>
            <a:endParaRPr kumimoji="1" lang="zh-CN" altLang="en-US" sz="2000" dirty="0">
              <a:solidFill>
                <a:srgbClr val="006600"/>
              </a:solidFill>
            </a:endParaRPr>
          </a:p>
          <a:p>
            <a:r>
              <a:rPr kumimoji="1" lang="en-US" altLang="zh-CN" sz="2000" dirty="0"/>
              <a:t>}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所列出的成员对象名全部为新增成员对象的名字</a:t>
            </a:r>
            <a:endParaRPr kumimoji="1" lang="en-US" altLang="zh-CN" sz="2000" dirty="0">
              <a:solidFill>
                <a:srgbClr val="0066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FF0000"/>
                </a:solidFill>
              </a:rPr>
              <a:t>基类名</a:t>
            </a:r>
            <a:r>
              <a:rPr kumimoji="1" lang="zh-CN" altLang="en-US" sz="2000" dirty="0"/>
              <a:t>仅指</a:t>
            </a:r>
            <a:r>
              <a:rPr kumimoji="1" lang="zh-CN" altLang="en-US" sz="2000" dirty="0">
                <a:solidFill>
                  <a:srgbClr val="FF0000"/>
                </a:solidFill>
              </a:rPr>
              <a:t>直接基类</a:t>
            </a:r>
            <a:r>
              <a:rPr kumimoji="1" lang="zh-CN" altLang="en-US" sz="2000" dirty="0"/>
              <a:t>。</a:t>
            </a:r>
            <a:endParaRPr kumimoji="1"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幼圆" panose="02010509060101010101" pitchFamily="49" charset="-122"/>
              </a:rPr>
              <a:t>在派生类构造函数的</a:t>
            </a:r>
            <a:r>
              <a:rPr kumimoji="1" lang="zh-CN" altLang="en-US" sz="2000" dirty="0">
                <a:solidFill>
                  <a:srgbClr val="FF0000"/>
                </a:solidFill>
                <a:latin typeface="幼圆" panose="02010509060101010101" pitchFamily="49" charset="-122"/>
              </a:rPr>
              <a:t>声明</a:t>
            </a:r>
            <a:r>
              <a:rPr kumimoji="1" lang="zh-CN" altLang="en-US" sz="2000" dirty="0">
                <a:latin typeface="幼圆" panose="02010509060101010101" pitchFamily="49" charset="-122"/>
              </a:rPr>
              <a:t>中，冒号及冒号以后部分必须略去。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000CC"/>
                </a:solidFill>
              </a:rPr>
              <a:t>派生类把基类的构造函数作为自己构造函数的一部分，即调用基类的构造函数。</a:t>
            </a:r>
            <a:r>
              <a:rPr kumimoji="1" lang="zh-CN" altLang="en-US" sz="2000" dirty="0"/>
              <a:t>派生类构造函数中也可以不显式写出基类构造函数，则派生类构造函数自动隐式调用基类的默认构造函数。</a:t>
            </a:r>
          </a:p>
          <a:p>
            <a:endParaRPr kumimoji="1" lang="zh-CN" altLang="en-US" sz="2000" dirty="0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605952" y="155277"/>
            <a:ext cx="870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9.2</a:t>
            </a:r>
            <a:r>
              <a:rPr lang="zh-CN" altLang="en-US" sz="3200" dirty="0">
                <a:solidFill>
                  <a:srgbClr val="FFFFFF"/>
                </a:solidFill>
                <a:latin typeface="MicrosoftYaHei"/>
              </a:rPr>
              <a:t>构造、拷贝控制与继承</a:t>
            </a:r>
            <a:r>
              <a:rPr lang="en-US" altLang="zh-CN" dirty="0">
                <a:solidFill>
                  <a:srgbClr val="FFFFFF"/>
                </a:solidFill>
                <a:latin typeface="MicrosoftYaHei"/>
              </a:rPr>
              <a:t>-</a:t>
            </a:r>
            <a:r>
              <a:rPr lang="zh-CN" altLang="en-US" dirty="0">
                <a:solidFill>
                  <a:srgbClr val="FFFFFF"/>
                </a:solidFill>
                <a:latin typeface="MicrosoftYaHei"/>
              </a:rPr>
              <a:t>派生类对象的构造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41214" y="404750"/>
            <a:ext cx="10378238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派生类对象的构造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</a:rPr>
              <a:t>以上述</a:t>
            </a:r>
            <a:r>
              <a:rPr lang="en-US" altLang="zh-CN" sz="2000" dirty="0">
                <a:solidFill>
                  <a:srgbClr val="000000"/>
                </a:solidFill>
              </a:rPr>
              <a:t>Student</a:t>
            </a:r>
            <a:r>
              <a:rPr lang="zh-CN" altLang="en-US" sz="2000" dirty="0">
                <a:solidFill>
                  <a:srgbClr val="000000"/>
                </a:solidFill>
              </a:rPr>
              <a:t>类为例：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Student::Student(</a:t>
            </a:r>
            <a:r>
              <a:rPr lang="en-US" altLang="zh-CN" sz="2000" dirty="0">
                <a:solidFill>
                  <a:srgbClr val="0000FF"/>
                </a:solidFill>
              </a:rPr>
              <a:t>const </a:t>
            </a:r>
            <a:r>
              <a:rPr lang="en-US" altLang="zh-CN" sz="2000" dirty="0">
                <a:solidFill>
                  <a:srgbClr val="008080"/>
                </a:solidFill>
              </a:rPr>
              <a:t>string </a:t>
            </a:r>
            <a:r>
              <a:rPr lang="en-US" altLang="zh-CN" sz="2000" dirty="0">
                <a:solidFill>
                  <a:srgbClr val="000000"/>
                </a:solidFill>
              </a:rPr>
              <a:t>&amp;</a:t>
            </a:r>
            <a:r>
              <a:rPr lang="en-US" altLang="zh-CN" sz="2000" dirty="0" err="1">
                <a:solidFill>
                  <a:srgbClr val="000000"/>
                </a:solidFill>
              </a:rPr>
              <a:t>name,</a:t>
            </a:r>
            <a:r>
              <a:rPr lang="en-US" altLang="zh-CN" sz="2000" dirty="0" err="1">
                <a:solidFill>
                  <a:srgbClr val="0000FF"/>
                </a:solidFill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</a:rPr>
              <a:t>age,</a:t>
            </a:r>
            <a:r>
              <a:rPr lang="en-US" altLang="zh-CN" sz="2000" dirty="0" err="1">
                <a:solidFill>
                  <a:srgbClr val="0000FF"/>
                </a:solidFill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Course &amp;c)</a:t>
            </a:r>
            <a:r>
              <a:rPr lang="en-US" altLang="zh-CN" sz="2400" b="1" dirty="0">
                <a:solidFill>
                  <a:srgbClr val="FF0000"/>
                </a:solidFill>
              </a:rPr>
              <a:t>: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Person</a:t>
            </a:r>
            <a:r>
              <a:rPr lang="en-US" altLang="zh-CN" sz="2000" dirty="0">
                <a:solidFill>
                  <a:srgbClr val="000000"/>
                </a:solidFill>
              </a:rPr>
              <a:t>(</a:t>
            </a:r>
            <a:r>
              <a:rPr lang="en-US" altLang="zh-CN" sz="2000" dirty="0">
                <a:solidFill>
                  <a:srgbClr val="0066FF"/>
                </a:solidFill>
              </a:rPr>
              <a:t>name, age</a:t>
            </a:r>
            <a:r>
              <a:rPr lang="en-US" altLang="zh-CN" sz="2000" dirty="0">
                <a:solidFill>
                  <a:srgbClr val="000000"/>
                </a:solidFill>
              </a:rPr>
              <a:t>)</a:t>
            </a:r>
            <a:r>
              <a:rPr lang="en-US" altLang="zh-CN" sz="2000" b="1" dirty="0">
                <a:solidFill>
                  <a:srgbClr val="FF0000"/>
                </a:solidFill>
              </a:rPr>
              <a:t>,</a:t>
            </a:r>
            <a:r>
              <a:rPr lang="en-US" altLang="zh-CN" sz="2000" dirty="0">
                <a:solidFill>
                  <a:srgbClr val="008000"/>
                </a:solidFill>
              </a:rPr>
              <a:t>/*</a:t>
            </a:r>
            <a:r>
              <a:rPr lang="zh-CN" altLang="en-US" sz="2000" dirty="0">
                <a:solidFill>
                  <a:srgbClr val="008000"/>
                </a:solidFill>
                <a:ea typeface="仿宋" panose="02010609060101010101" pitchFamily="49" charset="-122"/>
              </a:rPr>
              <a:t>初始化基类成员*</a:t>
            </a:r>
            <a:r>
              <a:rPr lang="en-US" altLang="zh-CN" sz="2000" dirty="0">
                <a:solidFill>
                  <a:srgbClr val="008000"/>
                </a:solidFill>
                <a:ea typeface="仿宋" panose="02010609060101010101" pitchFamily="49" charset="-122"/>
              </a:rPr>
              <a:t>/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</a:rPr>
              <a:t>m_course</a:t>
            </a:r>
            <a:r>
              <a:rPr lang="en-US" altLang="zh-CN" sz="2000" dirty="0">
                <a:solidFill>
                  <a:srgbClr val="000000"/>
                </a:solidFill>
              </a:rPr>
              <a:t>(</a:t>
            </a:r>
            <a:r>
              <a:rPr lang="en-US" altLang="zh-CN" sz="2000" dirty="0">
                <a:solidFill>
                  <a:srgbClr val="0066FF"/>
                </a:solidFill>
              </a:rPr>
              <a:t>c</a:t>
            </a:r>
            <a:r>
              <a:rPr lang="en-US" altLang="zh-CN" sz="2000" dirty="0">
                <a:solidFill>
                  <a:srgbClr val="000000"/>
                </a:solidFill>
              </a:rPr>
              <a:t>) </a:t>
            </a:r>
            <a:r>
              <a:rPr lang="en-US" altLang="zh-CN" sz="2000" dirty="0">
                <a:solidFill>
                  <a:srgbClr val="008000"/>
                </a:solidFill>
              </a:rPr>
              <a:t>/*</a:t>
            </a:r>
            <a:r>
              <a:rPr lang="zh-CN" altLang="en-US" sz="2000" dirty="0">
                <a:solidFill>
                  <a:srgbClr val="008000"/>
                </a:solidFill>
                <a:ea typeface="仿宋" panose="02010609060101010101" pitchFamily="49" charset="-122"/>
              </a:rPr>
              <a:t>初始化自有成员*</a:t>
            </a:r>
            <a:r>
              <a:rPr lang="en-US" altLang="zh-CN" sz="2000" dirty="0">
                <a:solidFill>
                  <a:srgbClr val="008000"/>
                </a:solidFill>
                <a:ea typeface="仿宋" panose="02010609060101010101" pitchFamily="49" charset="-122"/>
              </a:rPr>
              <a:t>/ </a:t>
            </a:r>
            <a:r>
              <a:rPr lang="en-US" altLang="zh-CN" sz="2000" dirty="0">
                <a:solidFill>
                  <a:srgbClr val="000000"/>
                </a:solidFill>
                <a:ea typeface="仿宋" panose="02010609060101010101" pitchFamily="49" charset="-122"/>
              </a:rPr>
              <a:t>{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</a:rPr>
              <a:t>&lt;&lt;</a:t>
            </a:r>
            <a:r>
              <a:rPr lang="en-US" altLang="zh-CN" sz="2000" dirty="0">
                <a:solidFill>
                  <a:srgbClr val="C08040"/>
                </a:solidFill>
              </a:rPr>
              <a:t>"</a:t>
            </a:r>
            <a:r>
              <a:rPr lang="en-US" altLang="zh-CN" sz="2000" dirty="0" err="1">
                <a:solidFill>
                  <a:srgbClr val="C08040"/>
                </a:solidFill>
              </a:rPr>
              <a:t>Constr</a:t>
            </a:r>
            <a:r>
              <a:rPr lang="en-US" altLang="zh-CN" sz="2000" dirty="0">
                <a:solidFill>
                  <a:srgbClr val="C08040"/>
                </a:solidFill>
              </a:rPr>
              <a:t> of Student"</a:t>
            </a:r>
            <a:r>
              <a:rPr lang="en-US" altLang="zh-CN" sz="2000" dirty="0">
                <a:solidFill>
                  <a:srgbClr val="000000"/>
                </a:solidFill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Student</a:t>
            </a:r>
            <a:r>
              <a:rPr lang="zh-CN" altLang="en-US" sz="2000" dirty="0">
                <a:solidFill>
                  <a:srgbClr val="000000"/>
                </a:solidFill>
              </a:rPr>
              <a:t>类中成员</a:t>
            </a:r>
            <a:r>
              <a:rPr lang="en-US" altLang="zh-CN" sz="2000" dirty="0" err="1">
                <a:solidFill>
                  <a:srgbClr val="000000"/>
                </a:solidFill>
              </a:rPr>
              <a:t>m_course</a:t>
            </a:r>
            <a:r>
              <a:rPr lang="zh-CN" altLang="en-US" sz="2000" dirty="0">
                <a:solidFill>
                  <a:srgbClr val="000000"/>
                </a:solidFill>
              </a:rPr>
              <a:t>以复制构造的方式初始化。如下：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Course::Course(</a:t>
            </a:r>
            <a:r>
              <a:rPr lang="en-US" altLang="zh-CN" sz="2000" dirty="0">
                <a:solidFill>
                  <a:srgbClr val="0000FF"/>
                </a:solidFill>
              </a:rPr>
              <a:t>const </a:t>
            </a:r>
            <a:r>
              <a:rPr lang="en-US" altLang="zh-CN" sz="2000" dirty="0">
                <a:solidFill>
                  <a:srgbClr val="000000"/>
                </a:solidFill>
              </a:rPr>
              <a:t>Course &amp;</a:t>
            </a:r>
            <a:r>
              <a:rPr lang="en-US" altLang="zh-CN" sz="2000" dirty="0" err="1">
                <a:solidFill>
                  <a:srgbClr val="000000"/>
                </a:solidFill>
              </a:rPr>
              <a:t>rhs</a:t>
            </a:r>
            <a:r>
              <a:rPr lang="en-US" altLang="zh-CN" sz="2000" dirty="0">
                <a:solidFill>
                  <a:srgbClr val="000000"/>
                </a:solidFill>
              </a:rPr>
              <a:t>): </a:t>
            </a:r>
            <a:r>
              <a:rPr lang="en-US" altLang="zh-CN" sz="2000" dirty="0" err="1">
                <a:solidFill>
                  <a:srgbClr val="000000"/>
                </a:solidFill>
              </a:rPr>
              <a:t>m_name</a:t>
            </a:r>
            <a:r>
              <a:rPr lang="en-US" altLang="zh-CN" sz="2000" dirty="0">
                <a:solidFill>
                  <a:srgbClr val="000000"/>
                </a:solidFill>
              </a:rPr>
              <a:t>(rhs.name),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</a:rPr>
              <a:t>m_score</a:t>
            </a:r>
            <a:r>
              <a:rPr lang="en-US" altLang="zh-CN" sz="2000" dirty="0">
                <a:solidFill>
                  <a:srgbClr val="000000"/>
                </a:solidFill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</a:rPr>
              <a:t>rhs.m_score</a:t>
            </a:r>
            <a:r>
              <a:rPr lang="en-US" altLang="zh-CN" sz="2000" dirty="0">
                <a:solidFill>
                  <a:srgbClr val="000000"/>
                </a:solidFill>
              </a:rPr>
              <a:t>) {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</a:rPr>
              <a:t>&lt;&lt; </a:t>
            </a:r>
            <a:r>
              <a:rPr lang="en-US" altLang="zh-CN" sz="2000" dirty="0">
                <a:solidFill>
                  <a:srgbClr val="C08040"/>
                </a:solidFill>
              </a:rPr>
              <a:t>"Copy </a:t>
            </a:r>
            <a:r>
              <a:rPr lang="en-US" altLang="zh-CN" sz="2000" dirty="0" err="1">
                <a:solidFill>
                  <a:srgbClr val="C08040"/>
                </a:solidFill>
              </a:rPr>
              <a:t>constr</a:t>
            </a:r>
            <a:r>
              <a:rPr lang="en-US" altLang="zh-CN" sz="2000" dirty="0">
                <a:solidFill>
                  <a:srgbClr val="C08040"/>
                </a:solidFill>
              </a:rPr>
              <a:t> of Course" </a:t>
            </a:r>
            <a:r>
              <a:rPr lang="en-US" altLang="zh-CN" sz="2000" dirty="0">
                <a:solidFill>
                  <a:srgbClr val="000000"/>
                </a:solidFill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}</a:t>
            </a:r>
          </a:p>
          <a:p>
            <a:endParaRPr kumimoji="1" lang="zh-CN" altLang="en-US" sz="2000" dirty="0">
              <a:solidFill>
                <a:srgbClr val="006600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659582" y="2413373"/>
            <a:ext cx="5112353" cy="1121376"/>
            <a:chOff x="219974" y="2295724"/>
            <a:chExt cx="8704052" cy="655663"/>
          </a:xfrm>
        </p:grpSpPr>
        <p:sp>
          <p:nvSpPr>
            <p:cNvPr id="13" name="矩形: 圆顶角 9"/>
            <p:cNvSpPr/>
            <p:nvPr/>
          </p:nvSpPr>
          <p:spPr>
            <a:xfrm>
              <a:off x="219974" y="2295724"/>
              <a:ext cx="8704052" cy="326251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rgbClr val="FFFFFF"/>
                  </a:solidFill>
                  <a:latin typeface="MicrosoftYaHei"/>
                </a:rPr>
                <a:t>提示：存在继承关系的类的成员初始化</a:t>
              </a:r>
              <a:endParaRPr lang="zh-CN" altLang="en-US" sz="2000" dirty="0"/>
            </a:p>
          </p:txBody>
        </p:sp>
        <p:sp>
          <p:nvSpPr>
            <p:cNvPr id="14" name="矩形: 圆角 17"/>
            <p:cNvSpPr/>
            <p:nvPr/>
          </p:nvSpPr>
          <p:spPr>
            <a:xfrm>
              <a:off x="219974" y="2612833"/>
              <a:ext cx="8704052" cy="33855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buClr>
                  <a:srgbClr val="151DC1"/>
                </a:buClr>
              </a:pPr>
              <a:r>
                <a:rPr lang="zh-CN" altLang="en-US" sz="1600" dirty="0">
                  <a:solidFill>
                    <a:srgbClr val="000000"/>
                  </a:solidFill>
                  <a:latin typeface="MicrosoftYaHei"/>
                </a:rPr>
                <a:t>在派生类对象构造过程中，每个类</a:t>
              </a:r>
              <a:r>
                <a:rPr lang="zh-CN" altLang="en-US" sz="1600" dirty="0">
                  <a:solidFill>
                    <a:srgbClr val="FF0000"/>
                  </a:solidFill>
                  <a:latin typeface="MicrosoftYaHei"/>
                </a:rPr>
                <a:t>仅负责</a:t>
              </a:r>
              <a:r>
                <a:rPr lang="zh-CN" altLang="en-US" sz="1600" dirty="0">
                  <a:solidFill>
                    <a:srgbClr val="000000"/>
                  </a:solidFill>
                  <a:latin typeface="MicrosoftYaHei"/>
                </a:rPr>
                <a:t>自己的成员的初始化。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605952" y="155277"/>
            <a:ext cx="870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9.2</a:t>
            </a:r>
            <a:r>
              <a:rPr lang="zh-CN" altLang="en-US" sz="3200" dirty="0">
                <a:solidFill>
                  <a:srgbClr val="FFFFFF"/>
                </a:solidFill>
                <a:latin typeface="MicrosoftYaHei"/>
              </a:rPr>
              <a:t>构造、拷贝控制与继承</a:t>
            </a:r>
            <a:r>
              <a:rPr lang="en-US" altLang="zh-CN" dirty="0">
                <a:solidFill>
                  <a:srgbClr val="FFFFFF"/>
                </a:solidFill>
                <a:latin typeface="MicrosoftYaHei"/>
              </a:rPr>
              <a:t>-</a:t>
            </a:r>
            <a:r>
              <a:rPr lang="zh-CN" altLang="en-US" dirty="0">
                <a:solidFill>
                  <a:srgbClr val="FFFFFF"/>
                </a:solidFill>
                <a:latin typeface="MicrosoftYaHei"/>
              </a:rPr>
              <a:t>派生类对象的构造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51153" y="740052"/>
            <a:ext cx="1037823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派生类对象的构造</a:t>
            </a:r>
          </a:p>
          <a:p>
            <a:endParaRPr lang="en-US" altLang="zh-CN" sz="2000" dirty="0">
              <a:solidFill>
                <a:srgbClr val="000000"/>
              </a:solidFill>
            </a:endParaRPr>
          </a:p>
          <a:p>
            <a:r>
              <a:rPr lang="zh-CN" altLang="en-US" sz="2000" dirty="0">
                <a:solidFill>
                  <a:srgbClr val="000000"/>
                </a:solidFill>
              </a:rPr>
              <a:t>类似地，</a:t>
            </a:r>
            <a:r>
              <a:rPr lang="en-US" altLang="zh-CN" sz="2000" dirty="0">
                <a:solidFill>
                  <a:srgbClr val="000000"/>
                </a:solidFill>
              </a:rPr>
              <a:t>Person</a:t>
            </a:r>
            <a:r>
              <a:rPr lang="zh-CN" altLang="en-US" sz="2000" dirty="0">
                <a:solidFill>
                  <a:srgbClr val="000000"/>
                </a:solidFill>
              </a:rPr>
              <a:t>类初始化如下：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Person::Person(</a:t>
            </a:r>
            <a:r>
              <a:rPr lang="en-US" altLang="zh-CN" sz="2000" dirty="0">
                <a:solidFill>
                  <a:srgbClr val="0000FF"/>
                </a:solidFill>
              </a:rPr>
              <a:t>const </a:t>
            </a:r>
            <a:r>
              <a:rPr lang="en-US" altLang="zh-CN" sz="2000" dirty="0">
                <a:solidFill>
                  <a:srgbClr val="008080"/>
                </a:solidFill>
              </a:rPr>
              <a:t>string </a:t>
            </a:r>
            <a:r>
              <a:rPr lang="en-US" altLang="zh-CN" sz="2000" dirty="0">
                <a:solidFill>
                  <a:srgbClr val="000000"/>
                </a:solidFill>
              </a:rPr>
              <a:t>&amp;name = </a:t>
            </a:r>
            <a:r>
              <a:rPr lang="en-US" altLang="zh-CN" sz="2000" dirty="0">
                <a:solidFill>
                  <a:srgbClr val="C08040"/>
                </a:solidFill>
              </a:rPr>
              <a:t>""</a:t>
            </a:r>
            <a:r>
              <a:rPr lang="en-US" altLang="zh-CN" sz="2000" dirty="0">
                <a:solidFill>
                  <a:srgbClr val="000000"/>
                </a:solidFill>
              </a:rPr>
              <a:t>,</a:t>
            </a:r>
            <a:r>
              <a:rPr lang="en-US" altLang="zh-CN" sz="2000" dirty="0">
                <a:solidFill>
                  <a:srgbClr val="0000FF"/>
                </a:solidFill>
              </a:rPr>
              <a:t>int </a:t>
            </a:r>
            <a:r>
              <a:rPr lang="en-US" altLang="zh-CN" sz="2000" dirty="0">
                <a:solidFill>
                  <a:srgbClr val="000000"/>
                </a:solidFill>
              </a:rPr>
              <a:t>age = 0)</a:t>
            </a:r>
            <a:r>
              <a:rPr lang="en-US" altLang="zh-CN" sz="2400" b="1" dirty="0">
                <a:solidFill>
                  <a:srgbClr val="FF0000"/>
                </a:solidFill>
              </a:rPr>
              <a:t>:</a:t>
            </a:r>
            <a:r>
              <a:rPr lang="en-US" altLang="zh-CN" sz="2000" dirty="0" err="1">
                <a:solidFill>
                  <a:srgbClr val="000000"/>
                </a:solidFill>
              </a:rPr>
              <a:t>m_name</a:t>
            </a:r>
            <a:r>
              <a:rPr lang="en-US" altLang="zh-CN" sz="2000" dirty="0">
                <a:solidFill>
                  <a:srgbClr val="000000"/>
                </a:solidFill>
              </a:rPr>
              <a:t>(name)</a:t>
            </a:r>
            <a:r>
              <a:rPr lang="en-US" altLang="zh-CN" sz="2400" b="1" dirty="0">
                <a:solidFill>
                  <a:srgbClr val="FF0000"/>
                </a:solidFill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</a:rPr>
              <a:t>m_age</a:t>
            </a:r>
            <a:r>
              <a:rPr lang="en-US" altLang="zh-CN" sz="2000" dirty="0">
                <a:solidFill>
                  <a:srgbClr val="000000"/>
                </a:solidFill>
              </a:rPr>
              <a:t>(age) {</a:t>
            </a:r>
          </a:p>
          <a:p>
            <a:pPr lvl="2"/>
            <a:r>
              <a:rPr lang="en-US" altLang="zh-CN" sz="2000" dirty="0" err="1">
                <a:solidFill>
                  <a:srgbClr val="000000"/>
                </a:solidFill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</a:rPr>
              <a:t>&lt;&lt;</a:t>
            </a:r>
            <a:r>
              <a:rPr lang="en-US" altLang="zh-CN" sz="2000" dirty="0">
                <a:solidFill>
                  <a:srgbClr val="C08040"/>
                </a:solidFill>
              </a:rPr>
              <a:t>"</a:t>
            </a:r>
            <a:r>
              <a:rPr lang="en-US" altLang="zh-CN" sz="2000" dirty="0" err="1">
                <a:solidFill>
                  <a:srgbClr val="C08040"/>
                </a:solidFill>
              </a:rPr>
              <a:t>Constr</a:t>
            </a:r>
            <a:r>
              <a:rPr lang="en-US" altLang="zh-CN" sz="2000" dirty="0">
                <a:solidFill>
                  <a:srgbClr val="C08040"/>
                </a:solidFill>
              </a:rPr>
              <a:t> of Person"</a:t>
            </a:r>
            <a:r>
              <a:rPr lang="en-US" altLang="zh-CN" sz="2000" dirty="0">
                <a:solidFill>
                  <a:srgbClr val="000000"/>
                </a:solidFill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</a:rPr>
              <a:t>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}</a:t>
            </a:r>
          </a:p>
          <a:p>
            <a:r>
              <a:rPr lang="zh-CN" altLang="en-US" sz="2000" dirty="0">
                <a:solidFill>
                  <a:srgbClr val="000000"/>
                </a:solidFill>
              </a:rPr>
              <a:t>当创建</a:t>
            </a:r>
            <a:r>
              <a:rPr lang="en-US" altLang="zh-CN" sz="2000" dirty="0">
                <a:solidFill>
                  <a:srgbClr val="000000"/>
                </a:solidFill>
              </a:rPr>
              <a:t>Student</a:t>
            </a:r>
            <a:r>
              <a:rPr lang="zh-CN" altLang="en-US" sz="2000" dirty="0">
                <a:solidFill>
                  <a:srgbClr val="000000"/>
                </a:solidFill>
              </a:rPr>
              <a:t>类对象时：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Student s(”Kevin”, 19, Course(”Math”));</a:t>
            </a:r>
          </a:p>
          <a:p>
            <a:r>
              <a:rPr lang="zh-CN" altLang="en-US" sz="2000" dirty="0">
                <a:solidFill>
                  <a:srgbClr val="000000"/>
                </a:solidFill>
              </a:rPr>
              <a:t>输出结果：</a:t>
            </a:r>
          </a:p>
          <a:p>
            <a:pPr lvl="1"/>
            <a:r>
              <a:rPr lang="en-US" altLang="zh-CN" sz="2000" dirty="0" err="1">
                <a:solidFill>
                  <a:srgbClr val="000000"/>
                </a:solidFill>
              </a:rPr>
              <a:t>Constr</a:t>
            </a:r>
            <a:r>
              <a:rPr lang="en-US" altLang="zh-CN" sz="2000" dirty="0">
                <a:solidFill>
                  <a:srgbClr val="000000"/>
                </a:solidFill>
              </a:rPr>
              <a:t> of Person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</a:rPr>
              <a:t>Copy </a:t>
            </a:r>
            <a:r>
              <a:rPr lang="en-US" altLang="zh-CN" sz="2000" dirty="0" err="1">
                <a:solidFill>
                  <a:srgbClr val="000000"/>
                </a:solidFill>
              </a:rPr>
              <a:t>constr</a:t>
            </a:r>
            <a:r>
              <a:rPr lang="en-US" altLang="zh-CN" sz="2000" dirty="0">
                <a:solidFill>
                  <a:srgbClr val="000000"/>
                </a:solidFill>
              </a:rPr>
              <a:t> of Course</a:t>
            </a:r>
          </a:p>
          <a:p>
            <a:pPr lvl="1"/>
            <a:r>
              <a:rPr lang="en-US" altLang="zh-CN" sz="2000" dirty="0" err="1">
                <a:solidFill>
                  <a:srgbClr val="000000"/>
                </a:solidFill>
              </a:rPr>
              <a:t>Constr</a:t>
            </a:r>
            <a:r>
              <a:rPr lang="en-US" altLang="zh-CN" sz="2000" dirty="0">
                <a:solidFill>
                  <a:srgbClr val="000000"/>
                </a:solidFill>
              </a:rPr>
              <a:t> of Student</a:t>
            </a:r>
            <a:endParaRPr kumimoji="1" lang="zh-CN" altLang="en-US" sz="2000" dirty="0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605952" y="155277"/>
            <a:ext cx="870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9.2</a:t>
            </a:r>
            <a:r>
              <a:rPr lang="zh-CN" altLang="en-US" sz="3200" dirty="0">
                <a:solidFill>
                  <a:srgbClr val="FFFFFF"/>
                </a:solidFill>
                <a:latin typeface="MicrosoftYaHei"/>
              </a:rPr>
              <a:t>构造、拷贝控制与继承</a:t>
            </a:r>
            <a:r>
              <a:rPr lang="en-US" altLang="zh-CN" dirty="0">
                <a:solidFill>
                  <a:srgbClr val="FFFFFF"/>
                </a:solidFill>
                <a:latin typeface="MicrosoftYaHei"/>
              </a:rPr>
              <a:t>-</a:t>
            </a:r>
            <a:r>
              <a:rPr lang="zh-CN" altLang="en-US" dirty="0">
                <a:solidFill>
                  <a:srgbClr val="FFFFFF"/>
                </a:solidFill>
                <a:latin typeface="MicrosoftYaHei"/>
              </a:rPr>
              <a:t>派生类对象的构造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51153" y="740052"/>
            <a:ext cx="103782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派生类对象的构造</a:t>
            </a:r>
          </a:p>
          <a:p>
            <a:endParaRPr lang="en-US" altLang="zh-CN" sz="2000" dirty="0">
              <a:solidFill>
                <a:srgbClr val="000000"/>
              </a:solidFill>
            </a:endParaRPr>
          </a:p>
          <a:p>
            <a:endParaRPr kumimoji="1" lang="zh-CN" altLang="en-US" sz="2000" dirty="0">
              <a:solidFill>
                <a:srgbClr val="0066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r="7011"/>
          <a:stretch>
            <a:fillRect/>
          </a:stretch>
        </p:blipFill>
        <p:spPr>
          <a:xfrm>
            <a:off x="115612" y="1471447"/>
            <a:ext cx="5618239" cy="44897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103" y="1324826"/>
            <a:ext cx="6473247" cy="49034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605952" y="155277"/>
            <a:ext cx="870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9.2</a:t>
            </a:r>
            <a:r>
              <a:rPr lang="zh-CN" altLang="en-US" sz="3200" dirty="0">
                <a:solidFill>
                  <a:srgbClr val="FFFFFF"/>
                </a:solidFill>
                <a:latin typeface="MicrosoftYaHei"/>
              </a:rPr>
              <a:t>构造、拷贝控制与继承</a:t>
            </a:r>
            <a:r>
              <a:rPr lang="en-US" altLang="zh-CN" dirty="0">
                <a:solidFill>
                  <a:srgbClr val="FFFFFF"/>
                </a:solidFill>
                <a:latin typeface="MicrosoftYaHei"/>
              </a:rPr>
              <a:t>-</a:t>
            </a:r>
            <a:r>
              <a:rPr lang="zh-CN" altLang="en-US" dirty="0">
                <a:solidFill>
                  <a:srgbClr val="FFFFFF"/>
                </a:solidFill>
                <a:latin typeface="MicrosoftYaHei"/>
              </a:rPr>
              <a:t>派生类对象的构造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51153" y="740052"/>
            <a:ext cx="103782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派生类对象的构造</a:t>
            </a:r>
          </a:p>
          <a:p>
            <a:endParaRPr lang="en-US" altLang="zh-CN" sz="2000" dirty="0">
              <a:solidFill>
                <a:srgbClr val="000000"/>
              </a:solidFill>
            </a:endParaRPr>
          </a:p>
          <a:p>
            <a:endParaRPr kumimoji="1" lang="zh-CN" altLang="en-US" sz="2000" dirty="0">
              <a:solidFill>
                <a:srgbClr val="0066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18" y="1340216"/>
            <a:ext cx="5739845" cy="2723218"/>
          </a:xfrm>
          <a:prstGeom prst="rect">
            <a:avLst/>
          </a:prstGeom>
        </p:spPr>
      </p:pic>
      <p:sp>
        <p:nvSpPr>
          <p:cNvPr id="9" name="矩形: 圆角 8"/>
          <p:cNvSpPr/>
          <p:nvPr/>
        </p:nvSpPr>
        <p:spPr>
          <a:xfrm>
            <a:off x="11609667" y="979470"/>
            <a:ext cx="325035" cy="10912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t="10711"/>
          <a:stretch>
            <a:fillRect/>
          </a:stretch>
        </p:blipFill>
        <p:spPr>
          <a:xfrm>
            <a:off x="6216601" y="1449388"/>
            <a:ext cx="5637158" cy="2723218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11782094" y="979470"/>
            <a:ext cx="295944" cy="120668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/>
          <p:cNvSpPr/>
          <p:nvPr/>
        </p:nvSpPr>
        <p:spPr>
          <a:xfrm>
            <a:off x="3689131" y="2070678"/>
            <a:ext cx="2446527" cy="630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605952" y="155277"/>
            <a:ext cx="870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9.2</a:t>
            </a:r>
            <a:r>
              <a:rPr lang="zh-CN" altLang="en-US" sz="3200" dirty="0">
                <a:solidFill>
                  <a:srgbClr val="FFFFFF"/>
                </a:solidFill>
                <a:latin typeface="MicrosoftYaHei"/>
              </a:rPr>
              <a:t>构造、拷贝控制与继承</a:t>
            </a:r>
            <a:r>
              <a:rPr lang="en-US" altLang="zh-CN" dirty="0">
                <a:solidFill>
                  <a:srgbClr val="FFFFFF"/>
                </a:solidFill>
                <a:latin typeface="MicrosoftYaHei"/>
              </a:rPr>
              <a:t>-</a:t>
            </a:r>
            <a:r>
              <a:rPr lang="zh-CN" altLang="en-US" dirty="0">
                <a:solidFill>
                  <a:srgbClr val="FFFFFF"/>
                </a:solidFill>
                <a:latin typeface="MicrosoftYaHei"/>
              </a:rPr>
              <a:t>派生类对象的构造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51153" y="740052"/>
            <a:ext cx="103782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派生类对象的构造</a:t>
            </a:r>
          </a:p>
          <a:p>
            <a:endParaRPr lang="en-US" altLang="zh-CN" sz="2000" dirty="0">
              <a:solidFill>
                <a:srgbClr val="000000"/>
              </a:solidFill>
            </a:endParaRPr>
          </a:p>
          <a:p>
            <a:endParaRPr kumimoji="1" lang="zh-CN" altLang="en-US" sz="2000" dirty="0">
              <a:solidFill>
                <a:srgbClr val="006600"/>
              </a:solidFill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1609667" y="979470"/>
            <a:ext cx="325035" cy="10912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11782094" y="979470"/>
            <a:ext cx="295944" cy="120668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17" y="1324827"/>
            <a:ext cx="6819870" cy="52508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899" y="1073561"/>
            <a:ext cx="2414284" cy="222668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262648" y="1073561"/>
            <a:ext cx="909340" cy="1451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605952" y="155277"/>
            <a:ext cx="870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9.2</a:t>
            </a:r>
            <a:r>
              <a:rPr lang="zh-CN" altLang="en-US" sz="3200" dirty="0">
                <a:solidFill>
                  <a:srgbClr val="FFFFFF"/>
                </a:solidFill>
                <a:latin typeface="MicrosoftYaHei"/>
              </a:rPr>
              <a:t>构造、拷贝控制与继承</a:t>
            </a:r>
            <a:r>
              <a:rPr lang="en-US" altLang="zh-CN" dirty="0">
                <a:solidFill>
                  <a:srgbClr val="FFFFFF"/>
                </a:solidFill>
                <a:latin typeface="MicrosoftYaHei"/>
              </a:rPr>
              <a:t>-</a:t>
            </a:r>
            <a:r>
              <a:rPr lang="zh-CN" altLang="en-US" dirty="0">
                <a:solidFill>
                  <a:srgbClr val="FFFFFF"/>
                </a:solidFill>
                <a:latin typeface="MicrosoftYaHei"/>
              </a:rPr>
              <a:t>派生类对象的构造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51153" y="740052"/>
            <a:ext cx="103782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派生类对象构造函数的执行顺序：</a:t>
            </a:r>
          </a:p>
          <a:p>
            <a:endParaRPr lang="en-US" altLang="zh-CN" sz="2000" dirty="0">
              <a:solidFill>
                <a:srgbClr val="000000"/>
              </a:solidFill>
            </a:endParaRPr>
          </a:p>
          <a:p>
            <a:endParaRPr kumimoji="1" lang="zh-CN" altLang="en-US" sz="2000" dirty="0">
              <a:solidFill>
                <a:srgbClr val="006600"/>
              </a:solidFill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1609667" y="979470"/>
            <a:ext cx="325035" cy="10912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11782094" y="979470"/>
            <a:ext cx="295944" cy="120668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262648" y="1073561"/>
            <a:ext cx="909340" cy="1451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6884276" y="861848"/>
            <a:ext cx="1376452" cy="23858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1608573" y="1646635"/>
            <a:ext cx="567771" cy="3335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56" y="2135009"/>
            <a:ext cx="9614760" cy="278261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31275" y="541272"/>
            <a:ext cx="103782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多重继承的派生类构造函数</a:t>
            </a:r>
          </a:p>
          <a:p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12" y="1212771"/>
            <a:ext cx="5938201" cy="40947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474" y="1202831"/>
            <a:ext cx="4572000" cy="49162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31275" y="541272"/>
            <a:ext cx="103782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多重继承的派生类构造函数</a:t>
            </a:r>
          </a:p>
          <a:p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75" y="1126047"/>
            <a:ext cx="4771030" cy="30485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786" y="4012603"/>
            <a:ext cx="2679622" cy="27029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45" y="3912995"/>
            <a:ext cx="4903254" cy="61004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848" y="1665825"/>
            <a:ext cx="2813195" cy="214641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661952" y="1554741"/>
            <a:ext cx="91440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446494" y="1318258"/>
            <a:ext cx="91440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814352" y="1623061"/>
            <a:ext cx="91440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050924" y="2275422"/>
            <a:ext cx="558480" cy="262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605952" y="155277"/>
            <a:ext cx="870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9.2</a:t>
            </a:r>
            <a:r>
              <a:rPr lang="zh-CN" altLang="en-US" sz="3200" dirty="0">
                <a:solidFill>
                  <a:srgbClr val="FFFFFF"/>
                </a:solidFill>
                <a:latin typeface="MicrosoftYaHei"/>
              </a:rPr>
              <a:t>构造、拷贝控制与继承</a:t>
            </a:r>
            <a:r>
              <a:rPr lang="en-US" altLang="zh-CN" dirty="0">
                <a:solidFill>
                  <a:srgbClr val="FFFFFF"/>
                </a:solidFill>
                <a:latin typeface="MicrosoftYaHei"/>
              </a:rPr>
              <a:t>-</a:t>
            </a:r>
            <a:r>
              <a:rPr lang="zh-CN" altLang="en-US" dirty="0">
                <a:solidFill>
                  <a:srgbClr val="FFFFFF"/>
                </a:solidFill>
                <a:latin typeface="MicrosoftYaHei"/>
              </a:rPr>
              <a:t>派生类对象的构造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31275" y="541272"/>
            <a:ext cx="1037823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多重继承的二义性</a:t>
            </a:r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t="8225"/>
          <a:stretch>
            <a:fillRect/>
          </a:stretch>
        </p:blipFill>
        <p:spPr>
          <a:xfrm>
            <a:off x="987973" y="1213106"/>
            <a:ext cx="4305424" cy="348394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520" y="1286684"/>
            <a:ext cx="6652993" cy="431960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603525" y="1396205"/>
            <a:ext cx="91440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矩形: 圆角 13"/>
          <p:cNvSpPr/>
          <p:nvPr/>
        </p:nvSpPr>
        <p:spPr>
          <a:xfrm>
            <a:off x="11098924" y="798786"/>
            <a:ext cx="788276" cy="33422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142309" y="2246811"/>
            <a:ext cx="426720" cy="235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737363" y="4123500"/>
            <a:ext cx="426720" cy="235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728651" y="1981202"/>
            <a:ext cx="1397726" cy="235132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741707" y="3631474"/>
            <a:ext cx="1397726" cy="235132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605952" y="155277"/>
            <a:ext cx="870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9.2</a:t>
            </a:r>
            <a:r>
              <a:rPr lang="zh-CN" altLang="en-US" sz="3200" dirty="0">
                <a:solidFill>
                  <a:srgbClr val="FFFFFF"/>
                </a:solidFill>
                <a:latin typeface="MicrosoftYaHei"/>
              </a:rPr>
              <a:t>构造、拷贝控制与继承</a:t>
            </a:r>
            <a:r>
              <a:rPr lang="en-US" altLang="zh-CN" dirty="0">
                <a:solidFill>
                  <a:srgbClr val="FFFFFF"/>
                </a:solidFill>
                <a:latin typeface="MicrosoftYaHei"/>
              </a:rPr>
              <a:t>-</a:t>
            </a:r>
            <a:r>
              <a:rPr lang="zh-CN" altLang="en-US" dirty="0">
                <a:solidFill>
                  <a:srgbClr val="FFFFFF"/>
                </a:solidFill>
                <a:latin typeface="MicrosoftYaHei"/>
              </a:rPr>
              <a:t>派生类对象的构造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133082" y="175292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31275" y="541272"/>
            <a:ext cx="1037823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多重继承的二义性</a:t>
            </a:r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651918" y="1838698"/>
            <a:ext cx="91440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矩形: 圆角 13"/>
          <p:cNvSpPr/>
          <p:nvPr/>
        </p:nvSpPr>
        <p:spPr>
          <a:xfrm>
            <a:off x="5778042" y="1752929"/>
            <a:ext cx="788276" cy="33422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9" y="1150665"/>
            <a:ext cx="5751309" cy="42637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836556" y="1069361"/>
            <a:ext cx="91440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5770298" y="1500053"/>
            <a:ext cx="91440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b="120"/>
          <a:stretch>
            <a:fillRect/>
          </a:stretch>
        </p:blipFill>
        <p:spPr>
          <a:xfrm>
            <a:off x="6843823" y="1126048"/>
            <a:ext cx="4908802" cy="3088888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6142524" y="5241875"/>
            <a:ext cx="26043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737319" y="4454695"/>
            <a:ext cx="5121809" cy="1004472"/>
            <a:chOff x="154072" y="1903647"/>
            <a:chExt cx="8704052" cy="1065942"/>
          </a:xfrm>
        </p:grpSpPr>
        <p:sp>
          <p:nvSpPr>
            <p:cNvPr id="20" name="矩形: 圆顶角 27"/>
            <p:cNvSpPr/>
            <p:nvPr/>
          </p:nvSpPr>
          <p:spPr>
            <a:xfrm>
              <a:off x="154072" y="1903647"/>
              <a:ext cx="8704052" cy="380058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注意</a:t>
              </a:r>
            </a:p>
          </p:txBody>
        </p:sp>
        <p:sp>
          <p:nvSpPr>
            <p:cNvPr id="21" name="矩形: 圆角 17"/>
            <p:cNvSpPr/>
            <p:nvPr/>
          </p:nvSpPr>
          <p:spPr>
            <a:xfrm>
              <a:off x="154072" y="2283705"/>
              <a:ext cx="8704052" cy="68588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多重继承容易产生二义性问题，且极其难以发现，因此</a:t>
              </a:r>
              <a:r>
                <a:rPr lang="zh-CN" altLang="en-US" dirty="0">
                  <a:solidFill>
                    <a:srgbClr val="FF0000"/>
                  </a:solidFill>
                  <a:latin typeface="MicrosoftYaHei"/>
                </a:rPr>
                <a:t>谨慎使用多重继承</a:t>
              </a:r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。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750685" y="731520"/>
            <a:ext cx="2244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隐蔽存在的二义性：</a:t>
            </a:r>
          </a:p>
        </p:txBody>
      </p:sp>
      <p:sp>
        <p:nvSpPr>
          <p:cNvPr id="17" name="矩形 16"/>
          <p:cNvSpPr/>
          <p:nvPr/>
        </p:nvSpPr>
        <p:spPr>
          <a:xfrm>
            <a:off x="1820090" y="3923216"/>
            <a:ext cx="1756205" cy="235132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841860" y="4145288"/>
            <a:ext cx="1734436" cy="235132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31275" y="541272"/>
            <a:ext cx="10378238" cy="560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派生类的析构函数</a:t>
            </a:r>
          </a:p>
          <a:p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例：前述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Course</a:t>
            </a:r>
            <a:r>
              <a:rPr lang="zh-CN" altLang="en-US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Student</a:t>
            </a:r>
            <a:r>
              <a:rPr lang="zh-CN" altLang="en-US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Person</a:t>
            </a:r>
            <a:r>
              <a:rPr lang="zh-CN" altLang="en-US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类的析构函数的函数如下：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Person::~Person() {</a:t>
            </a:r>
          </a:p>
          <a:p>
            <a:pPr lvl="2"/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 </a:t>
            </a:r>
            <a:r>
              <a:rPr lang="en-US" altLang="zh-CN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</a:t>
            </a:r>
            <a:r>
              <a:rPr lang="en-US" altLang="zh-CN" dirty="0" err="1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Destr</a:t>
            </a:r>
            <a:r>
              <a:rPr lang="en-US" altLang="zh-CN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of Person" 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Student::~Student() {</a:t>
            </a:r>
          </a:p>
          <a:p>
            <a:pPr lvl="2"/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 </a:t>
            </a:r>
            <a:r>
              <a:rPr lang="en-US" altLang="zh-CN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</a:t>
            </a:r>
            <a:r>
              <a:rPr lang="en-US" altLang="zh-CN" dirty="0" err="1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Destr</a:t>
            </a:r>
            <a:r>
              <a:rPr lang="en-US" altLang="zh-CN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of Student" 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Course::~Course() {</a:t>
            </a:r>
          </a:p>
          <a:p>
            <a:pPr lvl="2"/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 </a:t>
            </a:r>
            <a:r>
              <a:rPr lang="en-US" altLang="zh-CN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</a:t>
            </a:r>
            <a:r>
              <a:rPr lang="en-US" altLang="zh-CN" dirty="0" err="1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Destr</a:t>
            </a:r>
            <a:r>
              <a:rPr lang="en-US" altLang="zh-CN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of Course" 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</a:t>
            </a:r>
          </a:p>
          <a:p>
            <a:pPr lvl="1"/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利用如下代码创建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Student</a:t>
            </a:r>
            <a:r>
              <a:rPr lang="zh-CN" altLang="en-US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类对象：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main</a:t>
            </a:r>
            <a:r>
              <a:rPr lang="zh-CN" altLang="en-US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（）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{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Course c(”Math”);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Student s(”Kevin”, 19, c); //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思考</a:t>
            </a:r>
            <a:r>
              <a:rPr lang="zh-CN" altLang="en-US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：输出结果会是怎样的？</a:t>
            </a:r>
          </a:p>
          <a:p>
            <a:pPr lvl="1"/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060634" y="4308258"/>
            <a:ext cx="2156792" cy="171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MicrosoftYaHei"/>
              </a:rPr>
              <a:t>输出结果：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MicrosoftYaHei"/>
              </a:rPr>
              <a:t>Destr</a:t>
            </a:r>
            <a:r>
              <a:rPr lang="en-US" altLang="zh-CN" dirty="0">
                <a:solidFill>
                  <a:srgbClr val="000000"/>
                </a:solidFill>
                <a:latin typeface="MicrosoftYaHei"/>
              </a:rPr>
              <a:t> of Student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MicrosoftYaHei"/>
              </a:rPr>
              <a:t>Destr</a:t>
            </a:r>
            <a:r>
              <a:rPr lang="en-US" altLang="zh-CN" dirty="0">
                <a:solidFill>
                  <a:srgbClr val="000000"/>
                </a:solidFill>
                <a:latin typeface="MicrosoftYaHei"/>
              </a:rPr>
              <a:t> of Course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MicrosoftYaHei"/>
              </a:rPr>
              <a:t>Destr</a:t>
            </a:r>
            <a:r>
              <a:rPr lang="en-US" altLang="zh-CN" dirty="0">
                <a:solidFill>
                  <a:srgbClr val="000000"/>
                </a:solidFill>
                <a:latin typeface="MicrosoftYaHei"/>
              </a:rPr>
              <a:t> of Person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31275" y="541272"/>
            <a:ext cx="103782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派生类对象消亡时的析构函数调用顺序</a:t>
            </a:r>
          </a:p>
          <a:p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71" y="1376660"/>
            <a:ext cx="7284227" cy="280691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279652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31275" y="1386091"/>
            <a:ext cx="103782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派生类对象的复制</a:t>
            </a:r>
          </a:p>
          <a:p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1131275" y="2126969"/>
            <a:ext cx="10080064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一个派生类对象在</a:t>
            </a:r>
            <a:r>
              <a:rPr lang="zh-CN" altLang="en-US" dirty="0">
                <a:solidFill>
                  <a:srgbClr val="FF0000"/>
                </a:solidFill>
              </a:rPr>
              <a:t>复制</a:t>
            </a:r>
            <a:r>
              <a:rPr lang="zh-CN" altLang="en-US" dirty="0">
                <a:solidFill>
                  <a:srgbClr val="000000"/>
                </a:solidFill>
              </a:rPr>
              <a:t>的时候，除复制自有成员外，还要复制基类部分的成员。因此，通常在派生类复制构造函数的初始化列表中调用基类的</a:t>
            </a:r>
            <a:r>
              <a:rPr lang="zh-CN" altLang="en-US" dirty="0">
                <a:solidFill>
                  <a:srgbClr val="FF0000"/>
                </a:solidFill>
              </a:rPr>
              <a:t>复制构造函数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endParaRPr lang="zh-CN" altLang="en-US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class </a:t>
            </a:r>
            <a:r>
              <a:rPr lang="en-US" altLang="zh-CN" dirty="0">
                <a:solidFill>
                  <a:srgbClr val="000000"/>
                </a:solidFill>
              </a:rPr>
              <a:t>A{</a:t>
            </a:r>
            <a:r>
              <a:rPr lang="en-US" altLang="zh-CN" dirty="0">
                <a:solidFill>
                  <a:srgbClr val="008000"/>
                </a:solidFill>
              </a:rPr>
              <a:t>/*...*/</a:t>
            </a:r>
            <a:r>
              <a:rPr lang="en-US" altLang="zh-CN" dirty="0">
                <a:solidFill>
                  <a:srgbClr val="000000"/>
                </a:solidFill>
              </a:rPr>
              <a:t>};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class </a:t>
            </a:r>
            <a:r>
              <a:rPr lang="en-US" altLang="zh-CN" dirty="0">
                <a:solidFill>
                  <a:srgbClr val="000000"/>
                </a:solidFill>
              </a:rPr>
              <a:t>B : </a:t>
            </a:r>
            <a:r>
              <a:rPr lang="en-US" altLang="zh-CN" dirty="0">
                <a:solidFill>
                  <a:srgbClr val="0000FF"/>
                </a:solidFill>
              </a:rPr>
              <a:t>public </a:t>
            </a:r>
            <a:r>
              <a:rPr lang="en-US" altLang="zh-CN" dirty="0">
                <a:solidFill>
                  <a:srgbClr val="000000"/>
                </a:solidFill>
              </a:rPr>
              <a:t>A {</a:t>
            </a:r>
          </a:p>
          <a:p>
            <a:pPr lvl="1"/>
            <a:r>
              <a:rPr lang="en-US" altLang="zh-CN" dirty="0">
                <a:solidFill>
                  <a:srgbClr val="008080"/>
                </a:solidFill>
              </a:rPr>
              <a:t>	string </a:t>
            </a:r>
            <a:r>
              <a:rPr lang="en-US" altLang="zh-CN" dirty="0" err="1">
                <a:solidFill>
                  <a:srgbClr val="000000"/>
                </a:solidFill>
              </a:rPr>
              <a:t>m_d</a:t>
            </a:r>
            <a:r>
              <a:rPr lang="en-US" altLang="zh-CN" dirty="0">
                <a:solidFill>
                  <a:srgbClr val="000000"/>
                </a:solidFill>
              </a:rPr>
              <a:t>;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public</a:t>
            </a:r>
            <a:r>
              <a:rPr lang="en-US" altLang="zh-CN" dirty="0">
                <a:solidFill>
                  <a:srgbClr val="000000"/>
                </a:solidFill>
              </a:rPr>
              <a:t>: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	B(</a:t>
            </a:r>
            <a:r>
              <a:rPr lang="en-US" altLang="zh-CN" dirty="0">
                <a:solidFill>
                  <a:srgbClr val="0000FF"/>
                </a:solidFill>
              </a:rPr>
              <a:t>const </a:t>
            </a:r>
            <a:r>
              <a:rPr lang="en-US" altLang="zh-CN" dirty="0">
                <a:solidFill>
                  <a:srgbClr val="000000"/>
                </a:solidFill>
              </a:rPr>
              <a:t>B &amp;d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FF0000"/>
                </a:solidFill>
              </a:rPr>
              <a:t>:A(d)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8000"/>
                </a:solidFill>
              </a:rPr>
              <a:t>/* </a:t>
            </a:r>
            <a:r>
              <a:rPr lang="zh-CN" altLang="en-US" dirty="0">
                <a:solidFill>
                  <a:srgbClr val="008000"/>
                </a:solidFill>
                <a:ea typeface="仿宋" panose="02010609060101010101" pitchFamily="49" charset="-122"/>
              </a:rPr>
              <a:t>复制</a:t>
            </a:r>
            <a:r>
              <a:rPr lang="en-US" altLang="zh-CN" dirty="0">
                <a:solidFill>
                  <a:srgbClr val="008000"/>
                </a:solidFill>
                <a:ea typeface="仿宋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8000"/>
                </a:solidFill>
                <a:ea typeface="仿宋" panose="02010609060101010101" pitchFamily="49" charset="-122"/>
              </a:rPr>
              <a:t>的成员*</a:t>
            </a:r>
            <a:r>
              <a:rPr lang="en-US" altLang="zh-CN" dirty="0">
                <a:solidFill>
                  <a:srgbClr val="008000"/>
                </a:solidFill>
                <a:ea typeface="仿宋" panose="02010609060101010101" pitchFamily="49" charset="-122"/>
              </a:rPr>
              <a:t>/</a:t>
            </a:r>
            <a:r>
              <a:rPr lang="en-US" altLang="zh-CN" b="1" dirty="0">
                <a:solidFill>
                  <a:srgbClr val="FF0000"/>
                </a:solidFill>
                <a:ea typeface="仿宋" panose="02010609060101010101" pitchFamily="49" charset="-122"/>
              </a:rPr>
              <a:t>, </a:t>
            </a:r>
            <a:r>
              <a:rPr lang="en-US" altLang="zh-CN" dirty="0" err="1">
                <a:solidFill>
                  <a:srgbClr val="FF0000"/>
                </a:solidFill>
              </a:rPr>
              <a:t>m_d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d.m_d</a:t>
            </a:r>
            <a:r>
              <a:rPr lang="en-US" altLang="zh-CN" dirty="0">
                <a:solidFill>
                  <a:srgbClr val="FF0000"/>
                </a:solidFill>
              </a:rPr>
              <a:t>) </a:t>
            </a:r>
            <a:r>
              <a:rPr lang="en-US" altLang="zh-CN" dirty="0">
                <a:solidFill>
                  <a:srgbClr val="008000"/>
                </a:solidFill>
              </a:rPr>
              <a:t>/* </a:t>
            </a:r>
            <a:r>
              <a:rPr lang="zh-CN" altLang="en-US" dirty="0">
                <a:solidFill>
                  <a:srgbClr val="008000"/>
                </a:solidFill>
                <a:ea typeface="仿宋" panose="02010609060101010101" pitchFamily="49" charset="-122"/>
              </a:rPr>
              <a:t>复制</a:t>
            </a:r>
            <a:r>
              <a:rPr lang="en-US" altLang="zh-CN" dirty="0">
                <a:solidFill>
                  <a:srgbClr val="008000"/>
                </a:solidFill>
                <a:ea typeface="仿宋" panose="02010609060101010101" pitchFamily="49" charset="-122"/>
              </a:rPr>
              <a:t>B</a:t>
            </a:r>
            <a:r>
              <a:rPr lang="zh-CN" altLang="en-US" dirty="0">
                <a:solidFill>
                  <a:srgbClr val="008000"/>
                </a:solidFill>
                <a:ea typeface="仿宋" panose="02010609060101010101" pitchFamily="49" charset="-122"/>
              </a:rPr>
              <a:t>的成员*</a:t>
            </a:r>
            <a:r>
              <a:rPr lang="en-US" altLang="zh-CN" dirty="0">
                <a:solidFill>
                  <a:srgbClr val="008000"/>
                </a:solidFill>
                <a:ea typeface="仿宋" panose="02010609060101010101" pitchFamily="49" charset="-122"/>
              </a:rPr>
              <a:t>/ 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</a:rPr>
              <a:t>{</a:t>
            </a:r>
          </a:p>
          <a:p>
            <a:pPr lvl="1"/>
            <a:r>
              <a:rPr lang="en-US" altLang="zh-CN" dirty="0">
                <a:solidFill>
                  <a:srgbClr val="008000"/>
                </a:solidFill>
              </a:rPr>
              <a:t>	/*...*/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}</a:t>
            </a:r>
          </a:p>
          <a:p>
            <a:pPr lvl="1"/>
            <a:r>
              <a:rPr lang="en-US" altLang="zh-CN" dirty="0">
                <a:solidFill>
                  <a:srgbClr val="008000"/>
                </a:solidFill>
              </a:rPr>
              <a:t>	/*...*/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	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};</a:t>
            </a:r>
            <a:endParaRPr lang="zh-CN" altLang="en-US" dirty="0"/>
          </a:p>
        </p:txBody>
      </p:sp>
      <p:sp>
        <p:nvSpPr>
          <p:cNvPr id="7" name="Rectangle 2"/>
          <p:cNvSpPr txBox="1">
            <a:spLocks noRot="1" noChangeArrowheads="1"/>
          </p:cNvSpPr>
          <p:nvPr/>
        </p:nvSpPr>
        <p:spPr>
          <a:xfrm>
            <a:off x="2135189" y="129485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7.5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派生类和基类的赋值兼容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704555" y="592251"/>
            <a:ext cx="103782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派生类对象的赋值</a:t>
            </a:r>
          </a:p>
          <a:p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6658148" y="1388807"/>
            <a:ext cx="48513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rgbClr val="000000"/>
                </a:solidFill>
              </a:rPr>
              <a:t>与复制构造函数类似，必须在派生类的赋值运算符中</a:t>
            </a:r>
            <a:r>
              <a:rPr lang="zh-CN" altLang="en-US" dirty="0">
                <a:solidFill>
                  <a:srgbClr val="FF0000"/>
                </a:solidFill>
              </a:rPr>
              <a:t>显式</a:t>
            </a:r>
            <a:r>
              <a:rPr lang="zh-CN" altLang="en-US" dirty="0">
                <a:solidFill>
                  <a:srgbClr val="000000"/>
                </a:solidFill>
              </a:rPr>
              <a:t>调用基类的赋值运算符，才能正确地完成基类成员的赋值：</a:t>
            </a:r>
            <a:endParaRPr lang="en-US" altLang="zh-CN" dirty="0">
              <a:solidFill>
                <a:srgbClr val="000000"/>
              </a:solidFill>
            </a:endParaRPr>
          </a:p>
          <a:p>
            <a:pPr algn="just"/>
            <a:endParaRPr lang="en-US" altLang="zh-CN" dirty="0">
              <a:solidFill>
                <a:srgbClr val="000000"/>
              </a:solidFill>
            </a:endParaRPr>
          </a:p>
          <a:p>
            <a:pPr lvl="1"/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B&amp; B::</a:t>
            </a:r>
            <a:r>
              <a:rPr lang="en-US" altLang="zh-CN" dirty="0">
                <a:solidFill>
                  <a:srgbClr val="0000FF"/>
                </a:solidFill>
              </a:rPr>
              <a:t>operator</a:t>
            </a:r>
            <a:r>
              <a:rPr lang="en-US" altLang="zh-CN" dirty="0">
                <a:solidFill>
                  <a:srgbClr val="000000"/>
                </a:solidFill>
              </a:rPr>
              <a:t>=(</a:t>
            </a:r>
            <a:r>
              <a:rPr lang="en-US" altLang="zh-CN" dirty="0">
                <a:solidFill>
                  <a:srgbClr val="0000FF"/>
                </a:solidFill>
              </a:rPr>
              <a:t>const </a:t>
            </a:r>
            <a:r>
              <a:rPr lang="en-US" altLang="zh-CN" dirty="0">
                <a:solidFill>
                  <a:srgbClr val="000000"/>
                </a:solidFill>
              </a:rPr>
              <a:t>B &amp;d) {</a:t>
            </a:r>
          </a:p>
          <a:p>
            <a:pPr lvl="2"/>
            <a:r>
              <a:rPr lang="en-US" altLang="zh-CN" dirty="0">
                <a:solidFill>
                  <a:srgbClr val="0000FF"/>
                </a:solidFill>
              </a:rPr>
              <a:t>if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this </a:t>
            </a:r>
            <a:r>
              <a:rPr lang="en-US" altLang="zh-CN" dirty="0">
                <a:solidFill>
                  <a:srgbClr val="000000"/>
                </a:solidFill>
              </a:rPr>
              <a:t>== &amp;d) </a:t>
            </a:r>
            <a:r>
              <a:rPr lang="en-US" altLang="zh-CN" dirty="0">
                <a:solidFill>
                  <a:srgbClr val="0000FF"/>
                </a:solidFill>
              </a:rPr>
              <a:t>return </a:t>
            </a:r>
            <a:r>
              <a:rPr lang="en-US" altLang="zh-CN" dirty="0">
                <a:solidFill>
                  <a:srgbClr val="000000"/>
                </a:solidFill>
              </a:rPr>
              <a:t>*</a:t>
            </a:r>
            <a:r>
              <a:rPr lang="en-US" altLang="zh-CN" dirty="0">
                <a:solidFill>
                  <a:srgbClr val="0000FF"/>
                </a:solidFill>
              </a:rPr>
              <a:t>this</a:t>
            </a:r>
            <a:r>
              <a:rPr lang="en-US" altLang="zh-CN" dirty="0">
                <a:solidFill>
                  <a:srgbClr val="000000"/>
                </a:solidFill>
              </a:rPr>
              <a:t>;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A::operator=(d); </a:t>
            </a:r>
            <a:r>
              <a:rPr lang="en-US" altLang="zh-CN" dirty="0">
                <a:solidFill>
                  <a:srgbClr val="008000"/>
                </a:solidFill>
              </a:rPr>
              <a:t>//</a:t>
            </a:r>
            <a:r>
              <a:rPr lang="zh-CN" altLang="en-US" dirty="0">
                <a:solidFill>
                  <a:srgbClr val="008000"/>
                </a:solidFill>
                <a:ea typeface="仿宋" panose="02010609060101010101" pitchFamily="49" charset="-122"/>
              </a:rPr>
              <a:t>赋值</a:t>
            </a:r>
            <a:r>
              <a:rPr lang="en-US" altLang="zh-CN" dirty="0">
                <a:solidFill>
                  <a:srgbClr val="008000"/>
                </a:solidFill>
                <a:ea typeface="仿宋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8000"/>
                </a:solidFill>
                <a:ea typeface="仿宋" panose="02010609060101010101" pitchFamily="49" charset="-122"/>
              </a:rPr>
              <a:t>的成员</a:t>
            </a:r>
          </a:p>
          <a:p>
            <a:pPr lvl="2"/>
            <a:r>
              <a:rPr lang="en-US" altLang="zh-CN" dirty="0" err="1">
                <a:solidFill>
                  <a:srgbClr val="000000"/>
                </a:solidFill>
              </a:rPr>
              <a:t>m_d</a:t>
            </a:r>
            <a:r>
              <a:rPr lang="en-US" altLang="zh-CN" dirty="0">
                <a:solidFill>
                  <a:srgbClr val="000000"/>
                </a:solidFill>
              </a:rPr>
              <a:t> = </a:t>
            </a:r>
            <a:r>
              <a:rPr lang="en-US" altLang="zh-CN" dirty="0" err="1">
                <a:solidFill>
                  <a:srgbClr val="000000"/>
                </a:solidFill>
              </a:rPr>
              <a:t>d.m_d</a:t>
            </a:r>
            <a:r>
              <a:rPr lang="en-US" altLang="zh-CN" dirty="0">
                <a:solidFill>
                  <a:srgbClr val="000000"/>
                </a:solidFill>
              </a:rPr>
              <a:t>; </a:t>
            </a:r>
            <a:r>
              <a:rPr lang="en-US" altLang="zh-CN" dirty="0">
                <a:solidFill>
                  <a:srgbClr val="008000"/>
                </a:solidFill>
              </a:rPr>
              <a:t>//</a:t>
            </a:r>
            <a:r>
              <a:rPr lang="zh-CN" altLang="en-US" dirty="0">
                <a:solidFill>
                  <a:srgbClr val="008000"/>
                </a:solidFill>
                <a:ea typeface="仿宋" panose="02010609060101010101" pitchFamily="49" charset="-122"/>
              </a:rPr>
              <a:t>赋值自身成员</a:t>
            </a:r>
          </a:p>
          <a:p>
            <a:pPr lvl="2"/>
            <a:r>
              <a:rPr lang="en-US" altLang="zh-CN" dirty="0">
                <a:solidFill>
                  <a:srgbClr val="0000FF"/>
                </a:solidFill>
              </a:rPr>
              <a:t>return </a:t>
            </a:r>
            <a:r>
              <a:rPr lang="en-US" altLang="zh-CN" dirty="0">
                <a:solidFill>
                  <a:srgbClr val="000000"/>
                </a:solidFill>
              </a:rPr>
              <a:t>*</a:t>
            </a:r>
            <a:r>
              <a:rPr lang="en-US" altLang="zh-CN" dirty="0">
                <a:solidFill>
                  <a:srgbClr val="0000FF"/>
                </a:solidFill>
              </a:rPr>
              <a:t>this</a:t>
            </a:r>
            <a:r>
              <a:rPr lang="en-US" altLang="zh-CN" dirty="0">
                <a:solidFill>
                  <a:srgbClr val="000000"/>
                </a:solidFill>
              </a:rPr>
              <a:t>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}</a:t>
            </a:r>
          </a:p>
          <a:p>
            <a:pPr lvl="1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-10" r="3698" b="-3705"/>
          <a:stretch>
            <a:fillRect/>
          </a:stretch>
        </p:blipFill>
        <p:spPr>
          <a:xfrm>
            <a:off x="611548" y="1388806"/>
            <a:ext cx="5925950" cy="445228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320394" y="1008993"/>
            <a:ext cx="337754" cy="1404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777990" y="2228850"/>
            <a:ext cx="4468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8000"/>
                </a:solidFill>
              </a:rPr>
              <a:t>例：基类</a:t>
            </a:r>
            <a:r>
              <a:rPr lang="en-US" altLang="zh-CN">
                <a:solidFill>
                  <a:srgbClr val="008000"/>
                </a:solidFill>
              </a:rPr>
              <a:t>A</a:t>
            </a:r>
            <a:r>
              <a:rPr lang="zh-CN" altLang="en-US">
                <a:solidFill>
                  <a:srgbClr val="008000"/>
                </a:solidFill>
              </a:rPr>
              <a:t>的派生类</a:t>
            </a:r>
            <a:r>
              <a:rPr lang="en-US" altLang="zh-CN">
                <a:solidFill>
                  <a:srgbClr val="008000"/>
                </a:solidFill>
              </a:rPr>
              <a:t>B</a:t>
            </a:r>
            <a:r>
              <a:rPr lang="zh-CN" altLang="en-US">
                <a:solidFill>
                  <a:srgbClr val="008000"/>
                </a:solidFill>
              </a:rPr>
              <a:t>的赋值运算重载函数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311005" y="4334510"/>
            <a:ext cx="2656205" cy="922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派生类对象赋值给基类对象：</a:t>
            </a:r>
          </a:p>
          <a:p>
            <a:r>
              <a:rPr lang="en-US" altLang="zh-CN"/>
              <a:t>this.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A::operator=(d);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>
            <a:off x="9074785" y="3594100"/>
            <a:ext cx="521970" cy="72136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31275" y="541272"/>
            <a:ext cx="103782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派生类对象与基类的关系</a:t>
            </a:r>
          </a:p>
          <a:p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1131275" y="1282150"/>
            <a:ext cx="100800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基类指针可以直接指向派生类对象</a:t>
            </a:r>
            <a:r>
              <a:rPr lang="zh-CN" altLang="en-US" sz="2000" dirty="0">
                <a:solidFill>
                  <a:srgbClr val="000000"/>
                </a:solidFill>
              </a:rPr>
              <a:t>（不需要类型转换）；</a:t>
            </a:r>
            <a:r>
              <a:rPr lang="zh-CN" altLang="en-US" sz="2000" b="1" dirty="0">
                <a:solidFill>
                  <a:srgbClr val="FF0000"/>
                </a:solidFill>
              </a:rPr>
              <a:t>基类引用可以直接引用派生类对象</a:t>
            </a:r>
            <a:r>
              <a:rPr lang="zh-CN" altLang="en-US" sz="2000" dirty="0">
                <a:solidFill>
                  <a:srgbClr val="000000"/>
                </a:solidFill>
              </a:rPr>
              <a:t>（不需要类型转换）；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2000" dirty="0"/>
              <a:t>指向派生类对象的基类指针只能用于调用基类方法（函数），不能调用派生类的方法（函数）；</a:t>
            </a:r>
            <a:endParaRPr lang="en-US" altLang="zh-CN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2000" dirty="0"/>
              <a:t>派生类指针和引用</a:t>
            </a:r>
            <a:r>
              <a:rPr lang="zh-CN" altLang="en-US" sz="2000" dirty="0">
                <a:solidFill>
                  <a:srgbClr val="FF0000"/>
                </a:solidFill>
              </a:rPr>
              <a:t>不能</a:t>
            </a:r>
            <a:r>
              <a:rPr lang="zh-CN" altLang="en-US" sz="2000" dirty="0"/>
              <a:t>指向和引用基类对象；</a:t>
            </a:r>
            <a:endParaRPr lang="en-US" altLang="zh-CN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algn="just"/>
            <a:endParaRPr lang="zh-CN" altLang="en-US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415972" y="3472958"/>
            <a:ext cx="91590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参考教材示例 </a:t>
            </a:r>
            <a:r>
              <a:rPr kumimoji="1"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P481 </a:t>
            </a: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例</a:t>
            </a:r>
            <a:r>
              <a:rPr kumimoji="1"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13.4-13.6</a:t>
            </a:r>
          </a:p>
          <a:p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派生类和基类的定义可以放在同一个头文件中，也可以分别放在不同的头文件。</a:t>
            </a:r>
            <a:endParaRPr kumimoji="1" lang="en-US" altLang="zh-CN" sz="20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参考教材</a:t>
            </a:r>
            <a:r>
              <a:rPr kumimoji="1"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P488</a:t>
            </a:r>
            <a:r>
              <a:rPr kumimoji="1"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派生类和基类间的特殊关系讨论</a:t>
            </a:r>
            <a:endParaRPr kumimoji="1" lang="en-US" altLang="zh-CN" sz="2000" dirty="0">
              <a:solidFill>
                <a:srgbClr val="008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19517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31275" y="541272"/>
            <a:ext cx="1037823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派生类对象与基类的关系</a:t>
            </a:r>
          </a:p>
          <a:p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52" y="1126047"/>
            <a:ext cx="7563413" cy="4872017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 flipH="1">
            <a:off x="7311165" y="784214"/>
            <a:ext cx="1622628" cy="18959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63336" y="5329645"/>
            <a:ext cx="5730241" cy="2612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2298547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5" name="矩形: 圆角 4"/>
          <p:cNvSpPr/>
          <p:nvPr/>
        </p:nvSpPr>
        <p:spPr>
          <a:xfrm flipH="1">
            <a:off x="7311165" y="1131052"/>
            <a:ext cx="1622628" cy="18959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774"/>
          <a:stretch>
            <a:fillRect/>
          </a:stretch>
        </p:blipFill>
        <p:spPr>
          <a:xfrm>
            <a:off x="203630" y="773513"/>
            <a:ext cx="5890937" cy="415583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lum contrast="-6000"/>
          </a:blip>
          <a:stretch>
            <a:fillRect/>
          </a:stretch>
        </p:blipFill>
        <p:spPr>
          <a:xfrm>
            <a:off x="6048591" y="775202"/>
            <a:ext cx="5754525" cy="425925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202621" y="515007"/>
            <a:ext cx="891947" cy="1783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93558" y="91373"/>
            <a:ext cx="891947" cy="1783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25598" y="6329449"/>
            <a:ext cx="2057400" cy="365125"/>
          </a:xfrm>
        </p:spPr>
        <p:txBody>
          <a:bodyPr/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44848" y="2298547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MicrosoftYaHei"/>
              </a:rPr>
              <a:t>学习目标</a:t>
            </a:r>
            <a:r>
              <a:rPr lang="zh-CN" altLang="en-US" sz="2400" dirty="0"/>
              <a:t> </a:t>
            </a:r>
          </a:p>
        </p:txBody>
      </p:sp>
      <p:sp>
        <p:nvSpPr>
          <p:cNvPr id="5" name="矩形: 圆角 4"/>
          <p:cNvSpPr/>
          <p:nvPr/>
        </p:nvSpPr>
        <p:spPr>
          <a:xfrm flipH="1">
            <a:off x="7311165" y="1131052"/>
            <a:ext cx="1622628" cy="18959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02621" y="515007"/>
            <a:ext cx="891947" cy="1783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93558" y="91373"/>
            <a:ext cx="891947" cy="1783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27" y="635594"/>
            <a:ext cx="7034912" cy="415699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542911" y="578069"/>
            <a:ext cx="891947" cy="1783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l="995" b="1309"/>
          <a:stretch>
            <a:fillRect/>
          </a:stretch>
        </p:blipFill>
        <p:spPr>
          <a:xfrm>
            <a:off x="6789683" y="472962"/>
            <a:ext cx="5195821" cy="309004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106" y="3867966"/>
            <a:ext cx="4394426" cy="272429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7416165" y="4983480"/>
            <a:ext cx="1956435" cy="4514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48615" y="4464685"/>
            <a:ext cx="7068185" cy="2393315"/>
          </a:xfrm>
          <a:prstGeom prst="roundRect">
            <a:avLst/>
          </a:prstGeom>
          <a:gradFill>
            <a:gsLst>
              <a:gs pos="50000">
                <a:srgbClr val="F5BD7C"/>
              </a:gs>
              <a:gs pos="0">
                <a:srgbClr val="F6D1A7"/>
              </a:gs>
              <a:gs pos="100000">
                <a:srgbClr val="F4A850"/>
              </a:gs>
            </a:gsLst>
            <a:lin scaled="1"/>
          </a:gradFill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基类和派生类中有同名的函数</a:t>
            </a:r>
            <a:r>
              <a:rPr lang="en-US" altLang="zh-CN">
                <a:sym typeface="+mn-ea"/>
              </a:rPr>
              <a:t>print()</a:t>
            </a:r>
            <a:r>
              <a:rPr lang="zh-CN" altLang="en-US">
                <a:sym typeface="+mn-ea"/>
              </a:rPr>
              <a:t>。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Base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指针指向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Derived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对象时，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pBase-&gt;print()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调用的是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Base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类中的函数</a:t>
            </a:r>
            <a:r>
              <a:rPr lang="zh-CN" altLang="en-US">
                <a:sym typeface="+mn-ea"/>
              </a:rPr>
              <a:t>（因为没有定义成虚函数，函数调用属于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静态联编</a:t>
            </a:r>
            <a:r>
              <a:rPr lang="zh-CN" altLang="en-US">
                <a:sym typeface="+mn-ea"/>
              </a:rPr>
              <a:t>，调用哪个函数由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指针类型</a:t>
            </a:r>
            <a:r>
              <a:rPr lang="zh-CN" altLang="en-US">
                <a:sym typeface="+mn-ea"/>
              </a:rPr>
              <a:t>（或引用类型）决定；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类和结构体一样，没有存储函数代码或包含函数指针。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类里定义的成员函数，是在代码段定义了一个普通函数</a:t>
            </a:r>
            <a:r>
              <a:rPr lang="zh-CN" altLang="en-US">
                <a:sym typeface="+mn-ea"/>
              </a:rPr>
              <a:t>，但这个函数有一个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“隐藏”参数</a:t>
            </a:r>
            <a:r>
              <a:rPr lang="zh-CN" altLang="en-US">
                <a:sym typeface="+mn-ea"/>
              </a:rPr>
              <a:t>，就是这个类；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类匹配这个“隐藏”参数决定调用哪个函数。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350375" y="4967605"/>
            <a:ext cx="2841625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accent6"/>
                </a:solidFill>
              </a:rPr>
              <a:t>//pDerived-&gt;v</a:t>
            </a:r>
            <a:r>
              <a:rPr lang="zh-CN" altLang="en-US" sz="1400" b="1">
                <a:solidFill>
                  <a:schemeClr val="accent6"/>
                </a:solidFill>
              </a:rPr>
              <a:t>位于其他对象空间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818880" y="4716780"/>
            <a:ext cx="337312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accent6"/>
                </a:solidFill>
              </a:rPr>
              <a:t>//</a:t>
            </a:r>
            <a:r>
              <a:rPr lang="zh-CN" altLang="en-US" sz="1400" b="1">
                <a:solidFill>
                  <a:schemeClr val="accent6"/>
                </a:solidFill>
              </a:rPr>
              <a:t>调用</a:t>
            </a:r>
            <a:r>
              <a:rPr lang="en-US" altLang="zh-CN" sz="1400" b="1">
                <a:solidFill>
                  <a:schemeClr val="accent6"/>
                </a:solidFill>
              </a:rPr>
              <a:t>Base</a:t>
            </a:r>
            <a:r>
              <a:rPr lang="zh-CN" altLang="en-US" sz="1400" b="1">
                <a:solidFill>
                  <a:schemeClr val="accent6"/>
                </a:solidFill>
              </a:rPr>
              <a:t>类函数，输出</a:t>
            </a:r>
            <a:r>
              <a:rPr lang="en-US" altLang="zh-CN" sz="1400" b="1">
                <a:solidFill>
                  <a:schemeClr val="accent6"/>
                </a:solidFill>
              </a:rPr>
              <a:t>Derived</a:t>
            </a:r>
            <a:r>
              <a:rPr lang="zh-CN" altLang="en-US" sz="1400" b="1">
                <a:solidFill>
                  <a:schemeClr val="accent6"/>
                </a:solidFill>
              </a:rPr>
              <a:t>类成员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45880" y="5209540"/>
            <a:ext cx="286766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accent6"/>
                </a:solidFill>
              </a:rPr>
              <a:t>//</a:t>
            </a:r>
            <a:r>
              <a:rPr lang="zh-CN" altLang="en-US" sz="1400" b="1">
                <a:solidFill>
                  <a:schemeClr val="accent6"/>
                </a:solidFill>
              </a:rPr>
              <a:t>调用</a:t>
            </a:r>
            <a:r>
              <a:rPr lang="en-US" altLang="zh-CN" sz="1400" b="1">
                <a:solidFill>
                  <a:schemeClr val="accent6"/>
                </a:solidFill>
              </a:rPr>
              <a:t>Derived</a:t>
            </a:r>
            <a:r>
              <a:rPr lang="zh-CN" altLang="en-US" sz="1400" b="1">
                <a:solidFill>
                  <a:schemeClr val="accent6"/>
                </a:solidFill>
              </a:rPr>
              <a:t>类函数</a:t>
            </a:r>
            <a:endParaRPr lang="en-US" altLang="zh-CN" sz="14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Rot="1" noChangeArrowheads="1"/>
          </p:cNvSpPr>
          <p:nvPr/>
        </p:nvSpPr>
        <p:spPr>
          <a:xfrm>
            <a:off x="823226" y="129485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7.6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虚基类和虚继承（选读）</a:t>
            </a:r>
            <a:endParaRPr lang="zh-CN" altLang="en-US" sz="4000" b="1" dirty="0"/>
          </a:p>
        </p:txBody>
      </p:sp>
      <p:graphicFrame>
        <p:nvGraphicFramePr>
          <p:cNvPr id="12" name="Group 86"/>
          <p:cNvGraphicFramePr>
            <a:graphicFrameLocks noGrp="1"/>
          </p:cNvGraphicFramePr>
          <p:nvPr/>
        </p:nvGraphicFramePr>
        <p:xfrm>
          <a:off x="8982416" y="5267325"/>
          <a:ext cx="1752600" cy="135636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EGStudent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 No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在职学号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………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Group 78"/>
          <p:cNvGraphicFramePr>
            <a:graphicFrameLocks noGrp="1"/>
          </p:cNvGraphicFramePr>
          <p:nvPr/>
        </p:nvGraphicFramePr>
        <p:xfrm>
          <a:off x="7398091" y="3429000"/>
          <a:ext cx="1752600" cy="1230694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GStudent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 No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研究生号</a:t>
                      </a: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Group 79"/>
          <p:cNvGraphicFramePr>
            <a:graphicFrameLocks noGrp="1"/>
          </p:cNvGraphicFramePr>
          <p:nvPr/>
        </p:nvGraphicFramePr>
        <p:xfrm>
          <a:off x="7417141" y="1901825"/>
          <a:ext cx="1752600" cy="1225296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Student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 No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学生号</a:t>
                      </a: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………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Group 80"/>
          <p:cNvGraphicFramePr>
            <a:graphicFrameLocks noGrp="1"/>
          </p:cNvGraphicFramePr>
          <p:nvPr/>
        </p:nvGraphicFramePr>
        <p:xfrm>
          <a:off x="7417141" y="188913"/>
          <a:ext cx="1752600" cy="1225296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5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Person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 No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身份证号</a:t>
                      </a: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Group 81"/>
          <p:cNvGraphicFramePr>
            <a:graphicFrameLocks noGrp="1"/>
          </p:cNvGraphicFramePr>
          <p:nvPr/>
        </p:nvGraphicFramePr>
        <p:xfrm>
          <a:off x="9580903" y="1927225"/>
          <a:ext cx="1752600" cy="1230694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Employee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 No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工作证号</a:t>
                      </a: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Group 82"/>
          <p:cNvGraphicFramePr>
            <a:graphicFrameLocks noGrp="1"/>
          </p:cNvGraphicFramePr>
          <p:nvPr/>
        </p:nvGraphicFramePr>
        <p:xfrm>
          <a:off x="9606303" y="188913"/>
          <a:ext cx="1752600" cy="1225296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5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Person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 No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身份证号</a:t>
                      </a: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AutoShape 51"/>
          <p:cNvSpPr>
            <a:spLocks noChangeArrowheads="1"/>
          </p:cNvSpPr>
          <p:nvPr/>
        </p:nvSpPr>
        <p:spPr bwMode="auto">
          <a:xfrm>
            <a:off x="10349253" y="3200400"/>
            <a:ext cx="228600" cy="1630363"/>
          </a:xfrm>
          <a:prstGeom prst="upArrow">
            <a:avLst>
              <a:gd name="adj1" fmla="val 50000"/>
              <a:gd name="adj2" fmla="val 17829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52"/>
          <p:cNvSpPr>
            <a:spLocks noChangeArrowheads="1"/>
          </p:cNvSpPr>
          <p:nvPr/>
        </p:nvSpPr>
        <p:spPr bwMode="auto">
          <a:xfrm>
            <a:off x="10292103" y="1358900"/>
            <a:ext cx="369888" cy="36988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utoShape 53"/>
          <p:cNvSpPr>
            <a:spLocks noChangeArrowheads="1"/>
          </p:cNvSpPr>
          <p:nvPr/>
        </p:nvSpPr>
        <p:spPr bwMode="auto">
          <a:xfrm>
            <a:off x="8102941" y="1322388"/>
            <a:ext cx="381000" cy="390525"/>
          </a:xfrm>
          <a:prstGeom prst="upArrow">
            <a:avLst>
              <a:gd name="adj1" fmla="val 50000"/>
              <a:gd name="adj2" fmla="val 256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54"/>
          <p:cNvSpPr>
            <a:spLocks noChangeArrowheads="1"/>
          </p:cNvSpPr>
          <p:nvPr/>
        </p:nvSpPr>
        <p:spPr bwMode="auto">
          <a:xfrm>
            <a:off x="8102941" y="3074988"/>
            <a:ext cx="381000" cy="390525"/>
          </a:xfrm>
          <a:prstGeom prst="upArrow">
            <a:avLst>
              <a:gd name="adj1" fmla="val 50000"/>
              <a:gd name="adj2" fmla="val 256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90"/>
          <p:cNvSpPr>
            <a:spLocks noChangeArrowheads="1"/>
          </p:cNvSpPr>
          <p:nvPr/>
        </p:nvSpPr>
        <p:spPr bwMode="auto">
          <a:xfrm>
            <a:off x="1982086" y="1112148"/>
            <a:ext cx="4465638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假设有多重继承派生类</a:t>
            </a:r>
            <a:r>
              <a:rPr lang="en-US" altLang="zh-CN" sz="2000" dirty="0" err="1">
                <a:latin typeface="Times New Roman" panose="02020603050405020304" pitchFamily="18" charset="0"/>
              </a:rPr>
              <a:t>EGStudent</a:t>
            </a:r>
            <a:r>
              <a:rPr lang="zh-CN" altLang="en-US" sz="2000" dirty="0">
                <a:latin typeface="Times New Roman" panose="02020603050405020304" pitchFamily="18" charset="0"/>
              </a:rPr>
              <a:t>，其间接基类如右图。定义</a:t>
            </a:r>
            <a:r>
              <a:rPr lang="en-US" altLang="zh-CN" sz="2000" dirty="0" err="1">
                <a:latin typeface="Times New Roman" panose="02020603050405020304" pitchFamily="18" charset="0"/>
              </a:rPr>
              <a:t>EGStudent</a:t>
            </a:r>
            <a:r>
              <a:rPr lang="zh-CN" altLang="en-US" sz="2000" dirty="0">
                <a:latin typeface="Times New Roman" panose="02020603050405020304" pitchFamily="18" charset="0"/>
              </a:rPr>
              <a:t>类对象</a:t>
            </a:r>
            <a:r>
              <a:rPr lang="en-US" altLang="zh-CN" sz="2000" dirty="0">
                <a:latin typeface="Times New Roman" panose="02020603050405020304" pitchFamily="18" charset="0"/>
              </a:rPr>
              <a:t>EGStudent1</a:t>
            </a:r>
            <a:r>
              <a:rPr lang="zh-CN" altLang="en-US" sz="2000" dirty="0">
                <a:latin typeface="Times New Roman" panose="02020603050405020304" pitchFamily="18" charset="0"/>
              </a:rPr>
              <a:t>，并假定派生类全部为公有派生，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int No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全为公有成员</a:t>
            </a:r>
            <a:r>
              <a:rPr lang="en-US" altLang="zh-CN" sz="2000" dirty="0">
                <a:latin typeface="Times New Roman" panose="02020603050405020304" pitchFamily="18" charset="0"/>
              </a:rPr>
              <a:t>: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EGStud1.No   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在职学号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EGStud1.GStudent::No   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研究生号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EGStud1.GStudent.Student::No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学生号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EGStud1.GStudent.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Student.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Person::No  //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身份证号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EGStud1.Employee</a:t>
            </a:r>
            <a:r>
              <a:rPr lang="en-US" altLang="zh-CN" sz="2200" dirty="0">
                <a:latin typeface="Times New Roman" panose="02020603050405020304" pitchFamily="18" charset="0"/>
              </a:rPr>
              <a:t>::</a:t>
            </a:r>
            <a:r>
              <a:rPr lang="en-US" altLang="zh-CN" sz="2000" dirty="0">
                <a:latin typeface="Times New Roman" panose="02020603050405020304" pitchFamily="18" charset="0"/>
              </a:rPr>
              <a:t>No  </a:t>
            </a:r>
            <a:r>
              <a:rPr lang="en-US" altLang="zh-CN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工作证号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EGStud1.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Employee.Person::No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//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身份证号</a:t>
            </a:r>
          </a:p>
        </p:txBody>
      </p:sp>
      <p:sp>
        <p:nvSpPr>
          <p:cNvPr id="24" name="Text Box 91"/>
          <p:cNvSpPr txBox="1">
            <a:spLocks noChangeArrowheads="1"/>
          </p:cNvSpPr>
          <p:nvPr/>
        </p:nvSpPr>
        <p:spPr bwMode="auto">
          <a:xfrm>
            <a:off x="5153709" y="4891986"/>
            <a:ext cx="288131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</a:rPr>
              <a:t>两个身份证号从逻辑（语义）上是同一数据</a:t>
            </a:r>
            <a:r>
              <a:rPr lang="en-US" altLang="zh-CN" sz="2000" dirty="0">
                <a:solidFill>
                  <a:srgbClr val="0000CC"/>
                </a:solidFill>
              </a:rPr>
              <a:t>,</a:t>
            </a:r>
            <a:r>
              <a:rPr lang="zh-CN" altLang="en-US" sz="2000" dirty="0">
                <a:solidFill>
                  <a:srgbClr val="0000CC"/>
                </a:solidFill>
              </a:rPr>
              <a:t>但物理上分配了不同内存空间，被当做两个变量</a:t>
            </a:r>
          </a:p>
        </p:txBody>
      </p:sp>
      <p:sp>
        <p:nvSpPr>
          <p:cNvPr id="25" name="AutoShape 92"/>
          <p:cNvSpPr>
            <a:spLocks noChangeArrowheads="1"/>
          </p:cNvSpPr>
          <p:nvPr/>
        </p:nvSpPr>
        <p:spPr bwMode="auto">
          <a:xfrm>
            <a:off x="8785566" y="4724400"/>
            <a:ext cx="381000" cy="390525"/>
          </a:xfrm>
          <a:prstGeom prst="upArrow">
            <a:avLst>
              <a:gd name="adj1" fmla="val 50000"/>
              <a:gd name="adj2" fmla="val 256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1776411" y="1106799"/>
            <a:ext cx="763270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虚基类的引入：</a:t>
            </a:r>
          </a:p>
          <a:p>
            <a:r>
              <a:rPr kumimoji="1" lang="zh-CN" altLang="en-US" sz="2000" dirty="0"/>
              <a:t>在上例中，两个身份证号显然是不合理的。可以把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solidFill>
                  <a:srgbClr val="FF0000"/>
                </a:solidFill>
              </a:rPr>
              <a:t>Person</a:t>
            </a:r>
            <a:r>
              <a:rPr kumimoji="1" lang="zh-CN" altLang="en-US" sz="2000" dirty="0"/>
              <a:t>这个共同基类设置为</a:t>
            </a:r>
            <a:r>
              <a:rPr kumimoji="1" lang="zh-CN" altLang="en-US" sz="2000" dirty="0">
                <a:solidFill>
                  <a:srgbClr val="FF0000"/>
                </a:solidFill>
              </a:rPr>
              <a:t>虚基类</a:t>
            </a:r>
            <a:r>
              <a:rPr kumimoji="1" lang="zh-CN" altLang="en-US" sz="2000" dirty="0"/>
              <a:t>，这样就仅有一个</a:t>
            </a:r>
            <a:r>
              <a:rPr kumimoji="1" lang="en-US" altLang="zh-CN" sz="2000" dirty="0"/>
              <a:t>Person</a:t>
            </a:r>
            <a:r>
              <a:rPr kumimoji="1" lang="zh-CN" altLang="en-US" sz="2000" dirty="0"/>
              <a:t>基类成员，从不同路径继承来的同名数据成员（</a:t>
            </a:r>
            <a:r>
              <a:rPr kumimoji="1" lang="zh-CN" altLang="en-US" sz="1600" dirty="0"/>
              <a:t>身份证号</a:t>
            </a:r>
            <a:r>
              <a:rPr kumimoji="1" lang="zh-CN" altLang="en-US" sz="2000" dirty="0"/>
              <a:t>）在内存中就是同一个数据。 </a:t>
            </a:r>
          </a:p>
        </p:txBody>
      </p:sp>
      <p:sp>
        <p:nvSpPr>
          <p:cNvPr id="41015" name="Rectangle 55"/>
          <p:cNvSpPr>
            <a:spLocks noChangeArrowheads="1"/>
          </p:cNvSpPr>
          <p:nvPr/>
        </p:nvSpPr>
        <p:spPr bwMode="auto">
          <a:xfrm>
            <a:off x="1720678" y="4499356"/>
            <a:ext cx="459613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ea typeface="隶书" panose="02010509060101010101" pitchFamily="49" charset="-122"/>
              </a:rPr>
              <a:t>注意：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virtual </a:t>
            </a:r>
            <a:r>
              <a:rPr lang="zh-CN" altLang="en-US" dirty="0"/>
              <a:t>关键字只对紧随其后的基类名起作用</a:t>
            </a:r>
            <a:r>
              <a:rPr lang="en-US" altLang="zh-CN" dirty="0"/>
              <a:t>: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class</a:t>
            </a:r>
            <a:r>
              <a:rPr lang="en-US" altLang="zh-CN" dirty="0"/>
              <a:t> </a:t>
            </a:r>
            <a:r>
              <a:rPr lang="en-US" altLang="zh-CN" dirty="0" err="1"/>
              <a:t>Student:</a:t>
            </a:r>
            <a:r>
              <a:rPr lang="en-US" altLang="zh-CN" dirty="0" err="1">
                <a:solidFill>
                  <a:srgbClr val="0000CC"/>
                </a:solidFill>
              </a:rPr>
              <a:t>virtual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CC"/>
                </a:solidFill>
              </a:rPr>
              <a:t>public </a:t>
            </a:r>
            <a:r>
              <a:rPr lang="en-US" altLang="zh-CN" dirty="0"/>
              <a:t>Person{...};</a:t>
            </a:r>
          </a:p>
          <a:p>
            <a:r>
              <a:rPr lang="en-US" altLang="zh-CN" dirty="0">
                <a:solidFill>
                  <a:srgbClr val="0000CC"/>
                </a:solidFill>
              </a:rPr>
              <a:t>class</a:t>
            </a:r>
            <a:r>
              <a:rPr lang="en-US" altLang="zh-CN" dirty="0"/>
              <a:t> </a:t>
            </a:r>
            <a:r>
              <a:rPr lang="en-US" altLang="zh-CN" dirty="0" err="1"/>
              <a:t>Employee:</a:t>
            </a:r>
            <a:r>
              <a:rPr lang="en-US" altLang="zh-CN" dirty="0" err="1">
                <a:solidFill>
                  <a:srgbClr val="0000CC"/>
                </a:solidFill>
              </a:rPr>
              <a:t>virtual</a:t>
            </a:r>
            <a:r>
              <a:rPr lang="en-US" altLang="zh-CN" dirty="0">
                <a:solidFill>
                  <a:srgbClr val="0000CC"/>
                </a:solidFill>
              </a:rPr>
              <a:t> public</a:t>
            </a:r>
            <a:r>
              <a:rPr lang="en-US" altLang="zh-CN" dirty="0"/>
              <a:t> Person{...};</a:t>
            </a:r>
          </a:p>
        </p:txBody>
      </p:sp>
      <p:sp>
        <p:nvSpPr>
          <p:cNvPr id="41016" name="Rectangle 56"/>
          <p:cNvSpPr>
            <a:spLocks noChangeArrowheads="1"/>
          </p:cNvSpPr>
          <p:nvPr/>
        </p:nvSpPr>
        <p:spPr bwMode="auto">
          <a:xfrm>
            <a:off x="1688824" y="2828835"/>
            <a:ext cx="81359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虚基类</a:t>
            </a:r>
            <a:r>
              <a:rPr kumimoji="1" lang="en-US" altLang="zh-CN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(virtual base class)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定义：</a:t>
            </a:r>
          </a:p>
          <a:p>
            <a:r>
              <a:rPr kumimoji="1" lang="en-US" altLang="zh-CN" sz="2000" dirty="0">
                <a:solidFill>
                  <a:srgbClr val="0000CC"/>
                </a:solidFill>
              </a:rPr>
              <a:t>class</a:t>
            </a:r>
            <a:r>
              <a:rPr kumimoji="1" lang="en-US" altLang="zh-CN" sz="2000" dirty="0">
                <a:solidFill>
                  <a:srgbClr val="FF0000"/>
                </a:solidFill>
              </a:rPr>
              <a:t> </a:t>
            </a:r>
            <a:r>
              <a:rPr kumimoji="1" lang="zh-CN" altLang="en-US" sz="2000" dirty="0"/>
              <a:t>派生类名</a:t>
            </a:r>
            <a:r>
              <a:rPr kumimoji="1" lang="en-US" altLang="zh-CN" sz="2000" dirty="0">
                <a:solidFill>
                  <a:srgbClr val="FF0000"/>
                </a:solidFill>
              </a:rPr>
              <a:t>:virtual  </a:t>
            </a:r>
            <a:r>
              <a:rPr kumimoji="1" lang="zh-CN" altLang="en-US" sz="2000" dirty="0"/>
              <a:t>访问限定符  基类类名</a:t>
            </a:r>
            <a:r>
              <a:rPr kumimoji="1" lang="en-US" altLang="zh-CN" sz="2000" dirty="0"/>
              <a:t>{...};</a:t>
            </a:r>
          </a:p>
          <a:p>
            <a:r>
              <a:rPr kumimoji="1" lang="en-US" altLang="zh-CN" sz="2000" dirty="0">
                <a:solidFill>
                  <a:srgbClr val="0000CC"/>
                </a:solidFill>
              </a:rPr>
              <a:t>class</a:t>
            </a:r>
            <a:r>
              <a:rPr kumimoji="1" lang="en-US" altLang="zh-CN" sz="2000" dirty="0">
                <a:solidFill>
                  <a:srgbClr val="FF0000"/>
                </a:solidFill>
              </a:rPr>
              <a:t> </a:t>
            </a:r>
            <a:r>
              <a:rPr kumimoji="1" lang="zh-CN" altLang="en-US" sz="2000" dirty="0"/>
              <a:t>派生类名</a:t>
            </a:r>
            <a:r>
              <a:rPr kumimoji="1" lang="en-US" altLang="zh-CN" sz="2000" dirty="0">
                <a:solidFill>
                  <a:srgbClr val="FF0000"/>
                </a:solidFill>
              </a:rPr>
              <a:t>:</a:t>
            </a:r>
            <a:r>
              <a:rPr kumimoji="1" lang="zh-CN" altLang="en-US" sz="2000" dirty="0"/>
              <a:t>访问限定符</a:t>
            </a:r>
            <a:r>
              <a:rPr kumimoji="1" lang="zh-CN" altLang="en-US" sz="2000" dirty="0">
                <a:solidFill>
                  <a:srgbClr val="FF0000"/>
                </a:solidFill>
              </a:rPr>
              <a:t>  </a:t>
            </a:r>
            <a:r>
              <a:rPr kumimoji="1" lang="en-US" altLang="zh-CN" sz="2000" dirty="0">
                <a:solidFill>
                  <a:srgbClr val="FF0000"/>
                </a:solidFill>
              </a:rPr>
              <a:t>virtual  </a:t>
            </a:r>
            <a:r>
              <a:rPr kumimoji="1" lang="zh-CN" altLang="en-US" sz="2000" dirty="0"/>
              <a:t>基类类名</a:t>
            </a:r>
            <a:r>
              <a:rPr kumimoji="1" lang="en-US" altLang="zh-CN" sz="2000" dirty="0"/>
              <a:t>{...};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87" name="Group 103"/>
          <p:cNvGrpSpPr/>
          <p:nvPr/>
        </p:nvGrpSpPr>
        <p:grpSpPr bwMode="auto">
          <a:xfrm>
            <a:off x="3432175" y="1412875"/>
            <a:ext cx="6915150" cy="3086100"/>
            <a:chOff x="1202" y="890"/>
            <a:chExt cx="4356" cy="1944"/>
          </a:xfrm>
        </p:grpSpPr>
        <p:sp>
          <p:nvSpPr>
            <p:cNvPr id="42043" name="Rectangle 59"/>
            <p:cNvSpPr>
              <a:spLocks noChangeArrowheads="1"/>
            </p:cNvSpPr>
            <p:nvPr/>
          </p:nvSpPr>
          <p:spPr bwMode="auto">
            <a:xfrm>
              <a:off x="3689" y="1075"/>
              <a:ext cx="70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Student</a:t>
              </a:r>
            </a:p>
          </p:txBody>
        </p:sp>
        <p:sp>
          <p:nvSpPr>
            <p:cNvPr id="42044" name="Rectangle 60"/>
            <p:cNvSpPr>
              <a:spLocks noChangeArrowheads="1"/>
            </p:cNvSpPr>
            <p:nvPr/>
          </p:nvSpPr>
          <p:spPr bwMode="auto">
            <a:xfrm>
              <a:off x="4160" y="1260"/>
              <a:ext cx="82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GStudent</a:t>
              </a:r>
            </a:p>
          </p:txBody>
        </p:sp>
        <p:sp>
          <p:nvSpPr>
            <p:cNvPr id="42045" name="Line 61"/>
            <p:cNvSpPr>
              <a:spLocks noChangeShapeType="1"/>
            </p:cNvSpPr>
            <p:nvPr/>
          </p:nvSpPr>
          <p:spPr bwMode="auto">
            <a:xfrm flipH="1">
              <a:off x="4852" y="890"/>
              <a:ext cx="14" cy="19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6" name="Rectangle 62"/>
            <p:cNvSpPr>
              <a:spLocks noChangeArrowheads="1"/>
            </p:cNvSpPr>
            <p:nvPr/>
          </p:nvSpPr>
          <p:spPr bwMode="auto">
            <a:xfrm>
              <a:off x="4734" y="1630"/>
              <a:ext cx="82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EGStudent</a:t>
              </a:r>
            </a:p>
          </p:txBody>
        </p:sp>
        <p:grpSp>
          <p:nvGrpSpPr>
            <p:cNvPr id="42049" name="Group 65"/>
            <p:cNvGrpSpPr/>
            <p:nvPr/>
          </p:nvGrpSpPr>
          <p:grpSpPr bwMode="auto">
            <a:xfrm>
              <a:off x="1555" y="890"/>
              <a:ext cx="1295" cy="1943"/>
              <a:chOff x="5760" y="5028"/>
              <a:chExt cx="1980" cy="3276"/>
            </a:xfrm>
          </p:grpSpPr>
          <p:grpSp>
            <p:nvGrpSpPr>
              <p:cNvPr id="42050" name="Group 66"/>
              <p:cNvGrpSpPr/>
              <p:nvPr/>
            </p:nvGrpSpPr>
            <p:grpSpPr bwMode="auto">
              <a:xfrm>
                <a:off x="5760" y="5028"/>
                <a:ext cx="1980" cy="1872"/>
                <a:chOff x="5940" y="4716"/>
                <a:chExt cx="1980" cy="1872"/>
              </a:xfrm>
            </p:grpSpPr>
            <p:grpSp>
              <p:nvGrpSpPr>
                <p:cNvPr id="42051" name="Group 67"/>
                <p:cNvGrpSpPr/>
                <p:nvPr/>
              </p:nvGrpSpPr>
              <p:grpSpPr bwMode="auto">
                <a:xfrm>
                  <a:off x="5940" y="4716"/>
                  <a:ext cx="1980" cy="1404"/>
                  <a:chOff x="5940" y="4716"/>
                  <a:chExt cx="1980" cy="1404"/>
                </a:xfrm>
              </p:grpSpPr>
              <p:grpSp>
                <p:nvGrpSpPr>
                  <p:cNvPr id="42052" name="Group 68"/>
                  <p:cNvGrpSpPr/>
                  <p:nvPr/>
                </p:nvGrpSpPr>
                <p:grpSpPr bwMode="auto">
                  <a:xfrm>
                    <a:off x="5940" y="4716"/>
                    <a:ext cx="1980" cy="936"/>
                    <a:chOff x="5940" y="4716"/>
                    <a:chExt cx="1980" cy="936"/>
                  </a:xfrm>
                </p:grpSpPr>
                <p:sp>
                  <p:nvSpPr>
                    <p:cNvPr id="42053" name="Rectangl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40" y="4716"/>
                      <a:ext cx="1980" cy="46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pPr algn="just" eaLnBrk="0" hangingPunct="0"/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Person</a:t>
                      </a:r>
                    </a:p>
                  </p:txBody>
                </p:sp>
                <p:sp>
                  <p:nvSpPr>
                    <p:cNvPr id="42054" name="Rectangle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40" y="5184"/>
                      <a:ext cx="1980" cy="46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pPr algn="just" eaLnBrk="0" hangingPunct="0"/>
                      <a:r>
                        <a:rPr lang="en-US" altLang="zh-CN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Student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新成员</a:t>
                      </a:r>
                    </a:p>
                  </p:txBody>
                </p:sp>
              </p:grpSp>
              <p:sp>
                <p:nvSpPr>
                  <p:cNvPr id="42055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5940" y="5652"/>
                    <a:ext cx="198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pPr algn="just" eaLnBrk="0" hangingPunct="0"/>
                    <a:r>
                      <a:rPr lang="en-US" altLang="zh-CN" sz="20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GStudent</a:t>
                    </a:r>
                    <a:r>
                      <a:rPr lang="zh-CN" altLang="en-US" sz="20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新成员</a:t>
                    </a:r>
                  </a:p>
                </p:txBody>
              </p:sp>
            </p:grpSp>
            <p:sp>
              <p:nvSpPr>
                <p:cNvPr id="42056" name="Rectangle 72"/>
                <p:cNvSpPr>
                  <a:spLocks noChangeArrowheads="1"/>
                </p:cNvSpPr>
                <p:nvPr/>
              </p:nvSpPr>
              <p:spPr bwMode="auto">
                <a:xfrm>
                  <a:off x="5940" y="6120"/>
                  <a:ext cx="198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pPr algn="just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Person</a:t>
                  </a:r>
                </a:p>
              </p:txBody>
            </p:sp>
          </p:grpSp>
          <p:sp>
            <p:nvSpPr>
              <p:cNvPr id="42057" name="Rectangle 73"/>
              <p:cNvSpPr>
                <a:spLocks noChangeArrowheads="1"/>
              </p:cNvSpPr>
              <p:nvPr/>
            </p:nvSpPr>
            <p:spPr bwMode="auto">
              <a:xfrm>
                <a:off x="5760" y="6900"/>
                <a:ext cx="198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 algn="just" eaLnBrk="0" hangingPunct="0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Employee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新成员</a:t>
                </a:r>
              </a:p>
            </p:txBody>
          </p:sp>
          <p:sp>
            <p:nvSpPr>
              <p:cNvPr id="42058" name="Rectangle 74"/>
              <p:cNvSpPr>
                <a:spLocks noChangeArrowheads="1"/>
              </p:cNvSpPr>
              <p:nvPr/>
            </p:nvSpPr>
            <p:spPr bwMode="auto">
              <a:xfrm>
                <a:off x="5760" y="7368"/>
                <a:ext cx="198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 algn="just" eaLnBrk="0" hangingPunct="0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Person</a:t>
                </a:r>
                <a:r>
                  <a:rPr lang="zh-CN" altLang="en-US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成员</a:t>
                </a:r>
              </a:p>
            </p:txBody>
          </p:sp>
          <p:sp>
            <p:nvSpPr>
              <p:cNvPr id="42059" name="Rectangle 75"/>
              <p:cNvSpPr>
                <a:spLocks noChangeArrowheads="1"/>
              </p:cNvSpPr>
              <p:nvPr/>
            </p:nvSpPr>
            <p:spPr bwMode="auto">
              <a:xfrm>
                <a:off x="5760" y="7836"/>
                <a:ext cx="198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 algn="just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EGStudent</a:t>
                </a:r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新成员</a:t>
                </a:r>
              </a:p>
            </p:txBody>
          </p:sp>
        </p:grpSp>
        <p:sp>
          <p:nvSpPr>
            <p:cNvPr id="42061" name="Line 77"/>
            <p:cNvSpPr>
              <a:spLocks noChangeShapeType="1"/>
            </p:cNvSpPr>
            <p:nvPr/>
          </p:nvSpPr>
          <p:spPr bwMode="auto">
            <a:xfrm>
              <a:off x="2849" y="890"/>
              <a:ext cx="21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2" name="Line 78"/>
            <p:cNvSpPr>
              <a:spLocks noChangeShapeType="1"/>
            </p:cNvSpPr>
            <p:nvPr/>
          </p:nvSpPr>
          <p:spPr bwMode="auto">
            <a:xfrm>
              <a:off x="2849" y="1168"/>
              <a:ext cx="47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3" name="Line 79"/>
            <p:cNvSpPr>
              <a:spLocks noChangeShapeType="1"/>
            </p:cNvSpPr>
            <p:nvPr/>
          </p:nvSpPr>
          <p:spPr bwMode="auto">
            <a:xfrm>
              <a:off x="2849" y="1445"/>
              <a:ext cx="119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4" name="Line 80"/>
            <p:cNvSpPr>
              <a:spLocks noChangeShapeType="1"/>
            </p:cNvSpPr>
            <p:nvPr/>
          </p:nvSpPr>
          <p:spPr bwMode="auto">
            <a:xfrm>
              <a:off x="2835" y="1723"/>
              <a:ext cx="179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5" name="Line 81"/>
            <p:cNvSpPr>
              <a:spLocks noChangeShapeType="1"/>
            </p:cNvSpPr>
            <p:nvPr/>
          </p:nvSpPr>
          <p:spPr bwMode="auto">
            <a:xfrm>
              <a:off x="2835" y="2278"/>
              <a:ext cx="119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6" name="Line 82"/>
            <p:cNvSpPr>
              <a:spLocks noChangeShapeType="1"/>
            </p:cNvSpPr>
            <p:nvPr/>
          </p:nvSpPr>
          <p:spPr bwMode="auto">
            <a:xfrm>
              <a:off x="2835" y="2833"/>
              <a:ext cx="21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7" name="Line 83"/>
            <p:cNvSpPr>
              <a:spLocks noChangeShapeType="1"/>
            </p:cNvSpPr>
            <p:nvPr/>
          </p:nvSpPr>
          <p:spPr bwMode="auto">
            <a:xfrm>
              <a:off x="2967" y="890"/>
              <a:ext cx="0" cy="2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8" name="Line 84"/>
            <p:cNvSpPr>
              <a:spLocks noChangeShapeType="1"/>
            </p:cNvSpPr>
            <p:nvPr/>
          </p:nvSpPr>
          <p:spPr bwMode="auto">
            <a:xfrm>
              <a:off x="2953" y="1723"/>
              <a:ext cx="0" cy="2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9" name="Line 85"/>
            <p:cNvSpPr>
              <a:spLocks noChangeShapeType="1"/>
            </p:cNvSpPr>
            <p:nvPr/>
          </p:nvSpPr>
          <p:spPr bwMode="auto">
            <a:xfrm>
              <a:off x="3674" y="890"/>
              <a:ext cx="0" cy="5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0" name="Rectangle 86"/>
            <p:cNvSpPr>
              <a:spLocks noChangeArrowheads="1"/>
            </p:cNvSpPr>
            <p:nvPr/>
          </p:nvSpPr>
          <p:spPr bwMode="auto">
            <a:xfrm>
              <a:off x="2967" y="890"/>
              <a:ext cx="71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Person</a:t>
              </a:r>
            </a:p>
          </p:txBody>
        </p:sp>
        <p:sp>
          <p:nvSpPr>
            <p:cNvPr id="42071" name="Rectangle 87"/>
            <p:cNvSpPr>
              <a:spLocks noChangeArrowheads="1"/>
            </p:cNvSpPr>
            <p:nvPr/>
          </p:nvSpPr>
          <p:spPr bwMode="auto">
            <a:xfrm>
              <a:off x="2953" y="1723"/>
              <a:ext cx="71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Person</a:t>
              </a:r>
            </a:p>
          </p:txBody>
        </p:sp>
        <p:sp>
          <p:nvSpPr>
            <p:cNvPr id="42072" name="Line 88"/>
            <p:cNvSpPr>
              <a:spLocks noChangeShapeType="1"/>
            </p:cNvSpPr>
            <p:nvPr/>
          </p:nvSpPr>
          <p:spPr bwMode="auto">
            <a:xfrm>
              <a:off x="3659" y="1723"/>
              <a:ext cx="0" cy="5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3" name="Rectangle 89"/>
            <p:cNvSpPr>
              <a:spLocks noChangeArrowheads="1"/>
            </p:cNvSpPr>
            <p:nvPr/>
          </p:nvSpPr>
          <p:spPr bwMode="auto">
            <a:xfrm>
              <a:off x="3659" y="1815"/>
              <a:ext cx="80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Employee</a:t>
              </a:r>
            </a:p>
          </p:txBody>
        </p:sp>
        <p:grpSp>
          <p:nvGrpSpPr>
            <p:cNvPr id="42074" name="Group 90"/>
            <p:cNvGrpSpPr/>
            <p:nvPr/>
          </p:nvGrpSpPr>
          <p:grpSpPr bwMode="auto">
            <a:xfrm>
              <a:off x="1202" y="1022"/>
              <a:ext cx="368" cy="1441"/>
              <a:chOff x="5220" y="4314"/>
              <a:chExt cx="562" cy="2430"/>
            </a:xfrm>
          </p:grpSpPr>
          <p:sp>
            <p:nvSpPr>
              <p:cNvPr id="42075" name="Line 91"/>
              <p:cNvSpPr>
                <a:spLocks noChangeShapeType="1"/>
              </p:cNvSpPr>
              <p:nvPr/>
            </p:nvSpPr>
            <p:spPr bwMode="auto">
              <a:xfrm flipH="1">
                <a:off x="5242" y="4314"/>
                <a:ext cx="5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76" name="Line 92"/>
              <p:cNvSpPr>
                <a:spLocks noChangeShapeType="1"/>
              </p:cNvSpPr>
              <p:nvPr/>
            </p:nvSpPr>
            <p:spPr bwMode="auto">
              <a:xfrm flipH="1">
                <a:off x="5220" y="4314"/>
                <a:ext cx="22" cy="24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77" name="Line 93"/>
              <p:cNvSpPr>
                <a:spLocks noChangeShapeType="1"/>
              </p:cNvSpPr>
              <p:nvPr/>
            </p:nvSpPr>
            <p:spPr bwMode="auto">
              <a:xfrm>
                <a:off x="5220" y="6744"/>
                <a:ext cx="5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78" name="Line 94"/>
              <p:cNvSpPr>
                <a:spLocks noChangeShapeType="1"/>
              </p:cNvSpPr>
              <p:nvPr/>
            </p:nvSpPr>
            <p:spPr bwMode="auto">
              <a:xfrm flipH="1">
                <a:off x="5400" y="5808"/>
                <a:ext cx="3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79" name="Line 95"/>
              <p:cNvSpPr>
                <a:spLocks noChangeShapeType="1"/>
              </p:cNvSpPr>
              <p:nvPr/>
            </p:nvSpPr>
            <p:spPr bwMode="auto">
              <a:xfrm>
                <a:off x="5400" y="5808"/>
                <a:ext cx="0" cy="9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80" name="Line 96"/>
            <p:cNvSpPr>
              <a:spLocks noChangeShapeType="1"/>
            </p:cNvSpPr>
            <p:nvPr/>
          </p:nvSpPr>
          <p:spPr bwMode="auto">
            <a:xfrm>
              <a:off x="4263" y="890"/>
              <a:ext cx="0" cy="8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1" name="Line 97"/>
            <p:cNvSpPr>
              <a:spLocks noChangeShapeType="1"/>
            </p:cNvSpPr>
            <p:nvPr/>
          </p:nvSpPr>
          <p:spPr bwMode="auto">
            <a:xfrm>
              <a:off x="2850" y="2000"/>
              <a:ext cx="5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082" name="AutoShape 98"/>
          <p:cNvSpPr>
            <a:spLocks noChangeArrowheads="1"/>
          </p:cNvSpPr>
          <p:nvPr/>
        </p:nvSpPr>
        <p:spPr bwMode="auto">
          <a:xfrm rot="10800000">
            <a:off x="2619924" y="2355851"/>
            <a:ext cx="820738" cy="657223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83" name="Text Box 99"/>
          <p:cNvSpPr txBox="1">
            <a:spLocks noChangeArrowheads="1"/>
          </p:cNvSpPr>
          <p:nvPr/>
        </p:nvSpPr>
        <p:spPr bwMode="auto">
          <a:xfrm>
            <a:off x="1703388" y="3141664"/>
            <a:ext cx="18351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这种继承称为虚继承</a:t>
            </a:r>
            <a:endParaRPr kumimoji="1" lang="zh-CN" altLang="en-US" sz="2400" dirty="0">
              <a:solidFill>
                <a:srgbClr val="0000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084" name="Text Box 100"/>
          <p:cNvSpPr txBox="1">
            <a:spLocks noChangeArrowheads="1"/>
          </p:cNvSpPr>
          <p:nvPr/>
        </p:nvSpPr>
        <p:spPr bwMode="auto">
          <a:xfrm>
            <a:off x="1703388" y="692150"/>
            <a:ext cx="2684462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虚继承：</a:t>
            </a:r>
          </a:p>
        </p:txBody>
      </p:sp>
      <p:sp>
        <p:nvSpPr>
          <p:cNvPr id="42085" name="Rectangle 101"/>
          <p:cNvSpPr>
            <a:spLocks noChangeArrowheads="1"/>
          </p:cNvSpPr>
          <p:nvPr/>
        </p:nvSpPr>
        <p:spPr bwMode="auto">
          <a:xfrm>
            <a:off x="1774826" y="4883152"/>
            <a:ext cx="869107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</a:rPr>
              <a:t>Person</a:t>
            </a:r>
            <a:r>
              <a:rPr lang="zh-CN" altLang="en-US" sz="2000" dirty="0">
                <a:latin typeface="Times New Roman" panose="02020603050405020304" pitchFamily="18" charset="0"/>
              </a:rPr>
              <a:t>的位置上放的是指针，两个指针都指向</a:t>
            </a:r>
            <a:r>
              <a:rPr lang="en-US" altLang="zh-CN" sz="2000" dirty="0">
                <a:latin typeface="Times New Roman" panose="02020603050405020304" pitchFamily="18" charset="0"/>
              </a:rPr>
              <a:t>Person</a:t>
            </a:r>
            <a:r>
              <a:rPr lang="zh-CN" altLang="en-US" sz="2000" dirty="0">
                <a:latin typeface="Times New Roman" panose="02020603050405020304" pitchFamily="18" charset="0"/>
              </a:rPr>
              <a:t>成员存储的内存。这种继承称为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虚继承（虚拟继承）</a:t>
            </a:r>
            <a:r>
              <a:rPr lang="zh-CN" altLang="en-US" sz="2000" dirty="0"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</a:rPr>
              <a:t>virtual inheritance</a:t>
            </a:r>
            <a:r>
              <a:rPr lang="zh-CN" altLang="en-US" sz="2000" dirty="0">
                <a:latin typeface="Times New Roman" panose="02020603050405020304" pitchFamily="18" charset="0"/>
              </a:rPr>
              <a:t>）。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76" name="Rectangle 52"/>
          <p:cNvSpPr>
            <a:spLocks noChangeArrowheads="1"/>
          </p:cNvSpPr>
          <p:nvPr/>
        </p:nvSpPr>
        <p:spPr bwMode="auto">
          <a:xfrm>
            <a:off x="2208214" y="1341439"/>
            <a:ext cx="7775575" cy="4207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幼圆" panose="02010509060101010101" pitchFamily="49" charset="-122"/>
              </a:rPr>
              <a:t>派生类名</a:t>
            </a:r>
            <a:r>
              <a:rPr lang="en-US" altLang="zh-CN" sz="2400" dirty="0">
                <a:latin typeface="幼圆" panose="02010509060101010101" pitchFamily="49" charset="-122"/>
              </a:rPr>
              <a:t>::</a:t>
            </a:r>
            <a:r>
              <a:rPr lang="zh-CN" altLang="en-US" sz="2400" dirty="0">
                <a:latin typeface="幼圆" panose="02010509060101010101" pitchFamily="49" charset="-122"/>
              </a:rPr>
              <a:t>派生类名</a:t>
            </a:r>
            <a:r>
              <a:rPr lang="en-US" altLang="zh-CN" sz="2400" dirty="0">
                <a:latin typeface="幼圆" panose="02010509060101010101" pitchFamily="49" charset="-122"/>
              </a:rPr>
              <a:t>(</a:t>
            </a:r>
            <a:r>
              <a:rPr lang="zh-CN" altLang="en-US" sz="2400" dirty="0">
                <a:latin typeface="幼圆" panose="02010509060101010101" pitchFamily="49" charset="-122"/>
              </a:rPr>
              <a:t>参数总表</a:t>
            </a:r>
            <a:r>
              <a:rPr lang="en-US" altLang="zh-CN" sz="2400" dirty="0">
                <a:latin typeface="幼圆" panose="02010509060101010101" pitchFamily="49" charset="-122"/>
              </a:rPr>
              <a:t>):</a:t>
            </a:r>
            <a:r>
              <a:rPr lang="zh-CN" altLang="en-US" sz="2400" dirty="0">
                <a:latin typeface="幼圆" panose="02010509060101010101" pitchFamily="49" charset="-122"/>
              </a:rPr>
              <a:t>基类名</a:t>
            </a:r>
            <a:r>
              <a:rPr lang="en-US" altLang="zh-CN" sz="2400" dirty="0">
                <a:latin typeface="幼圆" panose="02010509060101010101" pitchFamily="49" charset="-122"/>
              </a:rPr>
              <a:t>1(</a:t>
            </a:r>
            <a:r>
              <a:rPr lang="zh-CN" altLang="en-US" sz="2400" dirty="0">
                <a:latin typeface="幼圆" panose="02010509060101010101" pitchFamily="49" charset="-122"/>
              </a:rPr>
              <a:t>参数名表</a:t>
            </a:r>
            <a:r>
              <a:rPr lang="en-US" altLang="zh-CN" sz="2400" dirty="0">
                <a:latin typeface="幼圆" panose="02010509060101010101" pitchFamily="49" charset="-122"/>
              </a:rPr>
              <a:t>1)&lt;,</a:t>
            </a:r>
            <a:r>
              <a:rPr lang="zh-CN" altLang="en-US" sz="2400" dirty="0">
                <a:latin typeface="幼圆" panose="02010509060101010101" pitchFamily="49" charset="-122"/>
              </a:rPr>
              <a:t>基类名</a:t>
            </a:r>
            <a:r>
              <a:rPr lang="en-US" altLang="zh-CN" sz="2400" dirty="0">
                <a:latin typeface="幼圆" panose="02010509060101010101" pitchFamily="49" charset="-122"/>
              </a:rPr>
              <a:t>2(</a:t>
            </a:r>
            <a:r>
              <a:rPr lang="zh-CN" altLang="en-US" sz="2400" dirty="0">
                <a:latin typeface="幼圆" panose="02010509060101010101" pitchFamily="49" charset="-122"/>
              </a:rPr>
              <a:t>参数名表</a:t>
            </a:r>
            <a:r>
              <a:rPr lang="en-US" altLang="zh-CN" sz="2400" dirty="0">
                <a:latin typeface="幼圆" panose="02010509060101010101" pitchFamily="49" charset="-122"/>
              </a:rPr>
              <a:t>2),</a:t>
            </a:r>
            <a:r>
              <a:rPr lang="en-US" altLang="zh-CN" sz="2400" dirty="0"/>
              <a:t>……</a:t>
            </a:r>
            <a:r>
              <a:rPr lang="en-US" altLang="zh-CN" sz="2400" dirty="0">
                <a:latin typeface="幼圆" panose="02010509060101010101" pitchFamily="49" charset="-122"/>
              </a:rPr>
              <a:t>,</a:t>
            </a:r>
            <a:r>
              <a:rPr lang="zh-CN" altLang="en-US" sz="2400" dirty="0">
                <a:latin typeface="幼圆" panose="02010509060101010101" pitchFamily="49" charset="-122"/>
              </a:rPr>
              <a:t>基类名</a:t>
            </a:r>
            <a:r>
              <a:rPr lang="en-US" altLang="zh-CN" sz="2400" dirty="0">
                <a:latin typeface="幼圆" panose="02010509060101010101" pitchFamily="49" charset="-122"/>
              </a:rPr>
              <a:t>n(</a:t>
            </a:r>
            <a:r>
              <a:rPr lang="zh-CN" altLang="en-US" sz="2400" dirty="0">
                <a:latin typeface="幼圆" panose="02010509060101010101" pitchFamily="49" charset="-122"/>
              </a:rPr>
              <a:t>参数名表</a:t>
            </a:r>
            <a:r>
              <a:rPr lang="en-US" altLang="zh-CN" sz="2400" dirty="0">
                <a:latin typeface="幼圆" panose="02010509060101010101" pitchFamily="49" charset="-122"/>
              </a:rPr>
              <a:t>n)&gt;,&lt;</a:t>
            </a:r>
            <a:r>
              <a:rPr lang="zh-CN" altLang="en-US" sz="2400" dirty="0">
                <a:latin typeface="幼圆" panose="02010509060101010101" pitchFamily="49" charset="-122"/>
              </a:rPr>
              <a:t>成员对象名</a:t>
            </a:r>
            <a:r>
              <a:rPr lang="en-US" altLang="zh-CN" sz="2400" dirty="0">
                <a:latin typeface="幼圆" panose="02010509060101010101" pitchFamily="49" charset="-122"/>
              </a:rPr>
              <a:t>1(</a:t>
            </a:r>
            <a:r>
              <a:rPr lang="zh-CN" altLang="en-US" sz="2400" dirty="0">
                <a:latin typeface="幼圆" panose="02010509060101010101" pitchFamily="49" charset="-122"/>
              </a:rPr>
              <a:t>成员对象参数名表</a:t>
            </a:r>
            <a:r>
              <a:rPr lang="en-US" altLang="zh-CN" sz="2400" dirty="0">
                <a:latin typeface="幼圆" panose="02010509060101010101" pitchFamily="49" charset="-122"/>
              </a:rPr>
              <a:t>1),</a:t>
            </a:r>
            <a:r>
              <a:rPr lang="en-US" altLang="zh-CN" sz="2400" dirty="0"/>
              <a:t>……</a:t>
            </a:r>
            <a:r>
              <a:rPr lang="en-US" altLang="zh-CN" sz="2400" dirty="0">
                <a:latin typeface="幼圆" panose="02010509060101010101" pitchFamily="49" charset="-122"/>
              </a:rPr>
              <a:t>,</a:t>
            </a:r>
            <a:r>
              <a:rPr lang="zh-CN" altLang="en-US" sz="2400" dirty="0">
                <a:latin typeface="幼圆" panose="02010509060101010101" pitchFamily="49" charset="-122"/>
              </a:rPr>
              <a:t>成员对象名</a:t>
            </a:r>
            <a:r>
              <a:rPr lang="en-US" altLang="zh-CN" sz="2400" dirty="0">
                <a:latin typeface="幼圆" panose="02010509060101010101" pitchFamily="49" charset="-122"/>
              </a:rPr>
              <a:t>m(</a:t>
            </a:r>
            <a:r>
              <a:rPr lang="zh-CN" altLang="en-US" sz="2400" dirty="0">
                <a:latin typeface="幼圆" panose="02010509060101010101" pitchFamily="49" charset="-122"/>
              </a:rPr>
              <a:t>成员对象参数名表</a:t>
            </a:r>
            <a:r>
              <a:rPr lang="en-US" altLang="zh-CN" sz="2400" dirty="0">
                <a:latin typeface="幼圆" panose="02010509060101010101" pitchFamily="49" charset="-122"/>
              </a:rPr>
              <a:t>m)&gt;</a:t>
            </a:r>
            <a:r>
              <a:rPr lang="zh-CN" altLang="en-US" sz="2400" dirty="0">
                <a:latin typeface="幼圆" panose="02010509060101010101" pitchFamily="49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底层虚基类名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</a:rPr>
              <a:t>1(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参数名表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</a:rPr>
              <a:t>1)&lt;,</a:t>
            </a:r>
            <a:r>
              <a:rPr lang="en-US" altLang="zh-CN" sz="2400" dirty="0">
                <a:solidFill>
                  <a:srgbClr val="FF0000"/>
                </a:solidFill>
              </a:rPr>
              <a:t>……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</a:rPr>
              <a:t>, 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底层虚基类名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</a:rPr>
              <a:t>r(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参数名表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</a:rPr>
              <a:t>r)&gt;</a:t>
            </a:r>
            <a:r>
              <a:rPr lang="en-US" altLang="zh-CN" sz="2400" dirty="0">
                <a:latin typeface="幼圆" panose="02010509060101010101" pitchFamily="49" charset="-122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……</a:t>
            </a:r>
            <a:r>
              <a:rPr lang="en-US" altLang="zh-CN" sz="2400" dirty="0">
                <a:solidFill>
                  <a:srgbClr val="006600"/>
                </a:solidFill>
                <a:latin typeface="幼圆" panose="02010509060101010101" pitchFamily="49" charset="-122"/>
              </a:rPr>
              <a:t>//</a:t>
            </a:r>
            <a:r>
              <a:rPr lang="zh-CN" altLang="en-US" sz="2400" dirty="0">
                <a:solidFill>
                  <a:srgbClr val="006600"/>
                </a:solidFill>
                <a:latin typeface="幼圆" panose="02010509060101010101" pitchFamily="49" charset="-122"/>
              </a:rPr>
              <a:t>派生类新增成员的初始化</a:t>
            </a: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幼圆" panose="02010509060101010101" pitchFamily="49" charset="-122"/>
              </a:rPr>
              <a:t>};  </a:t>
            </a:r>
            <a:r>
              <a:rPr lang="en-US" altLang="zh-CN" sz="2400" dirty="0">
                <a:solidFill>
                  <a:srgbClr val="006600"/>
                </a:solidFill>
                <a:latin typeface="幼圆" panose="02010509060101010101" pitchFamily="49" charset="-122"/>
              </a:rPr>
              <a:t>//</a:t>
            </a:r>
            <a:r>
              <a:rPr lang="zh-CN" altLang="en-US" sz="2400" dirty="0">
                <a:solidFill>
                  <a:srgbClr val="006600"/>
                </a:solidFill>
                <a:latin typeface="幼圆" panose="02010509060101010101" pitchFamily="49" charset="-122"/>
              </a:rPr>
              <a:t>所列出的成员对象名全部为新增成员对象的名字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0000CC"/>
                </a:solidFill>
                <a:latin typeface="幼圆" panose="02010509060101010101" pitchFamily="49" charset="-122"/>
              </a:rPr>
              <a:t>在多层虚继承构造函数中，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基类名不仅要列出直接基类</a:t>
            </a:r>
            <a:r>
              <a:rPr lang="zh-CN" altLang="en-US" sz="2400" dirty="0">
                <a:solidFill>
                  <a:srgbClr val="0000CC"/>
                </a:solidFill>
                <a:latin typeface="幼圆" panose="02010509060101010101" pitchFamily="49" charset="-122"/>
              </a:rPr>
              <a:t>，而且要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列出底层虚基类</a:t>
            </a:r>
            <a:r>
              <a:rPr lang="zh-CN" altLang="en-US" sz="2400" dirty="0">
                <a:solidFill>
                  <a:srgbClr val="0000CC"/>
                </a:solidFill>
                <a:latin typeface="幼圆" panose="02010509060101010101" pitchFamily="49" charset="-122"/>
              </a:rPr>
              <a:t>，否则编译器认为出错。</a:t>
            </a:r>
            <a:endParaRPr lang="zh-CN" altLang="en-US" sz="2400" dirty="0">
              <a:solidFill>
                <a:srgbClr val="006600"/>
              </a:solidFill>
              <a:latin typeface="幼圆" panose="02010509060101010101" pitchFamily="49" charset="-122"/>
            </a:endParaRPr>
          </a:p>
        </p:txBody>
      </p:sp>
      <p:sp>
        <p:nvSpPr>
          <p:cNvPr id="257080" name="Text Box 56"/>
          <p:cNvSpPr txBox="1">
            <a:spLocks noChangeArrowheads="1"/>
          </p:cNvSpPr>
          <p:nvPr/>
        </p:nvSpPr>
        <p:spPr bwMode="auto">
          <a:xfrm>
            <a:off x="1774825" y="765175"/>
            <a:ext cx="387798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虚继承的构造函数：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1" name="Rectangle 5"/>
          <p:cNvSpPr>
            <a:spLocks noChangeArrowheads="1"/>
          </p:cNvSpPr>
          <p:nvPr/>
        </p:nvSpPr>
        <p:spPr bwMode="auto">
          <a:xfrm>
            <a:off x="1919289" y="2492375"/>
            <a:ext cx="76342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/>
              <a:t>在派生类对象的</a:t>
            </a:r>
            <a:r>
              <a:rPr lang="zh-CN" altLang="en-US" sz="2400" dirty="0">
                <a:solidFill>
                  <a:srgbClr val="FF0000"/>
                </a:solidFill>
              </a:rPr>
              <a:t>创建</a:t>
            </a:r>
            <a:r>
              <a:rPr lang="zh-CN" altLang="en-US" sz="2400" dirty="0"/>
              <a:t>中：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首先是虚基类的构造函数并按它们声明的顺序构造。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第二批是非虚基类的构造函数按它们声明的顺序调用。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第三批是成员对象的构造函数。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最后是派生类自己的构造函数被调用。</a:t>
            </a:r>
          </a:p>
        </p:txBody>
      </p:sp>
      <p:sp>
        <p:nvSpPr>
          <p:cNvPr id="290824" name="Text Box 8"/>
          <p:cNvSpPr txBox="1">
            <a:spLocks noChangeArrowheads="1"/>
          </p:cNvSpPr>
          <p:nvPr/>
        </p:nvSpPr>
        <p:spPr bwMode="auto">
          <a:xfrm>
            <a:off x="1919289" y="1773239"/>
            <a:ext cx="55194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6600"/>
                </a:solidFill>
                <a:ea typeface="隶书" panose="02010509060101010101" pitchFamily="49" charset="-122"/>
              </a:rPr>
              <a:t>虚继承中构造函数执行次序：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89630" y="2845435"/>
            <a:ext cx="5702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/>
              <a:t>本章结束，谢谢！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5b1d82b-66df-4fe4-b2b1-6521a1b799a7"/>
  <p:tag name="COMMONDATA" val="eyJoZGlkIjoiNDI0NGE4MmNiOWM4MDZkMDdkNTIyYjlkODg4OWU4OD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53,&quot;width&quot;:513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4831</Words>
  <Application>Microsoft Office PowerPoint</Application>
  <PresentationFormat>宽屏</PresentationFormat>
  <Paragraphs>547</Paragraphs>
  <Slides>55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3" baseType="lpstr">
      <vt:lpstr>LMMono8-Regular-Identity-H</vt:lpstr>
      <vt:lpstr>LMSans10-Regular-Identity-H</vt:lpstr>
      <vt:lpstr>MicrosoftYaHei</vt:lpstr>
      <vt:lpstr>等线</vt:lpstr>
      <vt:lpstr>等线 Light</vt:lpstr>
      <vt:lpstr>仿宋</vt:lpstr>
      <vt:lpstr>华文隶书</vt:lpstr>
      <vt:lpstr>华文行楷</vt:lpstr>
      <vt:lpstr>隶书</vt:lpstr>
      <vt:lpstr>宋体</vt:lpstr>
      <vt:lpstr>微软雅黑</vt:lpstr>
      <vt:lpstr>幼圆</vt:lpstr>
      <vt:lpstr>Arial</vt:lpstr>
      <vt:lpstr>Arial Narrow</vt:lpstr>
      <vt:lpstr>Consolas</vt:lpstr>
      <vt:lpstr>Times New Roman</vt:lpstr>
      <vt:lpstr>Wingdings</vt:lpstr>
      <vt:lpstr>Office 主题​​</vt:lpstr>
      <vt:lpstr>面向对象程序设计（C++）</vt:lpstr>
      <vt:lpstr>参考教材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27315950@qq.com</dc:creator>
  <cp:lastModifiedBy>dragon sun</cp:lastModifiedBy>
  <cp:revision>187</cp:revision>
  <dcterms:created xsi:type="dcterms:W3CDTF">2020-02-16T03:33:00Z</dcterms:created>
  <dcterms:modified xsi:type="dcterms:W3CDTF">2025-04-09T12:58:43Z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0A4272D6110E44808759757009939AF5</vt:lpwstr>
  </property>
  <property fmtid="{D5CDD505-2E9C-101B-9397-08002B2CF9AE}" pid="3" name="KSOProductBuildVer">
    <vt:lpwstr>2052-12.1.0.19770</vt:lpwstr>
  </property>
</Properties>
</file>