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9" r:id="rId5"/>
    <p:sldId id="260" r:id="rId7"/>
    <p:sldId id="262" r:id="rId8"/>
    <p:sldId id="261" r:id="rId9"/>
    <p:sldId id="263" r:id="rId10"/>
    <p:sldId id="281" r:id="rId11"/>
    <p:sldId id="269" r:id="rId12"/>
    <p:sldId id="264" r:id="rId13"/>
    <p:sldId id="265" r:id="rId14"/>
    <p:sldId id="266" r:id="rId15"/>
    <p:sldId id="277" r:id="rId16"/>
    <p:sldId id="285" r:id="rId17"/>
    <p:sldId id="286" r:id="rId18"/>
    <p:sldId id="267" r:id="rId19"/>
    <p:sldId id="268" r:id="rId20"/>
    <p:sldId id="270" r:id="rId21"/>
    <p:sldId id="271" r:id="rId22"/>
    <p:sldId id="272" r:id="rId23"/>
    <p:sldId id="273" r:id="rId24"/>
    <p:sldId id="274" r:id="rId25"/>
    <p:sldId id="276" r:id="rId26"/>
    <p:sldId id="282" r:id="rId27"/>
    <p:sldId id="283" r:id="rId28"/>
    <p:sldId id="280" r:id="rId29"/>
    <p:sldId id="279" r:id="rId30"/>
    <p:sldId id="289" r:id="rId31"/>
    <p:sldId id="290" r:id="rId32"/>
    <p:sldId id="284" r:id="rId33"/>
    <p:sldId id="293" r:id="rId34"/>
    <p:sldId id="294" r:id="rId35"/>
    <p:sldId id="295" r:id="rId36"/>
    <p:sldId id="296" r:id="rId37"/>
    <p:sldId id="297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28" r:id="rId68"/>
    <p:sldId id="329" r:id="rId69"/>
    <p:sldId id="330" r:id="rId70"/>
    <p:sldId id="331" r:id="rId71"/>
    <p:sldId id="332" r:id="rId72"/>
    <p:sldId id="333" r:id="rId73"/>
    <p:sldId id="334" r:id="rId74"/>
    <p:sldId id="335" r:id="rId75"/>
    <p:sldId id="346" r:id="rId76"/>
  </p:sldIdLst>
  <p:sldSz cx="12192000" cy="6858000"/>
  <p:notesSz cx="6858000" cy="9144000"/>
  <p:custDataLst>
    <p:tags r:id="rId8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j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066FF"/>
    <a:srgbClr val="517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7383" autoAdjust="0"/>
  </p:normalViewPr>
  <p:slideViewPr>
    <p:cSldViewPr snapToGrid="0">
      <p:cViewPr varScale="1">
        <p:scale>
          <a:sx n="55" d="100"/>
          <a:sy n="55" d="100"/>
        </p:scale>
        <p:origin x="10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1" Type="http://schemas.openxmlformats.org/officeDocument/2006/relationships/tags" Target="tags/tag7.xml"/><Relationship Id="rId80" Type="http://schemas.openxmlformats.org/officeDocument/2006/relationships/commentAuthors" Target="commentAuthors.xml"/><Relationship Id="rId8" Type="http://schemas.openxmlformats.org/officeDocument/2006/relationships/slide" Target="slides/slide5.xml"/><Relationship Id="rId79" Type="http://schemas.openxmlformats.org/officeDocument/2006/relationships/tableStyles" Target="tableStyles.xml"/><Relationship Id="rId78" Type="http://schemas.openxmlformats.org/officeDocument/2006/relationships/viewProps" Target="viewProps.xml"/><Relationship Id="rId77" Type="http://schemas.openxmlformats.org/officeDocument/2006/relationships/presProps" Target="presProps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05E87-7448-482E-BE09-4F1ECE9846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继承与泛型程序设计提高代码重用的主要方法。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已测试。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&amp;a,</a:t>
            </a:r>
            <a:r>
              <a:rPr lang="zh-CN" altLang="en-US">
                <a:sym typeface="+mn-ea"/>
              </a:rPr>
              <a:t>表示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的指针，根据</a:t>
            </a:r>
            <a:r>
              <a:rPr lang="en-US" altLang="zh-CN">
                <a:sym typeface="+mn-ea"/>
              </a:rPr>
              <a:t>const T &amp;a</a:t>
            </a:r>
            <a:r>
              <a:rPr lang="zh-CN" altLang="en-US">
                <a:sym typeface="+mn-ea"/>
              </a:rPr>
              <a:t>推演出来，</a:t>
            </a:r>
            <a:r>
              <a:rPr lang="en-US" altLang="zh-CN">
                <a:sym typeface="+mn-ea"/>
              </a:rPr>
              <a:t>const int&amp;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&amp;a</a:t>
            </a:r>
            <a:r>
              <a:rPr lang="zh-CN" altLang="en-US">
                <a:sym typeface="+mn-ea"/>
              </a:rPr>
              <a:t>）即为指针的引用，也就是对指针进行比较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特例化的函数模板就是一个函数，为什么还要定义成模板形式呢？为了使这个函数模板能对所有类型通用。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FC71D-5F71-4DAA-9152-C57E2A7DCF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627" y="287000"/>
            <a:ext cx="835224" cy="7742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49D5C-8927-4036-B92A-D9F195A44A7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49D5C-8927-4036-B92A-D9F195A44A7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49D5C-8927-4036-B92A-D9F195A44A7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49D5C-8927-4036-B92A-D9F195A44A7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mailto:328492647@qq.com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.xml"/><Relationship Id="rId2" Type="http://schemas.openxmlformats.org/officeDocument/2006/relationships/image" Target="../media/image40.png"/><Relationship Id="rId1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1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.xml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.xml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34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1" Type="http://schemas.openxmlformats.org/officeDocument/2006/relationships/image" Target="../media/image34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image" Target="../media/image49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1" Type="http://schemas.openxmlformats.org/officeDocument/2006/relationships/image" Target="../media/image3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5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6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image" Target="../media/image81.png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1" Type="http://schemas.openxmlformats.org/officeDocument/2006/relationships/image" Target="../media/image84.pn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9.png"/><Relationship Id="rId1" Type="http://schemas.openxmlformats.org/officeDocument/2006/relationships/image" Target="../media/image8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0.png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_rels/slide6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image" Target="../media/image92.png"/></Relationships>
</file>

<file path=ppt/slides/_rels/slide7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image" Target="../media/image92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5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5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3" Type="http://schemas.openxmlformats.org/officeDocument/2006/relationships/image" Target="../media/image96.png"/><Relationship Id="rId2" Type="http://schemas.openxmlformats.org/officeDocument/2006/relationships/image" Target="../media/image94.png"/><Relationship Id="rId1" Type="http://schemas.openxmlformats.org/officeDocument/2006/relationships/image" Target="../media/image92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6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6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3" Type="http://schemas.openxmlformats.org/officeDocument/2006/relationships/image" Target="../media/image96.png"/><Relationship Id="rId2" Type="http://schemas.openxmlformats.org/officeDocument/2006/relationships/image" Target="../media/image94.png"/><Relationship Id="rId1" Type="http://schemas.openxmlformats.org/officeDocument/2006/relationships/image" Target="../media/image92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面向对象程序设计（</a:t>
            </a:r>
            <a:r>
              <a:rPr lang="en-US" altLang="zh-CN" b="1" dirty="0"/>
              <a:t>C++</a:t>
            </a:r>
            <a:r>
              <a:rPr lang="zh-CN" altLang="en-US" b="1" dirty="0"/>
              <a:t>）</a:t>
            </a:r>
            <a:endParaRPr lang="zh-CN" altLang="en-US" b="1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2453244" y="3972296"/>
            <a:ext cx="7543800" cy="2245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中国地质大学（武汉）计算机学院信息安全系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朱    静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328492647@qq.com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 txBox="1">
            <a:spLocks noRot="1" noChangeArrowheads="1"/>
          </p:cNvSpPr>
          <p:nvPr/>
        </p:nvSpPr>
        <p:spPr>
          <a:xfrm>
            <a:off x="2084125" y="523617"/>
            <a:ext cx="8280400" cy="9826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09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  模板与泛型程序设计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3464626" y="1997034"/>
            <a:ext cx="5943600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本章主要内容：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模板与泛型程序设计概述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函数模板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函数模板重载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类模板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类模板的继承与派生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类模板应用示例：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string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类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/>
          <p:cNvSpPr txBox="1">
            <a:spLocks noRot="1" noChangeArrowheads="1"/>
          </p:cNvSpPr>
          <p:nvPr/>
        </p:nvSpPr>
        <p:spPr>
          <a:xfrm>
            <a:off x="1697831" y="140494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9.1 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模板与泛型程序设计概述</a:t>
            </a:r>
            <a:endParaRPr lang="zh-CN" altLang="en-US" sz="4000" b="1" dirty="0"/>
          </a:p>
        </p:txBody>
      </p:sp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1888177" y="1122864"/>
            <a:ext cx="9345880" cy="5139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泛型程序设计（</a:t>
            </a:r>
            <a:r>
              <a:rPr kumimoji="1" lang="en-US" altLang="zh-CN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generic programming</a:t>
            </a:r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）</a:t>
            </a:r>
            <a:endParaRPr kumimoji="1" lang="en-US" altLang="zh-CN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“泛型”是指数据类型无关。一个函数可以适用多种类型的参数</a:t>
            </a: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泛型程序设计是指一种采用与</a:t>
            </a:r>
            <a:r>
              <a:rPr kumimoji="1" lang="zh-CN" altLang="en-US" sz="2400" b="1" dirty="0">
                <a:solidFill>
                  <a:srgbClr val="FF0000"/>
                </a:solidFill>
              </a:rPr>
              <a:t>数据类型无关</a:t>
            </a:r>
            <a:r>
              <a:rPr kumimoji="1" lang="zh-CN" altLang="en-US" sz="2400" dirty="0"/>
              <a:t>的方式编写代码的方法，是</a:t>
            </a:r>
            <a:r>
              <a:rPr kumimoji="1" lang="zh-CN" altLang="en-US" sz="2400" b="1" dirty="0">
                <a:solidFill>
                  <a:srgbClr val="0066FF"/>
                </a:solidFill>
              </a:rPr>
              <a:t>代码重用</a:t>
            </a:r>
            <a:r>
              <a:rPr kumimoji="1" lang="zh-CN" altLang="en-US" sz="2400" dirty="0"/>
              <a:t>的重要手段。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模板（</a:t>
            </a:r>
            <a:r>
              <a:rPr kumimoji="1" lang="en-US" altLang="zh-CN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template</a:t>
            </a:r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）</a:t>
            </a:r>
            <a:endParaRPr kumimoji="1" lang="en-US" altLang="zh-CN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zh-CN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模板是泛型编程的基础。它将</a:t>
            </a:r>
            <a:r>
              <a:rPr kumimoji="1" lang="zh-CN" altLang="en-US" sz="2400" b="1" dirty="0">
                <a:solidFill>
                  <a:srgbClr val="FF0000"/>
                </a:solidFill>
              </a:rPr>
              <a:t>数据类型参数化</a:t>
            </a:r>
            <a:r>
              <a:rPr kumimoji="1" lang="zh-CN" altLang="en-US" sz="2400" dirty="0"/>
              <a:t>，为数据结构和算法的抽象提供通用的代码解决方案</a:t>
            </a: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/>
              <a:t>C++</a:t>
            </a:r>
            <a:r>
              <a:rPr kumimoji="1" lang="zh-CN" altLang="en-US" sz="2400" dirty="0"/>
              <a:t>里提供了</a:t>
            </a:r>
            <a:r>
              <a:rPr kumimoji="1" lang="zh-CN" altLang="en-US" sz="2400" dirty="0">
                <a:solidFill>
                  <a:srgbClr val="FF0000"/>
                </a:solidFill>
              </a:rPr>
              <a:t>函数模板</a:t>
            </a:r>
            <a:r>
              <a:rPr kumimoji="1" lang="zh-CN" altLang="en-US" sz="2400" dirty="0"/>
              <a:t>和</a:t>
            </a:r>
            <a:r>
              <a:rPr kumimoji="1" lang="zh-CN" altLang="en-US" sz="2400" dirty="0">
                <a:solidFill>
                  <a:srgbClr val="FF0000"/>
                </a:solidFill>
              </a:rPr>
              <a:t>类模板</a:t>
            </a:r>
            <a:r>
              <a:rPr kumimoji="1" lang="zh-CN" altLang="en-US" sz="2400" dirty="0"/>
              <a:t>两种泛型编程方法。</a:t>
            </a: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rgbClr val="0066FF"/>
                </a:solidFill>
              </a:rPr>
              <a:t>函数模板用于生成函数，类模板用于生成类</a:t>
            </a:r>
            <a:r>
              <a:rPr kumimoji="1" lang="zh-CN" altLang="en-US" sz="2400" dirty="0"/>
              <a:t>。</a:t>
            </a: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zh-CN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49611" y="1435238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B050"/>
                </a:solidFill>
              </a:rPr>
              <a:t>例：</a:t>
            </a:r>
            <a:r>
              <a:rPr lang="zh-CN" altLang="en-US" sz="2400" dirty="0"/>
              <a:t>观察下面两组代码：</a:t>
            </a:r>
            <a:endParaRPr lang="zh-CN" altLang="en-US" sz="2400" dirty="0"/>
          </a:p>
        </p:txBody>
      </p:sp>
      <p:grpSp>
        <p:nvGrpSpPr>
          <p:cNvPr id="8" name="组合 7"/>
          <p:cNvGrpSpPr/>
          <p:nvPr/>
        </p:nvGrpSpPr>
        <p:grpSpPr>
          <a:xfrm>
            <a:off x="8392324" y="2522646"/>
            <a:ext cx="3091340" cy="1190479"/>
            <a:chOff x="219974" y="2044317"/>
            <a:chExt cx="8704052" cy="1190484"/>
          </a:xfrm>
        </p:grpSpPr>
        <p:sp>
          <p:nvSpPr>
            <p:cNvPr id="9" name="矩形: 圆顶角 8"/>
            <p:cNvSpPr/>
            <p:nvPr/>
          </p:nvSpPr>
          <p:spPr>
            <a:xfrm>
              <a:off x="219974" y="2044317"/>
              <a:ext cx="8704052" cy="577650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006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400" dirty="0"/>
                <a:t>问题</a:t>
              </a:r>
              <a:endParaRPr lang="zh-CN" altLang="en-US" sz="2400" dirty="0"/>
            </a:p>
          </p:txBody>
        </p:sp>
        <p:sp>
          <p:nvSpPr>
            <p:cNvPr id="10" name="矩形: 圆角 17"/>
            <p:cNvSpPr/>
            <p:nvPr/>
          </p:nvSpPr>
          <p:spPr>
            <a:xfrm>
              <a:off x="219974" y="2612833"/>
              <a:ext cx="8704052" cy="621968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>
                <a:lnSpc>
                  <a:spcPct val="200000"/>
                </a:lnSpc>
                <a:spcAft>
                  <a:spcPts val="1200"/>
                </a:spcAft>
                <a:buClr>
                  <a:srgbClr val="212AE7"/>
                </a:buClr>
                <a:buSzPct val="80000"/>
              </a:pPr>
              <a:r>
                <a:rPr lang="zh-CN" alt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这两个函数有什么异同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?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08336" y="2255162"/>
            <a:ext cx="6896231" cy="1806264"/>
            <a:chOff x="219974" y="2044324"/>
            <a:chExt cx="8704052" cy="826485"/>
          </a:xfrm>
        </p:grpSpPr>
        <p:sp>
          <p:nvSpPr>
            <p:cNvPr id="12" name="矩形: 圆顶角 11"/>
            <p:cNvSpPr/>
            <p:nvPr/>
          </p:nvSpPr>
          <p:spPr>
            <a:xfrm>
              <a:off x="219974" y="2044324"/>
              <a:ext cx="8704052" cy="299335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defRPr/>
              </a:pPr>
              <a:r>
                <a:rPr lang="en-US" altLang="zh-CN" sz="2400" dirty="0" err="1">
                  <a:solidFill>
                    <a:prstClr val="white"/>
                  </a:solidFill>
                  <a:latin typeface="Consolas" panose="020B0609020204030204" pitchFamily="49" charset="0"/>
                </a:rPr>
                <a:t>getMax</a:t>
              </a:r>
              <a:r>
                <a:rPr lang="en-US" altLang="zh-CN" dirty="0">
                  <a:solidFill>
                    <a:srgbClr val="0000FF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sz="2400" dirty="0">
                  <a:solidFill>
                    <a:prstClr val="white"/>
                  </a:solidFill>
                </a:rPr>
                <a:t>函数</a:t>
              </a:r>
              <a:r>
                <a:rPr lang="zh-CN" altLang="en-US" sz="2400" dirty="0"/>
                <a:t>定义一</a:t>
              </a:r>
              <a:endParaRPr lang="zh-CN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13" name="矩形: 圆角 17"/>
            <p:cNvSpPr/>
            <p:nvPr/>
          </p:nvSpPr>
          <p:spPr>
            <a:xfrm>
              <a:off x="219974" y="2333199"/>
              <a:ext cx="8704052" cy="537610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const int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&amp; 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getMax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const int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&amp;a</a:t>
              </a: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, const int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&amp;b){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	return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a&gt;b ? a : b;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48182" y="4205948"/>
            <a:ext cx="7744142" cy="1928634"/>
            <a:chOff x="219974" y="2044325"/>
            <a:chExt cx="8704052" cy="882478"/>
          </a:xfrm>
        </p:grpSpPr>
        <p:sp>
          <p:nvSpPr>
            <p:cNvPr id="15" name="矩形: 圆顶角 14"/>
            <p:cNvSpPr/>
            <p:nvPr/>
          </p:nvSpPr>
          <p:spPr>
            <a:xfrm>
              <a:off x="219974" y="2044325"/>
              <a:ext cx="8704052" cy="281325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defRPr/>
              </a:pPr>
              <a:r>
                <a:rPr lang="en-US" altLang="zh-CN" sz="2400" dirty="0" err="1">
                  <a:solidFill>
                    <a:prstClr val="white"/>
                  </a:solidFill>
                  <a:latin typeface="Consolas" panose="020B0609020204030204" pitchFamily="49" charset="0"/>
                </a:rPr>
                <a:t>getMax</a:t>
              </a:r>
              <a:r>
                <a:rPr lang="en-US" altLang="zh-CN" dirty="0">
                  <a:solidFill>
                    <a:srgbClr val="0000FF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sz="2400" dirty="0">
                  <a:solidFill>
                    <a:prstClr val="white"/>
                  </a:solidFill>
                </a:rPr>
                <a:t>函数</a:t>
              </a:r>
              <a:r>
                <a:rPr lang="zh-CN" altLang="en-US" sz="2400" dirty="0"/>
                <a:t>定义二</a:t>
              </a:r>
              <a:endParaRPr lang="zh-CN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16" name="矩形: 圆角 17"/>
            <p:cNvSpPr/>
            <p:nvPr/>
          </p:nvSpPr>
          <p:spPr>
            <a:xfrm>
              <a:off x="219974" y="2318772"/>
              <a:ext cx="8704052" cy="608031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const string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&amp; 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getMax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const string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&amp;a</a:t>
              </a: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, const int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&amp;b){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	return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a&gt;b ? a : b;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554369" y="4277647"/>
            <a:ext cx="2884559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/>
              <a:t>函数体完全一样，形参个数完全一样</a:t>
            </a:r>
            <a:endParaRPr lang="en-US" altLang="zh-C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/>
              <a:t>返回值类型，形参类型不一样</a:t>
            </a:r>
            <a:endParaRPr lang="zh-CN" alt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FF0000"/>
                </a:solidFill>
              </a:rPr>
              <a:t>能不能写成一个函数？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9" name="Rectangle 2"/>
          <p:cNvSpPr txBox="1">
            <a:spLocks noRot="1" noChangeArrowheads="1"/>
          </p:cNvSpPr>
          <p:nvPr/>
        </p:nvSpPr>
        <p:spPr>
          <a:xfrm>
            <a:off x="749611" y="394400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9.2 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函数模板</a:t>
            </a:r>
            <a:endParaRPr lang="zh-CN" altLang="en-US" sz="40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49611" y="560219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B050"/>
                </a:solidFill>
              </a:rPr>
              <a:t>例：</a:t>
            </a:r>
            <a:endParaRPr lang="zh-CN" altLang="en-US" sz="2400" dirty="0"/>
          </a:p>
        </p:txBody>
      </p:sp>
      <p:grpSp>
        <p:nvGrpSpPr>
          <p:cNvPr id="8" name="组合 7"/>
          <p:cNvGrpSpPr/>
          <p:nvPr/>
        </p:nvGrpSpPr>
        <p:grpSpPr>
          <a:xfrm>
            <a:off x="9650896" y="1123120"/>
            <a:ext cx="2055908" cy="3224001"/>
            <a:chOff x="219974" y="2044317"/>
            <a:chExt cx="8704052" cy="1847198"/>
          </a:xfrm>
        </p:grpSpPr>
        <p:sp>
          <p:nvSpPr>
            <p:cNvPr id="9" name="矩形: 圆顶角 8"/>
            <p:cNvSpPr/>
            <p:nvPr/>
          </p:nvSpPr>
          <p:spPr>
            <a:xfrm>
              <a:off x="219974" y="2044317"/>
              <a:ext cx="8704052" cy="432794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006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/>
                <a:t>问题</a:t>
              </a:r>
              <a:endParaRPr lang="zh-CN" altLang="en-US" sz="2000" dirty="0"/>
            </a:p>
          </p:txBody>
        </p:sp>
        <p:sp>
          <p:nvSpPr>
            <p:cNvPr id="10" name="矩形: 圆角 17"/>
            <p:cNvSpPr/>
            <p:nvPr/>
          </p:nvSpPr>
          <p:spPr>
            <a:xfrm>
              <a:off x="219974" y="2477111"/>
              <a:ext cx="8704052" cy="1414404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>
                <a:lnSpc>
                  <a:spcPct val="200000"/>
                </a:lnSpc>
                <a:spcAft>
                  <a:spcPts val="1200"/>
                </a:spcAft>
                <a:buClr>
                  <a:srgbClr val="212AE7"/>
                </a:buClr>
                <a:buSzPct val="80000"/>
              </a:pPr>
              <a:r>
                <a:rPr lang="zh-CN" alt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能否只定义一个函数就能实现对所有类型参数的处理？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9352" y="766277"/>
            <a:ext cx="7058605" cy="249375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076" y="3498693"/>
            <a:ext cx="8160411" cy="255345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9730409" y="4740965"/>
            <a:ext cx="20559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函数模板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888759" y="52046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36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函数模板</a:t>
            </a:r>
            <a:endParaRPr kumimoji="1" lang="zh-CN" altLang="en-US" sz="36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33670" y="1105238"/>
            <a:ext cx="811281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/>
              <a:t>函数模板用来创建一个</a:t>
            </a:r>
            <a:r>
              <a:rPr kumimoji="1" lang="zh-CN" altLang="en-US" sz="2400" b="1" dirty="0">
                <a:solidFill>
                  <a:srgbClr val="FF0000"/>
                </a:solidFill>
              </a:rPr>
              <a:t>通用函数</a:t>
            </a:r>
            <a:r>
              <a:rPr kumimoji="1" lang="zh-CN" altLang="en-US" sz="2400" dirty="0"/>
              <a:t>，</a:t>
            </a:r>
            <a:r>
              <a:rPr kumimoji="1" lang="zh-CN" altLang="en-US" sz="2400" dirty="0">
                <a:solidFill>
                  <a:srgbClr val="0066FF"/>
                </a:solidFill>
              </a:rPr>
              <a:t>支持多种不同类型形参</a:t>
            </a:r>
            <a:r>
              <a:rPr kumimoji="1" lang="zh-CN" altLang="en-US" sz="2400" dirty="0"/>
              <a:t>。</a:t>
            </a:r>
            <a:endParaRPr kumimoji="1" lang="en-US" altLang="zh-CN" sz="2400" dirty="0"/>
          </a:p>
          <a:p>
            <a:endParaRPr kumimoji="1" lang="zh-CN" altLang="en-US" sz="2400" dirty="0"/>
          </a:p>
          <a:p>
            <a:r>
              <a:rPr kumimoji="1" lang="zh-CN" altLang="en-US" sz="2400" dirty="0">
                <a:solidFill>
                  <a:srgbClr val="008000"/>
                </a:solidFill>
              </a:rPr>
              <a:t>函数模板定义</a:t>
            </a:r>
            <a:r>
              <a:rPr kumimoji="1" lang="zh-CN" altLang="en-US" sz="2400" dirty="0"/>
              <a:t>：</a:t>
            </a:r>
            <a:endParaRPr kumimoji="1" lang="zh-CN" altLang="en-US" sz="2400" dirty="0"/>
          </a:p>
          <a:p>
            <a:r>
              <a:rPr kumimoji="1" lang="en-US" altLang="zh-CN" sz="2400" dirty="0">
                <a:solidFill>
                  <a:srgbClr val="0000CC"/>
                </a:solidFill>
              </a:rPr>
              <a:t>template</a:t>
            </a:r>
            <a:r>
              <a:rPr kumimoji="1" lang="en-US" altLang="zh-CN" sz="2400" dirty="0">
                <a:solidFill>
                  <a:srgbClr val="FF0000"/>
                </a:solidFill>
              </a:rPr>
              <a:t>&lt;</a:t>
            </a:r>
            <a:r>
              <a:rPr kumimoji="1" lang="zh-CN" altLang="en-US" sz="2400" dirty="0">
                <a:solidFill>
                  <a:srgbClr val="FF0000"/>
                </a:solidFill>
              </a:rPr>
              <a:t>模板参数表</a:t>
            </a:r>
            <a:r>
              <a:rPr kumimoji="1" lang="en-US" altLang="zh-CN" sz="2400" dirty="0">
                <a:solidFill>
                  <a:srgbClr val="FF0000"/>
                </a:solidFill>
              </a:rPr>
              <a:t>&gt;</a:t>
            </a:r>
            <a:r>
              <a:rPr kumimoji="1" lang="zh-CN" altLang="en-US" sz="2400" dirty="0">
                <a:solidFill>
                  <a:srgbClr val="FF0000"/>
                </a:solidFill>
              </a:rPr>
              <a:t>返回类型 函数名</a:t>
            </a:r>
            <a:r>
              <a:rPr kumimoji="1" lang="en-US" altLang="zh-CN" sz="2400" dirty="0">
                <a:solidFill>
                  <a:srgbClr val="FF0000"/>
                </a:solidFill>
              </a:rPr>
              <a:t>(</a:t>
            </a:r>
            <a:r>
              <a:rPr kumimoji="1" lang="zh-CN" altLang="en-US" sz="2400" dirty="0">
                <a:solidFill>
                  <a:srgbClr val="FF0000"/>
                </a:solidFill>
              </a:rPr>
              <a:t>形式参数表</a:t>
            </a:r>
            <a:r>
              <a:rPr kumimoji="1" lang="en-US" altLang="zh-CN" sz="2400" dirty="0">
                <a:solidFill>
                  <a:srgbClr val="FF0000"/>
                </a:solidFill>
              </a:rPr>
              <a:t>)</a:t>
            </a:r>
            <a:endParaRPr kumimoji="1" lang="en-US" altLang="zh-CN" sz="2400" dirty="0">
              <a:solidFill>
                <a:srgbClr val="FF0000"/>
              </a:solidFill>
            </a:endParaRPr>
          </a:p>
          <a:p>
            <a:r>
              <a:rPr kumimoji="1" lang="en-US" altLang="zh-CN" sz="2400" dirty="0">
                <a:solidFill>
                  <a:srgbClr val="FF0000"/>
                </a:solidFill>
              </a:rPr>
              <a:t>{</a:t>
            </a:r>
            <a:br>
              <a:rPr kumimoji="1" lang="en-US" altLang="zh-CN" sz="2400" dirty="0">
                <a:solidFill>
                  <a:srgbClr val="FF0000"/>
                </a:solidFill>
              </a:rPr>
            </a:br>
            <a:r>
              <a:rPr kumimoji="1" lang="en-US" altLang="zh-CN" sz="2400" dirty="0">
                <a:solidFill>
                  <a:srgbClr val="FF0000"/>
                </a:solidFill>
              </a:rPr>
              <a:t>……</a:t>
            </a:r>
            <a:r>
              <a:rPr kumimoji="1" lang="zh-CN" altLang="en-US" sz="2400" dirty="0">
                <a:solidFill>
                  <a:srgbClr val="FF0000"/>
                </a:solidFill>
              </a:rPr>
              <a:t>；</a:t>
            </a:r>
            <a:r>
              <a:rPr kumimoji="1" lang="en-US" altLang="zh-CN" sz="2400" dirty="0">
                <a:solidFill>
                  <a:srgbClr val="00B050"/>
                </a:solidFill>
              </a:rPr>
              <a:t>//</a:t>
            </a:r>
            <a:r>
              <a:rPr kumimoji="1" lang="zh-CN" altLang="en-US" sz="2400" dirty="0">
                <a:solidFill>
                  <a:srgbClr val="00B050"/>
                </a:solidFill>
              </a:rPr>
              <a:t>函数体</a:t>
            </a:r>
            <a:endParaRPr kumimoji="1" lang="en-US" altLang="zh-CN" sz="2400" dirty="0">
              <a:solidFill>
                <a:srgbClr val="FF0000"/>
              </a:solidFill>
            </a:endParaRPr>
          </a:p>
          <a:p>
            <a:r>
              <a:rPr kumimoji="1" lang="en-US" altLang="zh-CN" sz="2400" dirty="0">
                <a:solidFill>
                  <a:srgbClr val="FF0000"/>
                </a:solidFill>
              </a:rPr>
              <a:t>} </a:t>
            </a:r>
            <a:r>
              <a:rPr kumimoji="1" lang="en-US" altLang="zh-CN" sz="2400" dirty="0">
                <a:solidFill>
                  <a:srgbClr val="00B050"/>
                </a:solidFill>
              </a:rPr>
              <a:t>//</a:t>
            </a:r>
            <a:r>
              <a:rPr kumimoji="1" lang="zh-CN" altLang="en-US" sz="2400" dirty="0">
                <a:solidFill>
                  <a:srgbClr val="00B050"/>
                </a:solidFill>
              </a:rPr>
              <a:t>没有分号</a:t>
            </a:r>
            <a:endParaRPr kumimoji="1" lang="zh-CN" altLang="en-US" sz="2400" dirty="0">
              <a:solidFill>
                <a:srgbClr val="00B05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40515" y="3815523"/>
            <a:ext cx="890794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ahoma" panose="020B0604030504040204" pitchFamily="34" charset="0"/>
              </a:rPr>
              <a:t>&lt;</a:t>
            </a:r>
            <a:r>
              <a:rPr kumimoji="1" lang="zh-CN" altLang="en-US" sz="2400" dirty="0">
                <a:latin typeface="Tahoma" panose="020B0604030504040204" pitchFamily="34" charset="0"/>
              </a:rPr>
              <a:t>模板参数表</a:t>
            </a:r>
            <a:r>
              <a:rPr kumimoji="1" lang="en-US" altLang="zh-CN" sz="2400" dirty="0">
                <a:latin typeface="Tahoma" panose="020B0604030504040204" pitchFamily="34" charset="0"/>
              </a:rPr>
              <a:t>&gt;</a:t>
            </a:r>
            <a:r>
              <a:rPr kumimoji="1" lang="zh-CN" altLang="en-US" sz="2400" dirty="0">
                <a:latin typeface="Tahoma" panose="020B0604030504040204" pitchFamily="34" charset="0"/>
              </a:rPr>
              <a:t>中不能为空，参数可以有多个，用逗号分开。模板参数可以是</a:t>
            </a:r>
            <a:r>
              <a:rPr kumimoji="1" lang="zh-CN" altLang="en-US" sz="2400" dirty="0">
                <a:solidFill>
                  <a:srgbClr val="FF0000"/>
                </a:solidFill>
                <a:latin typeface="Tahoma" panose="020B0604030504040204" pitchFamily="34" charset="0"/>
              </a:rPr>
              <a:t>类型参数（抽象）</a:t>
            </a:r>
            <a:r>
              <a:rPr kumimoji="1" lang="zh-CN" altLang="en-US" sz="2400" dirty="0">
                <a:latin typeface="Tahoma" panose="020B0604030504040204" pitchFamily="34" charset="0"/>
              </a:rPr>
              <a:t>也可以是</a:t>
            </a:r>
            <a:r>
              <a:rPr kumimoji="1" lang="zh-CN" altLang="en-US" sz="2400" dirty="0">
                <a:solidFill>
                  <a:srgbClr val="FF0000"/>
                </a:solidFill>
                <a:latin typeface="Tahoma" panose="020B0604030504040204" pitchFamily="34" charset="0"/>
              </a:rPr>
              <a:t>非类型参数（具体）</a:t>
            </a:r>
            <a:r>
              <a:rPr kumimoji="1" lang="zh-CN" altLang="en-US" sz="2400" b="0" dirty="0">
                <a:latin typeface="Tahoma" panose="020B0604030504040204" pitchFamily="34" charset="0"/>
              </a:rPr>
              <a:t>。</a:t>
            </a:r>
            <a:endParaRPr kumimoji="1" lang="en-US" altLang="zh-CN" sz="2400" b="0" dirty="0">
              <a:latin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CN" sz="2400" b="0" dirty="0">
              <a:latin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b="0" dirty="0">
                <a:latin typeface="Tahoma" panose="020B0604030504040204" pitchFamily="34" charset="0"/>
              </a:rPr>
              <a:t>模板类型参数</a:t>
            </a:r>
            <a:r>
              <a:rPr kumimoji="1" lang="en-US" altLang="zh-CN" sz="2400" b="0" dirty="0">
                <a:latin typeface="Tahoma" panose="020B0604030504040204" pitchFamily="34" charset="0"/>
              </a:rPr>
              <a:t>(template type parameter)</a:t>
            </a:r>
            <a:r>
              <a:rPr kumimoji="1" lang="zh-CN" altLang="en-US" sz="2400" b="0" dirty="0">
                <a:latin typeface="Tahoma" panose="020B0604030504040204" pitchFamily="34" charset="0"/>
              </a:rPr>
              <a:t>代表一种抽象类型，由关键字 </a:t>
            </a:r>
            <a:r>
              <a:rPr kumimoji="1" lang="en-US" altLang="zh-CN" sz="2400" b="0" dirty="0">
                <a:solidFill>
                  <a:srgbClr val="0066FF"/>
                </a:solidFill>
                <a:latin typeface="Tahoma" panose="020B0604030504040204" pitchFamily="34" charset="0"/>
              </a:rPr>
              <a:t>class </a:t>
            </a:r>
            <a:r>
              <a:rPr kumimoji="1" lang="zh-CN" altLang="en-US" sz="2400" b="0" dirty="0">
                <a:latin typeface="Tahoma" panose="020B0604030504040204" pitchFamily="34" charset="0"/>
              </a:rPr>
              <a:t>或 </a:t>
            </a:r>
            <a:r>
              <a:rPr kumimoji="1" lang="en-US" altLang="zh-CN" sz="2400" b="0" dirty="0" err="1">
                <a:solidFill>
                  <a:srgbClr val="FF0000"/>
                </a:solidFill>
                <a:latin typeface="Tahoma" panose="020B0604030504040204" pitchFamily="34" charset="0"/>
              </a:rPr>
              <a:t>typename</a:t>
            </a:r>
            <a:r>
              <a:rPr kumimoji="1" lang="zh-CN" altLang="en-US" sz="2400" b="0" dirty="0">
                <a:latin typeface="Tahoma" panose="020B0604030504040204" pitchFamily="34" charset="0"/>
              </a:rPr>
              <a:t>（建议用</a:t>
            </a:r>
            <a:r>
              <a:rPr kumimoji="1" lang="en-US" altLang="zh-CN" sz="2400" b="0" dirty="0" err="1">
                <a:latin typeface="Tahoma" panose="020B0604030504040204" pitchFamily="34" charset="0"/>
              </a:rPr>
              <a:t>typename</a:t>
            </a:r>
            <a:r>
              <a:rPr kumimoji="1" lang="en-US" altLang="zh-CN" sz="2400" b="0" dirty="0">
                <a:latin typeface="Tahoma" panose="020B0604030504040204" pitchFamily="34" charset="0"/>
              </a:rPr>
              <a:t> </a:t>
            </a:r>
            <a:r>
              <a:rPr kumimoji="1" lang="zh-CN" altLang="en-US" sz="2400" b="0" dirty="0">
                <a:latin typeface="Tahoma" panose="020B0604030504040204" pitchFamily="34" charset="0"/>
              </a:rPr>
              <a:t>） 后加一个标识符构成，这两个关键字的意义相同。</a:t>
            </a:r>
            <a:endParaRPr kumimoji="1" lang="zh-CN" altLang="en-US" sz="2400" b="0" dirty="0">
              <a:latin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CN" sz="2400" b="0" dirty="0">
              <a:latin typeface="Tahom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zh-CN" altLang="en-US" sz="2400" b="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888759" y="520463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例：函数模板</a:t>
            </a:r>
            <a:r>
              <a:rPr kumimoji="1" lang="zh-CN" altLang="en-US" sz="32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定义</a:t>
            </a:r>
            <a:endParaRPr kumimoji="1" lang="zh-CN" altLang="en-US" sz="32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823924" y="1053851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YaHei"/>
                <a:ea typeface="微软雅黑" panose="020B0503020204020204" pitchFamily="34" charset="-122"/>
                <a:cs typeface="+mn-cs"/>
              </a:rPr>
              <a:t>学习目标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: 圆角 17"/>
          <p:cNvSpPr/>
          <p:nvPr/>
        </p:nvSpPr>
        <p:spPr>
          <a:xfrm>
            <a:off x="2525210" y="1273108"/>
            <a:ext cx="7141580" cy="1964333"/>
          </a:xfrm>
          <a:custGeom>
            <a:avLst/>
            <a:gdLst>
              <a:gd name="connsiteX0" fmla="*/ 0 w 8704052"/>
              <a:gd name="connsiteY0" fmla="*/ 149608 h 2074717"/>
              <a:gd name="connsiteX1" fmla="*/ 149608 w 8704052"/>
              <a:gd name="connsiteY1" fmla="*/ 0 h 2074717"/>
              <a:gd name="connsiteX2" fmla="*/ 8554444 w 8704052"/>
              <a:gd name="connsiteY2" fmla="*/ 0 h 2074717"/>
              <a:gd name="connsiteX3" fmla="*/ 8704052 w 8704052"/>
              <a:gd name="connsiteY3" fmla="*/ 149608 h 2074717"/>
              <a:gd name="connsiteX4" fmla="*/ 8704052 w 8704052"/>
              <a:gd name="connsiteY4" fmla="*/ 1925109 h 2074717"/>
              <a:gd name="connsiteX5" fmla="*/ 8554444 w 8704052"/>
              <a:gd name="connsiteY5" fmla="*/ 2074717 h 2074717"/>
              <a:gd name="connsiteX6" fmla="*/ 149608 w 8704052"/>
              <a:gd name="connsiteY6" fmla="*/ 2074717 h 2074717"/>
              <a:gd name="connsiteX7" fmla="*/ 0 w 8704052"/>
              <a:gd name="connsiteY7" fmla="*/ 1925109 h 2074717"/>
              <a:gd name="connsiteX8" fmla="*/ 0 w 8704052"/>
              <a:gd name="connsiteY8" fmla="*/ 149608 h 2074717"/>
              <a:gd name="connsiteX0-1" fmla="*/ 0 w 8704052"/>
              <a:gd name="connsiteY0-2" fmla="*/ 195256 h 2120365"/>
              <a:gd name="connsiteX1-3" fmla="*/ 8554444 w 8704052"/>
              <a:gd name="connsiteY1-4" fmla="*/ 45648 h 2120365"/>
              <a:gd name="connsiteX2-5" fmla="*/ 8704052 w 8704052"/>
              <a:gd name="connsiteY2-6" fmla="*/ 195256 h 2120365"/>
              <a:gd name="connsiteX3-7" fmla="*/ 8704052 w 8704052"/>
              <a:gd name="connsiteY3-8" fmla="*/ 1970757 h 2120365"/>
              <a:gd name="connsiteX4-9" fmla="*/ 8554444 w 8704052"/>
              <a:gd name="connsiteY4-10" fmla="*/ 2120365 h 2120365"/>
              <a:gd name="connsiteX5-11" fmla="*/ 149608 w 8704052"/>
              <a:gd name="connsiteY5-12" fmla="*/ 2120365 h 2120365"/>
              <a:gd name="connsiteX6-13" fmla="*/ 0 w 8704052"/>
              <a:gd name="connsiteY6-14" fmla="*/ 1970757 h 2120365"/>
              <a:gd name="connsiteX7-15" fmla="*/ 0 w 8704052"/>
              <a:gd name="connsiteY7-16" fmla="*/ 195256 h 2120365"/>
              <a:gd name="connsiteX0-17" fmla="*/ 0 w 8704052"/>
              <a:gd name="connsiteY0-18" fmla="*/ 140268 h 2224127"/>
              <a:gd name="connsiteX1-19" fmla="*/ 8554444 w 8704052"/>
              <a:gd name="connsiteY1-20" fmla="*/ 149410 h 2224127"/>
              <a:gd name="connsiteX2-21" fmla="*/ 8704052 w 8704052"/>
              <a:gd name="connsiteY2-22" fmla="*/ 299018 h 2224127"/>
              <a:gd name="connsiteX3-23" fmla="*/ 8704052 w 8704052"/>
              <a:gd name="connsiteY3-24" fmla="*/ 2074519 h 2224127"/>
              <a:gd name="connsiteX4-25" fmla="*/ 8554444 w 8704052"/>
              <a:gd name="connsiteY4-26" fmla="*/ 2224127 h 2224127"/>
              <a:gd name="connsiteX5-27" fmla="*/ 149608 w 8704052"/>
              <a:gd name="connsiteY5-28" fmla="*/ 2224127 h 2224127"/>
              <a:gd name="connsiteX6-29" fmla="*/ 0 w 8704052"/>
              <a:gd name="connsiteY6-30" fmla="*/ 2074519 h 2224127"/>
              <a:gd name="connsiteX7-31" fmla="*/ 0 w 8704052"/>
              <a:gd name="connsiteY7-32" fmla="*/ 140268 h 2224127"/>
              <a:gd name="connsiteX0-33" fmla="*/ 0 w 8704052"/>
              <a:gd name="connsiteY0-34" fmla="*/ 0 h 2083859"/>
              <a:gd name="connsiteX1-35" fmla="*/ 8554444 w 8704052"/>
              <a:gd name="connsiteY1-36" fmla="*/ 9142 h 2083859"/>
              <a:gd name="connsiteX2-37" fmla="*/ 8704052 w 8704052"/>
              <a:gd name="connsiteY2-38" fmla="*/ 158750 h 2083859"/>
              <a:gd name="connsiteX3-39" fmla="*/ 8704052 w 8704052"/>
              <a:gd name="connsiteY3-40" fmla="*/ 1934251 h 2083859"/>
              <a:gd name="connsiteX4-41" fmla="*/ 8554444 w 8704052"/>
              <a:gd name="connsiteY4-42" fmla="*/ 2083859 h 2083859"/>
              <a:gd name="connsiteX5-43" fmla="*/ 149608 w 8704052"/>
              <a:gd name="connsiteY5-44" fmla="*/ 2083859 h 2083859"/>
              <a:gd name="connsiteX6-45" fmla="*/ 0 w 8704052"/>
              <a:gd name="connsiteY6-46" fmla="*/ 1934251 h 2083859"/>
              <a:gd name="connsiteX7-47" fmla="*/ 0 w 8704052"/>
              <a:gd name="connsiteY7-48" fmla="*/ 0 h 2083859"/>
              <a:gd name="connsiteX0-49" fmla="*/ 0 w 8704052"/>
              <a:gd name="connsiteY0-50" fmla="*/ 0 h 2083859"/>
              <a:gd name="connsiteX1-51" fmla="*/ 8704052 w 8704052"/>
              <a:gd name="connsiteY1-52" fmla="*/ 158750 h 2083859"/>
              <a:gd name="connsiteX2-53" fmla="*/ 8704052 w 8704052"/>
              <a:gd name="connsiteY2-54" fmla="*/ 1934251 h 2083859"/>
              <a:gd name="connsiteX3-55" fmla="*/ 8554444 w 8704052"/>
              <a:gd name="connsiteY3-56" fmla="*/ 2083859 h 2083859"/>
              <a:gd name="connsiteX4-57" fmla="*/ 149608 w 8704052"/>
              <a:gd name="connsiteY4-58" fmla="*/ 2083859 h 2083859"/>
              <a:gd name="connsiteX5-59" fmla="*/ 0 w 8704052"/>
              <a:gd name="connsiteY5-60" fmla="*/ 1934251 h 2083859"/>
              <a:gd name="connsiteX6-61" fmla="*/ 0 w 8704052"/>
              <a:gd name="connsiteY6-62" fmla="*/ 0 h 2083859"/>
              <a:gd name="connsiteX0-63" fmla="*/ 0 w 8704052"/>
              <a:gd name="connsiteY0-64" fmla="*/ 0 h 2083859"/>
              <a:gd name="connsiteX1-65" fmla="*/ 8704052 w 8704052"/>
              <a:gd name="connsiteY1-66" fmla="*/ 19050 h 2083859"/>
              <a:gd name="connsiteX2-67" fmla="*/ 8704052 w 8704052"/>
              <a:gd name="connsiteY2-68" fmla="*/ 1934251 h 2083859"/>
              <a:gd name="connsiteX3-69" fmla="*/ 8554444 w 8704052"/>
              <a:gd name="connsiteY3-70" fmla="*/ 2083859 h 2083859"/>
              <a:gd name="connsiteX4-71" fmla="*/ 149608 w 8704052"/>
              <a:gd name="connsiteY4-72" fmla="*/ 2083859 h 2083859"/>
              <a:gd name="connsiteX5-73" fmla="*/ 0 w 8704052"/>
              <a:gd name="connsiteY5-74" fmla="*/ 1934251 h 2083859"/>
              <a:gd name="connsiteX6-75" fmla="*/ 0 w 8704052"/>
              <a:gd name="connsiteY6-76" fmla="*/ 0 h 2083859"/>
              <a:gd name="connsiteX0-77" fmla="*/ 0 w 8704052"/>
              <a:gd name="connsiteY0-78" fmla="*/ 0 h 2083859"/>
              <a:gd name="connsiteX1-79" fmla="*/ 8699290 w 8704052"/>
              <a:gd name="connsiteY1-80" fmla="*/ 4763 h 2083859"/>
              <a:gd name="connsiteX2-81" fmla="*/ 8704052 w 8704052"/>
              <a:gd name="connsiteY2-82" fmla="*/ 1934251 h 2083859"/>
              <a:gd name="connsiteX3-83" fmla="*/ 8554444 w 8704052"/>
              <a:gd name="connsiteY3-84" fmla="*/ 2083859 h 2083859"/>
              <a:gd name="connsiteX4-85" fmla="*/ 149608 w 8704052"/>
              <a:gd name="connsiteY4-86" fmla="*/ 2083859 h 2083859"/>
              <a:gd name="connsiteX5-87" fmla="*/ 0 w 8704052"/>
              <a:gd name="connsiteY5-88" fmla="*/ 1934251 h 2083859"/>
              <a:gd name="connsiteX6-89" fmla="*/ 0 w 8704052"/>
              <a:gd name="connsiteY6-90" fmla="*/ 0 h 20838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8704052" h="2083859">
                <a:moveTo>
                  <a:pt x="0" y="0"/>
                </a:moveTo>
                <a:lnTo>
                  <a:pt x="8699290" y="4763"/>
                </a:lnTo>
                <a:cubicBezTo>
                  <a:pt x="8700877" y="647926"/>
                  <a:pt x="8702465" y="1291088"/>
                  <a:pt x="8704052" y="1934251"/>
                </a:cubicBezTo>
                <a:cubicBezTo>
                  <a:pt x="8704052" y="2016877"/>
                  <a:pt x="8637070" y="2083859"/>
                  <a:pt x="8554444" y="2083859"/>
                </a:cubicBezTo>
                <a:lnTo>
                  <a:pt x="149608" y="2083859"/>
                </a:lnTo>
                <a:cubicBezTo>
                  <a:pt x="66982" y="2083859"/>
                  <a:pt x="0" y="2016877"/>
                  <a:pt x="0" y="1934251"/>
                </a:cubicBezTo>
                <a:lnTo>
                  <a:pt x="0" y="0"/>
                </a:lnTo>
                <a:close/>
              </a:path>
            </a:pathLst>
          </a:custGeom>
          <a:solidFill>
            <a:srgbClr val="E8EE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ts val="2800"/>
              </a:lnSpc>
              <a:buClr>
                <a:srgbClr val="151DC1"/>
              </a:buClr>
              <a:buSzPct val="80000"/>
            </a:pP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template</a:t>
            </a:r>
            <a:r>
              <a:rPr lang="en-US" altLang="zh-CN" sz="2400" dirty="0">
                <a:solidFill>
                  <a:prstClr val="black"/>
                </a:solidFill>
                <a:latin typeface="Consolas" panose="020B0609020204030204" pitchFamily="49" charset="0"/>
              </a:rPr>
              <a:t> &lt;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typename</a:t>
            </a:r>
            <a:r>
              <a:rPr lang="en-US" altLang="zh-CN" sz="2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0066FF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prstClr val="black"/>
                </a:solidFill>
                <a:latin typeface="Consolas" panose="020B0609020204030204" pitchFamily="49" charset="0"/>
              </a:rPr>
              <a:t>&gt;</a:t>
            </a:r>
            <a:endParaRPr lang="en-US" altLang="zh-CN" sz="2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lvl="0">
              <a:lnSpc>
                <a:spcPts val="2800"/>
              </a:lnSpc>
              <a:buClr>
                <a:srgbClr val="151DC1"/>
              </a:buClr>
              <a:buSzPct val="80000"/>
            </a:pPr>
            <a:r>
              <a:rPr lang="en-US" altLang="zh-CN" sz="2400" dirty="0">
                <a:solidFill>
                  <a:srgbClr val="212AE7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sz="2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prstClr val="black"/>
                </a:solidFill>
                <a:latin typeface="Consolas" panose="020B0609020204030204" pitchFamily="49" charset="0"/>
              </a:rPr>
              <a:t> &amp; </a:t>
            </a:r>
            <a:r>
              <a:rPr lang="en-US" altLang="zh-CN" sz="2400" dirty="0" err="1">
                <a:solidFill>
                  <a:prstClr val="black"/>
                </a:solidFill>
                <a:latin typeface="Consolas" panose="020B0609020204030204" pitchFamily="49" charset="0"/>
              </a:rPr>
              <a:t>getMax</a:t>
            </a:r>
            <a:r>
              <a:rPr lang="en-US" altLang="zh-CN" sz="2400" dirty="0">
                <a:solidFill>
                  <a:prstClr val="black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dirty="0">
                <a:solidFill>
                  <a:srgbClr val="212AE7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sz="2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prstClr val="black"/>
                </a:solidFill>
                <a:latin typeface="Consolas" panose="020B0609020204030204" pitchFamily="49" charset="0"/>
              </a:rPr>
              <a:t> &amp;a, </a:t>
            </a:r>
            <a:r>
              <a:rPr lang="en-US" altLang="zh-CN" sz="2400" dirty="0">
                <a:solidFill>
                  <a:srgbClr val="212AE7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sz="2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prstClr val="black"/>
                </a:solidFill>
                <a:latin typeface="Consolas" panose="020B0609020204030204" pitchFamily="49" charset="0"/>
              </a:rPr>
              <a:t> &amp;b){</a:t>
            </a:r>
            <a:endParaRPr lang="en-US" altLang="zh-CN" sz="2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lvl="0">
              <a:lnSpc>
                <a:spcPts val="2800"/>
              </a:lnSpc>
              <a:buClr>
                <a:srgbClr val="151DC1"/>
              </a:buClr>
              <a:buSzPct val="80000"/>
            </a:pPr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altLang="zh-CN" sz="2400" dirty="0">
                <a:solidFill>
                  <a:prstClr val="black"/>
                </a:solidFill>
                <a:latin typeface="Consolas" panose="020B0609020204030204" pitchFamily="49" charset="0"/>
              </a:rPr>
              <a:t> a&gt;b ? a : b;</a:t>
            </a:r>
            <a:endParaRPr lang="en-US" altLang="zh-CN" sz="2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lvl="0">
              <a:lnSpc>
                <a:spcPts val="2800"/>
              </a:lnSpc>
              <a:buClr>
                <a:srgbClr val="151DC1"/>
              </a:buClr>
              <a:buSzPct val="80000"/>
            </a:pPr>
            <a:r>
              <a:rPr lang="en-US" altLang="zh-CN" sz="2400" dirty="0">
                <a:solidFill>
                  <a:prstClr val="black"/>
                </a:solidFill>
                <a:latin typeface="Consolas" panose="020B0609020204030204" pitchFamily="49" charset="0"/>
              </a:rPr>
              <a:t>}</a:t>
            </a:r>
            <a:endParaRPr lang="en-US" altLang="zh-CN" sz="24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5210" y="3620560"/>
            <a:ext cx="3238982" cy="280036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095275" y="4066637"/>
            <a:ext cx="27547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模板定义示例中，</a:t>
            </a:r>
            <a:r>
              <a:rPr lang="en-US" altLang="zh-CN" sz="2800" b="1" dirty="0">
                <a:solidFill>
                  <a:srgbClr val="0066FF"/>
                </a:solidFill>
              </a:rPr>
              <a:t>T</a:t>
            </a:r>
            <a:r>
              <a:rPr lang="zh-CN" altLang="en-US" sz="2800" dirty="0"/>
              <a:t>为</a:t>
            </a:r>
            <a:r>
              <a:rPr lang="zh-CN" altLang="en-US" sz="2800" dirty="0">
                <a:solidFill>
                  <a:srgbClr val="FF0000"/>
                </a:solidFill>
              </a:rPr>
              <a:t>类型参数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888759" y="520463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例：函数模板</a:t>
            </a:r>
            <a:r>
              <a:rPr kumimoji="1" lang="zh-CN" altLang="en-US" sz="32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定义</a:t>
            </a:r>
            <a:endParaRPr kumimoji="1" lang="zh-CN" altLang="en-US" sz="32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823924" y="1053851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YaHei"/>
                <a:ea typeface="微软雅黑" panose="020B0503020204020204" pitchFamily="34" charset="-122"/>
                <a:cs typeface="+mn-cs"/>
              </a:rPr>
              <a:t>学习目标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6815" y="1379855"/>
            <a:ext cx="7599680" cy="43370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511970" y="4524167"/>
            <a:ext cx="27316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模板定义示例中，</a:t>
            </a:r>
            <a:r>
              <a:rPr lang="en-US" altLang="zh-CN" sz="2800" b="1" dirty="0">
                <a:solidFill>
                  <a:srgbClr val="0066FF"/>
                </a:solidFill>
              </a:rPr>
              <a:t>T</a:t>
            </a:r>
            <a:r>
              <a:rPr lang="zh-CN" altLang="en-US" sz="2800" dirty="0"/>
              <a:t>为</a:t>
            </a:r>
            <a:r>
              <a:rPr lang="zh-CN" altLang="en-US" sz="2800" dirty="0">
                <a:solidFill>
                  <a:srgbClr val="FF0000"/>
                </a:solidFill>
              </a:rPr>
              <a:t>类型参数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55420" y="360859"/>
            <a:ext cx="62917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函数模板定义中也可以有</a:t>
            </a:r>
            <a:r>
              <a:rPr kumimoji="1" lang="zh-CN" altLang="en-US" sz="2800" dirty="0">
                <a:solidFill>
                  <a:srgbClr val="0066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非类型参数</a:t>
            </a:r>
            <a:endParaRPr kumimoji="1" lang="zh-CN" altLang="en-US" sz="2800" dirty="0">
              <a:solidFill>
                <a:srgbClr val="0066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063357" y="5895150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D33FD5-61D2-4238-98DB-DB8C208BC9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51DC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51DC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23613" y="1734728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YaHei"/>
                <a:ea typeface="微软雅黑" panose="020B0503020204020204" pitchFamily="34" charset="-122"/>
                <a:cs typeface="+mn-cs"/>
              </a:rPr>
              <a:t>学习目标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55420" y="1047234"/>
            <a:ext cx="53142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例：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以下两组代码中，模板参数有什么区别？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955420" y="1610499"/>
            <a:ext cx="5946715" cy="1818502"/>
            <a:chOff x="219974" y="2044323"/>
            <a:chExt cx="8704052" cy="1344409"/>
          </a:xfrm>
        </p:grpSpPr>
        <p:sp>
          <p:nvSpPr>
            <p:cNvPr id="17" name="矩形: 圆顶角 16"/>
            <p:cNvSpPr/>
            <p:nvPr/>
          </p:nvSpPr>
          <p:spPr>
            <a:xfrm>
              <a:off x="219974" y="2044323"/>
              <a:ext cx="8704052" cy="35030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foo 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函数定义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矩形: 圆角 17"/>
            <p:cNvSpPr/>
            <p:nvPr/>
          </p:nvSpPr>
          <p:spPr>
            <a:xfrm>
              <a:off x="219974" y="2394630"/>
              <a:ext cx="8704052" cy="994102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1DC1"/>
                </a:buClr>
                <a:buSzPct val="80000"/>
                <a:buFontTx/>
                <a:buNone/>
                <a:defRPr/>
              </a:pP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12AE7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template</a:t>
              </a: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 &lt;</a:t>
              </a: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12AE7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typename</a:t>
              </a: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T</a:t>
              </a: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, </a:t>
              </a: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12AE7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typename</a:t>
              </a: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U</a:t>
              </a: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&gt;</a:t>
              </a:r>
              <a:endPara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1DC1"/>
                </a:buClr>
                <a:buSzPct val="80000"/>
                <a:buFontTx/>
                <a:buNone/>
                <a:defRPr/>
              </a:pP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T</a:t>
              </a: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 foo(const </a:t>
              </a: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T</a:t>
              </a: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 &amp;t, const </a:t>
              </a: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U</a:t>
              </a: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 &amp;u) {</a:t>
              </a:r>
              <a:endPara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1DC1"/>
                </a:buClr>
                <a:buSzPct val="80000"/>
                <a:buFontTx/>
                <a:buNone/>
                <a:defRPr/>
              </a:pP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12AE7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	return</a:t>
              </a: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T</a:t>
              </a: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(t);</a:t>
              </a:r>
              <a:endPara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1DC1"/>
                </a:buClr>
                <a:buSzPct val="80000"/>
                <a:buFontTx/>
                <a:buNone/>
                <a:defRPr/>
              </a:pP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}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955420" y="3544958"/>
            <a:ext cx="5946715" cy="2855843"/>
            <a:chOff x="219974" y="2044323"/>
            <a:chExt cx="8704052" cy="2111310"/>
          </a:xfrm>
        </p:grpSpPr>
        <p:sp>
          <p:nvSpPr>
            <p:cNvPr id="20" name="矩形: 圆顶角 19"/>
            <p:cNvSpPr/>
            <p:nvPr/>
          </p:nvSpPr>
          <p:spPr>
            <a:xfrm>
              <a:off x="219974" y="2044323"/>
              <a:ext cx="8704052" cy="35030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maxElem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函数定义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" name="矩形: 圆角 17"/>
            <p:cNvSpPr/>
            <p:nvPr/>
          </p:nvSpPr>
          <p:spPr>
            <a:xfrm>
              <a:off x="219974" y="2394630"/>
              <a:ext cx="8704052" cy="1761003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1DC1"/>
                </a:buClr>
                <a:buSzPct val="80000"/>
                <a:buFontTx/>
                <a:buNone/>
                <a:defRPr/>
              </a:pPr>
              <a:endParaRPr kumimoji="0" lang="fr-FR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1DC1"/>
                </a:buClr>
                <a:buSzPct val="80000"/>
                <a:buFontTx/>
                <a:buNone/>
                <a:defRPr/>
              </a:pP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12AE7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template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&lt;</a:t>
              </a: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12AE7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 typename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T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,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int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 size&gt;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1DC1"/>
                </a:buClr>
                <a:buSzPct val="80000"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51DC1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const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T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&amp; 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maxElem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(</a:t>
              </a: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T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 (&amp;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arr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)[size]) {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1DC1"/>
                </a:buClr>
                <a:buSzPct val="80000"/>
                <a:buFontTx/>
                <a:buNone/>
                <a:defRPr/>
              </a:pPr>
              <a:r>
                <a:rPr kumimoji="0" lang="fr-FR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	T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 *p = &amp;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arr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[0];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1DC1"/>
                </a:buClr>
                <a:buSzPct val="80000"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	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12AE7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for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 (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12AE7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auto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i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 = 0; 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i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 &lt; size; ++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i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)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1DC1"/>
                </a:buClr>
                <a:buSzPct val="80000"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		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12AE7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if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(*p &lt; 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arr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[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i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])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1DC1"/>
                </a:buClr>
                <a:buSzPct val="80000"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			p = &amp;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arr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[</a:t>
              </a: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i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];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1DC1"/>
                </a:buClr>
                <a:buSzPct val="80000"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	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12AE7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return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 *p;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1DC1"/>
                </a:buClr>
                <a:buSzPct val="80000"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}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7498383" y="1075245"/>
            <a:ext cx="2855321" cy="1845409"/>
            <a:chOff x="219974" y="2044324"/>
            <a:chExt cx="8704052" cy="961619"/>
          </a:xfrm>
        </p:grpSpPr>
        <p:sp>
          <p:nvSpPr>
            <p:cNvPr id="33" name="矩形: 圆顶角 32"/>
            <p:cNvSpPr/>
            <p:nvPr/>
          </p:nvSpPr>
          <p:spPr>
            <a:xfrm>
              <a:off x="219974" y="2044324"/>
              <a:ext cx="8704052" cy="246743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26268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类型参数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" name="矩形: 圆角 17"/>
            <p:cNvSpPr/>
            <p:nvPr/>
          </p:nvSpPr>
          <p:spPr>
            <a:xfrm>
              <a:off x="219974" y="2275854"/>
              <a:ext cx="8704052" cy="730089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9E9F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作为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类型说明符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，指定函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数的返回值类型、形参类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型以及函数体内对象的类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ts val="2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型等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7498382" y="3014825"/>
            <a:ext cx="2855321" cy="1582519"/>
            <a:chOff x="219974" y="2044324"/>
            <a:chExt cx="8704052" cy="824630"/>
          </a:xfrm>
        </p:grpSpPr>
        <p:sp>
          <p:nvSpPr>
            <p:cNvPr id="36" name="矩形: 圆顶角 35"/>
            <p:cNvSpPr/>
            <p:nvPr/>
          </p:nvSpPr>
          <p:spPr>
            <a:xfrm>
              <a:off x="219974" y="2044324"/>
              <a:ext cx="8704052" cy="246743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26268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非类型参数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" name="矩形: 圆角 17"/>
            <p:cNvSpPr/>
            <p:nvPr/>
          </p:nvSpPr>
          <p:spPr>
            <a:xfrm>
              <a:off x="219974" y="2275854"/>
              <a:ext cx="8704052" cy="593100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9E9F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代表一个值，当编译器实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例化该模板时必须要为其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提供一个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常量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表达式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7498383" y="4732213"/>
            <a:ext cx="2855320" cy="1644049"/>
            <a:chOff x="219974" y="2044323"/>
            <a:chExt cx="8704052" cy="658176"/>
          </a:xfrm>
        </p:grpSpPr>
        <p:sp>
          <p:nvSpPr>
            <p:cNvPr id="39" name="矩形: 圆顶角 38"/>
            <p:cNvSpPr/>
            <p:nvPr/>
          </p:nvSpPr>
          <p:spPr>
            <a:xfrm>
              <a:off x="219974" y="2044323"/>
              <a:ext cx="8704052" cy="18956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E0AB5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/>
                <a:t>说明</a:t>
              </a:r>
              <a:endParaRPr lang="zh-CN" altLang="en-US" sz="2000" dirty="0"/>
            </a:p>
          </p:txBody>
        </p:sp>
        <p:sp>
          <p:nvSpPr>
            <p:cNvPr id="40" name="矩形: 圆角 17"/>
            <p:cNvSpPr/>
            <p:nvPr/>
          </p:nvSpPr>
          <p:spPr>
            <a:xfrm>
              <a:off x="219974" y="2221960"/>
              <a:ext cx="8704052" cy="480539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F6E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>
                <a:buClr>
                  <a:srgbClr val="151DC1"/>
                </a:buClr>
              </a:pPr>
              <a:r>
                <a:rPr lang="en-US" altLang="zh-CN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maxElem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函数模板中的函数形参 </a:t>
              </a:r>
              <a:r>
                <a:rPr lang="en-US" altLang="zh-CN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arr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为一个指向含有 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size </a:t>
              </a: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个 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T </a:t>
              </a: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类型数据元素数组的引用 </a:t>
              </a:r>
              <a:endParaRPr lang="en-US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888759" y="520463"/>
            <a:ext cx="35639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函数模板</a:t>
            </a:r>
            <a:r>
              <a:rPr kumimoji="1" lang="zh-CN" altLang="en-US" sz="32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实例化</a:t>
            </a:r>
            <a:endParaRPr kumimoji="1" lang="zh-CN" altLang="en-US" sz="320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33669" y="1154933"/>
            <a:ext cx="8984973" cy="4154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函数模板定义中的类型参数在程序运行中会被各种内置（基本）类型或用户定义类型所置换。</a:t>
            </a: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函数模板中类型和值的置换过程称为</a:t>
            </a:r>
            <a:r>
              <a:rPr kumimoji="1" lang="zh-CN" altLang="en-US" sz="2400" dirty="0">
                <a:solidFill>
                  <a:srgbClr val="FF0000"/>
                </a:solidFill>
              </a:rPr>
              <a:t>模板实例化 </a:t>
            </a:r>
            <a:r>
              <a:rPr kumimoji="1" lang="en-US" altLang="zh-CN" sz="2400" dirty="0"/>
              <a:t>(template instantiation)</a:t>
            </a:r>
            <a:r>
              <a:rPr kumimoji="1" lang="zh-CN" altLang="en-US" sz="2400" dirty="0"/>
              <a:t>。</a:t>
            </a: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在</a:t>
            </a:r>
            <a:r>
              <a:rPr lang="en-US" altLang="zh-CN" sz="2400" dirty="0"/>
              <a:t>main()</a:t>
            </a:r>
            <a:r>
              <a:rPr lang="zh-CN" altLang="en-US" sz="2400" dirty="0"/>
              <a:t>函数中，由调用</a:t>
            </a:r>
            <a:r>
              <a:rPr lang="zh-CN" altLang="en-US" sz="2400" b="1" dirty="0">
                <a:solidFill>
                  <a:srgbClr val="0066FF"/>
                </a:solidFill>
              </a:rPr>
              <a:t>函数模板</a:t>
            </a:r>
            <a:r>
              <a:rPr lang="en-US" altLang="zh-CN" sz="2400" b="1" dirty="0">
                <a:solidFill>
                  <a:srgbClr val="0066FF"/>
                </a:solidFill>
              </a:rPr>
              <a:t>(function template) </a:t>
            </a:r>
            <a:r>
              <a:rPr lang="zh-CN" altLang="en-US" sz="2400" dirty="0"/>
              <a:t>而生成的函数，称为</a:t>
            </a:r>
            <a:r>
              <a:rPr lang="zh-CN" altLang="en-US" sz="2400" b="1" dirty="0">
                <a:solidFill>
                  <a:srgbClr val="FF0000"/>
                </a:solidFill>
              </a:rPr>
              <a:t>模板函数</a:t>
            </a:r>
            <a:r>
              <a:rPr lang="en-US" altLang="zh-CN" sz="2400" b="1" dirty="0">
                <a:solidFill>
                  <a:srgbClr val="FF0000"/>
                </a:solidFill>
              </a:rPr>
              <a:t>(template function)</a:t>
            </a:r>
            <a:r>
              <a:rPr lang="zh-CN" altLang="en-US" sz="2400" dirty="0"/>
              <a:t>。</a:t>
            </a: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函数模板根据一组实际类型或（和）值构造出独立的函数的过程通常是隐式发生的，称为</a:t>
            </a:r>
            <a:r>
              <a:rPr kumimoji="1" lang="zh-CN" altLang="en-US" sz="2400" dirty="0">
                <a:solidFill>
                  <a:srgbClr val="FF0000"/>
                </a:solidFill>
              </a:rPr>
              <a:t>模板实参推演（推断）</a:t>
            </a:r>
            <a:r>
              <a:rPr kumimoji="1" lang="en-US" altLang="zh-CN" sz="2400" dirty="0"/>
              <a:t>(template argument deduction)</a:t>
            </a:r>
            <a:r>
              <a:rPr kumimoji="1" lang="zh-CN" altLang="en-US" sz="2400" dirty="0"/>
              <a:t>。</a:t>
            </a: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模板实例化也是一种</a:t>
            </a:r>
            <a:r>
              <a:rPr kumimoji="1" lang="zh-CN" altLang="en-US" sz="2400" dirty="0">
                <a:solidFill>
                  <a:srgbClr val="0066FF"/>
                </a:solidFill>
              </a:rPr>
              <a:t>多态</a:t>
            </a:r>
            <a:r>
              <a:rPr kumimoji="1" lang="zh-CN" altLang="en-US" sz="2400" dirty="0"/>
              <a:t>。（编译时多态）</a:t>
            </a: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888759" y="520463"/>
            <a:ext cx="6079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例：函数模板实例化</a:t>
            </a:r>
            <a:r>
              <a:rPr kumimoji="1" lang="en-US" altLang="zh-CN" sz="28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kumimoji="1" lang="zh-CN" altLang="en-US" sz="28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使用函数模板</a:t>
            </a:r>
            <a:r>
              <a:rPr kumimoji="1" lang="en-US" altLang="zh-CN" sz="28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  <a:endParaRPr kumimoji="1" lang="zh-CN" altLang="en-US" sz="28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863683" y="1734728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YaHei"/>
                <a:ea typeface="微软雅黑" panose="020B0503020204020204" pitchFamily="34" charset="-122"/>
                <a:cs typeface="+mn-cs"/>
              </a:rPr>
              <a:t>学习目标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98653" y="1096258"/>
            <a:ext cx="79351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000" dirty="0">
                <a:solidFill>
                  <a:prstClr val="black"/>
                </a:solidFill>
              </a:rPr>
              <a:t>实例化模板函数时，使用者需要提供具体的数据类型或值（实参）</a:t>
            </a:r>
            <a:r>
              <a:rPr lang="en-US" altLang="zh-CN" sz="2000" dirty="0">
                <a:solidFill>
                  <a:prstClr val="black"/>
                </a:solidFill>
              </a:rPr>
              <a:t>: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98654" y="1548944"/>
            <a:ext cx="7535118" cy="2510309"/>
            <a:chOff x="219974" y="2044323"/>
            <a:chExt cx="8704052" cy="1716791"/>
          </a:xfrm>
        </p:grpSpPr>
        <p:sp>
          <p:nvSpPr>
            <p:cNvPr id="9" name="矩形: 圆顶角 8"/>
            <p:cNvSpPr/>
            <p:nvPr/>
          </p:nvSpPr>
          <p:spPr>
            <a:xfrm>
              <a:off x="219974" y="2044323"/>
              <a:ext cx="8704052" cy="35030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zh-CN" altLang="en-US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实例化方法一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矩形: 圆角 17"/>
            <p:cNvSpPr/>
            <p:nvPr/>
          </p:nvSpPr>
          <p:spPr>
            <a:xfrm>
              <a:off x="219974" y="2394630"/>
              <a:ext cx="8704052" cy="1366484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cout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 &lt;&lt; </a:t>
              </a:r>
              <a:r>
                <a:rPr lang="en-US" altLang="zh-CN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getMax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(1.0, 2.5) &lt;&lt; </a:t>
              </a:r>
              <a:r>
                <a:rPr lang="en-US" altLang="zh-CN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endl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;</a:t>
              </a:r>
              <a:r>
                <a:rPr lang="en-US" altLang="zh-CN" sz="16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//T</a:t>
              </a:r>
              <a:r>
                <a:rPr lang="zh-CN" altLang="en-US" sz="16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被推断为</a:t>
              </a:r>
              <a:r>
                <a:rPr lang="en-US" altLang="zh-CN" sz="16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double</a:t>
              </a:r>
              <a:endParaRPr lang="en-US" altLang="zh-CN" sz="1600" dirty="0">
                <a:solidFill>
                  <a:schemeClr val="accent6"/>
                </a:solidFill>
                <a:latin typeface="Consolas" panose="020B0609020204030204" pitchFamily="49" charset="0"/>
              </a:endParaRPr>
            </a:p>
            <a:p>
              <a:pPr lvl="0">
                <a:spcBef>
                  <a:spcPts val="600"/>
                </a:spcBef>
                <a:spcAft>
                  <a:spcPts val="600"/>
                </a:spcAft>
                <a:buClr>
                  <a:srgbClr val="151DC1"/>
                </a:buClr>
                <a:buSzPct val="80000"/>
              </a:pP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生成如下函数实例</a:t>
              </a:r>
              <a:endParaRPr lang="zh-CN" alt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dirty="0">
                  <a:solidFill>
                    <a:srgbClr val="0000FF"/>
                  </a:solidFill>
                  <a:latin typeface="Consolas" panose="020B0609020204030204" pitchFamily="49" charset="0"/>
                </a:rPr>
                <a:t>const double 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&amp; </a:t>
              </a:r>
              <a:r>
                <a:rPr lang="en-US" altLang="zh-CN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getMax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zh-CN" dirty="0">
                  <a:solidFill>
                    <a:srgbClr val="0000FF"/>
                  </a:solidFill>
                  <a:latin typeface="Consolas" panose="020B0609020204030204" pitchFamily="49" charset="0"/>
                </a:rPr>
                <a:t>const double 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&amp;a, </a:t>
              </a:r>
              <a:r>
                <a:rPr lang="en-US" altLang="zh-CN" dirty="0">
                  <a:solidFill>
                    <a:srgbClr val="0000FF"/>
                  </a:solidFill>
                  <a:latin typeface="Consolas" panose="020B0609020204030204" pitchFamily="49" charset="0"/>
                </a:rPr>
                <a:t>const double 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&amp;b){</a:t>
              </a:r>
              <a:endParaRPr lang="en-US" altLang="zh-CN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zh-CN" dirty="0">
                  <a:solidFill>
                    <a:srgbClr val="0000FF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 a&gt;b ? a : b;</a:t>
              </a:r>
              <a:endParaRPr lang="en-US" altLang="zh-CN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  <a:endParaRPr lang="en-US" altLang="zh-CN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8577642" y="1580612"/>
            <a:ext cx="2962317" cy="1815307"/>
            <a:chOff x="219971" y="2044323"/>
            <a:chExt cx="10176686" cy="726738"/>
          </a:xfrm>
        </p:grpSpPr>
        <p:sp>
          <p:nvSpPr>
            <p:cNvPr id="13" name="矩形: 圆顶角 12"/>
            <p:cNvSpPr/>
            <p:nvPr/>
          </p:nvSpPr>
          <p:spPr>
            <a:xfrm>
              <a:off x="219971" y="2044323"/>
              <a:ext cx="10176680" cy="234108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E0AB5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/>
                <a:t>说明</a:t>
              </a:r>
              <a:endParaRPr lang="zh-CN" altLang="en-US" sz="2000" dirty="0"/>
            </a:p>
          </p:txBody>
        </p:sp>
        <p:sp>
          <p:nvSpPr>
            <p:cNvPr id="14" name="矩形: 圆角 17"/>
            <p:cNvSpPr/>
            <p:nvPr/>
          </p:nvSpPr>
          <p:spPr>
            <a:xfrm>
              <a:off x="219974" y="2253276"/>
              <a:ext cx="10176683" cy="517785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F6E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spAutoFit/>
            </a:bodyPr>
            <a:lstStyle/>
            <a:p>
              <a:pPr>
                <a:lnSpc>
                  <a:spcPct val="150000"/>
                </a:lnSpc>
                <a:buClr>
                  <a:srgbClr val="151DC1"/>
                </a:buClr>
              </a:pP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编译器在</a:t>
              </a:r>
              <a:r>
                <a:rPr lang="zh-CN" altLang="en-US" dirty="0">
                  <a:solidFill>
                    <a:srgbClr val="FF0000"/>
                  </a:solidFill>
                  <a:latin typeface="Consolas" panose="020B0609020204030204" pitchFamily="49" charset="0"/>
                </a:rPr>
                <a:t>编译</a:t>
              </a: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的过程中，利用</a:t>
              </a:r>
              <a:r>
                <a:rPr lang="zh-CN" altLang="en-US" b="1" dirty="0">
                  <a:solidFill>
                    <a:srgbClr val="0066FF"/>
                  </a:solidFill>
                  <a:latin typeface="Consolas" panose="020B0609020204030204" pitchFamily="49" charset="0"/>
                </a:rPr>
                <a:t>实参</a:t>
              </a: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来</a:t>
              </a:r>
              <a:r>
                <a:rPr lang="zh-CN" altLang="en-US" b="1" dirty="0">
                  <a:solidFill>
                    <a:srgbClr val="0066FF"/>
                  </a:solidFill>
                  <a:latin typeface="Consolas" panose="020B0609020204030204" pitchFamily="49" charset="0"/>
                </a:rPr>
                <a:t>推断</a:t>
              </a: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模板参数的类型</a:t>
              </a:r>
              <a:endParaRPr lang="en-US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8567705" y="4396787"/>
            <a:ext cx="2972254" cy="1418888"/>
            <a:chOff x="219974" y="2044324"/>
            <a:chExt cx="10210824" cy="1133404"/>
          </a:xfrm>
        </p:grpSpPr>
        <p:sp>
          <p:nvSpPr>
            <p:cNvPr id="16" name="矩形: 圆顶角 15"/>
            <p:cNvSpPr/>
            <p:nvPr/>
          </p:nvSpPr>
          <p:spPr>
            <a:xfrm>
              <a:off x="219974" y="2044324"/>
              <a:ext cx="10210824" cy="433359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E0AB5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/>
                <a:t>说明</a:t>
              </a:r>
              <a:endParaRPr lang="zh-CN" altLang="en-US" sz="2000" dirty="0"/>
            </a:p>
          </p:txBody>
        </p:sp>
        <p:sp>
          <p:nvSpPr>
            <p:cNvPr id="17" name="矩形: 圆角 17"/>
            <p:cNvSpPr/>
            <p:nvPr/>
          </p:nvSpPr>
          <p:spPr>
            <a:xfrm>
              <a:off x="219974" y="2476488"/>
              <a:ext cx="10210824" cy="701240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F6E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spAutoFit/>
            </a:bodyPr>
            <a:lstStyle/>
            <a:p>
              <a:pPr>
                <a:lnSpc>
                  <a:spcPct val="150000"/>
                </a:lnSpc>
                <a:buClr>
                  <a:srgbClr val="151DC1"/>
                </a:buClr>
              </a:pP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用户用</a:t>
              </a:r>
              <a:r>
                <a:rPr lang="en-US" altLang="zh-CN" dirty="0">
                  <a:solidFill>
                    <a:srgbClr val="0066FF"/>
                  </a:solidFill>
                  <a:latin typeface="Consolas" panose="020B0609020204030204" pitchFamily="49" charset="0"/>
                </a:rPr>
                <a:t>&lt;</a:t>
              </a:r>
              <a:r>
                <a:rPr lang="zh-CN" altLang="en-US" dirty="0">
                  <a:solidFill>
                    <a:srgbClr val="0066FF"/>
                  </a:solidFill>
                  <a:latin typeface="Consolas" panose="020B0609020204030204" pitchFamily="49" charset="0"/>
                </a:rPr>
                <a:t>类型名</a:t>
              </a:r>
              <a:r>
                <a:rPr lang="en-US" altLang="zh-CN" dirty="0">
                  <a:solidFill>
                    <a:srgbClr val="0066FF"/>
                  </a:solidFill>
                  <a:latin typeface="Consolas" panose="020B0609020204030204" pitchFamily="49" charset="0"/>
                </a:rPr>
                <a:t>&gt;</a:t>
              </a:r>
              <a:r>
                <a:rPr lang="zh-CN" altLang="en-US" b="1" dirty="0">
                  <a:solidFill>
                    <a:srgbClr val="0066FF"/>
                  </a:solidFill>
                  <a:latin typeface="Consolas" panose="020B0609020204030204" pitchFamily="49" charset="0"/>
                </a:rPr>
                <a:t>显式</a:t>
              </a: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地指明模板参数的类型</a:t>
              </a:r>
              <a:endParaRPr lang="en-US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798653" y="4307901"/>
            <a:ext cx="7535118" cy="2002310"/>
            <a:chOff x="219974" y="2044323"/>
            <a:chExt cx="8704052" cy="1369373"/>
          </a:xfrm>
        </p:grpSpPr>
        <p:sp>
          <p:nvSpPr>
            <p:cNvPr id="19" name="矩形: 圆顶角 18"/>
            <p:cNvSpPr/>
            <p:nvPr/>
          </p:nvSpPr>
          <p:spPr>
            <a:xfrm>
              <a:off x="219974" y="2044323"/>
              <a:ext cx="8704052" cy="35030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zh-CN" altLang="en-US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实例化方法二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矩形: 圆角 17"/>
            <p:cNvSpPr/>
            <p:nvPr/>
          </p:nvSpPr>
          <p:spPr>
            <a:xfrm>
              <a:off x="219974" y="2394630"/>
              <a:ext cx="8704052" cy="1019066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spcBef>
                  <a:spcPts val="600"/>
                </a:spcBef>
                <a:buClr>
                  <a:srgbClr val="151DC1"/>
                </a:buClr>
                <a:buSzPct val="80000"/>
              </a:pPr>
              <a:r>
                <a:rPr lang="en-US" altLang="zh-CN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cout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 &lt;&lt; </a:t>
              </a:r>
              <a:r>
                <a:rPr lang="en-US" altLang="zh-CN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getMax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zh-CN" dirty="0">
                  <a:solidFill>
                    <a:srgbClr val="0000FF"/>
                  </a:solidFill>
                  <a:latin typeface="Consolas" panose="020B0609020204030204" pitchFamily="49" charset="0"/>
                </a:rPr>
                <a:t>double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&gt;(1.0, 2.5) &lt;&lt; </a:t>
              </a:r>
              <a:r>
                <a:rPr lang="en-US" altLang="zh-CN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endl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; </a:t>
              </a:r>
              <a:endParaRPr lang="en-US" altLang="zh-CN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spcBef>
                  <a:spcPts val="600"/>
                </a:spcBef>
                <a:spcAft>
                  <a:spcPts val="600"/>
                </a:spcAft>
                <a:buClr>
                  <a:srgbClr val="151DC1"/>
                </a:buClr>
                <a:buSzPct val="80000"/>
              </a:pPr>
              <a:r>
                <a:rPr lang="en-US" altLang="zh-CN" sz="16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// </a:t>
              </a:r>
              <a:r>
                <a:rPr lang="zh-CN" altLang="en-US" sz="16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显式指明</a:t>
              </a:r>
              <a:r>
                <a:rPr lang="en-US" altLang="zh-CN" sz="16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T</a:t>
              </a:r>
              <a:r>
                <a:rPr lang="zh-CN" altLang="en-US" sz="16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为 </a:t>
              </a:r>
              <a:r>
                <a:rPr lang="en-US" altLang="zh-CN" sz="16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double</a:t>
              </a:r>
              <a:endParaRPr lang="en-US" altLang="zh-CN" sz="1600" dirty="0">
                <a:solidFill>
                  <a:schemeClr val="accent6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cout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 &lt;&lt; </a:t>
              </a:r>
              <a:r>
                <a:rPr lang="en-US" altLang="zh-CN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getMax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zh-CN" dirty="0">
                  <a:solidFill>
                    <a:srgbClr val="0000FF"/>
                  </a:solidFill>
                  <a:latin typeface="Consolas" panose="020B0609020204030204" pitchFamily="49" charset="0"/>
                </a:rPr>
                <a:t>string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&gt;(</a:t>
              </a:r>
              <a:r>
                <a:rPr lang="en-US" altLang="zh-CN" dirty="0">
                  <a:solidFill>
                    <a:schemeClr val="accent4">
                      <a:lumMod val="75000"/>
                    </a:schemeClr>
                  </a:solidFill>
                  <a:latin typeface="Consolas" panose="020B0609020204030204" pitchFamily="49" charset="0"/>
                </a:rPr>
                <a:t>"Hi ", "C++"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) &lt;&lt; </a:t>
              </a:r>
              <a:r>
                <a:rPr lang="en-US" altLang="zh-CN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endl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; </a:t>
              </a:r>
              <a:endParaRPr lang="en-US" altLang="zh-CN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spcBef>
                  <a:spcPts val="600"/>
                </a:spcBef>
                <a:buClr>
                  <a:srgbClr val="151DC1"/>
                </a:buClr>
                <a:buSzPct val="80000"/>
              </a:pPr>
              <a:r>
                <a:rPr lang="en-US" altLang="zh-CN" sz="16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// </a:t>
              </a:r>
              <a:r>
                <a:rPr lang="zh-CN" altLang="en-US" sz="16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显式指明</a:t>
              </a:r>
              <a:r>
                <a:rPr lang="en-US" altLang="zh-CN" sz="16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T</a:t>
              </a:r>
              <a:r>
                <a:rPr lang="zh-CN" altLang="en-US" sz="16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为 </a:t>
              </a:r>
              <a:r>
                <a:rPr lang="en-US" altLang="zh-CN" sz="16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string</a:t>
              </a:r>
              <a:endParaRPr lang="en-US" altLang="zh-CN" sz="1600" dirty="0">
                <a:solidFill>
                  <a:schemeClr val="accent6"/>
                </a:solidFill>
                <a:latin typeface="Consolas" panose="020B0609020204030204" pitchFamily="49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765059" y="520463"/>
            <a:ext cx="43193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例：函数模板实例化</a:t>
            </a:r>
            <a:endParaRPr kumimoji="1" lang="zh-CN" altLang="en-US" sz="28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7430" y="1043940"/>
            <a:ext cx="8100695" cy="56705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9105900" y="655983"/>
            <a:ext cx="1292087" cy="1431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236421" y="284960"/>
            <a:ext cx="100951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8000"/>
                </a:solidFill>
                <a:ea typeface="隶书" panose="02010509060101010101" pitchFamily="49" charset="-122"/>
              </a:rPr>
              <a:t>模板函数实例化时，赋值兼容原则引起类型参数的二义性</a:t>
            </a:r>
            <a:endParaRPr lang="zh-CN" altLang="en-US" sz="2800" dirty="0">
              <a:solidFill>
                <a:srgbClr val="008000"/>
              </a:solidFill>
              <a:ea typeface="隶书" panose="020105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2035" y="847860"/>
            <a:ext cx="7189006" cy="197942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38" y="2787548"/>
            <a:ext cx="8515948" cy="874004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362545" y="3621150"/>
            <a:ext cx="94210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8000"/>
                </a:solidFill>
                <a:ea typeface="隶书" panose="02010509060101010101" pitchFamily="49" charset="-122"/>
              </a:rPr>
              <a:t>如何避免此二义性？在函数模板中使用多个类型参数</a:t>
            </a:r>
            <a:endParaRPr lang="en-US" altLang="zh-CN" sz="2800" dirty="0">
              <a:solidFill>
                <a:srgbClr val="008000"/>
              </a:solidFill>
              <a:ea typeface="隶书" panose="02010509060101010101" pitchFamily="49" charset="-122"/>
            </a:endParaRPr>
          </a:p>
          <a:p>
            <a:endParaRPr lang="zh-CN" altLang="en-US" sz="2800" dirty="0">
              <a:solidFill>
                <a:srgbClr val="008000"/>
              </a:solidFill>
              <a:ea typeface="隶书" panose="02010509060101010101" pitchFamily="49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575" y="4068942"/>
            <a:ext cx="7568417" cy="274729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55420" y="360859"/>
            <a:ext cx="73552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类的成员函数也可以定义为函数模板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55420" y="1047234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611209" y="1622614"/>
            <a:ext cx="48166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YaHei"/>
                <a:ea typeface="微软雅黑" panose="020B0503020204020204" pitchFamily="34" charset="-122"/>
                <a:cs typeface="+mn-cs"/>
              </a:rPr>
              <a:t>学习目标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442527" y="1422606"/>
            <a:ext cx="6076355" cy="2203362"/>
            <a:chOff x="219974" y="2044323"/>
            <a:chExt cx="8704052" cy="1571078"/>
          </a:xfrm>
        </p:grpSpPr>
        <p:sp>
          <p:nvSpPr>
            <p:cNvPr id="25" name="矩形: 圆顶角 24"/>
            <p:cNvSpPr/>
            <p:nvPr/>
          </p:nvSpPr>
          <p:spPr>
            <a:xfrm>
              <a:off x="219974" y="2044323"/>
              <a:ext cx="8704052" cy="35030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zh-CN" altLang="en-US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类 </a:t>
              </a:r>
              <a:r>
                <a:rPr lang="en-US" altLang="zh-CN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X </a:t>
              </a:r>
              <a:r>
                <a:rPr lang="zh-CN" altLang="en-US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定义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6" name="矩形: 圆角 17"/>
            <p:cNvSpPr/>
            <p:nvPr/>
          </p:nvSpPr>
          <p:spPr>
            <a:xfrm>
              <a:off x="219974" y="2331536"/>
              <a:ext cx="8704052" cy="1283865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class X{</a:t>
              </a:r>
              <a:endParaRPr lang="en-US" altLang="zh-CN" sz="2000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* 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m_p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= </a:t>
              </a:r>
              <a:r>
                <a:rPr lang="en-US" altLang="zh-CN" sz="20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nullptr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;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public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: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	template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zh-CN" sz="20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typename</a:t>
              </a: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000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</a:rPr>
                <a:t>T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	void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reset(</a:t>
              </a:r>
              <a:r>
                <a:rPr lang="en-US" altLang="zh-CN" sz="2000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</a:rPr>
                <a:t>T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*t) { 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m_p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= t; }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};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442527" y="3736196"/>
            <a:ext cx="6076355" cy="2425786"/>
            <a:chOff x="219974" y="2044324"/>
            <a:chExt cx="8704052" cy="1780459"/>
          </a:xfrm>
        </p:grpSpPr>
        <p:sp>
          <p:nvSpPr>
            <p:cNvPr id="28" name="矩形: 圆顶角 27"/>
            <p:cNvSpPr/>
            <p:nvPr/>
          </p:nvSpPr>
          <p:spPr>
            <a:xfrm>
              <a:off x="219974" y="2044324"/>
              <a:ext cx="8704052" cy="35030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en-US" altLang="zh-CN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reset </a:t>
              </a:r>
              <a:r>
                <a:rPr lang="zh-CN" altLang="en-US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函数调用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" name="矩形: 圆角 17"/>
            <p:cNvSpPr/>
            <p:nvPr/>
          </p:nvSpPr>
          <p:spPr>
            <a:xfrm>
              <a:off x="219974" y="2394631"/>
              <a:ext cx="8704052" cy="1430152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lnSpc>
                  <a:spcPts val="24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 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= 0;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ts val="24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double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d = 0;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ts val="24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X 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x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;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ts val="24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x.reset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(&amp;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); </a:t>
              </a:r>
              <a:r>
                <a:rPr lang="en-US" altLang="zh-CN" sz="20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// </a:t>
              </a:r>
              <a:r>
                <a:rPr lang="zh-CN" altLang="en-US" sz="20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或者</a:t>
              </a:r>
              <a:r>
                <a:rPr lang="en-US" altLang="zh-CN" sz="2000" dirty="0" err="1">
                  <a:solidFill>
                    <a:schemeClr val="accent6"/>
                  </a:solidFill>
                  <a:latin typeface="Consolas" panose="020B0609020204030204" pitchFamily="49" charset="0"/>
                </a:rPr>
                <a:t>x.reset</a:t>
              </a:r>
              <a:r>
                <a:rPr lang="en-US" altLang="zh-CN" sz="20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&lt;int&gt;(&amp;</a:t>
              </a:r>
              <a:r>
                <a:rPr lang="en-US" altLang="zh-CN" sz="2000" dirty="0" err="1">
                  <a:solidFill>
                    <a:schemeClr val="accent6"/>
                  </a:solidFill>
                  <a:latin typeface="Consolas" panose="020B0609020204030204" pitchFamily="49" charset="0"/>
                </a:rPr>
                <a:t>i</a:t>
              </a:r>
              <a:r>
                <a:rPr lang="en-US" altLang="zh-CN" sz="20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);</a:t>
              </a:r>
              <a:endParaRPr lang="en-US" altLang="zh-CN" sz="2000" dirty="0">
                <a:solidFill>
                  <a:schemeClr val="accent6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ts val="24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x.reset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(&amp;d); </a:t>
              </a:r>
              <a:r>
                <a:rPr lang="en-US" altLang="zh-CN" sz="20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// </a:t>
              </a:r>
              <a:r>
                <a:rPr lang="zh-CN" altLang="en-US" sz="20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或者</a:t>
              </a:r>
              <a:r>
                <a:rPr lang="en-US" altLang="zh-CN" sz="2000" dirty="0" err="1">
                  <a:solidFill>
                    <a:schemeClr val="accent6"/>
                  </a:solidFill>
                  <a:latin typeface="Consolas" panose="020B0609020204030204" pitchFamily="49" charset="0"/>
                </a:rPr>
                <a:t>x.reset</a:t>
              </a:r>
              <a:r>
                <a:rPr lang="en-US" altLang="zh-CN" sz="20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&lt;double&gt;(&amp;d);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855071" y="1425254"/>
            <a:ext cx="2894402" cy="1547958"/>
            <a:chOff x="219974" y="2044323"/>
            <a:chExt cx="8704052" cy="619707"/>
          </a:xfrm>
        </p:grpSpPr>
        <p:sp>
          <p:nvSpPr>
            <p:cNvPr id="31" name="矩形: 圆顶角 30"/>
            <p:cNvSpPr/>
            <p:nvPr/>
          </p:nvSpPr>
          <p:spPr>
            <a:xfrm>
              <a:off x="219974" y="2044323"/>
              <a:ext cx="8704052" cy="18956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E0AB5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说明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" name="矩形: 圆角 17"/>
            <p:cNvSpPr/>
            <p:nvPr/>
          </p:nvSpPr>
          <p:spPr>
            <a:xfrm>
              <a:off x="219974" y="2236603"/>
              <a:ext cx="8704052" cy="427427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F6E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 lvl="0">
                <a:lnSpc>
                  <a:spcPts val="2600"/>
                </a:lnSpc>
                <a:buClr>
                  <a:srgbClr val="151DC1"/>
                </a:buClr>
              </a:pP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成员函数 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reset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定义为</a:t>
              </a:r>
              <a:endParaRPr lang="zh-CN" altLang="en-US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ts val="2600"/>
                </a:lnSpc>
                <a:buClr>
                  <a:srgbClr val="151DC1"/>
                </a:buClr>
              </a:pP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一个函数模板，接受不同</a:t>
              </a:r>
              <a:endParaRPr lang="zh-CN" altLang="en-US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ts val="2600"/>
                </a:lnSpc>
                <a:buClr>
                  <a:srgbClr val="151DC1"/>
                </a:buClr>
              </a:pP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类型的指针实参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855071" y="3145674"/>
            <a:ext cx="2894402" cy="3016308"/>
            <a:chOff x="219974" y="2044323"/>
            <a:chExt cx="8704052" cy="1207544"/>
          </a:xfrm>
        </p:grpSpPr>
        <p:sp>
          <p:nvSpPr>
            <p:cNvPr id="43" name="矩形: 圆顶角 42"/>
            <p:cNvSpPr/>
            <p:nvPr/>
          </p:nvSpPr>
          <p:spPr>
            <a:xfrm>
              <a:off x="219974" y="2044323"/>
              <a:ext cx="8704052" cy="18956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E0AB5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说明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4" name="矩形: 圆角 17"/>
            <p:cNvSpPr/>
            <p:nvPr/>
          </p:nvSpPr>
          <p:spPr>
            <a:xfrm>
              <a:off x="219974" y="2236603"/>
              <a:ext cx="8704052" cy="1015264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F6E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 marL="285750" lvl="0" indent="-285750">
                <a:lnSpc>
                  <a:spcPts val="2400"/>
                </a:lnSpc>
                <a:buClr>
                  <a:srgbClr val="151DC1"/>
                </a:buClr>
                <a:buFont typeface="Wingdings" panose="05000000000000000000" pitchFamily="2" charset="2"/>
                <a:buChar char="l"/>
              </a:pP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第一条 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reset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函数调</a:t>
              </a:r>
              <a:endParaRPr lang="en-US" altLang="zh-CN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ts val="2400"/>
                </a:lnSpc>
                <a:buClr>
                  <a:srgbClr val="151DC1"/>
                </a:buClr>
              </a:pP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用中 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T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被推断为 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int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类型，</a:t>
              </a:r>
              <a:r>
                <a:rPr lang="en-US" altLang="zh-CN" dirty="0" err="1">
                  <a:solidFill>
                    <a:prstClr val="black"/>
                  </a:solidFill>
                  <a:latin typeface="Consolas" panose="020B0609020204030204" pitchFamily="49" charset="0"/>
                </a:rPr>
                <a:t>m_p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存放整型对象 </a:t>
              </a:r>
              <a:r>
                <a:rPr lang="en-US" altLang="zh-CN" dirty="0" err="1">
                  <a:solidFill>
                    <a:prstClr val="black"/>
                  </a:solidFill>
                  <a:latin typeface="Consolas" panose="020B0609020204030204" pitchFamily="49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的地址</a:t>
              </a:r>
              <a:endParaRPr lang="en-US" altLang="zh-CN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marL="285750" lvl="0" indent="-285750">
                <a:lnSpc>
                  <a:spcPts val="2400"/>
                </a:lnSpc>
                <a:buClr>
                  <a:srgbClr val="151DC1"/>
                </a:buClr>
                <a:buFont typeface="Wingdings" panose="05000000000000000000" pitchFamily="2" charset="2"/>
                <a:buChar char="l"/>
              </a:pP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第二条 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reset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函数调</a:t>
              </a:r>
              <a:endParaRPr lang="en-US" altLang="zh-CN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ts val="2400"/>
                </a:lnSpc>
                <a:buClr>
                  <a:srgbClr val="151DC1"/>
                </a:buClr>
              </a:pP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用中 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T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被推断为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double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类型，</a:t>
              </a:r>
              <a:r>
                <a:rPr lang="en-US" altLang="zh-CN" dirty="0" err="1">
                  <a:solidFill>
                    <a:prstClr val="black"/>
                  </a:solidFill>
                  <a:latin typeface="Consolas" panose="020B0609020204030204" pitchFamily="49" charset="0"/>
                </a:rPr>
                <a:t>m_p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存放 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double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类对象 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d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的地址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55420" y="360859"/>
            <a:ext cx="73552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可变参函数模板（了解）</a:t>
            </a:r>
            <a:endParaRPr kumimoji="1" lang="zh-CN" altLang="en-US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55420" y="1047234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529160" y="1040457"/>
            <a:ext cx="70503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dirty="0">
                <a:solidFill>
                  <a:prstClr val="black"/>
                </a:solidFill>
              </a:rPr>
              <a:t>C++11 </a:t>
            </a:r>
            <a:r>
              <a:rPr lang="zh-CN" altLang="en-US" sz="2000" dirty="0">
                <a:solidFill>
                  <a:prstClr val="black"/>
                </a:solidFill>
              </a:rPr>
              <a:t>新标准允许使用</a:t>
            </a:r>
            <a:r>
              <a:rPr lang="zh-CN" altLang="en-US" sz="2000" dirty="0">
                <a:solidFill>
                  <a:srgbClr val="FF0000"/>
                </a:solidFill>
              </a:rPr>
              <a:t>数目可变</a:t>
            </a:r>
            <a:r>
              <a:rPr lang="zh-CN" altLang="en-US" sz="2000" dirty="0">
                <a:solidFill>
                  <a:prstClr val="black"/>
                </a:solidFill>
              </a:rPr>
              <a:t>的模板参数：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408927" y="1571565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YaHei"/>
                <a:ea typeface="微软雅黑" panose="020B0503020204020204" pitchFamily="34" charset="-122"/>
                <a:cs typeface="+mn-cs"/>
              </a:rPr>
              <a:t>学习目标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304233" y="1548944"/>
            <a:ext cx="5767696" cy="2210447"/>
            <a:chOff x="219974" y="2044323"/>
            <a:chExt cx="8704052" cy="1634173"/>
          </a:xfrm>
        </p:grpSpPr>
        <p:sp>
          <p:nvSpPr>
            <p:cNvPr id="20" name="矩形: 圆顶角 19"/>
            <p:cNvSpPr/>
            <p:nvPr/>
          </p:nvSpPr>
          <p:spPr>
            <a:xfrm>
              <a:off x="219974" y="2044323"/>
              <a:ext cx="8704052" cy="35030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en-US" altLang="zh-CN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foo </a:t>
              </a:r>
              <a:r>
                <a:rPr lang="zh-CN" altLang="en-US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函数定义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" name="矩形: 圆角 17"/>
            <p:cNvSpPr/>
            <p:nvPr/>
          </p:nvSpPr>
          <p:spPr>
            <a:xfrm>
              <a:off x="219974" y="2394631"/>
              <a:ext cx="8704052" cy="1283865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lnSpc>
                  <a:spcPts val="2700"/>
                </a:lnSpc>
                <a:buClr>
                  <a:srgbClr val="151DC1"/>
                </a:buClr>
                <a:buSzPct val="80000"/>
              </a:pPr>
              <a:r>
                <a:rPr lang="en-US" altLang="zh-CN" dirty="0">
                  <a:solidFill>
                    <a:srgbClr val="0000FF"/>
                  </a:solidFill>
                  <a:latin typeface="Consolas" panose="020B0609020204030204" pitchFamily="49" charset="0"/>
                </a:rPr>
                <a:t>template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zh-CN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typename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 </a:t>
              </a:r>
              <a:r>
                <a:rPr lang="en-US" altLang="zh-CN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Args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 &gt;</a:t>
              </a:r>
              <a:endParaRPr lang="en-US" altLang="zh-CN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ts val="2700"/>
                </a:lnSpc>
                <a:buClr>
                  <a:srgbClr val="151DC1"/>
                </a:buClr>
                <a:buSzPct val="80000"/>
              </a:pPr>
              <a:r>
                <a:rPr lang="en-US" altLang="zh-CN" dirty="0">
                  <a:solidFill>
                    <a:srgbClr val="0000FF"/>
                  </a:solidFill>
                  <a:latin typeface="Consolas" panose="020B0609020204030204" pitchFamily="49" charset="0"/>
                </a:rPr>
                <a:t>	void 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foo(</a:t>
              </a:r>
              <a:r>
                <a:rPr lang="en-US" altLang="zh-CN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Args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 </a:t>
              </a:r>
              <a:r>
                <a:rPr lang="en-US" altLang="zh-CN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args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) {</a:t>
              </a:r>
              <a:endParaRPr lang="en-US" altLang="zh-CN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ts val="2700"/>
                </a:lnSpc>
                <a:buClr>
                  <a:srgbClr val="151DC1"/>
                </a:buClr>
                <a:buSzPct val="80000"/>
              </a:pPr>
              <a:r>
                <a:rPr lang="en-US" altLang="zh-CN" dirty="0">
                  <a:solidFill>
                    <a:srgbClr val="0000FF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zh-CN" sz="16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// </a:t>
              </a:r>
              <a:r>
                <a:rPr lang="zh-CN" altLang="en-US" sz="16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打印参数包</a:t>
              </a:r>
              <a:r>
                <a:rPr lang="en-US" altLang="zh-CN" sz="1600" dirty="0" err="1">
                  <a:solidFill>
                    <a:schemeClr val="accent6"/>
                  </a:solidFill>
                  <a:latin typeface="Consolas" panose="020B0609020204030204" pitchFamily="49" charset="0"/>
                </a:rPr>
                <a:t>args</a:t>
              </a:r>
              <a:r>
                <a:rPr lang="zh-CN" altLang="en-US" sz="16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中参数的个数</a:t>
              </a:r>
              <a:endParaRPr lang="zh-CN" altLang="en-US" dirty="0">
                <a:solidFill>
                  <a:schemeClr val="accent6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ts val="2700"/>
                </a:lnSpc>
                <a:buClr>
                  <a:srgbClr val="151DC1"/>
                </a:buClr>
                <a:buSzPct val="80000"/>
              </a:pPr>
              <a:r>
                <a:rPr lang="en-US" altLang="zh-CN" dirty="0">
                  <a:solidFill>
                    <a:srgbClr val="0000FF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zh-CN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cout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 &lt;&lt; </a:t>
              </a:r>
              <a:r>
                <a:rPr lang="en-US" altLang="zh-CN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sizeof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...(</a:t>
              </a:r>
              <a:r>
                <a:rPr lang="en-US" altLang="zh-CN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args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) &lt;&lt; </a:t>
              </a:r>
              <a:r>
                <a:rPr lang="en-US" altLang="zh-CN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endl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;</a:t>
              </a:r>
              <a:endParaRPr lang="en-US" altLang="zh-CN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ts val="2700"/>
                </a:lnSpc>
                <a:buClr>
                  <a:srgbClr val="151DC1"/>
                </a:buClr>
                <a:buSzPct val="80000"/>
              </a:pP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304233" y="3959953"/>
            <a:ext cx="5767696" cy="1850813"/>
            <a:chOff x="219974" y="2044324"/>
            <a:chExt cx="8704052" cy="1358445"/>
          </a:xfrm>
        </p:grpSpPr>
        <p:sp>
          <p:nvSpPr>
            <p:cNvPr id="32" name="矩形: 圆顶角 31"/>
            <p:cNvSpPr/>
            <p:nvPr/>
          </p:nvSpPr>
          <p:spPr>
            <a:xfrm>
              <a:off x="219974" y="2044324"/>
              <a:ext cx="8704052" cy="35030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en-US" altLang="zh-CN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foo </a:t>
              </a:r>
              <a:r>
                <a:rPr lang="zh-CN" altLang="en-US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函数调用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矩形: 圆角 17"/>
            <p:cNvSpPr/>
            <p:nvPr/>
          </p:nvSpPr>
          <p:spPr>
            <a:xfrm>
              <a:off x="219974" y="2370285"/>
              <a:ext cx="8704052" cy="1032484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lnSpc>
                  <a:spcPts val="27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foo(); </a:t>
              </a:r>
              <a:r>
                <a:rPr lang="en-US" altLang="zh-CN" sz="20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// </a:t>
              </a:r>
              <a:r>
                <a:rPr lang="zh-CN" altLang="en-US" sz="20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输出：</a:t>
              </a:r>
              <a:r>
                <a:rPr lang="en-US" altLang="zh-CN" sz="20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0</a:t>
              </a:r>
              <a:endParaRPr lang="en-US" altLang="zh-CN" sz="2000" dirty="0">
                <a:solidFill>
                  <a:schemeClr val="accent6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ts val="27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foo(1,1.5); </a:t>
              </a:r>
              <a:r>
                <a:rPr lang="en-US" altLang="zh-CN" sz="20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// </a:t>
              </a:r>
              <a:r>
                <a:rPr lang="zh-CN" altLang="en-US" sz="20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输出：</a:t>
              </a:r>
              <a:r>
                <a:rPr lang="en-US" altLang="zh-CN" sz="20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2</a:t>
              </a:r>
              <a:endParaRPr lang="en-US" altLang="zh-CN" sz="2000" dirty="0">
                <a:solidFill>
                  <a:schemeClr val="accent6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ts val="27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foo(1,1.5,</a:t>
              </a:r>
              <a:r>
                <a:rPr lang="en-US" altLang="zh-CN" sz="2000" dirty="0">
                  <a:solidFill>
                    <a:schemeClr val="accent4">
                      <a:lumMod val="75000"/>
                    </a:schemeClr>
                  </a:solidFill>
                  <a:latin typeface="Consolas" panose="020B0609020204030204" pitchFamily="49" charset="0"/>
                </a:rPr>
                <a:t>"C++"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); </a:t>
              </a:r>
              <a:r>
                <a:rPr lang="en-US" altLang="zh-CN" sz="20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// </a:t>
              </a:r>
              <a:r>
                <a:rPr lang="zh-CN" altLang="en-US" sz="20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输出：</a:t>
              </a:r>
              <a:r>
                <a:rPr lang="en-US" altLang="zh-CN" sz="20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3</a:t>
              </a:r>
              <a:endParaRPr lang="en-US" altLang="zh-CN" sz="2000" dirty="0">
                <a:solidFill>
                  <a:schemeClr val="accent6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7888671" y="1548944"/>
            <a:ext cx="3466094" cy="3020154"/>
            <a:chOff x="219974" y="2044323"/>
            <a:chExt cx="8704052" cy="1209084"/>
          </a:xfrm>
        </p:grpSpPr>
        <p:sp>
          <p:nvSpPr>
            <p:cNvPr id="35" name="矩形: 圆顶角 34"/>
            <p:cNvSpPr/>
            <p:nvPr/>
          </p:nvSpPr>
          <p:spPr>
            <a:xfrm>
              <a:off x="219974" y="2044323"/>
              <a:ext cx="8704052" cy="18956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E0AB5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说明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" name="矩形: 圆角 17"/>
            <p:cNvSpPr/>
            <p:nvPr/>
          </p:nvSpPr>
          <p:spPr>
            <a:xfrm>
              <a:off x="219974" y="2236603"/>
              <a:ext cx="8704052" cy="1016804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F6E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 marL="285750" lvl="0" indent="-285750">
                <a:lnSpc>
                  <a:spcPct val="150000"/>
                </a:lnSpc>
                <a:buClr>
                  <a:srgbClr val="151DC1"/>
                </a:buClr>
                <a:buFont typeface="Wingdings" panose="05000000000000000000" pitchFamily="2" charset="2"/>
                <a:buChar char="l"/>
              </a:pP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可变数目的参数称为</a:t>
              </a:r>
              <a:r>
                <a:rPr lang="zh-CN" altLang="en-US" dirty="0">
                  <a:solidFill>
                    <a:srgbClr val="FF0000"/>
                  </a:solidFill>
                  <a:latin typeface="Consolas" panose="020B0609020204030204" pitchFamily="49" charset="0"/>
                </a:rPr>
                <a:t>参</a:t>
              </a:r>
              <a:endParaRPr lang="zh-CN" altLang="en-US" dirty="0">
                <a:solidFill>
                  <a:srgbClr val="FF0000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ct val="150000"/>
                </a:lnSpc>
                <a:buClr>
                  <a:srgbClr val="151DC1"/>
                </a:buClr>
              </a:pPr>
              <a:r>
                <a:rPr lang="zh-CN" altLang="en-US" dirty="0">
                  <a:solidFill>
                    <a:srgbClr val="FF0000"/>
                  </a:solidFill>
                  <a:latin typeface="Consolas" panose="020B0609020204030204" pitchFamily="49" charset="0"/>
                </a:rPr>
                <a:t>数包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，用省略号“</a:t>
              </a:r>
              <a:r>
                <a:rPr lang="en-US" altLang="zh-CN" dirty="0">
                  <a:solidFill>
                    <a:srgbClr val="FF0000"/>
                  </a:solidFill>
                  <a:latin typeface="Consolas" panose="020B0609020204030204" pitchFamily="49" charset="0"/>
                </a:rPr>
                <a:t>...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”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表示，可包含 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0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到任意个模板参数</a:t>
              </a:r>
              <a:endParaRPr lang="zh-CN" altLang="en-US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marL="285750" lvl="0" indent="-285750">
                <a:lnSpc>
                  <a:spcPct val="150000"/>
                </a:lnSpc>
                <a:buClr>
                  <a:srgbClr val="151DC1"/>
                </a:buClr>
                <a:buFont typeface="Wingdings" panose="05000000000000000000" pitchFamily="2" charset="2"/>
                <a:buChar char="l"/>
              </a:pP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foo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函数的形参 </a:t>
              </a:r>
              <a:r>
                <a:rPr lang="en-US" altLang="zh-CN" dirty="0" err="1">
                  <a:solidFill>
                    <a:prstClr val="black"/>
                  </a:solidFill>
                  <a:latin typeface="Consolas" panose="020B0609020204030204" pitchFamily="49" charset="0"/>
                </a:rPr>
                <a:t>args</a:t>
              </a:r>
              <a:endParaRPr lang="en-US" altLang="zh-CN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ct val="150000"/>
                </a:lnSpc>
                <a:buClr>
                  <a:srgbClr val="151DC1"/>
                </a:buClr>
              </a:pP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为模板参数包类型，接受可变数目的实参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894525" y="567822"/>
            <a:ext cx="976575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当模板函数的</a:t>
            </a:r>
            <a:r>
              <a:rPr kumimoji="1" lang="zh-CN" altLang="en-US" sz="28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实参</a:t>
            </a:r>
            <a:r>
              <a:rPr kumimoji="1" lang="zh-CN" altLang="en-US" sz="28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为</a:t>
            </a:r>
            <a:r>
              <a:rPr kumimoji="1" lang="zh-CN" altLang="en-US" sz="280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类</a:t>
            </a:r>
            <a:r>
              <a:rPr kumimoji="1" lang="zh-CN" altLang="en-US" sz="28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类型时，需要为类对象添加模板使用到的相关操作（一般为运算符重载）：</a:t>
            </a:r>
            <a:endParaRPr kumimoji="1" lang="zh-CN" altLang="en-US" sz="28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kumimoji="1" lang="zh-CN" altLang="en-US" sz="28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60556" y="1619118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YaHei"/>
                <a:ea typeface="微软雅黑" panose="020B0503020204020204" pitchFamily="34" charset="-122"/>
                <a:cs typeface="+mn-cs"/>
              </a:rPr>
              <a:t>学习目标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969558" y="1835043"/>
            <a:ext cx="4809226" cy="1688331"/>
            <a:chOff x="219974" y="2044323"/>
            <a:chExt cx="8704052" cy="1154643"/>
          </a:xfrm>
        </p:grpSpPr>
        <p:sp>
          <p:nvSpPr>
            <p:cNvPr id="24" name="矩形: 圆顶角 23"/>
            <p:cNvSpPr/>
            <p:nvPr/>
          </p:nvSpPr>
          <p:spPr>
            <a:xfrm>
              <a:off x="219974" y="2044323"/>
              <a:ext cx="8704052" cy="35030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示例代码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5" name="矩形: 圆角 17"/>
            <p:cNvSpPr/>
            <p:nvPr/>
          </p:nvSpPr>
          <p:spPr>
            <a:xfrm>
              <a:off x="219974" y="2394630"/>
              <a:ext cx="8704052" cy="804336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lnSpc>
                  <a:spcPts val="28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00B050"/>
                  </a:solidFill>
                  <a:latin typeface="Consolas" panose="020B0609020204030204" pitchFamily="49" charset="0"/>
                </a:rPr>
                <a:t>Fraction</a:t>
              </a:r>
              <a:r>
                <a:rPr lang="en-US" altLang="zh-CN" sz="2000" dirty="0">
                  <a:solidFill>
                    <a:prstClr val="black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0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a</a:t>
              </a:r>
              <a:r>
                <a:rPr lang="en-US" altLang="zh-CN" sz="2000" dirty="0">
                  <a:solidFill>
                    <a:prstClr val="black"/>
                  </a:solidFill>
                  <a:latin typeface="Consolas" panose="020B0609020204030204" pitchFamily="49" charset="0"/>
                </a:rPr>
                <a:t>(3,4),</a:t>
              </a:r>
              <a:r>
                <a:rPr lang="en-US" altLang="zh-CN" sz="20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b</a:t>
              </a:r>
              <a:r>
                <a:rPr lang="en-US" altLang="zh-CN" sz="2000" dirty="0">
                  <a:solidFill>
                    <a:prstClr val="black"/>
                  </a:solidFill>
                  <a:latin typeface="Consolas" panose="020B0609020204030204" pitchFamily="49" charset="0"/>
                </a:rPr>
                <a:t>(2,5);</a:t>
              </a:r>
              <a:endParaRPr lang="en-US" altLang="zh-CN" sz="2000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ts val="28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 err="1">
                  <a:solidFill>
                    <a:prstClr val="black"/>
                  </a:solidFill>
                  <a:latin typeface="Consolas" panose="020B0609020204030204" pitchFamily="49" charset="0"/>
                </a:rPr>
                <a:t>cout</a:t>
              </a:r>
              <a:r>
                <a:rPr lang="en-US" altLang="zh-CN" sz="2000" dirty="0">
                  <a:solidFill>
                    <a:prstClr val="black"/>
                  </a:solidFill>
                  <a:latin typeface="Consolas" panose="020B0609020204030204" pitchFamily="49" charset="0"/>
                </a:rPr>
                <a:t> &lt;&lt; </a:t>
              </a:r>
              <a:r>
                <a:rPr lang="en-US" altLang="zh-CN" sz="2000" dirty="0" err="1">
                  <a:solidFill>
                    <a:prstClr val="black"/>
                  </a:solidFill>
                  <a:latin typeface="Consolas" panose="020B0609020204030204" pitchFamily="49" charset="0"/>
                </a:rPr>
                <a:t>getMax</a:t>
              </a:r>
              <a:r>
                <a:rPr lang="en-US" altLang="zh-CN" sz="2000" dirty="0">
                  <a:solidFill>
                    <a:prstClr val="black"/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zh-CN" sz="20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a</a:t>
              </a:r>
              <a:r>
                <a:rPr lang="en-US" altLang="zh-CN" sz="2000" dirty="0">
                  <a:solidFill>
                    <a:prstClr val="black"/>
                  </a:solidFill>
                  <a:latin typeface="Consolas" panose="020B0609020204030204" pitchFamily="49" charset="0"/>
                </a:rPr>
                <a:t>, </a:t>
              </a:r>
              <a:r>
                <a:rPr lang="en-US" altLang="zh-CN" sz="20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b</a:t>
              </a:r>
              <a:r>
                <a:rPr lang="en-US" altLang="zh-CN" sz="2000" dirty="0">
                  <a:solidFill>
                    <a:prstClr val="black"/>
                  </a:solidFill>
                  <a:latin typeface="Consolas" panose="020B0609020204030204" pitchFamily="49" charset="0"/>
                </a:rPr>
                <a:t>) &lt;&lt; </a:t>
              </a:r>
              <a:r>
                <a:rPr lang="en-US" altLang="zh-CN" sz="2000" dirty="0" err="1">
                  <a:solidFill>
                    <a:prstClr val="black"/>
                  </a:solidFill>
                  <a:latin typeface="Consolas" panose="020B0609020204030204" pitchFamily="49" charset="0"/>
                </a:rPr>
                <a:t>endl</a:t>
              </a:r>
              <a:r>
                <a:rPr lang="en-US" altLang="zh-CN" sz="2000" dirty="0">
                  <a:solidFill>
                    <a:prstClr val="black"/>
                  </a:solidFill>
                  <a:latin typeface="Consolas" panose="020B0609020204030204" pitchFamily="49" charset="0"/>
                </a:rPr>
                <a:t>; </a:t>
              </a:r>
              <a:endParaRPr lang="en-US" altLang="zh-CN" sz="2000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ts val="2800"/>
                </a:lnSpc>
                <a:spcBef>
                  <a:spcPts val="600"/>
                </a:spcBef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70AD47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// T</a:t>
              </a:r>
              <a:r>
                <a:rPr lang="zh-CN" altLang="en-US" sz="2000" dirty="0">
                  <a:solidFill>
                    <a:srgbClr val="70AD47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为</a:t>
              </a:r>
              <a:r>
                <a:rPr lang="en-US" altLang="zh-CN" sz="2000" dirty="0">
                  <a:solidFill>
                    <a:srgbClr val="70AD47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Fraction</a:t>
              </a:r>
              <a:r>
                <a:rPr lang="zh-CN" altLang="en-US" sz="2000" dirty="0">
                  <a:solidFill>
                    <a:srgbClr val="70AD47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类型</a:t>
              </a:r>
              <a:endParaRPr lang="en-US" altLang="zh-CN" sz="2000" dirty="0">
                <a:solidFill>
                  <a:srgbClr val="70AD47"/>
                </a:solidFill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925010" y="1857904"/>
            <a:ext cx="4388031" cy="1536728"/>
            <a:chOff x="219974" y="2044317"/>
            <a:chExt cx="8704052" cy="1536734"/>
          </a:xfrm>
        </p:grpSpPr>
        <p:sp>
          <p:nvSpPr>
            <p:cNvPr id="27" name="矩形: 圆顶角 26"/>
            <p:cNvSpPr/>
            <p:nvPr/>
          </p:nvSpPr>
          <p:spPr>
            <a:xfrm>
              <a:off x="219974" y="2044317"/>
              <a:ext cx="8704052" cy="577650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006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400" dirty="0"/>
                <a:t>问题</a:t>
              </a:r>
              <a:endParaRPr lang="zh-CN" altLang="en-US" sz="2400" dirty="0"/>
            </a:p>
          </p:txBody>
        </p:sp>
        <p:sp>
          <p:nvSpPr>
            <p:cNvPr id="28" name="矩形: 圆角 17"/>
            <p:cNvSpPr/>
            <p:nvPr/>
          </p:nvSpPr>
          <p:spPr>
            <a:xfrm>
              <a:off x="219974" y="2612833"/>
              <a:ext cx="8704052" cy="968218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>
                <a:lnSpc>
                  <a:spcPct val="150000"/>
                </a:lnSpc>
                <a:buClr>
                  <a:srgbClr val="212AE7"/>
                </a:buClr>
                <a:buSzPct val="80000"/>
              </a:pPr>
              <a:r>
                <a:rPr lang="zh-CN" alt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在编译代码时会提示编译错误，原因可能是什么？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925011" y="3532682"/>
            <a:ext cx="4388032" cy="1716264"/>
            <a:chOff x="219974" y="2044317"/>
            <a:chExt cx="8704052" cy="1716272"/>
          </a:xfrm>
        </p:grpSpPr>
        <p:sp>
          <p:nvSpPr>
            <p:cNvPr id="30" name="矩形: 圆顶角 29"/>
            <p:cNvSpPr/>
            <p:nvPr/>
          </p:nvSpPr>
          <p:spPr>
            <a:xfrm>
              <a:off x="219974" y="2044317"/>
              <a:ext cx="8704052" cy="577650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006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400" dirty="0"/>
                <a:t>答案</a:t>
              </a:r>
              <a:endParaRPr lang="zh-CN" altLang="en-US" sz="2400" dirty="0"/>
            </a:p>
          </p:txBody>
        </p:sp>
        <p:sp>
          <p:nvSpPr>
            <p:cNvPr id="31" name="矩形: 圆角 17"/>
            <p:cNvSpPr/>
            <p:nvPr/>
          </p:nvSpPr>
          <p:spPr>
            <a:xfrm>
              <a:off x="219974" y="2612833"/>
              <a:ext cx="8704052" cy="1147756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>
                <a:lnSpc>
                  <a:spcPts val="2800"/>
                </a:lnSpc>
                <a:buClr>
                  <a:srgbClr val="212AE7"/>
                </a:buClr>
                <a:buSzPct val="80000"/>
              </a:pPr>
              <a:r>
                <a:rPr lang="zh-CN" alt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在 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getMax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函数模板内部用到了 </a:t>
              </a:r>
              <a:r>
                <a:rPr lang="en-US" altLang="zh-CN" sz="20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&gt;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运算，但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Fraction </a:t>
              </a:r>
              <a:r>
                <a:rPr lang="zh-CN" alt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类不支持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 </a:t>
              </a:r>
              <a:r>
                <a:rPr lang="zh-CN" alt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运算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1344332" y="1377380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YaHei"/>
                <a:ea typeface="微软雅黑" panose="020B0503020204020204" pitchFamily="34" charset="-122"/>
                <a:cs typeface="+mn-cs"/>
              </a:rPr>
              <a:t>学习目标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76139" y="677186"/>
            <a:ext cx="79432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00B050"/>
                </a:solidFill>
              </a:rPr>
              <a:t>解决方法：</a:t>
            </a:r>
            <a:r>
              <a:rPr lang="zh-CN" altLang="en-US" sz="2400" dirty="0">
                <a:solidFill>
                  <a:prstClr val="black"/>
                </a:solidFill>
              </a:rPr>
              <a:t>给 </a:t>
            </a:r>
            <a:r>
              <a:rPr lang="en-US" altLang="zh-CN" sz="2400" dirty="0">
                <a:solidFill>
                  <a:prstClr val="black"/>
                </a:solidFill>
              </a:rPr>
              <a:t>Fraction </a:t>
            </a:r>
            <a:r>
              <a:rPr lang="zh-CN" altLang="en-US" sz="2400" dirty="0">
                <a:solidFill>
                  <a:prstClr val="black"/>
                </a:solidFill>
              </a:rPr>
              <a:t>类型添加关系 </a:t>
            </a:r>
            <a:r>
              <a:rPr lang="en-US" altLang="zh-CN" sz="2400" dirty="0">
                <a:solidFill>
                  <a:prstClr val="black"/>
                </a:solidFill>
              </a:rPr>
              <a:t>&gt; </a:t>
            </a:r>
            <a:r>
              <a:rPr lang="zh-CN" altLang="en-US" sz="2400" dirty="0">
                <a:solidFill>
                  <a:prstClr val="black"/>
                </a:solidFill>
              </a:rPr>
              <a:t>运算符重载函数：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261483" y="1253150"/>
            <a:ext cx="6065292" cy="5182374"/>
            <a:chOff x="219974" y="2044323"/>
            <a:chExt cx="8704052" cy="3253014"/>
          </a:xfrm>
        </p:grpSpPr>
        <p:sp>
          <p:nvSpPr>
            <p:cNvPr id="16" name="矩形: 圆顶角 15"/>
            <p:cNvSpPr/>
            <p:nvPr/>
          </p:nvSpPr>
          <p:spPr>
            <a:xfrm>
              <a:off x="219974" y="2044323"/>
              <a:ext cx="8704052" cy="35030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en-US" altLang="zh-CN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Fraction </a:t>
              </a:r>
              <a:r>
                <a:rPr lang="zh-CN" altLang="en-US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类 关系 </a:t>
              </a:r>
              <a:r>
                <a:rPr lang="en-US" altLang="zh-CN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&gt; </a:t>
              </a:r>
              <a:r>
                <a:rPr lang="zh-CN" altLang="en-US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运算 声明及定义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矩形: 圆角 17"/>
            <p:cNvSpPr/>
            <p:nvPr/>
          </p:nvSpPr>
          <p:spPr>
            <a:xfrm>
              <a:off x="219974" y="2394630"/>
              <a:ext cx="8704052" cy="2902707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class </a:t>
              </a:r>
              <a:r>
                <a:rPr lang="en-US" altLang="zh-CN" sz="2000" dirty="0">
                  <a:solidFill>
                    <a:schemeClr val="accent6">
                      <a:lumMod val="50000"/>
                    </a:schemeClr>
                  </a:solidFill>
                  <a:latin typeface="Consolas" panose="020B0609020204030204" pitchFamily="49" charset="0"/>
                </a:rPr>
                <a:t>Fraction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{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zh-CN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// </a:t>
              </a:r>
              <a:r>
                <a:rPr lang="zh-CN" altLang="en-US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将关系</a:t>
              </a:r>
              <a:r>
                <a:rPr lang="en-US" altLang="zh-CN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&gt;</a:t>
              </a:r>
              <a:r>
                <a:rPr lang="zh-CN" altLang="en-US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运算声明为</a:t>
              </a:r>
              <a:r>
                <a:rPr lang="en-US" altLang="zh-CN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Fraction</a:t>
              </a:r>
              <a:r>
                <a:rPr lang="zh-CN" altLang="en-US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类的友元</a:t>
              </a:r>
              <a:endParaRPr lang="zh-CN" altLang="en-US" dirty="0">
                <a:solidFill>
                  <a:schemeClr val="accent6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zh-CN" sz="20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friend</a:t>
              </a: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 bool operator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&gt;(</a:t>
              </a: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const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000" dirty="0">
                  <a:solidFill>
                    <a:schemeClr val="accent6">
                      <a:lumMod val="50000"/>
                    </a:schemeClr>
                  </a:solidFill>
                  <a:latin typeface="Consolas" panose="020B0609020204030204" pitchFamily="49" charset="0"/>
                </a:rPr>
                <a:t>Fraction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&amp;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lhs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, 		</a:t>
              </a: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const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000" dirty="0">
                  <a:solidFill>
                    <a:schemeClr val="accent6">
                      <a:lumMod val="50000"/>
                    </a:schemeClr>
                  </a:solidFill>
                  <a:latin typeface="Consolas" panose="020B0609020204030204" pitchFamily="49" charset="0"/>
                </a:rPr>
                <a:t>Fraction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&amp;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rhs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);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	// </a:t>
              </a:r>
              <a:r>
                <a:rPr lang="zh-CN" altLang="en-US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其它成员与之前一致</a:t>
              </a:r>
              <a:endParaRPr lang="zh-CN" altLang="en-US" dirty="0">
                <a:solidFill>
                  <a:schemeClr val="accent6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  <a:endParaRPr lang="en-US" altLang="zh-CN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};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bool operator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&gt;(</a:t>
              </a: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const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000" dirty="0">
                  <a:solidFill>
                    <a:schemeClr val="accent6">
                      <a:lumMod val="50000"/>
                    </a:schemeClr>
                  </a:solidFill>
                  <a:latin typeface="Consolas" panose="020B0609020204030204" pitchFamily="49" charset="0"/>
                </a:rPr>
                <a:t>Fraction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&amp;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lhs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, </a:t>
              </a: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const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     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</a:t>
              </a:r>
              <a:r>
                <a:rPr lang="en-US" altLang="zh-CN" sz="2000" dirty="0">
                  <a:solidFill>
                    <a:schemeClr val="accent6">
                      <a:lumMod val="50000"/>
                    </a:schemeClr>
                  </a:solidFill>
                  <a:latin typeface="Consolas" panose="020B0609020204030204" pitchFamily="49" charset="0"/>
                </a:rPr>
                <a:t>Fraction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&amp;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rhs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){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	return 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lhs.m_numerator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*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rhs.m_denominator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&gt; 		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lhs.m_denominator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*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rhs.m_numerator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;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7735515" y="1274174"/>
            <a:ext cx="2533650" cy="3300236"/>
            <a:chOff x="219974" y="2044323"/>
            <a:chExt cx="8704052" cy="1321213"/>
          </a:xfrm>
        </p:grpSpPr>
        <p:sp>
          <p:nvSpPr>
            <p:cNvPr id="19" name="矩形: 圆顶角 18"/>
            <p:cNvSpPr/>
            <p:nvPr/>
          </p:nvSpPr>
          <p:spPr>
            <a:xfrm>
              <a:off x="219974" y="2044323"/>
              <a:ext cx="8704052" cy="189696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E0AB5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/>
                <a:t>说明</a:t>
              </a:r>
              <a:endParaRPr lang="zh-CN" altLang="en-US" sz="2000" dirty="0"/>
            </a:p>
          </p:txBody>
        </p:sp>
        <p:sp>
          <p:nvSpPr>
            <p:cNvPr id="20" name="矩形: 圆角 17"/>
            <p:cNvSpPr/>
            <p:nvPr/>
          </p:nvSpPr>
          <p:spPr>
            <a:xfrm>
              <a:off x="219974" y="2238633"/>
              <a:ext cx="8704052" cy="1126903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F6E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>
                <a:lnSpc>
                  <a:spcPct val="150000"/>
                </a:lnSpc>
                <a:buClr>
                  <a:srgbClr val="151DC1"/>
                </a:buClr>
              </a:pPr>
              <a:r>
                <a:rPr lang="zh-CN" alt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根据运算符重载的原则将关系运算符函数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operator&gt; </a:t>
              </a:r>
              <a:r>
                <a:rPr lang="zh-CN" alt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作为</a:t>
              </a:r>
              <a:endParaRPr lang="zh-CN" altLang="en-US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ct val="150000"/>
                </a:lnSpc>
                <a:buClr>
                  <a:srgbClr val="151DC1"/>
                </a:buClr>
              </a:pP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Fraction </a:t>
              </a:r>
              <a:r>
                <a:rPr lang="zh-CN" alt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类的辅助函数，并将其声明为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Fraction</a:t>
              </a:r>
              <a:r>
                <a:rPr lang="zh-CN" alt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类的友元</a:t>
              </a:r>
              <a:endParaRPr lang="en-US" sz="20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</p:txBody>
        </p:sp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717906" y="1240708"/>
            <a:ext cx="10756188" cy="3527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CC"/>
                </a:solidFill>
                <a:latin typeface="Tahoma" panose="020B0604030504040204" pitchFamily="34" charset="0"/>
              </a:rPr>
              <a:t>与函数声明不同，</a:t>
            </a:r>
            <a:r>
              <a:rPr lang="zh-CN" altLang="en-US" sz="2400" dirty="0">
                <a:latin typeface="Tahoma" panose="020B0604030504040204" pitchFamily="34" charset="0"/>
              </a:rPr>
              <a:t>函数模板的声明</a:t>
            </a:r>
            <a:r>
              <a:rPr lang="zh-CN" altLang="en-US" sz="2400" dirty="0">
                <a:solidFill>
                  <a:srgbClr val="FF0000"/>
                </a:solidFill>
                <a:latin typeface="Tahoma" panose="020B0604030504040204" pitchFamily="34" charset="0"/>
              </a:rPr>
              <a:t>必须含变量名</a:t>
            </a:r>
            <a:r>
              <a:rPr lang="zh-CN" altLang="en-US" sz="2400" dirty="0">
                <a:latin typeface="Tahoma" panose="020B0604030504040204" pitchFamily="34" charset="0"/>
              </a:rPr>
              <a:t>。因为两者编译过程不一样，函数模板必须先转换为模板函数。</a:t>
            </a:r>
            <a:endParaRPr lang="zh-CN" altLang="en-US" sz="2400" dirty="0">
              <a:latin typeface="Tahoma" panose="020B0604030504040204" pitchFamily="34" charset="0"/>
            </a:endParaRPr>
          </a:p>
          <a:p>
            <a:pPr>
              <a:spcBef>
                <a:spcPct val="30000"/>
              </a:spcBef>
            </a:pPr>
            <a:r>
              <a:rPr lang="en-US" altLang="zh-CN" sz="2400" dirty="0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template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 &lt;</a:t>
            </a:r>
            <a:r>
              <a:rPr lang="en-US" altLang="zh-CN" sz="2400" dirty="0" err="1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typename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 T1,</a:t>
            </a:r>
            <a:r>
              <a:rPr lang="en-US" altLang="zh-CN" sz="2400" dirty="0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typename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 T2&gt; 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  void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 inverse(T1 *</a:t>
            </a:r>
            <a:r>
              <a:rPr lang="en-US" altLang="zh-CN" sz="240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mat1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, T2 *</a:t>
            </a:r>
            <a:r>
              <a:rPr lang="en-US" altLang="zh-CN" sz="240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mat2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,</a:t>
            </a:r>
            <a:r>
              <a:rPr lang="en-US" altLang="zh-CN" sz="2400" dirty="0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en-US" altLang="zh-CN" sz="2400" dirty="0" err="1">
                <a:latin typeface="Tahoma" panose="020B0604030504040204" pitchFamily="34" charset="0"/>
                <a:ea typeface="宋体" panose="02010600030101010101" pitchFamily="2" charset="-122"/>
              </a:rPr>
              <a:t>,</a:t>
            </a:r>
            <a:r>
              <a:rPr lang="en-US" altLang="zh-CN" sz="2400" dirty="0" err="1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lang="en-US" altLang="zh-CN" sz="2400" dirty="0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b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);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template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 &lt;</a:t>
            </a:r>
            <a:r>
              <a:rPr lang="en-US" altLang="zh-CN" sz="2400" dirty="0" err="1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typename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 T1,</a:t>
            </a:r>
            <a:r>
              <a:rPr lang="en-US" altLang="zh-CN" sz="2400" dirty="0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typename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 T2&gt;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  void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 multi(T1 *</a:t>
            </a:r>
            <a:r>
              <a:rPr lang="en-US" altLang="zh-CN" sz="240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mat1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,T2 *</a:t>
            </a:r>
            <a:r>
              <a:rPr lang="en-US" altLang="zh-CN" sz="240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mat2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,T2 *</a:t>
            </a:r>
            <a:r>
              <a:rPr lang="en-US" altLang="zh-CN" sz="2400" dirty="0" err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result</a:t>
            </a:r>
            <a:r>
              <a:rPr lang="en-US" altLang="zh-CN" sz="2400" dirty="0" err="1">
                <a:latin typeface="Tahoma" panose="020B0604030504040204" pitchFamily="34" charset="0"/>
                <a:ea typeface="宋体" panose="02010600030101010101" pitchFamily="2" charset="-122"/>
              </a:rPr>
              <a:t>,</a:t>
            </a:r>
            <a:r>
              <a:rPr lang="en-US" altLang="zh-CN" sz="2400" dirty="0" err="1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,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                    </a:t>
            </a:r>
            <a:r>
              <a:rPr lang="en-US" altLang="zh-CN" sz="2400" dirty="0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b</a:t>
            </a:r>
            <a:r>
              <a:rPr lang="en-US" altLang="zh-CN" sz="2400" dirty="0" err="1">
                <a:latin typeface="Tahoma" panose="020B0604030504040204" pitchFamily="34" charset="0"/>
                <a:ea typeface="宋体" panose="02010600030101010101" pitchFamily="2" charset="-122"/>
              </a:rPr>
              <a:t>,</a:t>
            </a:r>
            <a:r>
              <a:rPr lang="en-US" altLang="zh-CN" sz="2400" dirty="0" err="1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);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template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 &lt;</a:t>
            </a:r>
            <a:r>
              <a:rPr lang="en-US" altLang="zh-CN" sz="2400" dirty="0" err="1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typename</a:t>
            </a:r>
            <a:r>
              <a:rPr lang="en-US" altLang="zh-CN" sz="2400" dirty="0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T&gt;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  void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 output(T *</a:t>
            </a:r>
            <a:r>
              <a:rPr lang="en-US" altLang="zh-CN" sz="2400" dirty="0" err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mat</a:t>
            </a:r>
            <a:r>
              <a:rPr lang="en-US" altLang="zh-CN" sz="2400" dirty="0" err="1">
                <a:latin typeface="Tahoma" panose="020B0604030504040204" pitchFamily="34" charset="0"/>
                <a:ea typeface="宋体" panose="02010600030101010101" pitchFamily="2" charset="-122"/>
              </a:rPr>
              <a:t>,</a:t>
            </a:r>
            <a:r>
              <a:rPr lang="en-US" altLang="zh-CN" sz="2400" dirty="0" err="1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char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*</a:t>
            </a:r>
            <a:r>
              <a:rPr lang="en-US" altLang="zh-CN" sz="2400" dirty="0" err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s</a:t>
            </a:r>
            <a:r>
              <a:rPr lang="en-US" altLang="zh-CN" sz="2400" dirty="0" err="1">
                <a:latin typeface="Tahoma" panose="020B0604030504040204" pitchFamily="34" charset="0"/>
                <a:ea typeface="宋体" panose="02010600030101010101" pitchFamily="2" charset="-122"/>
              </a:rPr>
              <a:t>,</a:t>
            </a:r>
            <a:r>
              <a:rPr lang="en-US" altLang="zh-CN" sz="2400" dirty="0" err="1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en-US" altLang="zh-CN" sz="2400" dirty="0" err="1">
                <a:latin typeface="Tahoma" panose="020B0604030504040204" pitchFamily="34" charset="0"/>
                <a:ea typeface="宋体" panose="02010600030101010101" pitchFamily="2" charset="-122"/>
              </a:rPr>
              <a:t>,</a:t>
            </a:r>
            <a:r>
              <a:rPr lang="en-US" altLang="zh-CN" sz="2400" dirty="0" err="1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b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); 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717906" y="664446"/>
            <a:ext cx="5013392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r>
              <a:rPr lang="zh-CN" altLang="en-US" sz="3200" dirty="0">
                <a:solidFill>
                  <a:srgbClr val="008000"/>
                </a:solidFill>
                <a:ea typeface="隶书" panose="02010509060101010101" pitchFamily="49" charset="-122"/>
              </a:rPr>
              <a:t>函数模板的</a:t>
            </a:r>
            <a:r>
              <a:rPr lang="zh-CN" altLang="en-US" sz="3200" dirty="0">
                <a:solidFill>
                  <a:srgbClr val="FF0000"/>
                </a:solidFill>
                <a:ea typeface="隶书" panose="02010509060101010101" pitchFamily="49" charset="-122"/>
              </a:rPr>
              <a:t>声明</a:t>
            </a:r>
            <a:endParaRPr lang="zh-CN" altLang="en-US" sz="3200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8530" y="4002764"/>
            <a:ext cx="4215564" cy="180559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988615" y="462489"/>
            <a:ext cx="675969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8000"/>
                </a:solidFill>
                <a:ea typeface="隶书" panose="02010509060101010101" pitchFamily="49" charset="-122"/>
              </a:rPr>
              <a:t>函数模板不能完全通用时，也可以对其重载，只要它们的形参表不同即可。</a:t>
            </a:r>
            <a:endParaRPr lang="zh-CN" altLang="en-US" sz="2800" dirty="0">
              <a:solidFill>
                <a:srgbClr val="008000"/>
              </a:solidFill>
              <a:ea typeface="隶书" panose="02010509060101010101" pitchFamily="49" charset="-122"/>
            </a:endParaRPr>
          </a:p>
        </p:txBody>
      </p:sp>
      <p:sp>
        <p:nvSpPr>
          <p:cNvPr id="19" name="Rectangle 2"/>
          <p:cNvSpPr txBox="1">
            <a:spLocks noRot="1" noChangeArrowheads="1"/>
          </p:cNvSpPr>
          <p:nvPr/>
        </p:nvSpPr>
        <p:spPr>
          <a:xfrm>
            <a:off x="749611" y="394400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9.3 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函数模板重载</a:t>
            </a:r>
            <a:endParaRPr lang="zh-CN" altLang="en-US" sz="4000" b="1" dirty="0"/>
          </a:p>
        </p:txBody>
      </p:sp>
      <p:sp>
        <p:nvSpPr>
          <p:cNvPr id="17" name="矩形 16"/>
          <p:cNvSpPr/>
          <p:nvPr/>
        </p:nvSpPr>
        <p:spPr>
          <a:xfrm>
            <a:off x="1607090" y="211309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YaHei"/>
                <a:ea typeface="微软雅黑" panose="020B0503020204020204" pitchFamily="34" charset="-122"/>
                <a:cs typeface="+mn-cs"/>
              </a:rPr>
              <a:t>学习目标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47974" y="1484685"/>
            <a:ext cx="82812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000" b="1" dirty="0">
                <a:solidFill>
                  <a:srgbClr val="00B050"/>
                </a:solidFill>
              </a:rPr>
              <a:t>例：</a:t>
            </a:r>
            <a:r>
              <a:rPr lang="zh-CN" altLang="en-US" sz="2000" dirty="0">
                <a:solidFill>
                  <a:prstClr val="black"/>
                </a:solidFill>
              </a:rPr>
              <a:t>如果前面定义的 </a:t>
            </a:r>
            <a:r>
              <a:rPr lang="en-US" altLang="zh-CN" sz="20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getMax</a:t>
            </a:r>
            <a:r>
              <a:rPr lang="en-US" altLang="zh-CN" sz="2000" dirty="0">
                <a:solidFill>
                  <a:prstClr val="black"/>
                </a:solidFill>
              </a:rPr>
              <a:t> </a:t>
            </a:r>
            <a:r>
              <a:rPr lang="zh-CN" altLang="en-US" sz="2000" dirty="0">
                <a:solidFill>
                  <a:prstClr val="black"/>
                </a:solidFill>
              </a:rPr>
              <a:t>函数模板在调用过程中的实参为指针类型：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832226" y="2039679"/>
            <a:ext cx="6006065" cy="1550519"/>
            <a:chOff x="219974" y="2044323"/>
            <a:chExt cx="8704052" cy="1146291"/>
          </a:xfrm>
        </p:grpSpPr>
        <p:sp>
          <p:nvSpPr>
            <p:cNvPr id="21" name="矩形: 圆顶角 20"/>
            <p:cNvSpPr/>
            <p:nvPr/>
          </p:nvSpPr>
          <p:spPr>
            <a:xfrm>
              <a:off x="219974" y="2044323"/>
              <a:ext cx="8704052" cy="35030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en-US" altLang="zh-CN" sz="2000" dirty="0" err="1">
                  <a:solidFill>
                    <a:prstClr val="white"/>
                  </a:solidFill>
                  <a:latin typeface="Consolas" panose="020B0609020204030204" pitchFamily="49" charset="0"/>
                </a:rPr>
                <a:t>getMax</a:t>
              </a:r>
              <a:r>
                <a:rPr lang="en-US" altLang="zh-CN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函数调用一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" name="矩形: 圆角 17"/>
            <p:cNvSpPr/>
            <p:nvPr/>
          </p:nvSpPr>
          <p:spPr>
            <a:xfrm>
              <a:off x="219974" y="2394631"/>
              <a:ext cx="8704052" cy="795983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lnSpc>
                  <a:spcPct val="1500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int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a = 1, b = 2;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ct val="1500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getMax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(&amp;a, &amp;b);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7419013" y="3318776"/>
            <a:ext cx="2968707" cy="1385423"/>
            <a:chOff x="219974" y="2044317"/>
            <a:chExt cx="8704052" cy="1385429"/>
          </a:xfrm>
        </p:grpSpPr>
        <p:sp>
          <p:nvSpPr>
            <p:cNvPr id="24" name="矩形: 圆顶角 23"/>
            <p:cNvSpPr/>
            <p:nvPr/>
          </p:nvSpPr>
          <p:spPr>
            <a:xfrm>
              <a:off x="219974" y="2044317"/>
              <a:ext cx="8704052" cy="577650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006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问题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5" name="矩形: 圆角 17"/>
            <p:cNvSpPr/>
            <p:nvPr/>
          </p:nvSpPr>
          <p:spPr>
            <a:xfrm>
              <a:off x="219974" y="2551873"/>
              <a:ext cx="8704052" cy="877873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 lvl="0">
                <a:lnSpc>
                  <a:spcPct val="150000"/>
                </a:lnSpc>
                <a:buClr>
                  <a:srgbClr val="212AE7"/>
                </a:buClr>
                <a:buSzPct val="80000"/>
              </a:pPr>
              <a:r>
                <a:rPr lang="en-US" altLang="zh-CN" dirty="0" err="1">
                  <a:solidFill>
                    <a:prstClr val="black"/>
                  </a:solidFill>
                  <a:latin typeface="Consolas" panose="020B0609020204030204" pitchFamily="49" charset="0"/>
                </a:rPr>
                <a:t>getMax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函数模板的定义</a:t>
              </a:r>
              <a:endParaRPr lang="zh-CN" altLang="en-US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ct val="150000"/>
                </a:lnSpc>
                <a:buClr>
                  <a:srgbClr val="212AE7"/>
                </a:buClr>
                <a:buSzPct val="80000"/>
              </a:pP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还能否满足要求？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7419013" y="4919707"/>
            <a:ext cx="2968707" cy="1707883"/>
            <a:chOff x="219974" y="2044317"/>
            <a:chExt cx="8704052" cy="1707890"/>
          </a:xfrm>
        </p:grpSpPr>
        <p:sp>
          <p:nvSpPr>
            <p:cNvPr id="27" name="矩形: 圆顶角 26"/>
            <p:cNvSpPr/>
            <p:nvPr/>
          </p:nvSpPr>
          <p:spPr>
            <a:xfrm>
              <a:off x="219974" y="2044317"/>
              <a:ext cx="8704052" cy="577650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006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回答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矩形: 圆角 17"/>
            <p:cNvSpPr/>
            <p:nvPr/>
          </p:nvSpPr>
          <p:spPr>
            <a:xfrm>
              <a:off x="219974" y="2551873"/>
              <a:ext cx="8704052" cy="1200334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 lvl="0">
                <a:buClr>
                  <a:srgbClr val="212AE7"/>
                </a:buClr>
                <a:buSzPct val="80000"/>
              </a:pP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不能。编译器推演出的参</a:t>
              </a:r>
              <a:endParaRPr lang="zh-CN" altLang="en-US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212AE7"/>
                </a:buClr>
                <a:buSzPct val="80000"/>
              </a:pP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数 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T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为 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int*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，函数体里</a:t>
              </a:r>
              <a:endParaRPr lang="zh-CN" altLang="en-US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212AE7"/>
                </a:buClr>
                <a:buSzPct val="80000"/>
              </a:pP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面的操作变成了两个指针</a:t>
              </a:r>
              <a:endParaRPr lang="zh-CN" altLang="en-US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212AE7"/>
                </a:buClr>
                <a:buSzPct val="80000"/>
              </a:pP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对象的比较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847975" y="3807371"/>
            <a:ext cx="6006066" cy="2656229"/>
            <a:chOff x="219974" y="2044323"/>
            <a:chExt cx="8704052" cy="1725301"/>
          </a:xfrm>
        </p:grpSpPr>
        <p:sp>
          <p:nvSpPr>
            <p:cNvPr id="30" name="矩形: 圆顶角 29"/>
            <p:cNvSpPr/>
            <p:nvPr/>
          </p:nvSpPr>
          <p:spPr>
            <a:xfrm>
              <a:off x="219974" y="2044323"/>
              <a:ext cx="8704052" cy="35030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en-US" altLang="zh-CN" sz="2000" dirty="0" err="1">
                  <a:solidFill>
                    <a:prstClr val="white"/>
                  </a:solidFill>
                  <a:latin typeface="Consolas" panose="020B0609020204030204" pitchFamily="49" charset="0"/>
                </a:rPr>
                <a:t>getMax</a:t>
              </a:r>
              <a:r>
                <a:rPr lang="en-US" altLang="zh-CN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定义一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矩形: 圆角 17"/>
            <p:cNvSpPr/>
            <p:nvPr/>
          </p:nvSpPr>
          <p:spPr>
            <a:xfrm>
              <a:off x="219974" y="2394631"/>
              <a:ext cx="8704052" cy="1374993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lnSpc>
                  <a:spcPct val="1500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template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zh-CN" sz="2000" dirty="0" err="1">
                  <a:solidFill>
                    <a:srgbClr val="212AE7"/>
                  </a:solidFill>
                  <a:latin typeface="Consolas" panose="020B0609020204030204" pitchFamily="49" charset="0"/>
                </a:rPr>
                <a:t>typename</a:t>
              </a: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000" dirty="0">
                  <a:solidFill>
                    <a:schemeClr val="accent6">
                      <a:lumMod val="50000"/>
                    </a:schemeClr>
                  </a:solidFill>
                  <a:latin typeface="Consolas" panose="020B0609020204030204" pitchFamily="49" charset="0"/>
                </a:rPr>
                <a:t>T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ct val="1500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const </a:t>
              </a:r>
              <a:r>
                <a:rPr lang="en-US" altLang="zh-CN" sz="2000" dirty="0">
                  <a:solidFill>
                    <a:schemeClr val="accent6">
                      <a:lumMod val="50000"/>
                    </a:schemeClr>
                  </a:solidFill>
                  <a:latin typeface="Consolas" panose="020B0609020204030204" pitchFamily="49" charset="0"/>
                </a:rPr>
                <a:t>T</a:t>
              </a: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&amp; 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getMax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const </a:t>
              </a:r>
              <a:r>
                <a:rPr lang="en-US" altLang="zh-CN" sz="2000" dirty="0">
                  <a:solidFill>
                    <a:schemeClr val="accent6">
                      <a:lumMod val="50000"/>
                    </a:schemeClr>
                  </a:solidFill>
                  <a:latin typeface="Consolas" panose="020B0609020204030204" pitchFamily="49" charset="0"/>
                </a:rPr>
                <a:t>T</a:t>
              </a: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&amp;a</a:t>
              </a: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, const </a:t>
              </a:r>
              <a:r>
                <a:rPr lang="en-US" altLang="zh-CN" sz="2000" dirty="0">
                  <a:solidFill>
                    <a:schemeClr val="accent6">
                      <a:lumMod val="50000"/>
                    </a:schemeClr>
                  </a:solidFill>
                  <a:latin typeface="Consolas" panose="020B0609020204030204" pitchFamily="49" charset="0"/>
                </a:rPr>
                <a:t>T</a:t>
              </a: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&amp;b){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ct val="1500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	return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a &gt; b ? a : b;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ct val="1500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7419013" y="2000942"/>
            <a:ext cx="2968707" cy="1126624"/>
            <a:chOff x="219974" y="2044323"/>
            <a:chExt cx="8704052" cy="451031"/>
          </a:xfrm>
        </p:grpSpPr>
        <p:sp>
          <p:nvSpPr>
            <p:cNvPr id="33" name="矩形: 圆顶角 32"/>
            <p:cNvSpPr/>
            <p:nvPr/>
          </p:nvSpPr>
          <p:spPr>
            <a:xfrm>
              <a:off x="219974" y="2044323"/>
              <a:ext cx="8704052" cy="18956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E0AB5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/>
                <a:t>说明</a:t>
              </a:r>
              <a:endParaRPr lang="zh-CN" altLang="en-US" sz="2000" dirty="0"/>
            </a:p>
          </p:txBody>
        </p:sp>
        <p:sp>
          <p:nvSpPr>
            <p:cNvPr id="34" name="矩形: 圆角 17"/>
            <p:cNvSpPr/>
            <p:nvPr/>
          </p:nvSpPr>
          <p:spPr>
            <a:xfrm>
              <a:off x="219974" y="2236603"/>
              <a:ext cx="8704052" cy="258751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F6E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>
                <a:buClr>
                  <a:srgbClr val="151DC1"/>
                </a:buClr>
              </a:pP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需要返回两个指针所指向</a:t>
              </a:r>
              <a:endParaRPr lang="zh-CN" alt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>
                <a:buClr>
                  <a:srgbClr val="151DC1"/>
                </a:buClr>
              </a:pP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的对象的比较结果</a:t>
              </a:r>
              <a:endParaRPr lang="en-US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1181836" y="547162"/>
            <a:ext cx="82812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>
                <a:solidFill>
                  <a:srgbClr val="00B050"/>
                </a:solidFill>
              </a:rPr>
              <a:t>解决方案：</a:t>
            </a:r>
            <a:r>
              <a:rPr lang="zh-CN" altLang="en-US" sz="2400" dirty="0">
                <a:solidFill>
                  <a:srgbClr val="FF0000"/>
                </a:solidFill>
              </a:rPr>
              <a:t>重载</a:t>
            </a:r>
            <a:r>
              <a:rPr lang="zh-CN" altLang="en-US" sz="2400" dirty="0">
                <a:solidFill>
                  <a:prstClr val="black"/>
                </a:solidFill>
              </a:rPr>
              <a:t>一个 </a:t>
            </a:r>
            <a:r>
              <a:rPr lang="en-US" altLang="zh-CN" sz="2400" dirty="0" err="1">
                <a:solidFill>
                  <a:prstClr val="black"/>
                </a:solidFill>
              </a:rPr>
              <a:t>getMax</a:t>
            </a:r>
            <a:r>
              <a:rPr lang="en-US" altLang="zh-CN" sz="2400" dirty="0">
                <a:solidFill>
                  <a:prstClr val="black"/>
                </a:solidFill>
              </a:rPr>
              <a:t> </a:t>
            </a:r>
            <a:r>
              <a:rPr lang="zh-CN" altLang="en-US" sz="2400" dirty="0">
                <a:solidFill>
                  <a:prstClr val="black"/>
                </a:solidFill>
              </a:rPr>
              <a:t>模板函数：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354840" y="1387890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YaHei"/>
                <a:ea typeface="微软雅黑" panose="020B0503020204020204" pitchFamily="34" charset="-122"/>
                <a:cs typeface="+mn-cs"/>
              </a:rPr>
              <a:t>学习目标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250146" y="1416070"/>
            <a:ext cx="6238674" cy="1846979"/>
            <a:chOff x="219974" y="2044323"/>
            <a:chExt cx="8704052" cy="1146291"/>
          </a:xfrm>
        </p:grpSpPr>
        <p:sp>
          <p:nvSpPr>
            <p:cNvPr id="38" name="矩形: 圆顶角 37"/>
            <p:cNvSpPr/>
            <p:nvPr/>
          </p:nvSpPr>
          <p:spPr>
            <a:xfrm>
              <a:off x="219974" y="2044323"/>
              <a:ext cx="8704052" cy="35030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getMax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函数调用二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" name="矩形: 圆角 17"/>
            <p:cNvSpPr/>
            <p:nvPr/>
          </p:nvSpPr>
          <p:spPr>
            <a:xfrm>
              <a:off x="219974" y="2394631"/>
              <a:ext cx="8704052" cy="795983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1DC1"/>
                </a:buClr>
                <a:buSzPct val="80000"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12AE7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int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a = 1, b = 2;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1DC1"/>
                </a:buClr>
                <a:buSzPct val="80000"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getMax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(&amp;a, &amp;b);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1181836" y="3429000"/>
            <a:ext cx="6306984" cy="2763455"/>
            <a:chOff x="219974" y="2044323"/>
            <a:chExt cx="8704052" cy="2043008"/>
          </a:xfrm>
        </p:grpSpPr>
        <p:sp>
          <p:nvSpPr>
            <p:cNvPr id="41" name="矩形: 圆顶角 40"/>
            <p:cNvSpPr/>
            <p:nvPr/>
          </p:nvSpPr>
          <p:spPr>
            <a:xfrm>
              <a:off x="219974" y="2044323"/>
              <a:ext cx="8704052" cy="35030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getMax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zh-CN" altLang="en-US" sz="2400" dirty="0">
                  <a:solidFill>
                    <a:prstClr val="white"/>
                  </a:solidFill>
                  <a:latin typeface="Consolas" panose="020B0609020204030204" pitchFamily="49" charset="0"/>
                </a:rPr>
                <a:t>函数模板重载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" name="矩形: 圆角 17"/>
            <p:cNvSpPr/>
            <p:nvPr/>
          </p:nvSpPr>
          <p:spPr>
            <a:xfrm>
              <a:off x="219974" y="2394630"/>
              <a:ext cx="8704052" cy="1692701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lnSpc>
                  <a:spcPts val="2700"/>
                </a:lnSpc>
                <a:buClr>
                  <a:srgbClr val="151DC1"/>
                </a:buClr>
                <a:buSzPct val="80000"/>
              </a:pPr>
              <a:r>
                <a:rPr lang="en-US" altLang="zh-CN" sz="24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template </a:t>
              </a:r>
              <a:r>
                <a:rPr lang="en-US" altLang="zh-CN" sz="2400" dirty="0">
                  <a:solidFill>
                    <a:schemeClr val="accent6">
                      <a:lumMod val="50000"/>
                    </a:schemeClr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zh-CN" sz="2400" dirty="0" err="1">
                  <a:solidFill>
                    <a:srgbClr val="212AE7"/>
                  </a:solidFill>
                  <a:latin typeface="Consolas" panose="020B0609020204030204" pitchFamily="49" charset="0"/>
                </a:rPr>
                <a:t>typename</a:t>
              </a:r>
              <a:r>
                <a:rPr lang="en-US" altLang="zh-CN" sz="24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T</a:t>
              </a:r>
              <a:r>
                <a:rPr lang="en-US" altLang="zh-CN" sz="2400" dirty="0">
                  <a:solidFill>
                    <a:schemeClr val="accent6">
                      <a:lumMod val="50000"/>
                    </a:schemeClr>
                  </a:solidFill>
                  <a:latin typeface="Consolas" panose="020B0609020204030204" pitchFamily="49" charset="0"/>
                </a:rPr>
                <a:t>&gt;</a:t>
              </a:r>
              <a:endParaRPr lang="en-US" altLang="zh-CN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ts val="2700"/>
                </a:lnSpc>
                <a:buClr>
                  <a:srgbClr val="151DC1"/>
                </a:buClr>
                <a:buSzPct val="80000"/>
              </a:pPr>
              <a:r>
                <a:rPr lang="en-US" altLang="zh-CN" sz="24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T</a:t>
              </a:r>
              <a:r>
                <a:rPr lang="en-US" altLang="zh-CN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*</a:t>
              </a:r>
              <a:r>
                <a:rPr lang="en-US" altLang="zh-CN" sz="24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 const </a:t>
              </a:r>
              <a:r>
                <a:rPr lang="en-US" altLang="zh-CN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&amp; </a:t>
              </a:r>
              <a:r>
                <a:rPr lang="en-US" altLang="zh-CN" sz="24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getMax</a:t>
              </a:r>
              <a:r>
                <a:rPr lang="en-US" altLang="zh-CN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zh-CN" sz="24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T</a:t>
              </a:r>
              <a:r>
                <a:rPr lang="en-US" altLang="zh-CN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*</a:t>
              </a:r>
              <a:r>
                <a:rPr lang="en-US" altLang="zh-CN" sz="24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 const </a:t>
              </a:r>
              <a:r>
                <a:rPr lang="en-US" altLang="zh-CN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&amp;a,</a:t>
              </a:r>
              <a:r>
                <a:rPr lang="en-US" altLang="zh-CN" sz="24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4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T</a:t>
              </a:r>
              <a:r>
                <a:rPr lang="en-US" altLang="zh-CN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*</a:t>
              </a:r>
              <a:r>
                <a:rPr lang="en-US" altLang="zh-CN" sz="24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 const </a:t>
              </a:r>
              <a:r>
                <a:rPr lang="en-US" altLang="zh-CN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&amp;b){</a:t>
              </a:r>
              <a:endPara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ts val="2700"/>
                </a:lnSpc>
                <a:buClr>
                  <a:srgbClr val="151DC1"/>
                </a:buClr>
                <a:buSzPct val="80000"/>
              </a:pPr>
              <a:r>
                <a:rPr lang="en-US" altLang="zh-CN" sz="24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	return </a:t>
              </a:r>
              <a:r>
                <a:rPr lang="en-US" altLang="zh-CN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*a&gt;*b ? a : b;</a:t>
              </a:r>
              <a:endPara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lvl="0">
                <a:lnSpc>
                  <a:spcPts val="2700"/>
                </a:lnSpc>
                <a:buClr>
                  <a:srgbClr val="151DC1"/>
                </a:buClr>
                <a:buSzPct val="80000"/>
              </a:pPr>
              <a:r>
                <a:rPr lang="en-US" altLang="zh-CN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8015913" y="1426585"/>
            <a:ext cx="3304127" cy="2285273"/>
            <a:chOff x="219974" y="2044323"/>
            <a:chExt cx="8704052" cy="914883"/>
          </a:xfrm>
        </p:grpSpPr>
        <p:sp>
          <p:nvSpPr>
            <p:cNvPr id="44" name="矩形: 圆顶角 43"/>
            <p:cNvSpPr/>
            <p:nvPr/>
          </p:nvSpPr>
          <p:spPr>
            <a:xfrm>
              <a:off x="219974" y="2044323"/>
              <a:ext cx="8704052" cy="18956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E0AB5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说明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5" name="矩形: 圆角 17"/>
            <p:cNvSpPr/>
            <p:nvPr/>
          </p:nvSpPr>
          <p:spPr>
            <a:xfrm>
              <a:off x="219974" y="2236603"/>
              <a:ext cx="8704052" cy="722603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F6E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 lvl="0">
                <a:lnSpc>
                  <a:spcPts val="2700"/>
                </a:lnSpc>
                <a:buClr>
                  <a:srgbClr val="151DC1"/>
                </a:buClr>
              </a:pPr>
              <a:r>
                <a:rPr lang="zh-CN" altLang="en-US" sz="2000" dirty="0">
                  <a:solidFill>
                    <a:prstClr val="black"/>
                  </a:solidFill>
                  <a:latin typeface="Consolas" panose="020B0609020204030204" pitchFamily="49" charset="0"/>
                </a:rPr>
                <a:t>模板实参 </a:t>
              </a:r>
              <a:r>
                <a:rPr lang="en-US" altLang="zh-CN" sz="2000" dirty="0">
                  <a:solidFill>
                    <a:prstClr val="black"/>
                  </a:solidFill>
                  <a:latin typeface="Consolas" panose="020B0609020204030204" pitchFamily="49" charset="0"/>
                </a:rPr>
                <a:t>T </a:t>
              </a:r>
              <a:r>
                <a:rPr lang="zh-CN" altLang="en-US" sz="2000" dirty="0">
                  <a:solidFill>
                    <a:prstClr val="black"/>
                  </a:solidFill>
                  <a:latin typeface="Consolas" panose="020B0609020204030204" pitchFamily="49" charset="0"/>
                </a:rPr>
                <a:t>的类型为 </a:t>
              </a:r>
              <a:r>
                <a:rPr lang="en-US" altLang="zh-CN" sz="2000" dirty="0">
                  <a:solidFill>
                    <a:prstClr val="black"/>
                  </a:solidFill>
                  <a:latin typeface="Consolas" panose="020B0609020204030204" pitchFamily="49" charset="0"/>
                </a:rPr>
                <a:t>int</a:t>
              </a:r>
              <a:r>
                <a:rPr lang="zh-CN" altLang="en-US" sz="2000" dirty="0">
                  <a:solidFill>
                    <a:prstClr val="black"/>
                  </a:solidFill>
                  <a:latin typeface="Consolas" panose="020B0609020204030204" pitchFamily="49" charset="0"/>
                </a:rPr>
                <a:t>，*</a:t>
              </a:r>
              <a:r>
                <a:rPr lang="en-US" altLang="zh-CN" sz="2000" dirty="0">
                  <a:solidFill>
                    <a:prstClr val="black"/>
                  </a:solidFill>
                  <a:latin typeface="Consolas" panose="020B0609020204030204" pitchFamily="49" charset="0"/>
                </a:rPr>
                <a:t>a </a:t>
              </a:r>
              <a:r>
                <a:rPr lang="zh-CN" altLang="en-US" sz="2000" dirty="0">
                  <a:solidFill>
                    <a:prstClr val="black"/>
                  </a:solidFill>
                  <a:latin typeface="Consolas" panose="020B0609020204030204" pitchFamily="49" charset="0"/>
                </a:rPr>
                <a:t>和 *</a:t>
              </a:r>
              <a:r>
                <a:rPr lang="en-US" altLang="zh-CN" sz="2000" dirty="0">
                  <a:solidFill>
                    <a:prstClr val="black"/>
                  </a:solidFill>
                  <a:latin typeface="Consolas" panose="020B0609020204030204" pitchFamily="49" charset="0"/>
                </a:rPr>
                <a:t>b </a:t>
              </a:r>
              <a:r>
                <a:rPr lang="zh-CN" altLang="en-US" sz="2000" dirty="0">
                  <a:solidFill>
                    <a:prstClr val="black"/>
                  </a:solidFill>
                  <a:latin typeface="Consolas" panose="020B0609020204030204" pitchFamily="49" charset="0"/>
                </a:rPr>
                <a:t>指向的是 </a:t>
              </a:r>
              <a:r>
                <a:rPr lang="en-US" altLang="zh-CN" sz="2000" dirty="0">
                  <a:solidFill>
                    <a:prstClr val="black"/>
                  </a:solidFill>
                  <a:latin typeface="Consolas" panose="020B0609020204030204" pitchFamily="49" charset="0"/>
                </a:rPr>
                <a:t>int </a:t>
              </a:r>
              <a:r>
                <a:rPr lang="zh-CN" altLang="en-US" sz="2000" dirty="0">
                  <a:solidFill>
                    <a:prstClr val="black"/>
                  </a:solidFill>
                  <a:latin typeface="Consolas" panose="020B0609020204030204" pitchFamily="49" charset="0"/>
                </a:rPr>
                <a:t>对象，函数体里面的操作是两个 </a:t>
              </a:r>
              <a:r>
                <a:rPr lang="en-US" altLang="zh-CN" sz="2000" dirty="0">
                  <a:solidFill>
                    <a:prstClr val="black"/>
                  </a:solidFill>
                  <a:latin typeface="Consolas" panose="020B0609020204030204" pitchFamily="49" charset="0"/>
                </a:rPr>
                <a:t>int </a:t>
              </a:r>
              <a:r>
                <a:rPr lang="zh-CN" altLang="en-US" sz="2000" dirty="0">
                  <a:solidFill>
                    <a:prstClr val="black"/>
                  </a:solidFill>
                  <a:latin typeface="Consolas" panose="020B0609020204030204" pitchFamily="49" charset="0"/>
                </a:rPr>
                <a:t>对象的比较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605952" y="155277"/>
            <a:ext cx="8515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 </a:t>
            </a:r>
            <a:r>
              <a:rPr lang="zh-CN" altLang="en-US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模板参数类型 </a:t>
            </a:r>
            <a:r>
              <a:rPr lang="en-US" altLang="zh-CN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模板重载与特化</a:t>
            </a:r>
            <a:endParaRPr lang="zh-CN" altLang="en-US" sz="2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17298" y="173472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457200">
              <a:defRPr/>
            </a:pPr>
            <a:r>
              <a:rPr lang="zh-CN" altLang="en-US" sz="2400" dirty="0">
                <a:solidFill>
                  <a:srgbClr val="FFFFFF"/>
                </a:solidFill>
                <a:latin typeface="MicrosoftYaHei"/>
                <a:ea typeface="微软雅黑" panose="020B0503020204020204" pitchFamily="34" charset="-122"/>
              </a:rPr>
              <a:t>学习目标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22332" y="1098034"/>
            <a:ext cx="5767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重载一个 </a:t>
            </a:r>
            <a:r>
              <a:rPr lang="en-US" altLang="zh-CN" sz="2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getMax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模板函数：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712604" y="1712108"/>
            <a:ext cx="5767696" cy="1348591"/>
            <a:chOff x="219974" y="2044323"/>
            <a:chExt cx="8704052" cy="997007"/>
          </a:xfrm>
        </p:grpSpPr>
        <p:sp>
          <p:nvSpPr>
            <p:cNvPr id="18" name="矩形: 圆顶角 17"/>
            <p:cNvSpPr/>
            <p:nvPr/>
          </p:nvSpPr>
          <p:spPr>
            <a:xfrm>
              <a:off x="219974" y="2044323"/>
              <a:ext cx="8704052" cy="35030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200">
                <a:defRPr/>
              </a:pPr>
              <a:r>
                <a:rPr lang="en-US" altLang="zh-CN" sz="2000" dirty="0" err="1">
                  <a:solidFill>
                    <a:prstClr val="white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getMax</a:t>
              </a:r>
              <a:r>
                <a:rPr lang="en-US" altLang="zh-CN" sz="2000" dirty="0">
                  <a:solidFill>
                    <a:prstClr val="white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 </a:t>
              </a:r>
              <a:r>
                <a:rPr lang="zh-CN" altLang="en-US" sz="2000" dirty="0">
                  <a:solidFill>
                    <a:prstClr val="white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函数调用三</a:t>
              </a:r>
              <a:endPara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: 圆角 17"/>
            <p:cNvSpPr/>
            <p:nvPr/>
          </p:nvSpPr>
          <p:spPr>
            <a:xfrm>
              <a:off x="219974" y="2394631"/>
              <a:ext cx="8704052" cy="646699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dirty="0">
                  <a:solidFill>
                    <a:srgbClr val="212AE7"/>
                  </a:solidFill>
                  <a:latin typeface="Consolas" panose="020B0609020204030204" pitchFamily="49" charset="0"/>
                </a:rPr>
                <a:t>const char 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*a = </a:t>
              </a:r>
              <a:r>
                <a:rPr lang="en-US" altLang="zh-CN" dirty="0">
                  <a:solidFill>
                    <a:schemeClr val="accent4">
                      <a:lumMod val="75000"/>
                    </a:schemeClr>
                  </a:solidFill>
                  <a:latin typeface="Consolas" panose="020B0609020204030204" pitchFamily="49" charset="0"/>
                </a:rPr>
                <a:t>"Hi"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, *b = </a:t>
              </a:r>
              <a:r>
                <a:rPr lang="en-US" altLang="zh-CN" dirty="0">
                  <a:solidFill>
                    <a:schemeClr val="accent4">
                      <a:lumMod val="75000"/>
                    </a:schemeClr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zh-CN" dirty="0">
                  <a:solidFill>
                    <a:schemeClr val="accent4">
                      <a:lumMod val="75000"/>
                    </a:schemeClr>
                  </a:solidFill>
                  <a:latin typeface="Consolas" panose="020B0609020204030204" pitchFamily="49" charset="0"/>
                  <a:sym typeface="+mn-ea"/>
                </a:rPr>
                <a:t>Hi</a:t>
              </a:r>
              <a:r>
                <a:rPr lang="zh-CN" altLang="en-US" dirty="0">
                  <a:solidFill>
                    <a:schemeClr val="accent4">
                      <a:lumMod val="75000"/>
                    </a:schemeClr>
                  </a:solidFill>
                  <a:latin typeface="Consolas" panose="020B0609020204030204" pitchFamily="49" charset="0"/>
                  <a:sym typeface="+mn-ea"/>
                </a:rPr>
                <a:t>，</a:t>
              </a:r>
              <a:r>
                <a:rPr lang="en-US" altLang="zh-CN" dirty="0">
                  <a:solidFill>
                    <a:schemeClr val="accent4">
                      <a:lumMod val="75000"/>
                    </a:schemeClr>
                  </a:solidFill>
                  <a:latin typeface="Consolas" panose="020B0609020204030204" pitchFamily="49" charset="0"/>
                </a:rPr>
                <a:t>C++"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;</a:t>
              </a:r>
              <a:endParaRPr lang="en-US" altLang="zh-CN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cout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 &lt;&lt; </a:t>
              </a:r>
              <a:r>
                <a:rPr lang="en-US" altLang="zh-CN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getMax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(a, b) &lt;&lt; </a:t>
              </a:r>
              <a:r>
                <a:rPr lang="en-US" altLang="zh-CN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endl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;</a:t>
              </a:r>
              <a:endParaRPr lang="en-US" altLang="zh-CN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723159" y="3174912"/>
            <a:ext cx="5767696" cy="3255828"/>
            <a:chOff x="219974" y="2044323"/>
            <a:chExt cx="8704052" cy="2407017"/>
          </a:xfrm>
        </p:grpSpPr>
        <p:sp>
          <p:nvSpPr>
            <p:cNvPr id="20" name="矩形: 圆顶角 19"/>
            <p:cNvSpPr/>
            <p:nvPr/>
          </p:nvSpPr>
          <p:spPr>
            <a:xfrm>
              <a:off x="219974" y="2044323"/>
              <a:ext cx="8704052" cy="35030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en-US" altLang="zh-CN" sz="2000" dirty="0" err="1">
                  <a:solidFill>
                    <a:prstClr val="white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getMax</a:t>
              </a:r>
              <a:r>
                <a:rPr lang="en-US" altLang="zh-CN" sz="2000" dirty="0">
                  <a:solidFill>
                    <a:prstClr val="white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 </a:t>
              </a:r>
              <a:r>
                <a:rPr lang="zh-CN" altLang="en-US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函数定义二</a:t>
              </a:r>
              <a:endPara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: 圆角 17"/>
            <p:cNvSpPr/>
            <p:nvPr/>
          </p:nvSpPr>
          <p:spPr>
            <a:xfrm>
              <a:off x="219974" y="2394632"/>
              <a:ext cx="8704052" cy="2056708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dirty="0">
                  <a:solidFill>
                    <a:srgbClr val="212AE7"/>
                  </a:solidFill>
                  <a:latin typeface="Consolas" panose="020B0609020204030204" pitchFamily="49" charset="0"/>
                </a:rPr>
                <a:t>template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 &lt; </a:t>
              </a:r>
              <a:r>
                <a:rPr lang="en-US" altLang="zh-CN" dirty="0" err="1">
                  <a:solidFill>
                    <a:srgbClr val="212AE7"/>
                  </a:solidFill>
                  <a:latin typeface="Consolas" panose="020B0609020204030204" pitchFamily="49" charset="0"/>
                </a:rPr>
                <a:t>typename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T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&gt;</a:t>
              </a:r>
              <a:endParaRPr lang="en-US" altLang="zh-CN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dirty="0">
                  <a:solidFill>
                    <a:srgbClr val="212AE7"/>
                  </a:solidFill>
                  <a:latin typeface="Consolas" panose="020B0609020204030204" pitchFamily="49" charset="0"/>
                </a:rPr>
                <a:t>const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T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 &amp; </a:t>
              </a:r>
              <a:r>
                <a:rPr lang="en-US" altLang="zh-CN" dirty="0" err="1">
                  <a:solidFill>
                    <a:prstClr val="black"/>
                  </a:solidFill>
                  <a:latin typeface="Consolas" panose="020B0609020204030204" pitchFamily="49" charset="0"/>
                </a:rPr>
                <a:t>getMax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(const </a:t>
              </a:r>
              <a:r>
                <a:rPr lang="en-US" altLang="zh-CN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T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 &amp;a, const </a:t>
              </a:r>
              <a:r>
                <a:rPr lang="en-US" altLang="zh-CN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T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 &amp;b){</a:t>
              </a:r>
              <a:endParaRPr lang="en-US" altLang="zh-CN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dirty="0">
                  <a:solidFill>
                    <a:srgbClr val="212AE7"/>
                  </a:solidFill>
                  <a:latin typeface="Consolas" panose="020B0609020204030204" pitchFamily="49" charset="0"/>
                </a:rPr>
                <a:t>	return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 a &gt; b ? a : b;</a:t>
              </a:r>
              <a:endParaRPr lang="en-US" altLang="zh-CN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}</a:t>
              </a:r>
              <a:endParaRPr lang="en-US" altLang="zh-CN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endParaRPr lang="en-US" altLang="zh-CN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dirty="0">
                  <a:solidFill>
                    <a:srgbClr val="212AE7"/>
                  </a:solidFill>
                  <a:latin typeface="Consolas" panose="020B0609020204030204" pitchFamily="49" charset="0"/>
                </a:rPr>
                <a:t>template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 &lt;</a:t>
              </a:r>
              <a:r>
                <a:rPr lang="en-US" altLang="zh-CN" dirty="0" err="1">
                  <a:solidFill>
                    <a:srgbClr val="212AE7"/>
                  </a:solidFill>
                  <a:latin typeface="Consolas" panose="020B0609020204030204" pitchFamily="49" charset="0"/>
                </a:rPr>
                <a:t>typename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T 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&gt;</a:t>
              </a:r>
              <a:endParaRPr lang="en-US" altLang="zh-CN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T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* const &amp; </a:t>
              </a:r>
              <a:r>
                <a:rPr lang="en-US" altLang="zh-CN" dirty="0" err="1">
                  <a:solidFill>
                    <a:prstClr val="black"/>
                  </a:solidFill>
                  <a:latin typeface="Consolas" panose="020B0609020204030204" pitchFamily="49" charset="0"/>
                </a:rPr>
                <a:t>getMax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zh-CN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T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* const &amp;a, </a:t>
              </a:r>
              <a:r>
                <a:rPr lang="en-US" altLang="zh-CN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T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* const &amp;b){</a:t>
              </a:r>
              <a:endParaRPr lang="en-US" altLang="zh-CN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zh-CN" dirty="0">
                  <a:solidFill>
                    <a:srgbClr val="212AE7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 *a&gt;*b ? a : b;</a:t>
              </a:r>
              <a:endParaRPr lang="en-US" altLang="zh-CN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151DC1"/>
                </a:buClr>
                <a:buSzPct val="80000"/>
              </a:pP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}</a:t>
              </a:r>
              <a:endPara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131531" y="1701600"/>
            <a:ext cx="2894402" cy="1200400"/>
            <a:chOff x="219974" y="2044323"/>
            <a:chExt cx="8704052" cy="480566"/>
          </a:xfrm>
        </p:grpSpPr>
        <p:sp>
          <p:nvSpPr>
            <p:cNvPr id="23" name="矩形: 圆顶角 22"/>
            <p:cNvSpPr/>
            <p:nvPr/>
          </p:nvSpPr>
          <p:spPr>
            <a:xfrm>
              <a:off x="219974" y="2044323"/>
              <a:ext cx="8704052" cy="18956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E0AB5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200">
                <a:defRPr/>
              </a:pPr>
              <a:r>
                <a:rPr lang="zh-CN" altLang="en-US" sz="2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说明</a:t>
              </a:r>
              <a:endPara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: 圆角 17"/>
            <p:cNvSpPr/>
            <p:nvPr/>
          </p:nvSpPr>
          <p:spPr>
            <a:xfrm>
              <a:off x="219974" y="2221960"/>
              <a:ext cx="8704052" cy="302929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F6E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>
                <a:lnSpc>
                  <a:spcPts val="2700"/>
                </a:lnSpc>
                <a:buClr>
                  <a:srgbClr val="151DC1"/>
                </a:buClr>
              </a:pP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需要返回指向字符串值较</a:t>
              </a:r>
              <a:endParaRPr lang="zh-CN" altLang="en-US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ts val="2700"/>
                </a:lnSpc>
                <a:buClr>
                  <a:srgbClr val="151DC1"/>
                </a:buClr>
              </a:pP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大的字符指针</a:t>
              </a:r>
              <a:endParaRPr lang="en-US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8131531" y="3130619"/>
            <a:ext cx="2894402" cy="1190461"/>
            <a:chOff x="219974" y="2044317"/>
            <a:chExt cx="8704052" cy="1190466"/>
          </a:xfrm>
        </p:grpSpPr>
        <p:sp>
          <p:nvSpPr>
            <p:cNvPr id="16" name="矩形: 圆顶角 15"/>
            <p:cNvSpPr/>
            <p:nvPr/>
          </p:nvSpPr>
          <p:spPr>
            <a:xfrm>
              <a:off x="219974" y="2044317"/>
              <a:ext cx="8704052" cy="577650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006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200">
                <a:defRPr/>
              </a:pPr>
              <a:r>
                <a:rPr lang="zh-CN" altLang="en-US" sz="2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</a:t>
              </a:r>
              <a:endPara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: 圆角 17"/>
            <p:cNvSpPr/>
            <p:nvPr/>
          </p:nvSpPr>
          <p:spPr>
            <a:xfrm>
              <a:off x="219974" y="2588449"/>
              <a:ext cx="8704052" cy="646334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 lvl="0">
                <a:buClr>
                  <a:srgbClr val="212AE7"/>
                </a:buClr>
                <a:buSzPct val="80000"/>
              </a:pP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现有的两个 </a:t>
              </a:r>
              <a:r>
                <a:rPr lang="en-US" altLang="zh-CN" dirty="0" err="1">
                  <a:solidFill>
                    <a:prstClr val="black"/>
                  </a:solidFill>
                  <a:latin typeface="Consolas" panose="020B0609020204030204" pitchFamily="49" charset="0"/>
                </a:rPr>
                <a:t>getMax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函数</a:t>
              </a:r>
              <a:endParaRPr lang="zh-CN" altLang="en-US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212AE7"/>
                </a:buClr>
                <a:buSzPct val="80000"/>
              </a:pP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的定义还能否满足要求？</a:t>
              </a:r>
              <a:endPara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120976" y="4498425"/>
            <a:ext cx="2894402" cy="1707883"/>
            <a:chOff x="219974" y="2044317"/>
            <a:chExt cx="8704052" cy="1707890"/>
          </a:xfrm>
        </p:grpSpPr>
        <p:sp>
          <p:nvSpPr>
            <p:cNvPr id="27" name="矩形: 圆顶角 26"/>
            <p:cNvSpPr/>
            <p:nvPr/>
          </p:nvSpPr>
          <p:spPr>
            <a:xfrm>
              <a:off x="219974" y="2044317"/>
              <a:ext cx="8704052" cy="577650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006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200">
                <a:defRPr/>
              </a:pPr>
              <a:r>
                <a:rPr lang="zh-CN" altLang="en-US" sz="2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答案</a:t>
              </a:r>
              <a:endPara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: 圆角 17"/>
            <p:cNvSpPr/>
            <p:nvPr/>
          </p:nvSpPr>
          <p:spPr>
            <a:xfrm>
              <a:off x="219974" y="2551873"/>
              <a:ext cx="8704052" cy="1200334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 lvl="0">
                <a:buClr>
                  <a:srgbClr val="212AE7"/>
                </a:buClr>
                <a:buSzPct val="80000"/>
              </a:pP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不能。*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a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和 *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b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指向的是</a:t>
              </a:r>
              <a:endParaRPr lang="zh-CN" altLang="en-US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212AE7"/>
                </a:buClr>
                <a:buSzPct val="80000"/>
              </a:pP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单个字符，函数体里面的</a:t>
              </a:r>
              <a:endParaRPr lang="zh-CN" altLang="en-US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212AE7"/>
                </a:buClr>
                <a:buSzPct val="80000"/>
              </a:pP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操作变成了两个字符的比</a:t>
              </a:r>
              <a:endParaRPr lang="zh-CN" altLang="en-US" dirty="0">
                <a:solidFill>
                  <a:prstClr val="black"/>
                </a:solidFill>
                <a:latin typeface="Consolas" panose="020B0609020204030204" pitchFamily="49" charset="0"/>
              </a:endParaRPr>
            </a:p>
            <a:p>
              <a:pPr lvl="0">
                <a:buClr>
                  <a:srgbClr val="212AE7"/>
                </a:buClr>
                <a:buSzPct val="80000"/>
              </a:pP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较</a:t>
              </a:r>
              <a:endParaRPr lang="en-US" altLang="zh-CN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矩形 28"/>
          <p:cNvSpPr/>
          <p:nvPr/>
        </p:nvSpPr>
        <p:spPr>
          <a:xfrm>
            <a:off x="1352035" y="410230"/>
            <a:ext cx="703521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008000"/>
                </a:solidFill>
                <a:ea typeface="隶书" panose="02010509060101010101" pitchFamily="49" charset="-122"/>
              </a:rPr>
              <a:t>函数模板</a:t>
            </a:r>
            <a:r>
              <a:rPr lang="zh-CN" altLang="en-US" sz="3200" dirty="0">
                <a:solidFill>
                  <a:srgbClr val="0066FF"/>
                </a:solidFill>
                <a:ea typeface="隶书" panose="02010509060101010101" pitchFamily="49" charset="-122"/>
              </a:rPr>
              <a:t>特例化</a:t>
            </a:r>
            <a:endParaRPr lang="zh-CN" altLang="en-US" sz="3200" dirty="0">
              <a:solidFill>
                <a:srgbClr val="0066FF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1207699" y="1524524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457200">
              <a:defRPr/>
            </a:pPr>
            <a:r>
              <a:rPr lang="zh-CN" altLang="en-US" sz="2400" dirty="0">
                <a:solidFill>
                  <a:srgbClr val="FFFFFF"/>
                </a:solidFill>
                <a:latin typeface="MicrosoftYaHei"/>
                <a:ea typeface="微软雅黑" panose="020B0503020204020204" pitchFamily="34" charset="-122"/>
              </a:rPr>
              <a:t>学习目标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03005" y="887829"/>
            <a:ext cx="57676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为此</a:t>
            </a:r>
            <a:r>
              <a:rPr lang="zh-CN" altLang="en-US" sz="2000" dirty="0">
                <a:solidFill>
                  <a:prstClr val="black"/>
                </a:solidFill>
              </a:rPr>
              <a:t>，需要</a:t>
            </a:r>
            <a:r>
              <a:rPr lang="zh-CN" altLang="en-US" sz="2000" dirty="0">
                <a:solidFill>
                  <a:srgbClr val="FF0000"/>
                </a:solidFill>
              </a:rPr>
              <a:t>特例化</a:t>
            </a:r>
            <a:r>
              <a:rPr lang="zh-CN" altLang="en-US" sz="2000" dirty="0">
                <a:solidFill>
                  <a:prstClr val="black"/>
                </a:solidFill>
              </a:rPr>
              <a:t>一个 </a:t>
            </a:r>
            <a:r>
              <a:rPr lang="en-US" altLang="zh-CN" sz="2000" dirty="0" err="1">
                <a:latin typeface="Consolas" panose="020B0609020204030204" pitchFamily="49" charset="0"/>
                <a:ea typeface="微软雅黑" panose="020B0503020204020204" pitchFamily="34" charset="-122"/>
              </a:rPr>
              <a:t>getMax</a:t>
            </a:r>
            <a:r>
              <a:rPr lang="en-US" altLang="zh-CN" sz="2000" dirty="0">
                <a:solidFill>
                  <a:prstClr val="black"/>
                </a:solidFill>
              </a:rPr>
              <a:t> </a:t>
            </a:r>
            <a:r>
              <a:rPr lang="zh-CN" altLang="en-US" sz="2000" dirty="0">
                <a:solidFill>
                  <a:prstClr val="black"/>
                </a:solidFill>
              </a:rPr>
              <a:t>模板函数：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103005" y="1501903"/>
            <a:ext cx="5767696" cy="1348591"/>
            <a:chOff x="219974" y="2044323"/>
            <a:chExt cx="8704052" cy="997007"/>
          </a:xfrm>
        </p:grpSpPr>
        <p:sp>
          <p:nvSpPr>
            <p:cNvPr id="18" name="矩形: 圆顶角 17"/>
            <p:cNvSpPr/>
            <p:nvPr/>
          </p:nvSpPr>
          <p:spPr>
            <a:xfrm>
              <a:off x="219974" y="2044323"/>
              <a:ext cx="8704052" cy="35030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200">
                <a:defRPr/>
              </a:pPr>
              <a:r>
                <a:rPr lang="en-US" altLang="zh-CN" sz="2000" dirty="0" err="1">
                  <a:solidFill>
                    <a:prstClr val="white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getMax</a:t>
              </a:r>
              <a:r>
                <a:rPr lang="en-US" altLang="zh-CN" sz="2000" dirty="0">
                  <a:solidFill>
                    <a:prstClr val="white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 </a:t>
              </a:r>
              <a:r>
                <a:rPr lang="zh-CN" altLang="en-US" sz="2000" dirty="0">
                  <a:solidFill>
                    <a:prstClr val="white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函数调用三</a:t>
              </a:r>
              <a:endPara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: 圆角 17"/>
            <p:cNvSpPr/>
            <p:nvPr/>
          </p:nvSpPr>
          <p:spPr>
            <a:xfrm>
              <a:off x="219974" y="2394631"/>
              <a:ext cx="8704052" cy="646699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200">
                <a:buClr>
                  <a:srgbClr val="151DC1"/>
                </a:buClr>
                <a:buSzPct val="80000"/>
                <a:defRPr/>
              </a:pP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const char </a:t>
              </a:r>
              <a:r>
                <a:rPr lang="en-US" altLang="zh-CN" sz="2000" dirty="0">
                  <a:solidFill>
                    <a:prstClr val="black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*a = </a:t>
              </a:r>
              <a:r>
                <a:rPr lang="en-US" altLang="zh-CN" sz="2000" dirty="0">
                  <a:solidFill>
                    <a:srgbClr val="FFC000">
                      <a:lumMod val="75000"/>
                    </a:srgbClr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"Hi"</a:t>
              </a:r>
              <a:r>
                <a:rPr lang="en-US" altLang="zh-CN" sz="2000" dirty="0">
                  <a:solidFill>
                    <a:prstClr val="black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, *b = </a:t>
              </a:r>
              <a:r>
                <a:rPr lang="en-US" altLang="zh-CN" sz="2000" dirty="0">
                  <a:solidFill>
                    <a:srgbClr val="FFC000">
                      <a:lumMod val="75000"/>
                    </a:srgbClr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"C++"</a:t>
              </a:r>
              <a:r>
                <a:rPr lang="en-US" altLang="zh-CN" sz="2000" dirty="0">
                  <a:solidFill>
                    <a:prstClr val="black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;</a:t>
              </a:r>
              <a:endParaRPr lang="en-US" altLang="zh-CN" sz="2000" dirty="0">
                <a:solidFill>
                  <a:srgbClr val="FFC000">
                    <a:lumMod val="75000"/>
                  </a:srgbClr>
                </a:solidFill>
                <a:latin typeface="Consolas" panose="020B0609020204030204" pitchFamily="49" charset="0"/>
                <a:ea typeface="微软雅黑" panose="020B0503020204020204" pitchFamily="34" charset="-122"/>
              </a:endParaRPr>
            </a:p>
            <a:p>
              <a:pPr defTabSz="457200">
                <a:buClr>
                  <a:srgbClr val="151DC1"/>
                </a:buClr>
                <a:buSzPct val="80000"/>
                <a:defRPr/>
              </a:pPr>
              <a:r>
                <a:rPr lang="en-US" altLang="zh-CN" sz="2000" dirty="0" err="1">
                  <a:solidFill>
                    <a:prstClr val="black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cout</a:t>
              </a:r>
              <a:r>
                <a:rPr lang="en-US" altLang="zh-CN" sz="2000" dirty="0">
                  <a:solidFill>
                    <a:prstClr val="black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 &lt;&lt; </a:t>
              </a:r>
              <a:r>
                <a:rPr lang="en-US" altLang="zh-CN" sz="2000" dirty="0" err="1">
                  <a:solidFill>
                    <a:prstClr val="black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getMax</a:t>
              </a:r>
              <a:r>
                <a:rPr lang="en-US" altLang="zh-CN" sz="2000" dirty="0">
                  <a:solidFill>
                    <a:prstClr val="black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(a, b) &lt;&lt; </a:t>
              </a:r>
              <a:r>
                <a:rPr lang="en-US" altLang="zh-CN" sz="2000" dirty="0" err="1">
                  <a:solidFill>
                    <a:prstClr val="black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endl</a:t>
              </a:r>
              <a:r>
                <a:rPr lang="en-US" altLang="zh-CN" sz="2000" dirty="0">
                  <a:solidFill>
                    <a:prstClr val="black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;</a:t>
              </a:r>
              <a:endParaRPr lang="en-US" altLang="zh-CN" sz="20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03005" y="3184233"/>
            <a:ext cx="5767696" cy="2785938"/>
            <a:chOff x="219974" y="2044323"/>
            <a:chExt cx="8704052" cy="2044800"/>
          </a:xfrm>
        </p:grpSpPr>
        <p:sp>
          <p:nvSpPr>
            <p:cNvPr id="20" name="矩形: 圆顶角 19"/>
            <p:cNvSpPr/>
            <p:nvPr/>
          </p:nvSpPr>
          <p:spPr>
            <a:xfrm>
              <a:off x="219974" y="2044323"/>
              <a:ext cx="8704052" cy="35030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en-US" altLang="zh-CN" sz="2000" dirty="0" err="1">
                  <a:solidFill>
                    <a:prstClr val="white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getMax</a:t>
              </a:r>
              <a:r>
                <a:rPr lang="en-US" altLang="zh-CN" sz="2000" dirty="0">
                  <a:solidFill>
                    <a:prstClr val="white"/>
                  </a:solidFill>
                  <a:latin typeface="Consolas" panose="020B0609020204030204" pitchFamily="49" charset="0"/>
                  <a:ea typeface="微软雅黑" panose="020B0503020204020204" pitchFamily="34" charset="-122"/>
                </a:rPr>
                <a:t> </a:t>
              </a:r>
              <a:r>
                <a:rPr lang="zh-CN" altLang="en-US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函数模板特例化</a:t>
              </a:r>
              <a:endPara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: 圆角 17"/>
            <p:cNvSpPr/>
            <p:nvPr/>
          </p:nvSpPr>
          <p:spPr>
            <a:xfrm>
              <a:off x="219974" y="2394631"/>
              <a:ext cx="8704052" cy="1694492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27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template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&lt;&gt;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ts val="27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const char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*</a:t>
              </a: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 const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&amp; 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getMax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(const char* const &amp;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a,</a:t>
              </a:r>
              <a:r>
                <a:rPr lang="en-US" altLang="zh-CN" sz="2000" dirty="0" err="1">
                  <a:solidFill>
                    <a:srgbClr val="212AE7"/>
                  </a:solidFill>
                  <a:latin typeface="Consolas" panose="020B0609020204030204" pitchFamily="49" charset="0"/>
                </a:rPr>
                <a:t>const</a:t>
              </a: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 char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*</a:t>
              </a: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 const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&amp;b){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ts val="27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212AE7"/>
                  </a:solidFill>
                  <a:latin typeface="Consolas" panose="020B0609020204030204" pitchFamily="49" charset="0"/>
                </a:rPr>
                <a:t>	return 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strcmp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a,b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) &gt; 0 ? a : b;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ts val="27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517917" y="1460459"/>
            <a:ext cx="4065968" cy="1126624"/>
            <a:chOff x="219974" y="2044323"/>
            <a:chExt cx="8704052" cy="451031"/>
          </a:xfrm>
        </p:grpSpPr>
        <p:sp>
          <p:nvSpPr>
            <p:cNvPr id="23" name="矩形: 圆顶角 22"/>
            <p:cNvSpPr/>
            <p:nvPr/>
          </p:nvSpPr>
          <p:spPr>
            <a:xfrm>
              <a:off x="219974" y="2044323"/>
              <a:ext cx="8704052" cy="18956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E0AB5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200">
                <a:defRPr/>
              </a:pPr>
              <a:r>
                <a:rPr lang="zh-CN" altLang="en-US" sz="2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说明</a:t>
              </a:r>
              <a:endPara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: 圆角 17"/>
            <p:cNvSpPr/>
            <p:nvPr/>
          </p:nvSpPr>
          <p:spPr>
            <a:xfrm>
              <a:off x="219974" y="2236603"/>
              <a:ext cx="8704052" cy="258751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F6E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 lvl="0">
                <a:buClr>
                  <a:srgbClr val="151DC1"/>
                </a:buClr>
              </a:pPr>
              <a:r>
                <a:rPr lang="zh-CN" altLang="en-US" dirty="0">
                  <a:solidFill>
                    <a:srgbClr val="0066FF"/>
                  </a:solidFill>
                  <a:latin typeface="Consolas" panose="020B0609020204030204" pitchFamily="49" charset="0"/>
                </a:rPr>
                <a:t>模板参数列表为空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，表明将显式提供所有模板实参</a:t>
              </a:r>
              <a:endParaRPr lang="en-US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7517918" y="2702529"/>
            <a:ext cx="4065968" cy="1656239"/>
            <a:chOff x="219974" y="2049204"/>
            <a:chExt cx="8704052" cy="663056"/>
          </a:xfrm>
        </p:grpSpPr>
        <p:sp>
          <p:nvSpPr>
            <p:cNvPr id="30" name="矩形: 圆顶角 29"/>
            <p:cNvSpPr/>
            <p:nvPr/>
          </p:nvSpPr>
          <p:spPr>
            <a:xfrm>
              <a:off x="219974" y="2049204"/>
              <a:ext cx="8704052" cy="18956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E0AB5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200">
                <a:defRPr/>
              </a:pPr>
              <a:r>
                <a:rPr lang="zh-CN" altLang="en-US" sz="2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说明</a:t>
              </a:r>
              <a:endPara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: 圆角 17"/>
            <p:cNvSpPr/>
            <p:nvPr/>
          </p:nvSpPr>
          <p:spPr>
            <a:xfrm>
              <a:off x="219974" y="2231722"/>
              <a:ext cx="8704052" cy="480538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F6E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 lvl="0">
                <a:buClr>
                  <a:srgbClr val="151DC1"/>
                </a:buClr>
              </a:pP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T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被推断为 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const char*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，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a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和 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b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分别为一个指向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const char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对象的 </a:t>
              </a:r>
              <a:r>
                <a:rPr lang="en-US" altLang="zh-CN" dirty="0">
                  <a:solidFill>
                    <a:prstClr val="black"/>
                  </a:solidFill>
                  <a:latin typeface="Consolas" panose="020B0609020204030204" pitchFamily="49" charset="0"/>
                </a:rPr>
                <a:t>const </a:t>
              </a:r>
              <a:r>
                <a:rPr lang="zh-CN" altLang="en-US" dirty="0">
                  <a:solidFill>
                    <a:prstClr val="black"/>
                  </a:solidFill>
                  <a:latin typeface="Consolas" panose="020B0609020204030204" pitchFamily="49" charset="0"/>
                </a:rPr>
                <a:t>指针的引用，函数是对两个字符串值的比较</a:t>
              </a:r>
              <a:endParaRPr lang="en-US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7612888" y="4760814"/>
            <a:ext cx="3970997" cy="1117309"/>
            <a:chOff x="219974" y="2044317"/>
            <a:chExt cx="8704052" cy="1117313"/>
          </a:xfrm>
        </p:grpSpPr>
        <p:sp>
          <p:nvSpPr>
            <p:cNvPr id="33" name="矩形: 圆顶角 32"/>
            <p:cNvSpPr/>
            <p:nvPr/>
          </p:nvSpPr>
          <p:spPr>
            <a:xfrm>
              <a:off x="219974" y="2044317"/>
              <a:ext cx="8704052" cy="462898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C7576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/>
                <a:t>注意</a:t>
              </a:r>
              <a:endParaRPr lang="zh-CN" altLang="en-US" sz="2000" dirty="0"/>
            </a:p>
          </p:txBody>
        </p:sp>
        <p:sp>
          <p:nvSpPr>
            <p:cNvPr id="34" name="矩形: 圆角 17"/>
            <p:cNvSpPr/>
            <p:nvPr/>
          </p:nvSpPr>
          <p:spPr>
            <a:xfrm>
              <a:off x="219974" y="2515297"/>
              <a:ext cx="8704052" cy="646333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DCD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>
                <a:buClr>
                  <a:srgbClr val="212AE7"/>
                </a:buClr>
                <a:buSzPct val="80000"/>
              </a:pP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一个特例化的函数模板本质上是一个</a:t>
              </a:r>
              <a:r>
                <a:rPr lang="zh-CN" altLang="en-US" dirty="0">
                  <a:solidFill>
                    <a:srgbClr val="FF0000"/>
                  </a:solidFill>
                  <a:latin typeface="Consolas" panose="020B0609020204030204" pitchFamily="49" charset="0"/>
                </a:rPr>
                <a:t>实例</a:t>
              </a: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，而非函数模板的一个重载版本</a:t>
              </a:r>
              <a:endParaRPr lang="en-US" altLang="zh-CN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605952" y="155277"/>
            <a:ext cx="8515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 </a:t>
            </a:r>
            <a:r>
              <a:rPr lang="zh-CN" altLang="en-US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模板参数类型 </a:t>
            </a:r>
            <a:r>
              <a:rPr lang="en-US" altLang="zh-CN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模板重载与特化</a:t>
            </a:r>
            <a:endParaRPr lang="zh-CN" altLang="en-US" sz="2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352035" y="410230"/>
            <a:ext cx="80547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8000"/>
                </a:solidFill>
                <a:ea typeface="隶书" panose="02010509060101010101" pitchFamily="49" charset="-122"/>
              </a:rPr>
              <a:t>存在多个同名函数和函数模板时如何确定调用函数</a:t>
            </a:r>
            <a:endParaRPr lang="zh-CN" altLang="en-US" sz="2800" dirty="0">
              <a:solidFill>
                <a:srgbClr val="008000"/>
              </a:solidFill>
              <a:ea typeface="隶书" panose="020105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72563" y="995005"/>
            <a:ext cx="106308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	</a:t>
            </a:r>
            <a:r>
              <a:rPr lang="zh-CN" altLang="en-US" sz="2400" dirty="0"/>
              <a:t>当同一程序中有多个同名的函数和函数模板，一条函数调用语句，如何确定其具体调用哪个函数？</a:t>
            </a:r>
            <a:endParaRPr lang="en-US" altLang="zh-CN" sz="2400" dirty="0"/>
          </a:p>
          <a:p>
            <a:r>
              <a:rPr lang="en-US" altLang="zh-CN" sz="2400" dirty="0"/>
              <a:t>	</a:t>
            </a:r>
            <a:r>
              <a:rPr lang="en-US" altLang="zh-CN" sz="2400" dirty="0">
                <a:solidFill>
                  <a:srgbClr val="0066FF"/>
                </a:solidFill>
              </a:rPr>
              <a:t>C++</a:t>
            </a:r>
            <a:r>
              <a:rPr lang="zh-CN" altLang="en-US" sz="2400" dirty="0">
                <a:solidFill>
                  <a:srgbClr val="0066FF"/>
                </a:solidFill>
              </a:rPr>
              <a:t>编译器遵循以下优先原则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0010" y="2472423"/>
            <a:ext cx="8609728" cy="162386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1999167" y="4293337"/>
            <a:ext cx="7191132" cy="932643"/>
            <a:chOff x="219974" y="2044317"/>
            <a:chExt cx="8704052" cy="932646"/>
          </a:xfrm>
        </p:grpSpPr>
        <p:sp>
          <p:nvSpPr>
            <p:cNvPr id="8" name="矩形: 圆顶角 7"/>
            <p:cNvSpPr/>
            <p:nvPr/>
          </p:nvSpPr>
          <p:spPr>
            <a:xfrm>
              <a:off x="219974" y="2044317"/>
              <a:ext cx="8704052" cy="462898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C7576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400" dirty="0"/>
                <a:t>注意</a:t>
              </a:r>
              <a:endParaRPr lang="zh-CN" altLang="en-US" sz="2400" dirty="0"/>
            </a:p>
          </p:txBody>
        </p:sp>
        <p:sp>
          <p:nvSpPr>
            <p:cNvPr id="9" name="矩形: 圆角 17"/>
            <p:cNvSpPr/>
            <p:nvPr/>
          </p:nvSpPr>
          <p:spPr>
            <a:xfrm>
              <a:off x="219974" y="2515297"/>
              <a:ext cx="8704052" cy="461666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0DCD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>
                <a:buClr>
                  <a:srgbClr val="212AE7"/>
                </a:buClr>
                <a:buSzPct val="80000"/>
              </a:pPr>
              <a:r>
                <a:rPr lang="zh-CN" altLang="en-US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编译器</a:t>
              </a:r>
              <a:r>
                <a:rPr lang="zh-CN" altLang="en-US" sz="2400" dirty="0">
                  <a:solidFill>
                    <a:srgbClr val="0066FF"/>
                  </a:solidFill>
                  <a:latin typeface="Consolas" panose="020B0609020204030204" pitchFamily="49" charset="0"/>
                </a:rPr>
                <a:t>匹配模板函数</a:t>
              </a:r>
              <a:r>
                <a:rPr lang="zh-CN" altLang="en-US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时，</a:t>
              </a:r>
              <a:r>
                <a:rPr lang="zh-CN" altLang="en-US" sz="24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不会进行自动类型转换</a:t>
              </a:r>
              <a:r>
                <a:rPr lang="zh-CN" altLang="en-US" sz="2400" dirty="0">
                  <a:solidFill>
                    <a:schemeClr val="tx1"/>
                  </a:solidFill>
                  <a:latin typeface="Consolas" panose="020B0609020204030204" pitchFamily="49" charset="0"/>
                </a:rPr>
                <a:t>。</a:t>
              </a:r>
              <a:endPara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605952" y="155277"/>
            <a:ext cx="8515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 </a:t>
            </a:r>
            <a:r>
              <a:rPr lang="zh-CN" altLang="en-US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模板参数类型 </a:t>
            </a:r>
            <a:r>
              <a:rPr lang="en-US" altLang="zh-CN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模板重载与特化</a:t>
            </a:r>
            <a:endParaRPr lang="zh-CN" altLang="en-US" sz="2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352035" y="410230"/>
            <a:ext cx="100721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8000"/>
                </a:solidFill>
                <a:ea typeface="隶书" panose="02010509060101010101" pitchFamily="49" charset="-122"/>
              </a:rPr>
              <a:t>例：</a:t>
            </a:r>
            <a:r>
              <a:rPr lang="en-US" altLang="zh-CN" sz="2800" dirty="0">
                <a:solidFill>
                  <a:srgbClr val="008000"/>
                </a:solidFill>
                <a:ea typeface="隶书" panose="02010509060101010101" pitchFamily="49" charset="-122"/>
              </a:rPr>
              <a:t>C++</a:t>
            </a:r>
            <a:r>
              <a:rPr lang="zh-CN" altLang="en-US" sz="2800" dirty="0">
                <a:solidFill>
                  <a:srgbClr val="008000"/>
                </a:solidFill>
                <a:ea typeface="隶书" panose="02010509060101010101" pitchFamily="49" charset="-122"/>
              </a:rPr>
              <a:t>编译器确定调用函数</a:t>
            </a:r>
            <a:endParaRPr lang="zh-CN" altLang="en-US" sz="2800" dirty="0">
              <a:solidFill>
                <a:srgbClr val="008000"/>
              </a:solidFill>
              <a:ea typeface="隶书" panose="020105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5806" y="914396"/>
            <a:ext cx="7867209" cy="368519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924" y="1848462"/>
            <a:ext cx="431972" cy="2717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805" y="4599595"/>
            <a:ext cx="5689475" cy="214563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605952" y="155277"/>
            <a:ext cx="8515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 </a:t>
            </a:r>
            <a:r>
              <a:rPr lang="zh-CN" altLang="en-US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模板参数类型 </a:t>
            </a:r>
            <a:r>
              <a:rPr lang="en-US" altLang="zh-CN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模板重载与特化</a:t>
            </a:r>
            <a:endParaRPr lang="zh-CN" altLang="en-US" sz="2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070235" y="553531"/>
            <a:ext cx="1007217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8000"/>
                </a:solidFill>
                <a:ea typeface="隶书" panose="02010509060101010101" pitchFamily="49" charset="-122"/>
              </a:rPr>
              <a:t>例：编译器匹配模板函数时，不会进行自动类型转换。</a:t>
            </a:r>
            <a:endParaRPr lang="en-US" altLang="zh-CN" sz="2800" dirty="0">
              <a:solidFill>
                <a:srgbClr val="008000"/>
              </a:solidFill>
              <a:ea typeface="隶书" panose="02010509060101010101" pitchFamily="49" charset="-122"/>
            </a:endParaRPr>
          </a:p>
          <a:p>
            <a:endParaRPr lang="zh-CN" altLang="en-US" sz="2800" dirty="0">
              <a:solidFill>
                <a:srgbClr val="008000"/>
              </a:solidFill>
              <a:ea typeface="隶书" panose="020105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4924" y="1848462"/>
            <a:ext cx="431972" cy="2717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235" y="1557929"/>
            <a:ext cx="10236726" cy="313706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1712" y="1984324"/>
            <a:ext cx="330217" cy="27306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926" y="4410351"/>
            <a:ext cx="330217" cy="2730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847352" y="1179794"/>
            <a:ext cx="1044022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类模板定义：</a:t>
            </a:r>
            <a:endParaRPr kumimoji="1" lang="zh-CN" altLang="en-US" sz="3200" dirty="0">
              <a:solidFill>
                <a:srgbClr val="008000"/>
              </a:solidFill>
              <a:latin typeface="Tahoma" panose="020B0604030504040204" pitchFamily="34" charset="0"/>
              <a:ea typeface="隶书" panose="02010509060101010101" pitchFamily="49" charset="-122"/>
            </a:endParaRPr>
          </a:p>
          <a:p>
            <a:pPr algn="just"/>
            <a:r>
              <a:rPr kumimoji="1" lang="en-US" altLang="zh-CN" sz="240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template  </a:t>
            </a:r>
            <a:r>
              <a:rPr kumimoji="1"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&lt;</a:t>
            </a:r>
            <a:r>
              <a:rPr kumimoji="1"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模板参数表</a:t>
            </a:r>
            <a:r>
              <a:rPr kumimoji="1"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&gt; </a:t>
            </a:r>
            <a:r>
              <a:rPr kumimoji="1" lang="en-US" altLang="zh-CN" sz="2400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kumimoji="1" lang="en-US" altLang="zh-CN" sz="2400" dirty="0">
              <a:solidFill>
                <a:schemeClr val="tx2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en-US" altLang="zh-CN" sz="240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class</a:t>
            </a:r>
            <a:r>
              <a:rPr kumimoji="1" lang="en-US" altLang="zh-CN" sz="2400" dirty="0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类名</a:t>
            </a:r>
            <a:r>
              <a:rPr kumimoji="1"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{</a:t>
            </a:r>
            <a:endParaRPr kumimoji="1"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zh-CN" altLang="en-US" sz="2400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成员变量和成员函数</a:t>
            </a:r>
            <a:r>
              <a:rPr kumimoji="1" lang="en-US" altLang="zh-CN" sz="2400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sz="2400" dirty="0">
                <a:solidFill>
                  <a:srgbClr val="00B05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类定义体</a:t>
            </a:r>
            <a:endParaRPr kumimoji="1" lang="zh-CN" altLang="en-US" sz="2400" dirty="0">
              <a:solidFill>
                <a:srgbClr val="00B05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}</a:t>
            </a:r>
            <a:r>
              <a:rPr kumimoji="1" lang="en-US" altLang="zh-CN" sz="240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;</a:t>
            </a:r>
            <a:r>
              <a:rPr kumimoji="1" lang="en-US" altLang="zh-CN" sz="2400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sz="2400" dirty="0">
                <a:solidFill>
                  <a:srgbClr val="33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分号不可少</a:t>
            </a:r>
            <a:endParaRPr kumimoji="1" lang="en-US" altLang="zh-CN" sz="2400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endParaRPr kumimoji="1" lang="zh-CN" altLang="en-US" sz="2400" dirty="0">
              <a:solidFill>
                <a:srgbClr val="00B05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en-US" altLang="zh-CN" sz="2000" dirty="0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template</a:t>
            </a:r>
            <a:r>
              <a:rPr kumimoji="1"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&lt;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模板参数表</a:t>
            </a:r>
            <a:r>
              <a:rPr kumimoji="1"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&gt; 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返回类型</a:t>
            </a:r>
            <a:r>
              <a:rPr kumimoji="1" lang="zh-CN" altLang="en-US" sz="2000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类名</a:t>
            </a:r>
            <a:r>
              <a:rPr kumimoji="1"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&lt;</a:t>
            </a:r>
            <a:r>
              <a:rPr kumimoji="1" lang="zh-CN" altLang="en-US" sz="2000" dirty="0">
                <a:solidFill>
                  <a:srgbClr val="0066FF"/>
                </a:solidFill>
              </a:rPr>
              <a:t>模板参数</a:t>
            </a:r>
            <a:r>
              <a:rPr kumimoji="1" lang="zh-CN" altLang="en-US" sz="2000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名</a:t>
            </a:r>
            <a:r>
              <a:rPr kumimoji="1" lang="zh-CN" altLang="en-US" sz="2000" dirty="0">
                <a:solidFill>
                  <a:srgbClr val="0066FF"/>
                </a:solidFill>
              </a:rPr>
              <a:t>表</a:t>
            </a:r>
            <a:r>
              <a:rPr kumimoji="1"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&gt;::</a:t>
            </a:r>
            <a:r>
              <a:rPr kumimoji="1" lang="zh-CN" altLang="en-US" sz="2000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成员函数名</a:t>
            </a:r>
            <a:r>
              <a:rPr kumimoji="1" lang="en-US" altLang="zh-CN" sz="2000" dirty="0">
                <a:solidFill>
                  <a:srgbClr val="0066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1"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(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形参表</a:t>
            </a:r>
            <a:r>
              <a:rPr kumimoji="1"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) { </a:t>
            </a:r>
            <a:endParaRPr kumimoji="1"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……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r>
              <a:rPr kumimoji="1" lang="en-US" altLang="zh-CN" sz="2000" dirty="0">
                <a:solidFill>
                  <a:srgbClr val="33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成员函数</a:t>
            </a:r>
            <a:r>
              <a:rPr kumimoji="1" lang="en-US" altLang="zh-CN" sz="20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定义体</a:t>
            </a:r>
            <a:endParaRPr kumimoji="1" lang="zh-CN" altLang="en-US" sz="2000" b="1" dirty="0">
              <a:solidFill>
                <a:srgbClr val="00B05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}</a:t>
            </a:r>
            <a:endParaRPr kumimoji="1"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……</a:t>
            </a:r>
            <a:endParaRPr kumimoji="1"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en-US" altLang="zh-CN" sz="2000" dirty="0">
                <a:solidFill>
                  <a:srgbClr val="0000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template</a:t>
            </a:r>
            <a:r>
              <a:rPr kumimoji="1"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&lt;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模板参数表</a:t>
            </a:r>
            <a:r>
              <a:rPr kumimoji="1"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&gt; 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返回类型</a:t>
            </a:r>
            <a:r>
              <a:rPr kumimoji="1" lang="zh-CN" altLang="en-US" sz="2000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类名</a:t>
            </a:r>
            <a:r>
              <a:rPr kumimoji="1"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&lt;</a:t>
            </a:r>
            <a:r>
              <a:rPr kumimoji="1" lang="zh-CN" altLang="en-US" sz="2000" dirty="0">
                <a:solidFill>
                  <a:srgbClr val="0066FF"/>
                </a:solidFill>
              </a:rPr>
              <a:t>模板参数</a:t>
            </a:r>
            <a:r>
              <a:rPr kumimoji="1" lang="zh-CN" altLang="en-US" sz="2000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名</a:t>
            </a:r>
            <a:r>
              <a:rPr kumimoji="1" lang="zh-CN" altLang="en-US" sz="2000" dirty="0">
                <a:solidFill>
                  <a:srgbClr val="0066FF"/>
                </a:solidFill>
              </a:rPr>
              <a:t>表</a:t>
            </a:r>
            <a:r>
              <a:rPr kumimoji="1"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&gt;::</a:t>
            </a:r>
            <a:r>
              <a:rPr kumimoji="1" lang="zh-CN" altLang="en-US" sz="2000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成员函数名</a:t>
            </a:r>
            <a:r>
              <a:rPr kumimoji="1" lang="en-US" altLang="zh-CN" sz="2000" dirty="0">
                <a:solidFill>
                  <a:srgbClr val="0066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n</a:t>
            </a:r>
            <a:r>
              <a:rPr kumimoji="1"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(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形参表</a:t>
            </a:r>
            <a:r>
              <a:rPr kumimoji="1"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) { </a:t>
            </a:r>
            <a:endParaRPr kumimoji="1"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……</a:t>
            </a:r>
            <a:r>
              <a: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r>
              <a:rPr kumimoji="1" lang="en-US" altLang="zh-CN" sz="2000" dirty="0">
                <a:solidFill>
                  <a:srgbClr val="33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成员函数</a:t>
            </a:r>
            <a:r>
              <a:rPr kumimoji="1" lang="en-US" altLang="zh-CN" sz="2000" b="1" dirty="0">
                <a:solidFill>
                  <a:srgbClr val="00B05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n</a:t>
            </a:r>
            <a:r>
              <a:rPr kumimoji="1" lang="zh-CN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定义体</a:t>
            </a:r>
            <a:endParaRPr kumimoji="1" lang="zh-CN" altLang="en-US" sz="2000" b="1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kumimoji="1"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}</a:t>
            </a:r>
            <a:endParaRPr kumimoji="1"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endParaRPr kumimoji="1"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ea typeface="宋体" panose="02010600030101010101" pitchFamily="2" charset="-122"/>
              </a:rPr>
              <a:t>类模板参数也有两种：</a:t>
            </a:r>
            <a:r>
              <a:rPr kumimoji="1" lang="zh-CN" altLang="en-US" sz="2400" b="1" dirty="0">
                <a:solidFill>
                  <a:srgbClr val="0000CC"/>
                </a:solidFill>
                <a:ea typeface="宋体" panose="02010600030101010101" pitchFamily="2" charset="-122"/>
              </a:rPr>
              <a:t>类型参数</a:t>
            </a:r>
            <a:r>
              <a:rPr kumimoji="1" lang="zh-CN" altLang="en-US" sz="2400" dirty="0">
                <a:ea typeface="宋体" panose="02010600030101010101" pitchFamily="2" charset="-122"/>
              </a:rPr>
              <a:t>和</a:t>
            </a:r>
            <a:r>
              <a:rPr kumimoji="1" lang="zh-CN" altLang="en-US" sz="2400" b="1" dirty="0">
                <a:solidFill>
                  <a:srgbClr val="0000CC"/>
                </a:solidFill>
                <a:ea typeface="宋体" panose="02010600030101010101" pitchFamily="2" charset="-122"/>
              </a:rPr>
              <a:t>非类型参数</a:t>
            </a:r>
            <a:r>
              <a:rPr kumimoji="1" lang="zh-CN" altLang="en-US" sz="2400" dirty="0">
                <a:solidFill>
                  <a:srgbClr val="0000CC"/>
                </a:solidFill>
                <a:ea typeface="宋体" panose="02010600030101010101" pitchFamily="2" charset="-122"/>
              </a:rPr>
              <a:t>。</a:t>
            </a:r>
            <a:endParaRPr kumimoji="1" lang="en-US" altLang="zh-CN" sz="2400" dirty="0">
              <a:solidFill>
                <a:srgbClr val="0000CC"/>
              </a:solidFill>
              <a:ea typeface="宋体" panose="02010600030101010101" pitchFamily="2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ea typeface="宋体" panose="02010600030101010101" pitchFamily="2" charset="-122"/>
              </a:rPr>
              <a:t>从类模板生成一个类，叫</a:t>
            </a:r>
            <a:r>
              <a:rPr kumimoji="1"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类模板的实例化</a:t>
            </a:r>
            <a:r>
              <a:rPr kumimoji="1" lang="zh-CN" altLang="en-US" sz="2400" dirty="0">
                <a:solidFill>
                  <a:srgbClr val="0000CC"/>
                </a:solidFill>
                <a:ea typeface="宋体" panose="02010600030101010101" pitchFamily="2" charset="-122"/>
              </a:rPr>
              <a:t>。</a:t>
            </a:r>
            <a:r>
              <a:rPr kumimoji="1" lang="zh-CN" altLang="en-US" sz="2400" dirty="0">
                <a:ea typeface="宋体" panose="02010600030101010101" pitchFamily="2" charset="-122"/>
              </a:rPr>
              <a:t>实例化出来的类</a:t>
            </a:r>
            <a:r>
              <a:rPr kumimoji="1" lang="zh-CN" altLang="en-US" sz="2400" dirty="0">
                <a:solidFill>
                  <a:srgbClr val="0000CC"/>
                </a:solidFill>
                <a:ea typeface="宋体" panose="02010600030101010101" pitchFamily="2" charset="-122"/>
              </a:rPr>
              <a:t>叫</a:t>
            </a:r>
            <a:r>
              <a:rPr kumimoji="1"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模板类</a:t>
            </a:r>
            <a:r>
              <a:rPr kumimoji="1" lang="zh-CN" altLang="en-US" sz="2400" dirty="0">
                <a:solidFill>
                  <a:srgbClr val="0000CC"/>
                </a:solidFill>
                <a:ea typeface="宋体" panose="02010600030101010101" pitchFamily="2" charset="-122"/>
              </a:rPr>
              <a:t>。</a:t>
            </a:r>
            <a:endParaRPr kumimoji="1" lang="zh-CN" altLang="en-US" sz="2400" dirty="0">
              <a:solidFill>
                <a:srgbClr val="0000CC"/>
              </a:solidFill>
              <a:ea typeface="宋体" panose="02010600030101010101" pitchFamily="2" charset="-122"/>
            </a:endParaRPr>
          </a:p>
        </p:txBody>
      </p:sp>
      <p:sp>
        <p:nvSpPr>
          <p:cNvPr id="13" name="Rectangle 2"/>
          <p:cNvSpPr txBox="1">
            <a:spLocks noRot="1" noChangeArrowheads="1"/>
          </p:cNvSpPr>
          <p:nvPr/>
        </p:nvSpPr>
        <p:spPr>
          <a:xfrm>
            <a:off x="749611" y="-13104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9.4 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类模板</a:t>
            </a:r>
            <a:endParaRPr lang="zh-CN" altLang="en-US" sz="40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852283" y="859594"/>
            <a:ext cx="10351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类模板</a:t>
            </a:r>
            <a:r>
              <a:rPr lang="zh-CN" altLang="en-US" sz="2400" dirty="0"/>
              <a:t>是在</a:t>
            </a:r>
            <a:r>
              <a:rPr lang="zh-CN" altLang="en-US" sz="2400" b="1" dirty="0">
                <a:solidFill>
                  <a:srgbClr val="0066FF"/>
                </a:solidFill>
              </a:rPr>
              <a:t>类的定义</a:t>
            </a:r>
            <a:r>
              <a:rPr lang="zh-CN" altLang="en-US" sz="2400" dirty="0"/>
              <a:t>中将</a:t>
            </a:r>
            <a:r>
              <a:rPr kumimoji="1" lang="zh-CN" altLang="en-US" sz="2400" b="1" dirty="0">
                <a:solidFill>
                  <a:srgbClr val="FF0000"/>
                </a:solidFill>
              </a:rPr>
              <a:t>数据类型参数化，</a:t>
            </a:r>
            <a:r>
              <a:rPr lang="zh-CN" altLang="en-US" sz="2400" dirty="0">
                <a:solidFill>
                  <a:prstClr val="black"/>
                </a:solidFill>
              </a:rPr>
              <a:t>提高代码重用性的一种方法。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796363" y="226443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为什么需要类模板？</a:t>
            </a:r>
            <a:endParaRPr kumimoji="1" lang="zh-CN" altLang="en-US" sz="3200" dirty="0">
              <a:solidFill>
                <a:srgbClr val="008000"/>
              </a:solidFill>
              <a:latin typeface="Tahom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838" y="985929"/>
            <a:ext cx="7608502" cy="438472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584" y="5606919"/>
            <a:ext cx="6886937" cy="75496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603149" y="4316065"/>
            <a:ext cx="32987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       </a:t>
            </a:r>
            <a:r>
              <a:rPr lang="zh-CN" altLang="en-US" sz="2800" b="1" dirty="0">
                <a:solidFill>
                  <a:srgbClr val="FF0000"/>
                </a:solidFill>
              </a:rPr>
              <a:t>模板</a:t>
            </a: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类：</a:t>
            </a:r>
            <a:r>
              <a:rPr lang="zh-CN" altLang="en-US" sz="2800" dirty="0">
                <a:sym typeface="+mn-ea"/>
              </a:rPr>
              <a:t>在使用模板类时，</a:t>
            </a:r>
            <a:r>
              <a:rPr lang="zh-CN" altLang="en-US" sz="2800" dirty="0">
                <a:sym typeface="+mn-ea"/>
              </a:rPr>
              <a:t>根据</a:t>
            </a:r>
            <a:endParaRPr lang="zh-CN" altLang="en-US" sz="2800" dirty="0"/>
          </a:p>
          <a:p>
            <a:r>
              <a:rPr lang="zh-CN" altLang="en-US" sz="2800" dirty="0">
                <a:sym typeface="+mn-ea"/>
              </a:rPr>
              <a:t>给定数据类型实参，</a:t>
            </a:r>
            <a:r>
              <a:rPr lang="zh-CN" altLang="en-US" sz="2800" dirty="0">
                <a:solidFill>
                  <a:srgbClr val="0066FF"/>
                </a:solidFill>
                <a:sym typeface="+mn-ea"/>
              </a:rPr>
              <a:t>编译系统自动生成的类</a:t>
            </a:r>
            <a:r>
              <a:rPr lang="zh-CN" altLang="en-US" sz="2800" dirty="0">
                <a:sym typeface="+mn-ea"/>
              </a:rPr>
              <a:t>。</a:t>
            </a:r>
            <a:endParaRPr lang="zh-CN" altLang="en-US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8603149" y="199995"/>
            <a:ext cx="329878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dirty="0"/>
              <a:t>       </a:t>
            </a:r>
            <a:r>
              <a:rPr lang="zh-CN" altLang="en-US" sz="2800" b="1" dirty="0">
                <a:solidFill>
                  <a:srgbClr val="FF0000"/>
                </a:solidFill>
              </a:rPr>
              <a:t>类模板：</a:t>
            </a:r>
            <a:r>
              <a:rPr lang="zh-CN" altLang="en-US" sz="2800" dirty="0">
                <a:solidFill>
                  <a:schemeClr val="tx1"/>
                </a:solidFill>
              </a:rPr>
              <a:t>定义类的时候，</a:t>
            </a:r>
            <a:r>
              <a:rPr lang="zh-CN" altLang="en-US" sz="2800" dirty="0"/>
              <a:t>可以定义一个</a:t>
            </a:r>
            <a:r>
              <a:rPr lang="en-US" altLang="zh-CN" sz="2800" dirty="0"/>
              <a:t>/</a:t>
            </a:r>
            <a:r>
              <a:rPr lang="zh-CN" altLang="en-US" sz="2800" dirty="0"/>
              <a:t>多个形参表示不同的数据类型。这种类的定义成为类模板。</a:t>
            </a:r>
            <a:r>
              <a:rPr lang="zh-CN" altLang="en-US" sz="2800" dirty="0">
                <a:sym typeface="+mn-ea"/>
              </a:rPr>
              <a:t>可以对类的成员变量和成员函数都实现</a:t>
            </a:r>
            <a:r>
              <a:rPr lang="zh-CN" altLang="en-US" sz="2800" dirty="0">
                <a:solidFill>
                  <a:srgbClr val="0066FF"/>
                </a:solidFill>
                <a:sym typeface="+mn-ea"/>
              </a:rPr>
              <a:t>数据类型无关</a:t>
            </a:r>
            <a:r>
              <a:rPr lang="zh-CN" altLang="en-US" sz="2800" dirty="0">
                <a:sym typeface="+mn-ea"/>
              </a:rPr>
              <a:t>。</a:t>
            </a:r>
            <a:endParaRPr lang="en-US" altLang="zh-CN" sz="2800" dirty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377388" y="226443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例：类模板的定义</a:t>
            </a:r>
            <a:endParaRPr kumimoji="1" lang="zh-CN" altLang="en-US" sz="3200" dirty="0">
              <a:solidFill>
                <a:srgbClr val="008000"/>
              </a:solidFill>
              <a:latin typeface="Tahom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3610" y="949124"/>
            <a:ext cx="7037953" cy="28096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328" y="3758814"/>
            <a:ext cx="8317855" cy="2946897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7517917" y="1460459"/>
            <a:ext cx="4065968" cy="848594"/>
            <a:chOff x="219974" y="2044323"/>
            <a:chExt cx="8704052" cy="339725"/>
          </a:xfrm>
        </p:grpSpPr>
        <p:sp>
          <p:nvSpPr>
            <p:cNvPr id="23" name="矩形: 圆顶角 22"/>
            <p:cNvSpPr/>
            <p:nvPr/>
          </p:nvSpPr>
          <p:spPr>
            <a:xfrm>
              <a:off x="219974" y="2044323"/>
              <a:ext cx="8704052" cy="18956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E0AB5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defTabSz="457200">
                <a:defRPr/>
              </a:pPr>
              <a:r>
                <a:rPr lang="zh-CN" altLang="en-US" sz="2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说明</a:t>
              </a:r>
              <a:endPara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: 圆角 17"/>
            <p:cNvSpPr/>
            <p:nvPr/>
          </p:nvSpPr>
          <p:spPr>
            <a:xfrm>
              <a:off x="219974" y="2236603"/>
              <a:ext cx="8704052" cy="147445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F6E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p>
              <a:pPr lvl="0">
                <a:buClr>
                  <a:srgbClr val="151DC1"/>
                </a:buClr>
              </a:pPr>
              <a:r>
                <a:rPr lang="zh-CN" altLang="en-US" dirty="0">
                  <a:solidFill>
                    <a:srgbClr val="0066FF"/>
                  </a:solidFill>
                  <a:latin typeface="Consolas" panose="020B0609020204030204" pitchFamily="49" charset="0"/>
                </a:rPr>
                <a:t>注意这个</a:t>
              </a:r>
              <a:r>
                <a:rPr lang="en-US" altLang="zh-CN" b="1" dirty="0">
                  <a:gradFill>
                    <a:gsLst>
                      <a:gs pos="100000">
                        <a:srgbClr val="6264F8"/>
                      </a:gs>
                      <a:gs pos="49000">
                        <a:srgbClr val="B584EC"/>
                      </a:gs>
                      <a:gs pos="0">
                        <a:srgbClr val="EE9AE5"/>
                      </a:gs>
                    </a:gsLst>
                    <a:lin ang="2700000" scaled="1"/>
                  </a:gradFill>
                  <a:latin typeface="Consolas" panose="020B0609020204030204" pitchFamily="49" charset="0"/>
                </a:rPr>
                <a:t>Pair</a:t>
              </a:r>
              <a:r>
                <a:rPr lang="zh-CN" altLang="en-US" dirty="0">
                  <a:solidFill>
                    <a:srgbClr val="0066FF"/>
                  </a:solidFill>
                  <a:latin typeface="Consolas" panose="020B0609020204030204" pitchFamily="49" charset="0"/>
                </a:rPr>
                <a:t>类模板，以后还会用到。</a:t>
              </a:r>
              <a:endParaRPr lang="en-US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377388" y="226443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例：类模板的实例化</a:t>
            </a:r>
            <a:endParaRPr kumimoji="1" lang="zh-CN" altLang="en-US" sz="3200" dirty="0">
              <a:solidFill>
                <a:srgbClr val="008000"/>
              </a:solidFill>
              <a:latin typeface="Tahom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943" y="811218"/>
            <a:ext cx="9586762" cy="90396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104" y="1927802"/>
            <a:ext cx="9340770" cy="329486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605952" y="155277"/>
            <a:ext cx="8515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7.2.3  </a:t>
            </a:r>
            <a:r>
              <a:rPr lang="zh-CN" altLang="en-US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默认模板参数</a:t>
            </a:r>
            <a:endParaRPr lang="zh-CN" altLang="en-US" sz="2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09674" y="1734729"/>
            <a:ext cx="50208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zh-CN" altLang="en-US" sz="2400" dirty="0">
                <a:solidFill>
                  <a:srgbClr val="FFFFFF"/>
                </a:solidFill>
                <a:latin typeface="MicrosoftYaHei"/>
                <a:ea typeface="微软雅黑" panose="020B0503020204020204" pitchFamily="34" charset="-122"/>
              </a:rPr>
              <a:t>学习目标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39948" y="995085"/>
            <a:ext cx="82360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dirty="0">
                <a:solidFill>
                  <a:srgbClr val="FF0000"/>
                </a:solidFill>
              </a:rPr>
              <a:t>函数参数</a:t>
            </a:r>
            <a:r>
              <a:rPr lang="zh-CN" altLang="en-US" sz="2400" dirty="0">
                <a:solidFill>
                  <a:prstClr val="black"/>
                </a:solidFill>
              </a:rPr>
              <a:t>可以具有默认值，</a:t>
            </a:r>
            <a:r>
              <a:rPr lang="zh-CN" altLang="en-US" sz="2400" dirty="0">
                <a:solidFill>
                  <a:srgbClr val="FF0000"/>
                </a:solidFill>
              </a:rPr>
              <a:t>模板参数</a:t>
            </a:r>
            <a:r>
              <a:rPr lang="zh-CN" altLang="en-US" sz="2400" dirty="0">
                <a:solidFill>
                  <a:prstClr val="black"/>
                </a:solidFill>
              </a:rPr>
              <a:t>同样也可以有默认值：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10227" y="1640436"/>
            <a:ext cx="6189360" cy="2224730"/>
            <a:chOff x="219974" y="2044324"/>
            <a:chExt cx="8704052" cy="1222157"/>
          </a:xfrm>
        </p:grpSpPr>
        <p:sp>
          <p:nvSpPr>
            <p:cNvPr id="18" name="矩形: 圆顶角 17"/>
            <p:cNvSpPr/>
            <p:nvPr/>
          </p:nvSpPr>
          <p:spPr>
            <a:xfrm>
              <a:off x="219974" y="2044324"/>
              <a:ext cx="8704052" cy="32124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en-US" altLang="zh-CN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Array </a:t>
              </a:r>
              <a:r>
                <a:rPr lang="zh-CN" altLang="en-US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类模板定义二</a:t>
              </a:r>
              <a:endPara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: 圆角 17"/>
            <p:cNvSpPr/>
            <p:nvPr/>
          </p:nvSpPr>
          <p:spPr>
            <a:xfrm>
              <a:off x="219974" y="2347748"/>
              <a:ext cx="8704052" cy="918733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23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template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zh-CN" sz="20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typename</a:t>
              </a: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000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</a:rPr>
                <a:t>T</a:t>
              </a: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0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= </a:t>
              </a: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int, </a:t>
              </a:r>
              <a:r>
                <a:rPr lang="en-US" altLang="zh-CN" sz="2000" dirty="0" err="1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</a:rPr>
                <a:t>size_t</a:t>
              </a: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N </a:t>
              </a:r>
              <a:r>
                <a:rPr lang="en-US" altLang="zh-CN" sz="20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= 10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ts val="23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class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Array</a:t>
              </a: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{</a:t>
              </a:r>
              <a:endParaRPr lang="en-US" altLang="zh-CN" sz="2000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ts val="23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	// </a:t>
              </a:r>
              <a:r>
                <a:rPr lang="zh-CN" altLang="en-US" sz="2000" dirty="0">
                  <a:solidFill>
                    <a:schemeClr val="accent6"/>
                  </a:solidFill>
                  <a:latin typeface="Consolas" panose="020B0609020204030204" pitchFamily="49" charset="0"/>
                </a:rPr>
                <a:t>其它成员保持不变</a:t>
              </a:r>
              <a:endParaRPr lang="zh-CN" altLang="en-US" sz="2000" dirty="0">
                <a:solidFill>
                  <a:schemeClr val="accent6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ts val="23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495535" y="1665386"/>
            <a:ext cx="2974158" cy="1966729"/>
            <a:chOff x="219974" y="2044323"/>
            <a:chExt cx="8704052" cy="787357"/>
          </a:xfrm>
        </p:grpSpPr>
        <p:sp>
          <p:nvSpPr>
            <p:cNvPr id="20" name="矩形: 圆顶角 19"/>
            <p:cNvSpPr/>
            <p:nvPr/>
          </p:nvSpPr>
          <p:spPr>
            <a:xfrm>
              <a:off x="219974" y="2044323"/>
              <a:ext cx="8704052" cy="221119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E0AB5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200">
                <a:defRPr/>
              </a:pPr>
              <a:r>
                <a:rPr lang="zh-CN" altLang="en-US" sz="2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说明</a:t>
              </a:r>
              <a:endPara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: 圆角 17"/>
            <p:cNvSpPr/>
            <p:nvPr/>
          </p:nvSpPr>
          <p:spPr>
            <a:xfrm>
              <a:off x="219974" y="2270770"/>
              <a:ext cx="8704052" cy="560910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F6E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 marL="285750" indent="-285750">
                <a:lnSpc>
                  <a:spcPts val="2600"/>
                </a:lnSpc>
                <a:buClr>
                  <a:srgbClr val="151DC1"/>
                </a:buClr>
                <a:buFont typeface="Wingdings" panose="05000000000000000000" pitchFamily="2" charset="2"/>
                <a:buChar char="l"/>
                <a:defRPr/>
              </a:pPr>
              <a:r>
                <a:rPr lang="zh-CN" altLang="en-US" dirty="0">
                  <a:solidFill>
                    <a:srgbClr val="FF0000"/>
                  </a:solidFill>
                  <a:latin typeface="Consolas" panose="020B0609020204030204" pitchFamily="49" charset="0"/>
                </a:rPr>
                <a:t>类模板参数 </a:t>
              </a:r>
              <a:r>
                <a:rPr lang="en-US" altLang="zh-CN" dirty="0">
                  <a:solidFill>
                    <a:srgbClr val="000000"/>
                  </a:solidFill>
                  <a:latin typeface="Consolas" panose="020B0609020204030204" pitchFamily="49" charset="0"/>
                </a:rPr>
                <a:t>T </a:t>
              </a:r>
              <a:r>
                <a:rPr lang="zh-CN" alt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具有默认</a:t>
              </a:r>
              <a:endParaRPr lang="zh-CN" altLang="en-US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ts val="2600"/>
                </a:lnSpc>
                <a:buClr>
                  <a:srgbClr val="151DC1"/>
                </a:buClr>
                <a:defRPr/>
              </a:pPr>
              <a:r>
                <a:rPr lang="zh-CN" alt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类型 </a:t>
              </a:r>
              <a:r>
                <a:rPr lang="en-US" altLang="zh-CN" dirty="0">
                  <a:solidFill>
                    <a:srgbClr val="000000"/>
                  </a:solidFill>
                  <a:latin typeface="Consolas" panose="020B0609020204030204" pitchFamily="49" charset="0"/>
                </a:rPr>
                <a:t>int</a:t>
              </a:r>
              <a:endParaRPr lang="en-US" altLang="zh-CN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pPr marL="285750" indent="-285750">
                <a:lnSpc>
                  <a:spcPts val="2600"/>
                </a:lnSpc>
                <a:buClr>
                  <a:srgbClr val="151DC1"/>
                </a:buClr>
                <a:buFont typeface="Wingdings" panose="05000000000000000000" pitchFamily="2" charset="2"/>
                <a:buChar char="l"/>
                <a:defRPr/>
              </a:pPr>
              <a:r>
                <a:rPr lang="zh-CN" altLang="en-US" dirty="0">
                  <a:solidFill>
                    <a:srgbClr val="FF0000"/>
                  </a:solidFill>
                  <a:latin typeface="Consolas" panose="020B0609020204030204" pitchFamily="49" charset="0"/>
                </a:rPr>
                <a:t>类模板参数 </a:t>
              </a:r>
              <a:r>
                <a:rPr lang="en-US" altLang="zh-CN" dirty="0">
                  <a:solidFill>
                    <a:srgbClr val="000000"/>
                  </a:solidFill>
                  <a:latin typeface="Consolas" panose="020B0609020204030204" pitchFamily="49" charset="0"/>
                </a:rPr>
                <a:t>N </a:t>
              </a:r>
              <a:r>
                <a:rPr lang="zh-CN" alt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具有默认</a:t>
              </a:r>
              <a:endParaRPr lang="zh-CN" altLang="en-US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ts val="2600"/>
                </a:lnSpc>
                <a:buClr>
                  <a:srgbClr val="151DC1"/>
                </a:buClr>
                <a:defRPr/>
              </a:pPr>
              <a:r>
                <a:rPr lang="zh-CN" alt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值 </a:t>
              </a:r>
              <a:r>
                <a:rPr lang="en-US" altLang="zh-CN" dirty="0">
                  <a:solidFill>
                    <a:srgbClr val="000000"/>
                  </a:solidFill>
                  <a:latin typeface="Consolas" panose="020B0609020204030204" pitchFamily="49" charset="0"/>
                </a:rPr>
                <a:t>10</a:t>
              </a:r>
              <a:endParaRPr lang="en-US" dirty="0">
                <a:solidFill>
                  <a:srgbClr val="000000"/>
                </a:solidFill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495535" y="4105964"/>
            <a:ext cx="2974158" cy="1917961"/>
            <a:chOff x="219974" y="2044323"/>
            <a:chExt cx="8704052" cy="767833"/>
          </a:xfrm>
        </p:grpSpPr>
        <p:sp>
          <p:nvSpPr>
            <p:cNvPr id="24" name="矩形: 圆顶角 23"/>
            <p:cNvSpPr/>
            <p:nvPr/>
          </p:nvSpPr>
          <p:spPr>
            <a:xfrm>
              <a:off x="219974" y="2044323"/>
              <a:ext cx="8704052" cy="221119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E0AB5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457200">
                <a:defRPr/>
              </a:pPr>
              <a:r>
                <a:rPr lang="zh-CN" altLang="en-US" sz="2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说明</a:t>
              </a:r>
              <a:endPara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: 圆角 17"/>
            <p:cNvSpPr/>
            <p:nvPr/>
          </p:nvSpPr>
          <p:spPr>
            <a:xfrm>
              <a:off x="219974" y="2251246"/>
              <a:ext cx="8704052" cy="560910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CF6E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pPr marL="285750" indent="-285750">
                <a:lnSpc>
                  <a:spcPts val="2600"/>
                </a:lnSpc>
                <a:buClr>
                  <a:srgbClr val="151DC1"/>
                </a:buClr>
                <a:buFont typeface="Wingdings" panose="05000000000000000000" pitchFamily="2" charset="2"/>
                <a:buChar char="l"/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a </a:t>
              </a: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的元素数目为默认值</a:t>
              </a:r>
              <a:endParaRPr lang="zh-CN" alt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ts val="2600"/>
                </a:lnSpc>
                <a:buClr>
                  <a:srgbClr val="151DC1"/>
                </a:buClr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10</a:t>
              </a:r>
              <a:endParaRPr lang="en-US" altLang="zh-CN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marL="285750" indent="-285750">
                <a:lnSpc>
                  <a:spcPts val="2600"/>
                </a:lnSpc>
                <a:buClr>
                  <a:srgbClr val="151DC1"/>
                </a:buClr>
                <a:buFont typeface="Wingdings" panose="05000000000000000000" pitchFamily="2" charset="2"/>
                <a:buChar char="l"/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a[0] </a:t>
              </a: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的类型为 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int</a:t>
              </a: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，字</a:t>
              </a:r>
              <a:endParaRPr lang="zh-CN" altLang="en-US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ts val="2600"/>
                </a:lnSpc>
                <a:buClr>
                  <a:srgbClr val="151DC1"/>
                </a:buClr>
                <a:defRPr/>
              </a:pP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符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'A' </a:t>
              </a: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</a:rPr>
                <a:t>转换为 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</a:rPr>
                <a:t>65</a:t>
              </a:r>
              <a:endParaRPr lang="en-US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10227" y="4106383"/>
            <a:ext cx="6189360" cy="1418565"/>
            <a:chOff x="219974" y="2044323"/>
            <a:chExt cx="8704052" cy="779290"/>
          </a:xfrm>
        </p:grpSpPr>
        <p:sp>
          <p:nvSpPr>
            <p:cNvPr id="27" name="矩形: 圆顶角 26"/>
            <p:cNvSpPr/>
            <p:nvPr/>
          </p:nvSpPr>
          <p:spPr>
            <a:xfrm>
              <a:off x="219974" y="2044323"/>
              <a:ext cx="8704052" cy="32124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en-US" altLang="zh-CN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Array </a:t>
              </a:r>
              <a:r>
                <a:rPr lang="zh-CN" altLang="en-US" sz="2000" dirty="0">
                  <a:solidFill>
                    <a:prstClr val="white"/>
                  </a:solidFill>
                  <a:latin typeface="Consolas" panose="020B0609020204030204" pitchFamily="49" charset="0"/>
                </a:rPr>
                <a:t>类模板定义二</a:t>
              </a:r>
              <a:endPara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: 圆角 17"/>
            <p:cNvSpPr/>
            <p:nvPr/>
          </p:nvSpPr>
          <p:spPr>
            <a:xfrm>
              <a:off x="219974" y="2354446"/>
              <a:ext cx="8704052" cy="469167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23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</a:rPr>
                <a:t>Array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&lt;&gt; a = { </a:t>
              </a: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'A'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};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ts val="2300"/>
                </a:lnSpc>
                <a:buClr>
                  <a:srgbClr val="151DC1"/>
                </a:buClr>
                <a:buSzPct val="80000"/>
              </a:pP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cout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&lt;&lt; 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a.size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() &lt;&lt; </a:t>
              </a:r>
              <a:r>
                <a:rPr lang="en-US" altLang="zh-CN" sz="2000" dirty="0">
                  <a:solidFill>
                    <a:srgbClr val="E0AB5B"/>
                  </a:solidFill>
                  <a:latin typeface="Consolas" panose="020B0609020204030204" pitchFamily="49" charset="0"/>
                </a:rPr>
                <a:t>" "</a:t>
              </a: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&lt;&lt; a[0] &lt;&lt; </a:t>
              </a:r>
              <a:r>
                <a:rPr lang="en-US" altLang="zh-CN" sz="20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endl</a:t>
              </a:r>
              <a:r>
                <a:rPr lang="en-US" altLang="zh-CN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;</a:t>
              </a:r>
              <a:endParaRPr lang="en-US" altLang="zh-CN" sz="20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377388" y="226443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默认的类模板参数</a:t>
            </a:r>
            <a:endParaRPr kumimoji="1" lang="zh-CN" altLang="en-US" sz="3200" dirty="0">
              <a:solidFill>
                <a:srgbClr val="008000"/>
              </a:solidFill>
              <a:latin typeface="Tahoma" panose="020B0604030504040204" pitchFamily="34" charset="0"/>
              <a:ea typeface="隶书" panose="02010509060101010101" pitchFamily="49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70596" y="5718638"/>
            <a:ext cx="54989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输出结果为：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10  65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605952" y="155277"/>
            <a:ext cx="8515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7.2.3  </a:t>
            </a:r>
            <a:r>
              <a:rPr lang="zh-CN" altLang="en-US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默认模板参数</a:t>
            </a:r>
            <a:endParaRPr lang="zh-CN" altLang="en-US" sz="2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17298" y="173472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457200">
              <a:defRPr/>
            </a:pPr>
            <a:r>
              <a:rPr lang="zh-CN" altLang="en-US" sz="2400" dirty="0">
                <a:solidFill>
                  <a:srgbClr val="FFFFFF"/>
                </a:solidFill>
                <a:latin typeface="MicrosoftYaHei"/>
                <a:ea typeface="微软雅黑" panose="020B0503020204020204" pitchFamily="34" charset="-122"/>
              </a:rPr>
              <a:t>学习目标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93919" y="620949"/>
            <a:ext cx="823606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从同一类模板生成的模板类互不兼容。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457200">
              <a:defRPr/>
            </a:pP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</a:t>
            </a:r>
            <a:endParaRPr lang="en-US" altLang="zh-CN" sz="2800" dirty="0">
              <a:solidFill>
                <a:schemeClr val="accent6">
                  <a:lumMod val="75000"/>
                </a:schemeClr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5356" y="1734729"/>
            <a:ext cx="4573193" cy="180731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493919" y="7308"/>
            <a:ext cx="8515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7.2.3  </a:t>
            </a:r>
            <a:r>
              <a:rPr lang="zh-CN" altLang="en-US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默认模板参数</a:t>
            </a:r>
            <a:endParaRPr lang="zh-CN" altLang="en-US" sz="2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17298" y="173472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457200">
              <a:defRPr/>
            </a:pPr>
            <a:r>
              <a:rPr lang="zh-CN" altLang="en-US" sz="2400" dirty="0">
                <a:solidFill>
                  <a:srgbClr val="FFFFFF"/>
                </a:solidFill>
                <a:latin typeface="MicrosoftYaHei"/>
                <a:ea typeface="微软雅黑" panose="020B0503020204020204" pitchFamily="34" charset="-122"/>
              </a:rPr>
              <a:t>学习目标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39838" y="147730"/>
            <a:ext cx="911573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函数模板也可以作为类模板成员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457200">
              <a:defRPr/>
            </a:pPr>
            <a:r>
              <a:rPr kumimoji="1"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例：</a:t>
            </a:r>
            <a:endParaRPr kumimoji="1" lang="en-US" altLang="zh-CN" sz="28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8376" y="811372"/>
            <a:ext cx="7523107" cy="57992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233" y="670949"/>
            <a:ext cx="988172" cy="214513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493919" y="7308"/>
            <a:ext cx="8515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7.2.3  </a:t>
            </a:r>
            <a:r>
              <a:rPr lang="zh-CN" altLang="en-US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默认模板参数</a:t>
            </a:r>
            <a:endParaRPr lang="zh-CN" altLang="en-US" sz="2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17298" y="173472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457200">
              <a:defRPr/>
            </a:pPr>
            <a:r>
              <a:rPr lang="zh-CN" altLang="en-US" sz="2400" dirty="0">
                <a:solidFill>
                  <a:srgbClr val="FFFFFF"/>
                </a:solidFill>
                <a:latin typeface="MicrosoftYaHei"/>
                <a:ea typeface="微软雅黑" panose="020B0503020204020204" pitchFamily="34" charset="-122"/>
              </a:rPr>
              <a:t>学习目标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64871" y="123685"/>
            <a:ext cx="911573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类模板与非类型参数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defTabSz="457200">
              <a:defRPr/>
            </a:pPr>
            <a:r>
              <a:rPr kumimoji="1"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例：</a:t>
            </a:r>
            <a:endParaRPr kumimoji="1" lang="en-US" altLang="zh-CN" sz="28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2233" y="1666369"/>
            <a:ext cx="988172" cy="21451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97" y="1342926"/>
            <a:ext cx="6073824" cy="407213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298" y="1869948"/>
            <a:ext cx="5370580" cy="202042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0710" y="3241665"/>
            <a:ext cx="590580" cy="37466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3760" y="1898704"/>
            <a:ext cx="590580" cy="345264"/>
          </a:xfrm>
          <a:prstGeom prst="rect">
            <a:avLst/>
          </a:prstGeom>
        </p:spPr>
      </p:pic>
      <p:cxnSp>
        <p:nvCxnSpPr>
          <p:cNvPr id="16" name="直接连接符 15"/>
          <p:cNvCxnSpPr/>
          <p:nvPr/>
        </p:nvCxnSpPr>
        <p:spPr>
          <a:xfrm>
            <a:off x="3507129" y="1734729"/>
            <a:ext cx="821803" cy="0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8396366" y="2196394"/>
            <a:ext cx="316841" cy="0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7993178" y="2533990"/>
            <a:ext cx="316841" cy="0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 txBox="1">
            <a:spLocks noRot="1" noChangeArrowheads="1"/>
          </p:cNvSpPr>
          <p:nvPr/>
        </p:nvSpPr>
        <p:spPr>
          <a:xfrm>
            <a:off x="749611" y="-13104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9.5 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类模板的继承与派生</a:t>
            </a:r>
            <a:endParaRPr lang="zh-CN" altLang="en-US" sz="40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1569913" y="969559"/>
            <a:ext cx="10351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类模板</a:t>
            </a:r>
            <a:r>
              <a:rPr lang="zh-CN" altLang="en-US" sz="2400" dirty="0"/>
              <a:t>也可以继承与派生。</a:t>
            </a:r>
            <a:r>
              <a:rPr lang="zh-CN" altLang="en-US" sz="2400" dirty="0">
                <a:solidFill>
                  <a:srgbClr val="0066FF"/>
                </a:solidFill>
              </a:rPr>
              <a:t>有四种派生方式：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1634" y="1888791"/>
            <a:ext cx="4623473" cy="254130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 txBox="1">
            <a:spLocks noRot="1" noChangeArrowheads="1"/>
          </p:cNvSpPr>
          <p:nvPr/>
        </p:nvSpPr>
        <p:spPr>
          <a:xfrm>
            <a:off x="749611" y="-13104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例：</a:t>
            </a:r>
            <a:r>
              <a:rPr kumimoji="1" lang="en-US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类模板从类模板派生</a:t>
            </a:r>
            <a:endParaRPr kumimoji="1" lang="zh-CN" altLang="en-US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9713"/>
          <a:stretch>
            <a:fillRect/>
          </a:stretch>
        </p:blipFill>
        <p:spPr>
          <a:xfrm>
            <a:off x="853782" y="717629"/>
            <a:ext cx="4918966" cy="441633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t="7936"/>
          <a:stretch>
            <a:fillRect/>
          </a:stretch>
        </p:blipFill>
        <p:spPr>
          <a:xfrm>
            <a:off x="5876920" y="694479"/>
            <a:ext cx="4822996" cy="476042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267" y="1403100"/>
            <a:ext cx="1603290" cy="336825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 txBox="1">
            <a:spLocks noRot="1" noChangeArrowheads="1"/>
          </p:cNvSpPr>
          <p:nvPr/>
        </p:nvSpPr>
        <p:spPr>
          <a:xfrm>
            <a:off x="749611" y="-13104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例：</a:t>
            </a:r>
            <a:r>
              <a:rPr kumimoji="1" lang="en-US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类模板从模板类派生</a:t>
            </a:r>
            <a:endParaRPr kumimoji="1" lang="zh-CN" altLang="en-US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7848"/>
          <a:stretch>
            <a:fillRect/>
          </a:stretch>
        </p:blipFill>
        <p:spPr>
          <a:xfrm>
            <a:off x="1643021" y="795022"/>
            <a:ext cx="6563541" cy="439216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073" y="1045905"/>
            <a:ext cx="565179" cy="10732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941" y="795022"/>
            <a:ext cx="970621" cy="184308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 txBox="1">
            <a:spLocks noRot="1" noChangeArrowheads="1"/>
          </p:cNvSpPr>
          <p:nvPr/>
        </p:nvSpPr>
        <p:spPr>
          <a:xfrm>
            <a:off x="749611" y="-13104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例：</a:t>
            </a:r>
            <a:r>
              <a:rPr kumimoji="1" lang="en-US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类模板从普通类派生</a:t>
            </a:r>
            <a:endParaRPr kumimoji="1" lang="zh-CN" altLang="en-US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6073" y="1045905"/>
            <a:ext cx="565179" cy="10732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7841" y="660962"/>
            <a:ext cx="970621" cy="184308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/>
          <a:srcRect t="18256"/>
          <a:stretch>
            <a:fillRect/>
          </a:stretch>
        </p:blipFill>
        <p:spPr>
          <a:xfrm>
            <a:off x="1605645" y="1539433"/>
            <a:ext cx="5550428" cy="255169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 txBox="1">
            <a:spLocks noRot="1" noChangeArrowheads="1"/>
          </p:cNvSpPr>
          <p:nvPr/>
        </p:nvSpPr>
        <p:spPr>
          <a:xfrm>
            <a:off x="749611" y="-13104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例：</a:t>
            </a:r>
            <a:r>
              <a:rPr kumimoji="1" lang="en-US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普通类从模板类派生</a:t>
            </a:r>
            <a:endParaRPr kumimoji="1" lang="zh-CN" altLang="en-US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6073" y="1045905"/>
            <a:ext cx="565179" cy="10732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7841" y="660962"/>
            <a:ext cx="970621" cy="184308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t="12520"/>
          <a:stretch>
            <a:fillRect/>
          </a:stretch>
        </p:blipFill>
        <p:spPr>
          <a:xfrm>
            <a:off x="1748717" y="1284789"/>
            <a:ext cx="5972535" cy="285316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 txBox="1">
            <a:spLocks noRot="1" noChangeArrowheads="1"/>
          </p:cNvSpPr>
          <p:nvPr/>
        </p:nvSpPr>
        <p:spPr>
          <a:xfrm>
            <a:off x="714887" y="379095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9.6 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类模板与友元函数（了解）</a:t>
            </a:r>
            <a:endParaRPr lang="zh-CN" altLang="en-US" sz="4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7734" y="1535378"/>
            <a:ext cx="7958880" cy="206724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 txBox="1">
            <a:spLocks noRot="1" noChangeArrowheads="1"/>
          </p:cNvSpPr>
          <p:nvPr/>
        </p:nvSpPr>
        <p:spPr>
          <a:xfrm>
            <a:off x="871811" y="-7088"/>
            <a:ext cx="9626427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例：函数、类、类的成员函数可以作为类模板的友元</a:t>
            </a:r>
            <a:endParaRPr kumimoji="1" lang="zh-CN" altLang="en-US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6073" y="1045905"/>
            <a:ext cx="565179" cy="10732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7841" y="660962"/>
            <a:ext cx="970621" cy="184308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t="13024"/>
          <a:stretch>
            <a:fillRect/>
          </a:stretch>
        </p:blipFill>
        <p:spPr>
          <a:xfrm>
            <a:off x="955953" y="922892"/>
            <a:ext cx="6036004" cy="48377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355" y="905246"/>
            <a:ext cx="3350213" cy="235352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402080" y="4438015"/>
            <a:ext cx="1104900" cy="99504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 txBox="1">
            <a:spLocks noRot="1" noChangeArrowheads="1"/>
          </p:cNvSpPr>
          <p:nvPr/>
        </p:nvSpPr>
        <p:spPr>
          <a:xfrm>
            <a:off x="1363069" y="169630"/>
            <a:ext cx="8984698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例：函数模板可以作为类模板的友元</a:t>
            </a:r>
            <a:endParaRPr kumimoji="1" lang="zh-CN" altLang="en-US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6073" y="1045905"/>
            <a:ext cx="565179" cy="10732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4742" y="4295412"/>
            <a:ext cx="970621" cy="184308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835" y="1037385"/>
            <a:ext cx="7681153" cy="53297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7038" y="714157"/>
            <a:ext cx="970621" cy="1843089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2317750" y="5393055"/>
            <a:ext cx="955675" cy="28892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6073" y="1045905"/>
            <a:ext cx="565179" cy="10732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4742" y="4295412"/>
            <a:ext cx="970621" cy="184308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7038" y="714157"/>
            <a:ext cx="970621" cy="184308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296" y="714157"/>
            <a:ext cx="8893541" cy="481854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8738882" y="405114"/>
            <a:ext cx="1284790" cy="14121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05520" y="995680"/>
            <a:ext cx="9201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&amp;p</a:t>
            </a:r>
            <a:r>
              <a:rPr lang="zh-CN" altLang="en-US" sz="2400" dirty="0"/>
              <a:t>）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9046993" y="3231262"/>
            <a:ext cx="61979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&amp;p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6073" y="1045905"/>
            <a:ext cx="565179" cy="10732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4742" y="4295412"/>
            <a:ext cx="970621" cy="184308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7038" y="714157"/>
            <a:ext cx="970621" cy="184308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748" y="821803"/>
            <a:ext cx="6982458" cy="336823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 txBox="1">
            <a:spLocks noRot="1" noChangeArrowheads="1"/>
          </p:cNvSpPr>
          <p:nvPr/>
        </p:nvSpPr>
        <p:spPr>
          <a:xfrm>
            <a:off x="1363069" y="169630"/>
            <a:ext cx="8984698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例：函数模板可以作为类的友元</a:t>
            </a:r>
            <a:endParaRPr kumimoji="1" lang="zh-CN" altLang="en-US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6073" y="1045905"/>
            <a:ext cx="565179" cy="10732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4742" y="4295412"/>
            <a:ext cx="970621" cy="184308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7038" y="714157"/>
            <a:ext cx="970621" cy="184308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904" y="1045905"/>
            <a:ext cx="5030300" cy="50561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63" y="1152294"/>
            <a:ext cx="2129815" cy="3143118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2734310" y="3761105"/>
            <a:ext cx="956310" cy="28892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 txBox="1">
            <a:spLocks noRot="1" noChangeArrowheads="1"/>
          </p:cNvSpPr>
          <p:nvPr/>
        </p:nvSpPr>
        <p:spPr>
          <a:xfrm>
            <a:off x="1363069" y="169630"/>
            <a:ext cx="8984698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例：类模板作为类模板的友元</a:t>
            </a:r>
            <a:endParaRPr kumimoji="1" lang="zh-CN" altLang="en-US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6073" y="1045905"/>
            <a:ext cx="565179" cy="10732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4742" y="4295412"/>
            <a:ext cx="970621" cy="184308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7038" y="714157"/>
            <a:ext cx="970621" cy="184308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09" y="1045905"/>
            <a:ext cx="3939644" cy="355463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834" y="1045905"/>
            <a:ext cx="2641764" cy="218119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028" y="3227099"/>
            <a:ext cx="3628263" cy="1471668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7423785" y="3591560"/>
            <a:ext cx="1016000" cy="29845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 txBox="1">
            <a:spLocks noRot="1" noChangeArrowheads="1"/>
          </p:cNvSpPr>
          <p:nvPr/>
        </p:nvSpPr>
        <p:spPr>
          <a:xfrm>
            <a:off x="1363069" y="169630"/>
            <a:ext cx="8984698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例：类模板作为类模板的友元</a:t>
            </a:r>
            <a:endParaRPr kumimoji="1" lang="zh-CN" altLang="en-US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6073" y="1045905"/>
            <a:ext cx="565179" cy="10732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4742" y="4295412"/>
            <a:ext cx="970621" cy="184308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7038" y="714157"/>
            <a:ext cx="970621" cy="184308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659" y="1045905"/>
            <a:ext cx="5747999" cy="441893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 txBox="1">
            <a:spLocks noRot="1" noChangeArrowheads="1"/>
          </p:cNvSpPr>
          <p:nvPr/>
        </p:nvSpPr>
        <p:spPr>
          <a:xfrm>
            <a:off x="714887" y="379095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9.6 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类模板与静态成员（了解）</a:t>
            </a:r>
            <a:endParaRPr lang="zh-CN" altLang="en-US" sz="4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1365813" y="1361758"/>
            <a:ext cx="8715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类模板中如果定义了静态（</a:t>
            </a:r>
            <a:r>
              <a:rPr lang="en-US" altLang="zh-CN" sz="2400" b="1" dirty="0"/>
              <a:t>static</a:t>
            </a:r>
            <a:r>
              <a:rPr lang="zh-CN" altLang="en-US" sz="2400" b="1" dirty="0"/>
              <a:t>）成员，那么从该类模板实例化出的模板类都包含同样的静态成员</a:t>
            </a:r>
            <a:endParaRPr lang="en-US" altLang="zh-CN" sz="2400" b="1" dirty="0"/>
          </a:p>
          <a:p>
            <a:r>
              <a:rPr lang="zh-CN" altLang="en-US" sz="2400" b="1" dirty="0">
                <a:solidFill>
                  <a:srgbClr val="517D33"/>
                </a:solidFill>
              </a:rPr>
              <a:t>例：</a:t>
            </a:r>
            <a:endParaRPr lang="zh-CN" altLang="en-US" sz="2400" b="1" dirty="0">
              <a:solidFill>
                <a:srgbClr val="517D33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313" y="2347318"/>
            <a:ext cx="5748034" cy="4266421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894330" y="4351020"/>
            <a:ext cx="658495" cy="27876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6073" y="1045905"/>
            <a:ext cx="565179" cy="10732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4742" y="4295412"/>
            <a:ext cx="970621" cy="184308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7038" y="714157"/>
            <a:ext cx="970621" cy="184308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684" y="424713"/>
            <a:ext cx="5268357" cy="4980665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>
            <a:off x="2466710" y="825601"/>
            <a:ext cx="4399280" cy="10160"/>
          </a:xfrm>
          <a:prstGeom prst="straightConnector1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2466875" y="1167501"/>
            <a:ext cx="4894580" cy="26035"/>
          </a:xfrm>
          <a:prstGeom prst="straightConnector1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 txBox="1">
            <a:spLocks noRot="1" noChangeArrowheads="1"/>
          </p:cNvSpPr>
          <p:nvPr/>
        </p:nvSpPr>
        <p:spPr>
          <a:xfrm>
            <a:off x="714887" y="379095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>
                <a:effectLst>
                  <a:outerShdw blurRad="38100" dist="38100" dir="2700000" algn="tl">
                    <a:srgbClr val="C0C0C0"/>
                  </a:outerShdw>
                </a:effectLst>
              </a:rPr>
              <a:t>9.7  </a:t>
            </a:r>
            <a:r>
              <a:rPr lang="en-US" altLang="zh-CN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string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类</a:t>
            </a:r>
            <a:endParaRPr lang="zh-CN" altLang="en-US" sz="4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1365813" y="1192848"/>
            <a:ext cx="9213448" cy="2614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/>
              <a:t>string</a:t>
            </a:r>
            <a:r>
              <a:rPr lang="zh-CN" altLang="en-US" sz="2400" b="1" dirty="0"/>
              <a:t>类是从</a:t>
            </a:r>
            <a:r>
              <a:rPr lang="zh-CN" altLang="en-US" sz="2400" b="1" dirty="0">
                <a:solidFill>
                  <a:srgbClr val="FF0000"/>
                </a:solidFill>
              </a:rPr>
              <a:t>标准类模板</a:t>
            </a:r>
            <a:r>
              <a:rPr lang="en-US" altLang="zh-CN" sz="2400" b="1" dirty="0" err="1">
                <a:solidFill>
                  <a:srgbClr val="0066FF"/>
                </a:solidFill>
              </a:rPr>
              <a:t>basic_string</a:t>
            </a:r>
            <a:r>
              <a:rPr lang="zh-CN" altLang="en-US" sz="2400" b="1" dirty="0"/>
              <a:t>实例化出的一个</a:t>
            </a:r>
            <a:r>
              <a:rPr lang="zh-CN" altLang="en-US" sz="2400" b="1" dirty="0">
                <a:solidFill>
                  <a:srgbClr val="FF0000"/>
                </a:solidFill>
              </a:rPr>
              <a:t>标准类</a:t>
            </a:r>
            <a:r>
              <a:rPr lang="zh-CN" altLang="en-US" sz="2400" b="1" dirty="0"/>
              <a:t>。</a:t>
            </a:r>
            <a:endParaRPr lang="en-US" altLang="zh-CN" sz="2400" b="1" dirty="0"/>
          </a:p>
          <a:p>
            <a:r>
              <a:rPr lang="en-US" altLang="zh-CN" sz="2400" b="1" dirty="0"/>
              <a:t>          typedef</a:t>
            </a:r>
            <a:r>
              <a:rPr lang="en-US" altLang="zh-CN" sz="2400" b="1" dirty="0">
                <a:solidFill>
                  <a:srgbClr val="0066FF"/>
                </a:solidFill>
              </a:rPr>
              <a:t> </a:t>
            </a:r>
            <a:r>
              <a:rPr lang="en-US" altLang="zh-CN" sz="2400" b="1" dirty="0" err="1">
                <a:solidFill>
                  <a:srgbClr val="0066FF"/>
                </a:solidFill>
              </a:rPr>
              <a:t>basic_string</a:t>
            </a:r>
            <a:r>
              <a:rPr lang="en-US" altLang="zh-CN" sz="2400" b="1" dirty="0">
                <a:solidFill>
                  <a:srgbClr val="0066FF"/>
                </a:solidFill>
              </a:rPr>
              <a:t>&lt;</a:t>
            </a:r>
            <a:r>
              <a:rPr lang="en-US" altLang="zh-CN" sz="2400" b="1" dirty="0">
                <a:solidFill>
                  <a:srgbClr val="FF0000"/>
                </a:solidFill>
              </a:rPr>
              <a:t>char</a:t>
            </a:r>
            <a:r>
              <a:rPr lang="en-US" altLang="zh-CN" sz="2400" b="1" dirty="0">
                <a:solidFill>
                  <a:srgbClr val="0066FF"/>
                </a:solidFill>
              </a:rPr>
              <a:t>&gt; </a:t>
            </a:r>
            <a:r>
              <a:rPr lang="en-US" altLang="zh-CN" sz="2400" b="1" dirty="0"/>
              <a:t>string;   </a:t>
            </a:r>
            <a:r>
              <a:rPr lang="en-US" altLang="zh-CN" b="1" dirty="0">
                <a:solidFill>
                  <a:srgbClr val="00B050"/>
                </a:solidFill>
              </a:rPr>
              <a:t>//</a:t>
            </a:r>
            <a:r>
              <a:rPr lang="zh-CN" altLang="en-US" b="1" dirty="0">
                <a:solidFill>
                  <a:srgbClr val="00B050"/>
                </a:solidFill>
              </a:rPr>
              <a:t>类型声明</a:t>
            </a:r>
            <a:endParaRPr lang="en-US" altLang="zh-CN" sz="2400" b="1" dirty="0">
              <a:solidFill>
                <a:srgbClr val="00B050"/>
              </a:solidFill>
            </a:endParaRPr>
          </a:p>
          <a:p>
            <a:endParaRPr lang="en-US" altLang="zh-C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/>
              <a:t>#include &lt;</a:t>
            </a:r>
            <a:r>
              <a:rPr lang="en-US" altLang="zh-CN" sz="2400" b="1" dirty="0">
                <a:solidFill>
                  <a:srgbClr val="0066FF"/>
                </a:solidFill>
              </a:rPr>
              <a:t>string</a:t>
            </a:r>
            <a:r>
              <a:rPr lang="en-US" altLang="zh-CN" sz="2400" b="1" dirty="0"/>
              <a:t>&gt;</a:t>
            </a:r>
            <a:endParaRPr lang="en-US" altLang="zh-C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 err="1">
                <a:solidFill>
                  <a:srgbClr val="0066FF"/>
                </a:solidFill>
              </a:rPr>
              <a:t>basic_string</a:t>
            </a:r>
            <a:r>
              <a:rPr lang="zh-CN" altLang="en-US" sz="2400" b="1" dirty="0"/>
              <a:t>实例化出来的标准类有</a:t>
            </a:r>
            <a:r>
              <a:rPr lang="en-US" altLang="zh-CN" sz="2400" b="1" dirty="0"/>
              <a:t>string</a:t>
            </a:r>
            <a:r>
              <a:rPr lang="zh-CN" altLang="en-US" sz="2400" b="1" dirty="0"/>
              <a:t>、</a:t>
            </a:r>
            <a:r>
              <a:rPr lang="en-US" altLang="zh-CN" sz="2400" b="1" dirty="0" err="1"/>
              <a:t>wstring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u16 string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u32 string</a:t>
            </a:r>
            <a:r>
              <a:rPr lang="zh-CN" altLang="en-US" sz="2400" b="1" dirty="0"/>
              <a:t>等。</a:t>
            </a:r>
            <a:r>
              <a:rPr lang="en-US" altLang="zh-CN" sz="2000" b="1" dirty="0">
                <a:solidFill>
                  <a:srgbClr val="00B050"/>
                </a:solidFill>
              </a:rPr>
              <a:t>(</a:t>
            </a:r>
            <a:r>
              <a:rPr lang="en-US" altLang="zh-CN" sz="2000" b="1" dirty="0" err="1">
                <a:solidFill>
                  <a:srgbClr val="00B050"/>
                </a:solidFill>
              </a:rPr>
              <a:t>c++</a:t>
            </a:r>
            <a:r>
              <a:rPr lang="en-US" altLang="zh-CN" sz="2000" b="1" dirty="0">
                <a:solidFill>
                  <a:srgbClr val="00B050"/>
                </a:solidFill>
              </a:rPr>
              <a:t>11 STL</a:t>
            </a:r>
            <a:r>
              <a:rPr lang="zh-CN" altLang="en-US" sz="2000" b="1" dirty="0">
                <a:solidFill>
                  <a:srgbClr val="00B050"/>
                </a:solidFill>
              </a:rPr>
              <a:t>文档</a:t>
            </a:r>
            <a:r>
              <a:rPr lang="en-US" altLang="zh-CN" sz="2000" b="1" dirty="0">
                <a:solidFill>
                  <a:srgbClr val="00B050"/>
                </a:solidFill>
              </a:rPr>
              <a:t>)</a:t>
            </a:r>
            <a:endParaRPr lang="en-US" altLang="zh-CN" sz="2000" b="1" dirty="0">
              <a:solidFill>
                <a:srgbClr val="00B05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rgbClr val="00B05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-364" t="239" r="364" b="17070"/>
          <a:stretch>
            <a:fillRect/>
          </a:stretch>
        </p:blipFill>
        <p:spPr>
          <a:xfrm>
            <a:off x="2837815" y="3485515"/>
            <a:ext cx="7842250" cy="329755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类对象的初始化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基本初始化</a:t>
            </a:r>
            <a:endParaRPr lang="zh-CN" altLang="en-US" sz="24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l="4370"/>
          <a:stretch>
            <a:fillRect/>
          </a:stretch>
        </p:blipFill>
        <p:spPr>
          <a:xfrm>
            <a:off x="1864897" y="1426456"/>
            <a:ext cx="7130006" cy="1355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l="10784" t="19896" b="33999"/>
          <a:stretch>
            <a:fillRect/>
          </a:stretch>
        </p:blipFill>
        <p:spPr>
          <a:xfrm>
            <a:off x="1792705" y="3314110"/>
            <a:ext cx="5827629" cy="180373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489276" y="2864920"/>
            <a:ext cx="9213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/>
              <a:t>string</a:t>
            </a:r>
            <a:r>
              <a:rPr lang="zh-CN" altLang="en-US" sz="2400" b="1" dirty="0"/>
              <a:t>类不提供以字符和整数位参数的构造函数</a:t>
            </a:r>
            <a:endParaRPr lang="zh-CN" altLang="en-US" sz="24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489276" y="5117847"/>
            <a:ext cx="9213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字符可以赋值给</a:t>
            </a:r>
            <a:r>
              <a:rPr lang="en-US" altLang="zh-CN" sz="2400" b="1" dirty="0"/>
              <a:t>string</a:t>
            </a:r>
            <a:r>
              <a:rPr lang="zh-CN" altLang="en-US" sz="2400" b="1" dirty="0"/>
              <a:t>类对象</a:t>
            </a:r>
            <a:endParaRPr lang="zh-CN" altLang="en-US" sz="2400" b="1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705" y="5529785"/>
            <a:ext cx="1816769" cy="8737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615" y="3314065"/>
            <a:ext cx="5653405" cy="349313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例：</a:t>
            </a:r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类的应用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869" y="954004"/>
            <a:ext cx="4433103" cy="569523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8736" y="2546431"/>
            <a:ext cx="1440709" cy="212974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对</a:t>
            </a:r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类对象的操作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05940" y="1083310"/>
            <a:ext cx="8379460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string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对象的长度用成员函数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length()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string  s(“hello”);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cout&lt;&lt;s.length()&lt;&lt;endl;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string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支持流读取运算符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string  stringObject;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cin&gt;&gt;stringObject;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string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getline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string  s;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getline(cin, s);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构造的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string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太长而无法表达时会抛出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length_error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异常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利用</a:t>
            </a:r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类对象实现字符串赋值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4466" y="966939"/>
            <a:ext cx="6377649" cy="399390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b="65324"/>
          <a:stretch>
            <a:fillRect/>
          </a:stretch>
        </p:blipFill>
        <p:spPr>
          <a:xfrm>
            <a:off x="2152891" y="4939839"/>
            <a:ext cx="7276601" cy="95122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利用</a:t>
            </a:r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类对象实现字符串赋值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2006" y="1439198"/>
            <a:ext cx="7453407" cy="243358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利用</a:t>
            </a:r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类对象实现字符串连接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7199" y="1076445"/>
            <a:ext cx="7374188" cy="324804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138" y="4461395"/>
            <a:ext cx="8587630" cy="176888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利用</a:t>
            </a:r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类对象实现字符串比较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410" y="974260"/>
            <a:ext cx="8092053" cy="100014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596" y="1886157"/>
            <a:ext cx="8092053" cy="402652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利用</a:t>
            </a:r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类对象实现字符串比较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962" y="1157468"/>
            <a:ext cx="8526121" cy="435208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977533" y="681872"/>
            <a:ext cx="1875099" cy="185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7533" y="681872"/>
            <a:ext cx="2832246" cy="226071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类的其他成员函数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77533" y="681872"/>
            <a:ext cx="1875099" cy="185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b="38454"/>
          <a:stretch>
            <a:fillRect/>
          </a:stretch>
        </p:blipFill>
        <p:spPr>
          <a:xfrm>
            <a:off x="1678330" y="1156845"/>
            <a:ext cx="6788944" cy="194517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021256" y="681872"/>
            <a:ext cx="706055" cy="1204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7701" y="1447886"/>
            <a:ext cx="1381468" cy="118074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308" y="3006521"/>
            <a:ext cx="5654488" cy="242200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788" y="3575641"/>
            <a:ext cx="1786986" cy="120480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类的其他成员函数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77533" y="681872"/>
            <a:ext cx="1875099" cy="185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21963" r="4591"/>
          <a:stretch>
            <a:fillRect/>
          </a:stretch>
        </p:blipFill>
        <p:spPr>
          <a:xfrm>
            <a:off x="1597307" y="974260"/>
            <a:ext cx="7766612" cy="292692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414796" y="1562581"/>
            <a:ext cx="585887" cy="347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926010" y="1333012"/>
            <a:ext cx="585887" cy="347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620457" y="4130751"/>
            <a:ext cx="7014257" cy="74248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495814" y="4003426"/>
            <a:ext cx="11343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隶书" panose="02010509060101010101" pitchFamily="49" charset="-122"/>
                <a:ea typeface="隶书" panose="02010509060101010101" pitchFamily="49" charset="-122"/>
              </a:rPr>
              <a:t>可存</a:t>
            </a:r>
            <a:endParaRPr lang="zh-CN" altLang="en-US" sz="28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例：</a:t>
            </a:r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类的成员函数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447" y="974260"/>
            <a:ext cx="4213429" cy="527508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965" y="1793790"/>
            <a:ext cx="5332310" cy="3830041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995686" y="1298353"/>
            <a:ext cx="1886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Times New Roman" panose="02020603050405020304" pitchFamily="18" charset="0"/>
                <a:ea typeface="隶书" panose="02010509060101010101" pitchFamily="49" charset="-122"/>
              </a:rPr>
              <a:t>输出：</a:t>
            </a:r>
            <a:endParaRPr kumimoji="1" lang="en-US" altLang="zh-CN" sz="28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类的其他成员函数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77533" y="681872"/>
            <a:ext cx="1875099" cy="185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414796" y="1562581"/>
            <a:ext cx="585887" cy="347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926010" y="1333012"/>
            <a:ext cx="585887" cy="347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1834" y="974260"/>
            <a:ext cx="5957125" cy="115009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011" y="2151587"/>
            <a:ext cx="7352257" cy="126583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383" y="3796160"/>
            <a:ext cx="8475605" cy="228737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类的其他成员函数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77533" y="681872"/>
            <a:ext cx="1875099" cy="185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414796" y="1562581"/>
            <a:ext cx="585887" cy="347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926010" y="1333012"/>
            <a:ext cx="585887" cy="347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5389" y="1006012"/>
            <a:ext cx="5349862" cy="121632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438" y="2167552"/>
            <a:ext cx="8069531" cy="10617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896" y="3727113"/>
            <a:ext cx="8876863" cy="24501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类的其他成员函数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77533" y="681872"/>
            <a:ext cx="1875099" cy="185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414796" y="1562581"/>
            <a:ext cx="585887" cy="347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926010" y="1333012"/>
            <a:ext cx="585887" cy="347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3341" y="1023103"/>
            <a:ext cx="5545949" cy="13143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095" y="2276254"/>
            <a:ext cx="8316040" cy="11851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341" y="3690214"/>
            <a:ext cx="9319360" cy="250057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例：</a:t>
            </a:r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类的其他成员函数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77533" y="681872"/>
            <a:ext cx="1875099" cy="185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926010" y="1333012"/>
            <a:ext cx="585887" cy="347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368" y="1164344"/>
            <a:ext cx="6479481" cy="452887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7473" y="1352932"/>
            <a:ext cx="1627609" cy="434028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类的其他成员函数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77533" y="681872"/>
            <a:ext cx="1875099" cy="185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926010" y="1333012"/>
            <a:ext cx="585887" cy="347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0786" y="1124730"/>
            <a:ext cx="4864660" cy="36793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446" y="1124730"/>
            <a:ext cx="5829892" cy="391262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类的其他成员函数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77533" y="681872"/>
            <a:ext cx="1875099" cy="185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7448" y="927895"/>
            <a:ext cx="6370667" cy="310182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643" y="4202114"/>
            <a:ext cx="6370667" cy="256907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类的其他成员函数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77533" y="681872"/>
            <a:ext cx="1875099" cy="185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1307" y="974260"/>
            <a:ext cx="7196226" cy="465962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类对象与</a:t>
            </a:r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char *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字符串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77533" y="681872"/>
            <a:ext cx="1875099" cy="185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6072" y="1098560"/>
            <a:ext cx="6918089" cy="393430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1007524" y="3808071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3866" y="1098560"/>
            <a:ext cx="1085177" cy="93940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类对象与</a:t>
            </a:r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char *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字符串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77533" y="681872"/>
            <a:ext cx="1875099" cy="185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007524" y="3808071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3866" y="1098560"/>
            <a:ext cx="1085177" cy="93940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443" y="1098560"/>
            <a:ext cx="8230249" cy="421479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6453" y="602705"/>
            <a:ext cx="1382495" cy="264978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类对象与</a:t>
            </a:r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char *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字符串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77533" y="681872"/>
            <a:ext cx="1875099" cy="185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007524" y="3808071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3866" y="1098560"/>
            <a:ext cx="1085177" cy="93940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3834" y="282955"/>
            <a:ext cx="1382495" cy="264978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003" y="1024144"/>
            <a:ext cx="8693746" cy="502607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521" y="681872"/>
            <a:ext cx="1382495" cy="264978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453" y="602705"/>
            <a:ext cx="1382495" cy="264978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类对象的流处理（选读）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77533" y="681872"/>
            <a:ext cx="1875099" cy="185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007524" y="3808071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3866" y="1098560"/>
            <a:ext cx="1085177" cy="93940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3834" y="282955"/>
            <a:ext cx="1382495" cy="264978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521" y="681872"/>
            <a:ext cx="1382495" cy="264978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453" y="602705"/>
            <a:ext cx="1382495" cy="264978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b="38024"/>
          <a:stretch>
            <a:fillRect/>
          </a:stretch>
        </p:blipFill>
        <p:spPr>
          <a:xfrm>
            <a:off x="1678609" y="974261"/>
            <a:ext cx="7028787" cy="208145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/>
          <a:srcRect t="62426" r="55213"/>
          <a:stretch>
            <a:fillRect/>
          </a:stretch>
        </p:blipFill>
        <p:spPr>
          <a:xfrm>
            <a:off x="8999476" y="1962453"/>
            <a:ext cx="2420407" cy="97028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4"/>
          <a:srcRect t="14015"/>
          <a:stretch>
            <a:fillRect/>
          </a:stretch>
        </p:blipFill>
        <p:spPr>
          <a:xfrm>
            <a:off x="5945652" y="3116216"/>
            <a:ext cx="5474231" cy="3741784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6507" y="3252486"/>
            <a:ext cx="1006556" cy="3288082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8961392" y="1380058"/>
            <a:ext cx="2747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例：字符串输入流</a:t>
            </a:r>
            <a:endParaRPr kumimoji="1" lang="en-US" altLang="zh-CN" sz="24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" name="矩形 2"/>
          <p:cNvSpPr/>
          <p:nvPr>
            <p:custDataLst>
              <p:tags r:id="rId6"/>
            </p:custDataLst>
          </p:nvPr>
        </p:nvSpPr>
        <p:spPr>
          <a:xfrm>
            <a:off x="8961120" y="2646045"/>
            <a:ext cx="2388870" cy="29845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8962" y="389485"/>
            <a:ext cx="92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string</a:t>
            </a:r>
            <a:r>
              <a:rPr kumimoji="1" lang="zh-CN" altLang="en-US" sz="32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类对象的流处理（选读）</a:t>
            </a:r>
            <a:endParaRPr kumimoji="1" lang="en-US" altLang="zh-CN" sz="32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77533" y="681872"/>
            <a:ext cx="1875099" cy="185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007524" y="3808071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3866" y="1098560"/>
            <a:ext cx="1085177" cy="93940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3834" y="282955"/>
            <a:ext cx="1382495" cy="264978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521" y="681872"/>
            <a:ext cx="1382495" cy="264978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453" y="602705"/>
            <a:ext cx="1382495" cy="264978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/>
          <a:srcRect t="62426" r="55213"/>
          <a:stretch>
            <a:fillRect/>
          </a:stretch>
        </p:blipFill>
        <p:spPr>
          <a:xfrm>
            <a:off x="1163292" y="1268899"/>
            <a:ext cx="2420407" cy="97028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/>
          <a:srcRect t="9955"/>
          <a:stretch>
            <a:fillRect/>
          </a:stretch>
        </p:blipFill>
        <p:spPr>
          <a:xfrm>
            <a:off x="1028413" y="2289866"/>
            <a:ext cx="6379964" cy="381828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632" y="1275233"/>
            <a:ext cx="1382495" cy="2649781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3814336" y="1146180"/>
            <a:ext cx="2747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例：字符串输出流</a:t>
            </a:r>
            <a:endParaRPr kumimoji="1" lang="en-US" altLang="zh-CN" sz="2400" dirty="0">
              <a:solidFill>
                <a:srgbClr val="008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1802" y="1622814"/>
            <a:ext cx="1028753" cy="2317869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6"/>
            </p:custDataLst>
          </p:nvPr>
        </p:nvSpPr>
        <p:spPr>
          <a:xfrm>
            <a:off x="1163955" y="1940560"/>
            <a:ext cx="2253615" cy="29845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389630" y="2845435"/>
            <a:ext cx="57029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 b="1"/>
              <a:t>本章结束，谢谢！</a:t>
            </a:r>
            <a:endParaRPr lang="zh-CN" altLang="en-US" sz="3200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PP_MARK_KEY" val="54824442-4865-4f19-9e6c-1cb0e7df5584"/>
  <p:tag name="COMMONDATA" val="eyJoZGlkIjoiNDI0NGE4MmNiOWM4MDZkMDdkNTIyYjlkODg4OWU4ODcifQ=="/>
  <p:tag name="resource_record_key" val="{&quot;13&quot;:[4695713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7125</Words>
  <Application>WPS 演示</Application>
  <PresentationFormat>宽屏</PresentationFormat>
  <Paragraphs>660</Paragraphs>
  <Slides>73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73</vt:i4>
      </vt:variant>
    </vt:vector>
  </HeadingPairs>
  <TitlesOfParts>
    <vt:vector size="89" baseType="lpstr">
      <vt:lpstr>Arial</vt:lpstr>
      <vt:lpstr>宋体</vt:lpstr>
      <vt:lpstr>Wingdings</vt:lpstr>
      <vt:lpstr>等线</vt:lpstr>
      <vt:lpstr>微软雅黑</vt:lpstr>
      <vt:lpstr>隶书</vt:lpstr>
      <vt:lpstr>Consolas</vt:lpstr>
      <vt:lpstr>Tahoma</vt:lpstr>
      <vt:lpstr>MicrosoftYaHei</vt:lpstr>
      <vt:lpstr>Segoe Print</vt:lpstr>
      <vt:lpstr>等线 Light</vt:lpstr>
      <vt:lpstr>Arial Unicode MS</vt:lpstr>
      <vt:lpstr>Times New Roman</vt:lpstr>
      <vt:lpstr>Wingdings</vt:lpstr>
      <vt:lpstr>Calibri</vt:lpstr>
      <vt:lpstr>Office 主题​​</vt:lpstr>
      <vt:lpstr>面向对象程序设计（C++）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27315950@qq.com</dc:creator>
  <cp:lastModifiedBy>朱静</cp:lastModifiedBy>
  <cp:revision>159</cp:revision>
  <dcterms:created xsi:type="dcterms:W3CDTF">2020-02-16T03:33:00Z</dcterms:created>
  <dcterms:modified xsi:type="dcterms:W3CDTF">2024-03-20T12:32:26Z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BE97B59F2BA5448C8EA22DE90396086E</vt:lpwstr>
  </property>
  <property fmtid="{D5CDD505-2E9C-101B-9397-08002B2CF9AE}" pid="3" name="KSOProductBuildVer">
    <vt:lpwstr>2052-12.1.0.16412</vt:lpwstr>
  </property>
</Properties>
</file>